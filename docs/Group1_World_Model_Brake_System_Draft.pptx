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5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3"/>
  </p:sldMasterIdLst>
  <p:notesMasterIdLst>
    <p:notesMasterId r:id="rId5"/>
  </p:notesMasterIdLst>
  <p:sldIdLst>
    <p:sldId id="256" r:id="rId4"/>
    <p:sldId id="301" r:id="rId6"/>
    <p:sldId id="302" r:id="rId7"/>
    <p:sldId id="303" r:id="rId8"/>
    <p:sldId id="304" r:id="rId9"/>
    <p:sldId id="305" r:id="rId10"/>
    <p:sldId id="306" r:id="rId11"/>
    <p:sldId id="307" r:id="rId12"/>
    <p:sldId id="308" r:id="rId13"/>
    <p:sldId id="309" r:id="rId14"/>
    <p:sldId id="310" r:id="rId15"/>
    <p:sldId id="311" r:id="rId16"/>
    <p:sldId id="268" r:id="rId17"/>
    <p:sldId id="289" r:id="rId18"/>
    <p:sldId id="275" r:id="rId19"/>
    <p:sldId id="270" r:id="rId20"/>
    <p:sldId id="272" r:id="rId21"/>
    <p:sldId id="273" r:id="rId22"/>
    <p:sldId id="274" r:id="rId23"/>
    <p:sldId id="276" r:id="rId24"/>
    <p:sldId id="277" r:id="rId25"/>
    <p:sldId id="278" r:id="rId26"/>
    <p:sldId id="279" r:id="rId27"/>
    <p:sldId id="280" r:id="rId28"/>
    <p:sldId id="312" r:id="rId29"/>
    <p:sldId id="313" r:id="rId30"/>
    <p:sldId id="314" r:id="rId31"/>
    <p:sldId id="315" r:id="rId32"/>
    <p:sldId id="316" r:id="rId33"/>
    <p:sldId id="317" r:id="rId34"/>
    <p:sldId id="318" r:id="rId35"/>
    <p:sldId id="319" r:id="rId36"/>
  </p:sldIdLst>
  <p:sldSz cx="12191365" cy="6858000" type="screen16x9"/>
  <p:notesSz cx="6858000" cy="9144000"/>
  <p:defaultTextStyle>
    <a:defPPr>
      <a:defRPr lang="zh-CN"/>
    </a:def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ingbing Nie" initials="BN" lastIdx="0" clrIdx="0"/>
  <p:cmAuthor id="2" name="Admin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</p:showPr>
  <p:clrMru>
    <a:srgbClr val="FF000B"/>
    <a:srgbClr val="0070C0"/>
    <a:srgbClr val="177182"/>
    <a:srgbClr val="077CCE"/>
    <a:srgbClr val="8034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0"/>
    <p:restoredTop sz="0"/>
  </p:normal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0" Type="http://schemas.openxmlformats.org/officeDocument/2006/relationships/commentAuthors" Target="commentAuthors.xml"/><Relationship Id="rId4" Type="http://schemas.openxmlformats.org/officeDocument/2006/relationships/slide" Target="slides/slide1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hf/>
  <p:notesStyle>
    <a:lvl1pPr marL="0" indent="0">
      <a:defRPr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Text 372"/>
          <p:cNvSpPr txBox="1"/>
          <p:nvPr>
            <p:ph type="body" idx="1"/>
          </p:nvPr>
        </p:nvSpPr>
        <p:spPr>
          <a:xfrm>
            <a:off x="640080" y="640080"/>
            <a:ext cx="7863840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2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各位老师、同学好，我们汇报的题目是“基于世界模型的一维纵向制动决策规划”。项目从一个可解释的 Simulink 纵向制动机理模型出发，先生成伪真实数据，再训练 MLP 和 LSTM-PINN 世界模型，最后把预测模型嵌入采样式 MPC，完成面向前方障碍物的一维精准刹停。接下来我们三个人分别介绍数据闭环、模型升级和上层规划。</a:t>
            </a:r>
            <a:endParaRPr lang="zh-CN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7F2165-BE9F-47B3-88A9-44244C3BC7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汽车主动安全领域，正在经历一场关键的技术进化。行业对制动决策的要求，早已从简单的踩刹车，变成需要更早响应、更可靠的决策输出。</a:t>
            </a:r>
            <a:r>
              <a:rPr lang="en-US" altLang="zh-CN" dirty="0"/>
              <a:t>
</a:t>
            </a:r>
            <a:r>
              <a:rPr lang="zh-CN" altLang="en-US" dirty="0"/>
              <a:t>面对复杂多变的道路环境，传统响应式控制依赖固定规则，很难适配不同车速和路面附着条件的变化。风险出现才触发响应，往往错过最佳干预窗口，同时很难兼顾安全、停车精度和乘坐舒适性三个核心目标。</a:t>
            </a:r>
            <a:r>
              <a:rPr lang="en-US" altLang="zh-CN" dirty="0"/>
              <a:t>
</a:t>
            </a:r>
            <a:r>
              <a:rPr lang="zh-CN" altLang="en-US" dirty="0"/>
              <a:t>我们研究的预测式决策，完全换了一套思路。它会在线预测不同制动动作的最终结果，在执行前就比对所有候选制动轨迹，最终通过多目标代价函数选出最优的制动压力。汽车安全的核心，正在从</a:t>
            </a:r>
            <a:r>
              <a:rPr lang="en-US" altLang="zh-CN" dirty="0"/>
              <a:t>“</a:t>
            </a:r>
            <a:r>
              <a:rPr lang="zh-CN" altLang="en-US" dirty="0"/>
              <a:t>出事才制动</a:t>
            </a:r>
            <a:r>
              <a:rPr lang="en-US" altLang="zh-CN" dirty="0"/>
              <a:t>”</a:t>
            </a:r>
            <a:r>
              <a:rPr lang="zh-CN" altLang="en-US" dirty="0"/>
              <a:t>的及时制动，全面转向</a:t>
            </a:r>
            <a:r>
              <a:rPr lang="en-US" altLang="zh-CN" dirty="0"/>
              <a:t>“</a:t>
            </a:r>
            <a:r>
              <a:rPr lang="zh-CN" altLang="en-US" dirty="0"/>
              <a:t>防患未然</a:t>
            </a:r>
            <a:r>
              <a:rPr lang="en-US" altLang="zh-CN" dirty="0"/>
              <a:t>”</a:t>
            </a:r>
            <a:r>
              <a:rPr lang="zh-CN" altLang="en-US" dirty="0"/>
              <a:t>的提前制动与决策制动。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7F2165-BE9F-47B3-88A9-44244C3BC7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我们的研究核心问题，已经从传统的</a:t>
            </a:r>
            <a:r>
              <a:rPr lang="en-US" altLang="zh-CN" dirty="0"/>
              <a:t>“</a:t>
            </a:r>
            <a:r>
              <a:rPr lang="zh-CN" altLang="en-US" dirty="0"/>
              <a:t>拟合车辆动力学</a:t>
            </a:r>
            <a:r>
              <a:rPr lang="en-US" altLang="zh-CN" dirty="0"/>
              <a:t>”</a:t>
            </a:r>
            <a:r>
              <a:rPr lang="zh-CN" altLang="en-US" dirty="0"/>
              <a:t>转向</a:t>
            </a:r>
            <a:r>
              <a:rPr lang="en-US" altLang="zh-CN" dirty="0"/>
              <a:t>“</a:t>
            </a:r>
            <a:r>
              <a:rPr lang="zh-CN" altLang="en-US" dirty="0"/>
              <a:t>预测式决策</a:t>
            </a:r>
            <a:r>
              <a:rPr lang="en-US" altLang="zh-CN" dirty="0"/>
              <a:t>”</a:t>
            </a:r>
            <a:r>
              <a:rPr lang="zh-CN" altLang="en-US" dirty="0"/>
              <a:t>。我们的最终目标很明确：给定当前车辆和环境状态，在线选择合适的制动轨迹，让车辆安全、精准、平顺停在障碍物前。</a:t>
            </a:r>
            <a:r>
              <a:rPr lang="en-US" altLang="zh-CN" dirty="0"/>
              <a:t>
</a:t>
            </a:r>
            <a:r>
              <a:rPr lang="zh-CN" altLang="en-US" dirty="0"/>
              <a:t>我们用四个变量描述当前系统状态，分别是当前车速、当前和障碍物的距离、当前减速度，以及当前路面附着系数。我们需要输出的动作，包括每一时刻的制动主缸压力，以及一整条完整的制动轨迹。</a:t>
            </a:r>
            <a:r>
              <a:rPr lang="en-US" altLang="zh-CN" dirty="0"/>
              <a:t>
</a:t>
            </a:r>
            <a:r>
              <a:rPr lang="zh-CN" altLang="en-US" dirty="0"/>
              <a:t>我们的优化目标分为三层：第一层是核心安全底线，绝对不能撞到障碍物；第二层要求停车位置精准，尽量停在预设安全距离处；第三层要保障乘坐舒适性，限制减速度和制动压力的突变。</a:t>
            </a:r>
            <a:r>
              <a:rPr lang="en-US" altLang="zh-CN" dirty="0"/>
              <a:t>
</a:t>
            </a:r>
            <a:r>
              <a:rPr lang="zh-CN" altLang="en-US" dirty="0"/>
              <a:t>整个研究最核心的转变在于，我们用的世界模型不再只是一个单纯的动力学预测器，它变成规划器内部的快速虚拟环境，支撑我们提前试错选最优方案。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7F2165-BE9F-47B3-88A9-44244C3BC7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我们的研究核心问题，已经从传统的</a:t>
            </a:r>
            <a:r>
              <a:rPr lang="en-US" altLang="zh-CN" dirty="0"/>
              <a:t>“</a:t>
            </a:r>
            <a:r>
              <a:rPr lang="zh-CN" altLang="en-US" dirty="0"/>
              <a:t>拟合车辆动力学</a:t>
            </a:r>
            <a:r>
              <a:rPr lang="en-US" altLang="zh-CN" dirty="0"/>
              <a:t>”</a:t>
            </a:r>
            <a:r>
              <a:rPr lang="zh-CN" altLang="en-US" dirty="0"/>
              <a:t>转向</a:t>
            </a:r>
            <a:r>
              <a:rPr lang="en-US" altLang="zh-CN" dirty="0"/>
              <a:t>“</a:t>
            </a:r>
            <a:r>
              <a:rPr lang="zh-CN" altLang="en-US" dirty="0"/>
              <a:t>预测式决策</a:t>
            </a:r>
            <a:r>
              <a:rPr lang="en-US" altLang="zh-CN" dirty="0"/>
              <a:t>”</a:t>
            </a:r>
            <a:r>
              <a:rPr lang="zh-CN" altLang="en-US" dirty="0"/>
              <a:t>。我们的最终目标很明确：给定当前车辆和环境状态，在线选择合适的制动轨迹，让车辆安全、精准、平顺停在障碍物前。</a:t>
            </a:r>
            <a:r>
              <a:rPr lang="en-US" altLang="zh-CN" dirty="0"/>
              <a:t>
</a:t>
            </a:r>
            <a:r>
              <a:rPr lang="zh-CN" altLang="en-US" dirty="0"/>
              <a:t>我们用四个变量描述当前系统状态，分别是当前车速、当前和障碍物的距离、当前减速度，以及当前路面附着系数。我们需要输出的动作，包括每一时刻的制动主缸压力，以及一整条完整的制动轨迹。</a:t>
            </a:r>
            <a:r>
              <a:rPr lang="en-US" altLang="zh-CN" dirty="0"/>
              <a:t>
</a:t>
            </a:r>
            <a:r>
              <a:rPr lang="zh-CN" altLang="en-US" dirty="0"/>
              <a:t>我们的优化目标分为三层：第一层是核心安全底线，绝对不能撞到障碍物；第二层要求停车位置精准，尽量停在预设安全距离处；第三层要保障乘坐舒适性，限制减速度和制动压力的突变。</a:t>
            </a:r>
            <a:r>
              <a:rPr lang="en-US" altLang="zh-CN" dirty="0"/>
              <a:t>
</a:t>
            </a:r>
            <a:r>
              <a:rPr lang="zh-CN" altLang="en-US" dirty="0"/>
              <a:t>整个研究最核心的转变在于，我们用的世界模型不再只是一个单纯的动力学预测器，它变成规划器内部的快速虚拟环境，支撑我们提前试错选最优方案。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7F2165-BE9F-47B3-88A9-44244C3BC7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我们的研究核心问题，已经从传统的</a:t>
            </a:r>
            <a:r>
              <a:rPr lang="en-US" altLang="zh-CN" dirty="0"/>
              <a:t>“</a:t>
            </a:r>
            <a:r>
              <a:rPr lang="zh-CN" altLang="en-US" dirty="0"/>
              <a:t>拟合车辆动力学</a:t>
            </a:r>
            <a:r>
              <a:rPr lang="en-US" altLang="zh-CN" dirty="0"/>
              <a:t>”</a:t>
            </a:r>
            <a:r>
              <a:rPr lang="zh-CN" altLang="en-US" dirty="0"/>
              <a:t>转向</a:t>
            </a:r>
            <a:r>
              <a:rPr lang="en-US" altLang="zh-CN" dirty="0"/>
              <a:t>“</a:t>
            </a:r>
            <a:r>
              <a:rPr lang="zh-CN" altLang="en-US" dirty="0"/>
              <a:t>预测式决策</a:t>
            </a:r>
            <a:r>
              <a:rPr lang="en-US" altLang="zh-CN" dirty="0"/>
              <a:t>”</a:t>
            </a:r>
            <a:r>
              <a:rPr lang="zh-CN" altLang="en-US" dirty="0"/>
              <a:t>。我们的最终目标很明确：给定当前车辆和环境状态，在线选择合适的制动轨迹，让车辆安全、精准、平顺停在障碍物前。</a:t>
            </a:r>
            <a:r>
              <a:rPr lang="en-US" altLang="zh-CN" dirty="0"/>
              <a:t>
</a:t>
            </a:r>
            <a:r>
              <a:rPr lang="zh-CN" altLang="en-US" dirty="0"/>
              <a:t>我们用四个变量描述当前系统状态，分别是当前车速、当前和障碍物的距离、当前减速度，以及当前路面附着系数。我们需要输出的动作，包括每一时刻的制动主缸压力，以及一整条完整的制动轨迹。</a:t>
            </a:r>
            <a:r>
              <a:rPr lang="en-US" altLang="zh-CN" dirty="0"/>
              <a:t>
</a:t>
            </a:r>
            <a:r>
              <a:rPr lang="zh-CN" altLang="en-US" dirty="0"/>
              <a:t>我们的优化目标分为三层：第一层是核心安全底线，绝对不能撞到障碍物；第二层要求停车位置精准，尽量停在预设安全距离处；第三层要保障乘坐舒适性，限制减速度和制动压力的突变。</a:t>
            </a:r>
            <a:r>
              <a:rPr lang="en-US" altLang="zh-CN" dirty="0"/>
              <a:t>
</a:t>
            </a:r>
            <a:r>
              <a:rPr lang="zh-CN" altLang="en-US" dirty="0"/>
              <a:t>整个研究最核心的转变在于，我们用的世界模型不再只是一个单纯的动力学预测器，它变成规划器内部的快速虚拟环境，支撑我们提前试错选最优方案。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7F2165-BE9F-47B3-88A9-44244C3BC7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7F2165-BE9F-47B3-88A9-44244C3BC7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机理模型使用一个可解释的纵向制动近似。制动力与主缸压力线性相关，但实际制动力不能超过路面附着上限。之后通过牛顿第二定律计算减速度，再用离散积分更新速度。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车辆质量取一千八百千克，采样周期零点零五秒。这个模型虽然简化，但非常适合做基线、单元测试和规划器初始验证。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公式页要讲慢一点。先说压力映射到理论制动力，再说附着上限裁剪，接着由力得到减速度，最后离散更新速度。这里的重点不是公式复杂，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而是它给了后续神经网络一个可解释基线，也给规划器提供了最小可运行环境。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页面要点：F_brake = k * P；F_actual = min(F_brake, mu * m * g)；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a_next = -F_actual / m；v_next = max(v + a_next * dt, 0)。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7F2165-BE9F-47B3-88A9-44244C3BC7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我们的研究核心问题，已经从传统的</a:t>
            </a:r>
            <a:r>
              <a:rPr lang="en-US" altLang="zh-CN" dirty="0"/>
              <a:t>“</a:t>
            </a:r>
            <a:r>
              <a:rPr lang="zh-CN" altLang="en-US" dirty="0"/>
              <a:t>拟合车辆动力学</a:t>
            </a:r>
            <a:r>
              <a:rPr lang="en-US" altLang="zh-CN" dirty="0"/>
              <a:t>”</a:t>
            </a:r>
            <a:r>
              <a:rPr lang="zh-CN" altLang="en-US" dirty="0"/>
              <a:t>转向</a:t>
            </a:r>
            <a:r>
              <a:rPr lang="en-US" altLang="zh-CN" dirty="0"/>
              <a:t>“</a:t>
            </a:r>
            <a:r>
              <a:rPr lang="zh-CN" altLang="en-US" dirty="0"/>
              <a:t>预测式决策</a:t>
            </a:r>
            <a:r>
              <a:rPr lang="en-US" altLang="zh-CN" dirty="0"/>
              <a:t>”</a:t>
            </a:r>
            <a:r>
              <a:rPr lang="zh-CN" altLang="en-US" dirty="0"/>
              <a:t>。我们的最终目标很明确：给定当前车辆和环境状态，在线选择合适的制动轨迹，让车辆安全、精准、平顺停在障碍物前。</a:t>
            </a:r>
            <a:r>
              <a:rPr lang="en-US" altLang="zh-CN" dirty="0"/>
              <a:t>
</a:t>
            </a:r>
            <a:r>
              <a:rPr lang="zh-CN" altLang="en-US" dirty="0"/>
              <a:t>我们用四个变量描述当前系统状态，分别是当前车速、当前和障碍物的距离、当前减速度，以及当前路面附着系数。我们需要输出的动作，包括每一时刻的制动主缸压力，以及一整条完整的制动轨迹。</a:t>
            </a:r>
            <a:r>
              <a:rPr lang="en-US" altLang="zh-CN" dirty="0"/>
              <a:t>
</a:t>
            </a:r>
            <a:r>
              <a:rPr lang="zh-CN" altLang="en-US" dirty="0"/>
              <a:t>我们的优化目标分为三层：第一层是核心安全底线，绝对不能撞到障碍物；第二层要求停车位置精准，尽量停在预设安全距离处；第三层要保障乘坐舒适性，限制减速度和制动压力的突变。</a:t>
            </a:r>
            <a:r>
              <a:rPr lang="en-US" altLang="zh-CN" dirty="0"/>
              <a:t>
</a:t>
            </a:r>
            <a:r>
              <a:rPr lang="zh-CN" altLang="en-US" dirty="0"/>
              <a:t>整个研究最核心的转变在于，我们用的世界模型不再只是一个单纯的动力学预测器，它变成规划器内部的快速虚拟环境，支撑我们提前试错选最优方案。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7F2165-BE9F-47B3-88A9-44244C3BC7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我们的研究核心问题，已经从传统的</a:t>
            </a:r>
            <a:r>
              <a:rPr lang="en-US" altLang="zh-CN" dirty="0"/>
              <a:t>“</a:t>
            </a:r>
            <a:r>
              <a:rPr lang="zh-CN" altLang="en-US" dirty="0"/>
              <a:t>拟合车辆动力学</a:t>
            </a:r>
            <a:r>
              <a:rPr lang="en-US" altLang="zh-CN" dirty="0"/>
              <a:t>”</a:t>
            </a:r>
            <a:r>
              <a:rPr lang="zh-CN" altLang="en-US" dirty="0"/>
              <a:t>转向</a:t>
            </a:r>
            <a:r>
              <a:rPr lang="en-US" altLang="zh-CN" dirty="0"/>
              <a:t>“</a:t>
            </a:r>
            <a:r>
              <a:rPr lang="zh-CN" altLang="en-US" dirty="0"/>
              <a:t>预测式决策</a:t>
            </a:r>
            <a:r>
              <a:rPr lang="en-US" altLang="zh-CN" dirty="0"/>
              <a:t>”</a:t>
            </a:r>
            <a:r>
              <a:rPr lang="zh-CN" altLang="en-US" dirty="0"/>
              <a:t>。我们的最终目标很明确：给定当前车辆和环境状态，在线选择合适的制动轨迹，让车辆安全、精准、平顺停在障碍物前。</a:t>
            </a:r>
            <a:r>
              <a:rPr lang="en-US" altLang="zh-CN" dirty="0"/>
              <a:t>
</a:t>
            </a:r>
            <a:r>
              <a:rPr lang="zh-CN" altLang="en-US" dirty="0"/>
              <a:t>我们用四个变量描述当前系统状态，分别是当前车速、当前和障碍物的距离、当前减速度，以及当前路面附着系数。我们需要输出的动作，包括每一时刻的制动主缸压力，以及一整条完整的制动轨迹。</a:t>
            </a:r>
            <a:r>
              <a:rPr lang="en-US" altLang="zh-CN" dirty="0"/>
              <a:t>
</a:t>
            </a:r>
            <a:r>
              <a:rPr lang="zh-CN" altLang="en-US" dirty="0"/>
              <a:t>我们的优化目标分为三层：第一层是核心安全底线，绝对不能撞到障碍物；第二层要求停车位置精准，尽量停在预设安全距离处；第三层要保障乘坐舒适性，限制减速度和制动压力的突变。</a:t>
            </a:r>
            <a:r>
              <a:rPr lang="en-US" altLang="zh-CN" dirty="0"/>
              <a:t>
</a:t>
            </a:r>
            <a:r>
              <a:rPr lang="zh-CN" altLang="en-US" dirty="0"/>
              <a:t>整个研究最核心的转变在于，我们用的世界模型不再只是一个单纯的动力学预测器，它变成规划器内部的快速虚拟环境，支撑我们提前试错选最优方案。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7F2165-BE9F-47B3-88A9-44244C3BC7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5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第一版世界模型是 MLP，用来验证单步动力学是否可学习。从预测对比图可以看到，模型输出与机理标签高度重合。这个结果说明数据生成、归一化、</a:t>
            </a:r>
            <a:endParaRPr lang="zh-CN" altLang="en-US" sz="125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训练和推理链路是正确的。但 MLP 的限制也很清楚：它只看当前状态，无法表达压力建立、液压滞后和轮胎状态随时间变化的影响，所以它适合作为基线，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不适合作为最终时序底座。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这一页可以把 MLP 定位为工程基线。它证明数据生成、训练、归一化、推理和指标评估链路是通的，但它没有记忆历史压力和动态响应。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由此自然引出后面使用 LSTM/GRU 的必要性。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页面要点：单步动力学可以被准确学习；MLP 验证了数据生成、归一化和推理链路；局限：没有显式历史依赖。</a:t>
            </a:r>
            <a:endParaRPr lang="zh-CN" altLang="en-US" sz="112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00000-0000-4000-8000-000000001009}" type="slidenum">
              <a:rPr lang="zh-CN" altLang="en-US" sz="1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5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为了让机理模型和 CarSim 数据都能进入同一套训练代码，我们设计了统一数据接口。核心字段包括当前速度、当前加速度、压力、附着系数，</a:t>
            </a:r>
            <a:endParaRPr lang="zh-CN" altLang="en-US" sz="125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以及下一时刻速度和加速度。CarSim 可以额外保留初速度、来源、参考风险等字段，但训练接口只依赖前九个核心字段。这个设计减少了后续工程切换成本。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统一字段是工程可维护性的核心。建议强调同一套训练接口可以接收机理数据和 CarSim 数据，差异字段保留在数据集里，但模型只依赖规范输入输出。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这样后续加入更多传感器或换仿真器时，接口不会混乱。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页面要点：trajectory_id、step、time_s；v_mps、a_mps2、pressure_MPa、mu；v_next_mps、</a:t>
            </a:r>
            <a:endParaRPr lang="zh-CN" altLang="en-US" sz="1120"/>
          </a:p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a_next_mps2；CarSim 附加字段保留，但训练接口不依赖。</a:t>
            </a:r>
            <a:endParaRPr lang="zh-CN" altLang="en-US" sz="112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000000-0000-4000-8000-000000001010}" type="slidenum">
              <a:rPr lang="zh-CN" altLang="en-US" sz="1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从这一页开始进入引入</a:t>
            </a:r>
            <a:r>
              <a:rPr lang="en-US" altLang="zh-CN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CarSim</a:t>
            </a:r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和</a:t>
            </a:r>
            <a:r>
              <a:rPr lang="en-US" altLang="zh-CN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LSTM</a:t>
            </a:r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、</a:t>
            </a:r>
            <a:r>
              <a:rPr lang="en-US" altLang="zh-CN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GRU</a:t>
            </a:r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模型的部分。</a:t>
            </a:r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为了建模制动过程的历史依赖，我们把输入从单个点改成最近五个时间步的序列。每一步包含速度、加速度、压力和附着系数。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这样模型能看到压力如何逐步建立、速度如何连续下降，而不是只在当前点做静态映射。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这里要说明从单步样本到序列样本的变化。循环网络看到最近 K 个时间步，因此能捕捉压力变化和车辆响应之间的滞后关系。默认 K 等于 5 是当前消融后的工程折中，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不是理论上唯一选择。</a:t>
            </a:r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页面要点：输入变为最近 K 个时间步；默认 K = 5；特征：速度、加速度、压力、附着；目标：下一时刻速度和加速度。</a:t>
            </a:r>
            <a:endParaRPr lang="zh-CN" altLang="en-US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7F2165-BE9F-47B3-88A9-44244C3BC7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7F2165-BE9F-47B3-88A9-44244C3BC7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从这一页开始进入引入</a:t>
            </a:r>
            <a:r>
              <a:rPr lang="en-US" altLang="zh-CN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CarSim</a:t>
            </a:r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和</a:t>
            </a:r>
            <a:r>
              <a:rPr lang="en-US" altLang="zh-CN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LSTM</a:t>
            </a:r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、</a:t>
            </a:r>
            <a:r>
              <a:rPr lang="en-US" altLang="zh-CN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GRU</a:t>
            </a:r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模型的部分。</a:t>
            </a:r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为了建模制动过程的历史依赖，我们把输入从单个点改成最近五个时间步的序列。每一步包含速度、加速度、压力和附着系数。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这样模型能看到压力如何逐步建立、速度如何连续下降，而不是只在当前点做静态映射。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这里要说明从单步样本到序列样本的变化。循环网络看到最近 K 个时间步，因此能捕捉压力变化和车辆响应之间的滞后关系。默认 K 等于 5 是当前消融后的工程折中，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不是理论上唯一选择。</a:t>
            </a:r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页面要点：输入变为最近 K 个时间步；默认 K = 5；特征：速度、加速度、压力、附着；目标：下一时刻速度和加速度。</a:t>
            </a:r>
            <a:endParaRPr lang="zh-CN" altLang="en-US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7F2165-BE9F-47B3-88A9-44244C3BC7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CarSim 联合仿真的关键是 VehicleSim S-Function 接口。我们从 Simulink 输入四个制动压力信号，对应四个车轮；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CarSim 输出纵向速度和纵向加速度。当前 CarSim 2019 的运行文件参数名是 `SIMFILE`，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因此脚本会把不同工况的 `.sim` 文件切换到同一个联合仿真模型里运行。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讲接口时可以把它当成一个数据管道：Simulink 发送四轮制动压力，VehicleSim S-Function 返回车速和加速度。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通过 SIMFILE 切换不同 CarSim Run，能够批量采集工况矩阵。强调四轮同压是当前一维纵向任务的简化假设。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页面要点：输入：IMP_PBK_L1/L2/R1/R2；输出：Vx_SM、Ax_SM；同一个压力指令发送到四个车轮；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通过 SIMFILE 切换 CarSim Run。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7F2165-BE9F-47B3-88A9-44244C3BC7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这一页展示单工况冒烟测试。输入是八十公里每小时、附着系数零点八五、二兆帕制动压力，仿真两点五秒。</a:t>
            </a:r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结果显示速度确实下降，压力信号有效，输出没有 NaN，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最小加速度约负三点二三八米每二次方秒。</a:t>
            </a:r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这一步验证的是联合仿真通道本身：压力能进去，车辆响应能出来。</a:t>
            </a:r>
            <a:endParaRPr lang="zh-CN" altLang="en-US"/>
          </a:p>
          <a:p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冒烟测试不是最终实验，而是验证接口正确性的第一关。</a:t>
            </a:r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这里要说明初速度、附着和压力给定后，CarSim 返回了连续车速下降和负加速度，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说明压力输入确实进入车辆模型。PASS 代表链路能跑通。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页面要点：80 km/h，mu = 0.85，压力 = 2 MPa；仿真 2.5 s，2501 个样本；末速度：58.373 km/h；最小加速度：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-3.238 m/s²。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7F2165-BE9F-47B3-88A9-44244C3BC7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单工况通过之后，我们进一步检查边界工况矩阵。这里选择低、中、高三个初速度，并在低附着零点二和高附着零点八下各跑一次，总计六个代表性工况。</a:t>
            </a:r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六个工况都通过了初速度匹配、制动响应和有效输出检查。</a:t>
            </a:r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图中可以看到，高附着工况的峰值减速度明显更强，这符合物理预期。</a:t>
            </a:r>
            <a:endParaRPr lang="zh-CN" altLang="en-US"/>
          </a:p>
          <a:p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矩阵冒烟测试的价值在于覆盖边界组合。低速、高速、低附着、高附着都有效，说明不是单一工况偶然成功。讲表格时重点看 valid 全部为 1，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以及不同附着下减速度差异明显。</a:t>
            </a:r>
            <a:endParaRPr lang="zh-CN" altLang="en-US"/>
          </a:p>
          <a:p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页面要点：6 个代表性边界工况；速度：20 / 80 / 120 km/h；附着：0.2 和 0.8；6 个工况全部有效。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7F2165-BE9F-47B3-88A9-44244C3BC7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完整 CarSim 数据集覆盖六档初速度和四档附着系数，每个物理工况下使用五条不同压力轨迹，总计一百二十条轨迹。</a:t>
            </a:r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左侧热力图显示每个速度和附着组合都有数据，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右侧压力轨迹说明我们不是只用恒定压力，而是包含变化压力曲线。</a:t>
            </a:r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这样训练出来的模型更接近实际控制中会遇到的输入序列。</a:t>
            </a:r>
            <a:endParaRPr lang="zh-CN" altLang="en-US"/>
          </a:p>
          <a:p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这一页说明数据采集已经从单点验证扩展到完整矩阵。</a:t>
            </a:r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六档速度、四档附着、五类压力轨迹形成 120 条轨迹。</a:t>
            </a:r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压力轨迹不是单一恒压，而是更接近规划器未来会生成的多样动作序列。</a:t>
            </a:r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压力从</a:t>
            </a:r>
            <a:r>
              <a:rPr lang="en-US" altLang="zh-CN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 0 MPa </a:t>
            </a:r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开始。</a:t>
            </a:r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随机生成一个目标压力</a:t>
            </a:r>
            <a:r>
              <a:rPr lang="en-US" altLang="zh-CN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 target</a:t>
            </a:r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，范围是</a:t>
            </a:r>
            <a:r>
              <a:rPr lang="en-US" altLang="zh-CN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 0 </a:t>
            </a:r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到</a:t>
            </a:r>
            <a:r>
              <a:rPr lang="en-US" altLang="zh-CN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 10 MPa</a:t>
            </a:r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。</a:t>
            </a:r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这个目标压力保持一小段时间，大约</a:t>
            </a:r>
            <a:r>
              <a:rPr lang="en-US" altLang="zh-CN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 8 </a:t>
            </a:r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到</a:t>
            </a:r>
            <a:r>
              <a:rPr lang="en-US" altLang="zh-CN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 30 </a:t>
            </a:r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个采样点。</a:t>
            </a:r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采样步长是</a:t>
            </a:r>
            <a:r>
              <a:rPr lang="en-US" altLang="zh-CN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 0.05 s</a:t>
            </a:r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，所以一段目标压力大约持续</a:t>
            </a:r>
            <a:r>
              <a:rPr lang="en-US" altLang="zh-CN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 0.4 </a:t>
            </a:r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到</a:t>
            </a:r>
            <a:r>
              <a:rPr lang="en-US" altLang="zh-CN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 1.5 s</a:t>
            </a:r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。</a:t>
            </a:r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实际压力不会瞬间跳到目标值，而是按一阶惯性慢慢靠近</a:t>
            </a:r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页面要点：6 档速度 × 4 档附着；每个物理工况 5 条压力轨迹；总计 120 条轨迹；13,070 条原始状态转移。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7F2165-BE9F-47B3-88A9-44244C3BC7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这张图从完整数据集中汇总每个工况的峰值减速度。</a:t>
            </a:r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可以看到不同附着系数形成了非常清晰的分层：零点二低附着接近二米每二次方秒，零点八高附着超过七米每二次方秒。</a:t>
            </a:r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这个结果说明 CarSim 数据不仅能跑通，而且在物理趋势上符合路面附着限制。</a:t>
            </a:r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这里要把 CarSim 和机理模型联系起来：虽然 CarSim 更复杂，但附着越高峰值减速度越大的分层仍然清晰。</a:t>
            </a:r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这说明高保真数据保留了关键物理规律，也解释了为什么加速度预测比速度预测更难。</a:t>
            </a:r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页面要点：mu = 0.2：峰值减速度约 2 m/s²；mu = 0.8：峰值减速度超过 7 m/s²；CarSim 响应符合附着限制分层。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7F2165-BE9F-47B3-88A9-44244C3BC7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在规划器里，世界模型不是只调用一次，而是每个控制时刻都要对很多候选压力序列反复滚动预测。</a:t>
            </a:r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因此模型不仅要准，还要轻量。</a:t>
            </a:r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LSTM 表达能力强，但参数更多；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GRU 门结构更简洁，通常能用更少参数捕捉短期动态，</a:t>
            </a:r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更适合作为当前采样式 MPC 的快速世界模型。</a:t>
            </a:r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我们没有凭直觉选择，而是做了统一消融实验。</a:t>
            </a:r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页面要点：LSTM：表达能力强，但参数更多；GRU：门结构更少，推理成本更低；规划器每个控制步会多次调用模型；需要同时兼顾精度和计算效率。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7F2165-BE9F-47B3-88A9-44244C3BC7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消融实验采用科学对比方式。我们固定随机种子、轨迹级划分、四十个训练轮次和物理损失权重，只改变循环单元、序列长度和模型深度。</a:t>
            </a:r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这样得到的差异主要来自结构本身，而不是训练设置变化。</a:t>
            </a:r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这个实验也回应了一个常见问题：是不是模型越深、序列越长就越好。</a:t>
            </a:r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消融实验要突出公平性：循环单元、序列长度和结构规模在同一训练设置下比较。</a:t>
            </a:r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这样选择 GRU 不是主观偏好，而是由误差、参数量和规划调用成本共同决定。</a:t>
            </a:r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页面要点：循环单元：LSTM 对比 GRU；序列长度：5 对比 50；结构规模：64×1 对比 128×2；固定随机种子、划分方式、训练轮次、PINN 权重。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7F2165-BE9F-47B3-88A9-44244C3BC7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结果显示，推荐配置是短序列、单层、六十四隐藏单元的 GRU。</a:t>
            </a:r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它只有一万七千七百三十个参数，但速度 RMSE 达到零点零六四八米每秒，减速度 RMSE 达到零点零四三一米每二次方秒。</a:t>
            </a:r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与同配置 LSTM 相比，它参数更少，减速度误差显著更低，非常适合作为后续 MPC 的预测底座。</a:t>
            </a:r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从结果可以看出，推荐配置为GRU模型，序列数S5，隐藏状态维度H64，循环网络层数L1，是当前最好折中；</a:t>
            </a:r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减速度误差对制动舒适性和安全距离更敏感，所以不能只看速度误差。</a:t>
            </a:r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页面要点：推荐配置：GRU S5 H64 L1；参数量：17,730；速度 RMSE：0.0648 m/s；加速度 RMSE：0.0431 m/s²。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7F2165-BE9F-47B3-88A9-44244C3BC7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这张散点图进一步说明，模型变大并不自动带来更好的规划价值。</a:t>
            </a:r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长序列深模型在某些速度指标上可能略好，但参数量上升接近一个数量级，而且减速度误差未必同步改善。</a:t>
            </a:r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因为规划器特别依赖减速度预测和实时调用成本，所以我们选择 GRU S5 H64 L1，而不是盲目堆深网络。</a:t>
            </a:r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长序列或大隐藏层可能提升某些指标，但会增加调用成本并影响减速度表现。这里要把选择逻辑拉回工程闭环，而不只是离线排行榜。</a:t>
            </a:r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散点图用来讲“模型越大不一定越好”。</a:t>
            </a:r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页面要点：更大模型不保证更低误差；长序列对部分速度指标有帮助，但会影响减速度表现；短序列 GRU 是当前最合适的工程折中。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7F2165-BE9F-47B3-88A9-44244C3BC7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在选定结构后，我们把同一套 GRU-PINN 训练到 CarSim 数据上。训练采用轨迹级划分，而不是随机打散相邻时间点，避免数据泄漏。训练集九十六条轨迹，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验证集二十四条轨迹，训练四十轮，GPU 用时约十七点二秒。这说明模型训练成本很低，便于反复调参。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CarSim-GRU 是把前面选出的结构迁移到高保真数据。讲训练设置时强调轨迹级划分，避免同一轨迹同时出现在训练和验证中。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训练时间较短说明该结构后续适合集成到在线规划。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页面要点：数据来源：CarSim；GRU S=5，H=64，L=1；训练轨迹 96 条，验证轨迹 24 条；40 epochs，CUDA，17.2 s。</a:t>
            </a:r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CarSim-GRU 在验证集上速度预测仍然非常准确，RMSE 为零点一一七三米每秒，R 方接近一。减速度预测的 RMSE 为零点四四九三米每二次方秒，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R 方为零点九二九二九。这个误差比机理数据高是合理的，因为 CarSim 包含更复杂的轮胎非线性、车身俯仰和停车附近动态。我们把它作为真实难度的体现，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而不是掩盖掉。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这一页要客观看指标：速度预测非常好，加速度预测也有较高 R²，但误差明显大于机理数据。不要把它说成完全解决真实车辆动力学，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而应说它暴露了高保真数据下的非线性难点。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页面要点：v_next RMSE：0.1173 m/s，R² = 0.99981；a_next RMSE：0.4493 m/s²，R² = 0.92929；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CarSim 加速度比机理数据更非线性。</a:t>
            </a:r>
            <a:endParaRPr lang="zh-CN" altLang="en-US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7F2165-BE9F-47B3-88A9-44244C3BC7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这张图把不同数据源和模型的 RMSE 放在一起比较。简化机理数据更平滑，因此模型误差非常低；CarSim 速度仍然容易预测，但加速度误差明显更高。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这个对比有助于解释为什么要引入 CarSim：它让模型面对更真实的物理复杂性，也让评价指标更加诚实。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这页是模型难度总结。机理标签更平滑，CarSim 响应包含更多车辆动力学细节，所以速度容易、加速度难。这个结论解释了为什么后续闭环仍先在机理环境验证，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再推进 CarSim 在线闭环。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页面要点：机理标签更平滑，因此更容易拟合；CarSim 速度仍然较容易预测；CarSim 加速度暴露了高保真动力学难点。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7F2165-BE9F-47B3-88A9-44244C3BC7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7F2165-BE9F-47B3-88A9-44244C3BC7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接下来进入同学 C 的规划部分。规划器的状态包括当前速度、障碍物距离和附着系数，动作是主缸压力。每次规划不是只选一个压力点，而是采样一段未来压力序列。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代价函数综合终点距离误差、减速度舒适性、压力平滑、碰撞惩罚和未刹停惩罚。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规划建模页要把状态、动作和代价对应起来。状态描述当前处境，动作是压力，世界模型负责预测未来，代价函数负责定义“好”的刹停。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可以强调碰撞惩罚和未刹停惩罚是安全闭环的关键项。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页面要点：状态：速度、障碍物距离、附着系数；动作：制动主缸压力；预测时域：候选压力序列；代价：距离、舒适度、平滑性、碰撞、未刹停惩罚。</a:t>
            </a:r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endParaRPr lang="en-US" altLang="zh-CN" dirty="0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我们采用的是采样式 MPC，而不是复杂的解析梯度优化。每个控制时刻生成多条平滑压力曲线，世界模型对每条曲线进行未来展开，然后用代价函数排序。选出最优序列后，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只执行第一步压力，下一时刻根据反馈重新规划。这个方法直观、可解释，也方便后续升级到 MPPI 或 CEM。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采样式 MPC 的讲法可以很直观：先随机或规则生成多条压力序列，再让世界模型逐条展开，计算代价后只执行第一步。下一时刻重新观测、重新采样、重新选择，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这就是 receding horizon 的核心。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页面要点：采样压力序列；用世界模型滚动预测未来轨迹；按总代价为每条序列打分；只执行最优序列的第一步压力。</a:t>
            </a:r>
            <a:endParaRPr lang="zh-CN" altLang="en-US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7F2165-BE9F-47B3-88A9-44244C3BC7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在完整 MPC 之前，我们先实现了一个更简单的一步安全屏障，用于验证距离更新、速度更新和压力选择逻辑。它不是最终控制器，但对于工程调试非常重要。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先把简单闭环跑通，再升级到多步采样规划，可以降低开发风险。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一步安全屏障是早期基线，用来确保距离更新、制动动作和安全约束方向正确。它没有完整 MPC 的多步优化能力，但作为调试层很重要。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可以说它帮助我们在复杂规划器之前先验证最基本的安全逻辑。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页面要点：完整 MPC 之前的早期安全层；根据安全约束选择压力；用于调试距离更新和刹停逻辑。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7F2165-BE9F-47B3-88A9-44244C3BC7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这张图展示当前完整闭环刹停结果。初始速度八十公里每小时，障碍物距离六十五米，附着系数零点六，目标安全距离两米。规划器前段使用较温和的压力，后段提高压力，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最终车辆在约五点零五秒停止，剩余距离一点八四四米，与目标相差零点一五六米，没有碰撞。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结果页要先报场景，再报最终距离。80 km/h、65 米、附着 0.6 下，最终距离接近 2 米安全目标，误差约 0.156 米。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这里强调这是机理执行环境下的闭环结果，说明规划器链路已经可运行。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页面要点：初速度：80 km/h；初始距离：65 m；附着系数：0.6；目标安全距离：2 m。</a:t>
            </a:r>
            <a:endParaRPr lang="zh-CN" altLang="en-US"/>
          </a:p>
          <a:p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这里需要明确项目口径。我们已经完成了 CarSim 数据采集、工况验证和 CarSim-GRU 训练；也完成了机制环境下的 MPC 闭环刹停。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但目前还不能说已经完成 CarSim 在线闭环 MPC，因为刹停演示的执行环境仍是简化机理模型。下一步要做的是把每个实际压力动作发送给 CarSim，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再用 CarSim 反馈滚动重规划。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这一页要诚实划边界。已完成 CarSim 数据和 CarSim-GRU，也完成机理环境 MPC 闭环；尚未声称的是 CarSim 在线闭环 MPC。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主动说明边界会增加可信度，也为下一步工作留下清晰方向。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页面要点：已完成：CarSim 数据集与 CarSim-GRU 训练；已完成：机理执行环境下的 MPC 闭环；尚未声称：CarSim 在线闭环 MPC；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下一步：把每次 MPC 动作发送给 CarSim，并用 CarSim 反馈重规划。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7F2165-BE9F-47B3-88A9-44244C3BC7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从工程交付角度看，仓库已经包含多个可复现模块。MATLAB 侧有机理模型、CarSim 联调脚本和数据采集脚本；Python 侧有时序数据生成、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GRU/LSTM 训练、消融实验和 MPC 规划器；文档侧有中英文 README、CarSim 配置指南、消融实验说明和 PPT 资产生成脚本。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这个项目可以继续扩展，而不是一次性脚本。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工程交付页建议按仓库结构讲，证明项目不是单张实验图。MATLAB、Simulink、CarSim、Python 训练、MPC 和文档资产都已组织好。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这样老师能看到复现路径和后续扩展入口。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页面要点：MATLAB 脚本与 Simulink 模型；CarSim 配置、验证和数据采集工具；Python GRU/LSTM 训练管线；MPC 规划器。</a:t>
            </a:r>
            <a:endParaRPr lang="zh-CN" altLang="en-US"/>
          </a:p>
          <a:p>
            <a:endParaRPr lang="zh-CN" altLang="en-US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最后总结。我们已经把项目从简单的机理数据拟合，推进到 CarSim 高保真数据、GRU-PINN 世界模型和采样式 MPC 决策规划。最重要的结论是，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世界模型的价值不只是预测精度，而是能否进入规划闭环。下一阶段重点是实现 CarSim 在线执行闭环，引入附着系数突变、噪声和制动热衰退场景，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并把随机搜索升级为 MPPI 或 CEM，提高实时性和鲁棒性。谢谢大家。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总结时回到三条主线：数据、模型和规划。最后的下一步不要泛泛而谈，要点名 CarSim 在线 MPC、附着突变、MPPI/CEM 和鲁棒性评估。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结束语可以强调本项目已经完成从数据到闭环的最小闭环原型。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页面要点：数据：机理数据 + CarSim 高保真轨迹；模型：通过消融选择轻量 GRU-PINN；规划：采样式 MPC 实现安全刹停；下一步：</a:t>
            </a:r>
            <a:endParaRPr lang="zh-CN" altLang="en-US"/>
          </a:p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CarSim 在线 MPC、附着突变、MPPI/CEM、鲁棒性评估。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7F2165-BE9F-47B3-88A9-44244C3BC7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7F2165-BE9F-47B3-88A9-44244C3BC7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正常单开页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5343" y="188640"/>
            <a:ext cx="11520680" cy="647992"/>
          </a:xfrm>
        </p:spPr>
        <p:txBody>
          <a:bodyPr vert="horz" lIns="91440" tIns="45720" rIns="91440" bIns="45720" rtlCol="0" anchor="ctr">
            <a:normAutofit/>
            <a:scene3d>
              <a:camera prst="orthographicFront"/>
              <a:lightRig rig="threePt" dir="t"/>
            </a:scene3d>
            <a:sp3d extrusionH="57150">
              <a:bevelT w="25400" h="50800" prst="artDeco"/>
            </a:sp3d>
          </a:bodyPr>
          <a:lstStyle>
            <a:lvl1pPr>
              <a:defRPr lang="zh-CN" altLang="en-US" sz="2800" b="1" baseline="0" dirty="0">
                <a:solidFill>
                  <a:srgbClr val="0070C0"/>
                </a:solidFill>
              </a:defRPr>
            </a:lvl1pPr>
          </a:lstStyle>
          <a:p>
            <a:pPr lvl="0"/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35343" y="940460"/>
            <a:ext cx="11304667" cy="3352636"/>
          </a:xfrm>
        </p:spPr>
        <p:txBody>
          <a:bodyPr>
            <a:normAutofit/>
          </a:bodyPr>
          <a:lstStyle>
            <a:lvl1pPr marL="257175" indent="-257175">
              <a:lnSpc>
                <a:spcPct val="11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q"/>
              <a:defRPr sz="2200" b="1" baseline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1pPr>
            <a:lvl2pPr marL="538480" indent="-250825" algn="l" defTabSz="685800" rtl="0" eaLnBrk="1" latinLnBrk="0" hangingPunct="1">
              <a:lnSpc>
                <a:spcPct val="110000"/>
              </a:lnSpc>
              <a:spcBef>
                <a:spcPts val="900"/>
              </a:spcBef>
              <a:buClrTx/>
              <a:buSzPct val="90000"/>
              <a:buFont typeface="Wingdings" panose="05000000000000000000" pitchFamily="2" charset="2"/>
              <a:buChar char="Ø"/>
              <a:defRPr lang="en-US" altLang="zh-CN" sz="2000" b="1" kern="1200" baseline="0" dirty="0" smtClean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2pPr>
            <a:lvl3pPr marL="808355" indent="-250825" algn="l" defTabSz="685800" rtl="0" eaLnBrk="1" latinLnBrk="0" hangingPunct="1">
              <a:lnSpc>
                <a:spcPct val="110000"/>
              </a:lnSpc>
              <a:spcBef>
                <a:spcPts val="300"/>
              </a:spcBef>
              <a:buClrTx/>
              <a:buSzPct val="80000"/>
              <a:buFont typeface="Arial" panose="020B0604020202020204" pitchFamily="34" charset="0"/>
              <a:buChar char="•"/>
              <a:defRPr lang="en-US" altLang="zh-CN" sz="2000" b="0" kern="1200" baseline="0" dirty="0" smtClean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3pPr>
            <a:lvl4pPr>
              <a:defRPr sz="1500" baseline="0">
                <a:latin typeface="Arial Unicode MS" panose="020B0604020202020204" pitchFamily="34" charset="-122"/>
                <a:ea typeface="黑体" panose="02010609060101010101" pitchFamily="49" charset="-122"/>
              </a:defRPr>
            </a:lvl4pPr>
            <a:lvl5pPr>
              <a:defRPr sz="1500" baseline="0">
                <a:latin typeface="Arial Unicode MS" panose="020B0604020202020204" pitchFamily="34" charset="-122"/>
                <a:ea typeface="黑体" panose="02010609060101010101" pitchFamily="49" charset="-122"/>
              </a:defRPr>
            </a:lvl5pPr>
          </a:lstStyle>
          <a:p>
            <a:pPr lvl="0"/>
            <a:r>
              <a:rPr lang="en-US" altLang="zh-CN" dirty="0"/>
              <a:t>Click to edit Master text style</a:t>
            </a:r>
            <a:endParaRPr lang="en-US" altLang="zh-CN" dirty="0"/>
          </a:p>
          <a:p>
            <a:pPr lvl="1"/>
            <a:r>
              <a:rPr lang="en-US" altLang="zh-CN" dirty="0"/>
              <a:t>Second</a:t>
            </a:r>
            <a:endParaRPr lang="en-US" altLang="zh-CN" dirty="0"/>
          </a:p>
          <a:p>
            <a:pPr lvl="2"/>
            <a:r>
              <a:rPr lang="en-US" altLang="zh-CN" dirty="0"/>
              <a:t>Third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474637" y="6343808"/>
            <a:ext cx="691768" cy="422236"/>
          </a:xfrm>
        </p:spPr>
        <p:txBody>
          <a:bodyPr/>
          <a:lstStyle>
            <a:lvl1pPr algn="ctr">
              <a:defRPr sz="105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1pPr>
          </a:lstStyle>
          <a:p>
            <a:fld id="{ECC5823B-8CA8-4514-B4CF-AB75C2ECDFC9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10" name="图片 14"/>
          <p:cNvPicPr/>
          <p:nvPr userDrawn="1"/>
        </p:nvPicPr>
        <p:blipFill rotWithShape="1">
          <a:blip r:embed="rId2"/>
          <a:srcRect r="85358"/>
          <a:stretch>
            <a:fillRect/>
          </a:stretch>
        </p:blipFill>
        <p:spPr>
          <a:xfrm>
            <a:off x="11280538" y="73605"/>
            <a:ext cx="683964" cy="684000"/>
          </a:xfrm>
          <a:prstGeom prst="rect">
            <a:avLst/>
          </a:prstGeom>
        </p:spPr>
      </p:pic>
      <p:sp>
        <p:nvSpPr>
          <p:cNvPr id="13" name="矩形 15"/>
          <p:cNvSpPr/>
          <p:nvPr userDrawn="1"/>
        </p:nvSpPr>
        <p:spPr>
          <a:xfrm>
            <a:off x="335983" y="845423"/>
            <a:ext cx="11519400" cy="54000"/>
          </a:xfrm>
          <a:prstGeom prst="rect">
            <a:avLst/>
          </a:prstGeom>
          <a:gradFill>
            <a:gsLst>
              <a:gs pos="45000">
                <a:srgbClr val="0070C0"/>
              </a:gs>
              <a:gs pos="100000">
                <a:srgbClr val="0070C0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352" y="1628800"/>
            <a:ext cx="10362660" cy="1437799"/>
          </a:xfrm>
        </p:spPr>
        <p:txBody>
          <a:bodyPr>
            <a:normAutofit/>
            <a:scene3d>
              <a:camera prst="orthographicFront"/>
              <a:lightRig rig="threePt" dir="t"/>
            </a:scene3d>
            <a:sp3d extrusionH="57150">
              <a:bevelT w="57150" h="38100" prst="artDeco"/>
            </a:sp3d>
          </a:bodyPr>
          <a:lstStyle>
            <a:lvl1pPr>
              <a:defRPr sz="3600" b="1" baseline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84833-722B-4C56-85DB-320B9A7E233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823B-8CA8-4514-B4CF-AB75C2ECDFC9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705" y="3645024"/>
            <a:ext cx="8533956" cy="2376275"/>
          </a:xfrm>
        </p:spPr>
        <p:txBody>
          <a:bodyPr>
            <a:normAutofit/>
          </a:bodyPr>
          <a:lstStyle>
            <a:lvl1pPr marL="0" indent="0" algn="ctr">
              <a:lnSpc>
                <a:spcPct val="110000"/>
              </a:lnSpc>
              <a:spcBef>
                <a:spcPts val="600"/>
              </a:spcBef>
              <a:buNone/>
              <a:defRPr lang="en-US" altLang="zh-CN" sz="2200" b="0" kern="1200" baseline="0" dirty="0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  <a:cs typeface="+mn-cs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 dirty="0"/>
              <a:t>Click to edit Master subtitle style</a:t>
            </a:r>
            <a:endParaRPr lang="zh-CN" altLang="en-US" dirty="0"/>
          </a:p>
        </p:txBody>
      </p:sp>
      <p:grpSp>
        <p:nvGrpSpPr>
          <p:cNvPr id="40" name="组合 39"/>
          <p:cNvGrpSpPr/>
          <p:nvPr userDrawn="1"/>
        </p:nvGrpSpPr>
        <p:grpSpPr>
          <a:xfrm>
            <a:off x="23999" y="3248992"/>
            <a:ext cx="12143368" cy="108000"/>
            <a:chOff x="1419154" y="3501008"/>
            <a:chExt cx="6480000" cy="90000"/>
          </a:xfrm>
        </p:grpSpPr>
        <p:sp>
          <p:nvSpPr>
            <p:cNvPr id="38" name="矩形 37"/>
            <p:cNvSpPr/>
            <p:nvPr userDrawn="1"/>
          </p:nvSpPr>
          <p:spPr>
            <a:xfrm>
              <a:off x="4659154" y="3501008"/>
              <a:ext cx="3240000" cy="90000"/>
            </a:xfrm>
            <a:prstGeom prst="rect">
              <a:avLst/>
            </a:prstGeom>
            <a:gradFill>
              <a:gsLst>
                <a:gs pos="45000">
                  <a:srgbClr val="0070C0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39" name="矩形 38"/>
            <p:cNvSpPr/>
            <p:nvPr userDrawn="1"/>
          </p:nvSpPr>
          <p:spPr>
            <a:xfrm flipH="1">
              <a:off x="1419154" y="3501008"/>
              <a:ext cx="3240000" cy="90000"/>
            </a:xfrm>
            <a:prstGeom prst="rect">
              <a:avLst/>
            </a:prstGeom>
            <a:gradFill>
              <a:gsLst>
                <a:gs pos="45000">
                  <a:srgbClr val="0070C0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grpSp>
        <p:nvGrpSpPr>
          <p:cNvPr id="13" name="组合 12"/>
          <p:cNvGrpSpPr/>
          <p:nvPr userDrawn="1"/>
        </p:nvGrpSpPr>
        <p:grpSpPr>
          <a:xfrm>
            <a:off x="479351" y="361219"/>
            <a:ext cx="1844502" cy="576000"/>
            <a:chOff x="1136323" y="419145"/>
            <a:chExt cx="1782423" cy="576000"/>
          </a:xfrm>
        </p:grpSpPr>
        <p:pic>
          <p:nvPicPr>
            <p:cNvPr id="33" name="图片 32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136323" y="425015"/>
              <a:ext cx="575302" cy="558000"/>
            </a:xfrm>
            <a:prstGeom prst="rect">
              <a:avLst/>
            </a:prstGeom>
          </p:spPr>
        </p:pic>
        <p:pic>
          <p:nvPicPr>
            <p:cNvPr id="34" name="图片 33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706511" y="419145"/>
              <a:ext cx="1212235" cy="576000"/>
            </a:xfrm>
            <a:prstGeom prst="rect">
              <a:avLst/>
            </a:prstGeom>
          </p:spPr>
        </p:pic>
      </p:grpSp>
      <p:pic>
        <p:nvPicPr>
          <p:cNvPr id="18" name="图片 17"/>
          <p:cNvPicPr>
            <a:picLocks noChangeAspect="1"/>
          </p:cNvPicPr>
          <p:nvPr userDrawn="1"/>
        </p:nvPicPr>
        <p:blipFill rotWithShape="1">
          <a:blip r:embed="rId4"/>
          <a:srcRect l="18423" r="323"/>
          <a:stretch>
            <a:fillRect/>
          </a:stretch>
        </p:blipFill>
        <p:spPr>
          <a:xfrm>
            <a:off x="2429202" y="332656"/>
            <a:ext cx="3472360" cy="63312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352" y="1628800"/>
            <a:ext cx="10362660" cy="1437799"/>
          </a:xfrm>
        </p:spPr>
        <p:txBody>
          <a:bodyPr>
            <a:normAutofit/>
            <a:scene3d>
              <a:camera prst="orthographicFront"/>
              <a:lightRig rig="threePt" dir="t"/>
            </a:scene3d>
            <a:sp3d extrusionH="57150">
              <a:bevelT w="57150" h="38100" prst="artDeco"/>
            </a:sp3d>
          </a:bodyPr>
          <a:lstStyle>
            <a:lvl1pPr>
              <a:defRPr sz="3600" b="1" baseline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84833-722B-4C56-85DB-320B9A7E233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823B-8CA8-4514-B4CF-AB75C2ECDFC9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705" y="3645024"/>
            <a:ext cx="8533956" cy="2376275"/>
          </a:xfrm>
        </p:spPr>
        <p:txBody>
          <a:bodyPr>
            <a:normAutofit/>
          </a:bodyPr>
          <a:lstStyle>
            <a:lvl1pPr marL="0" indent="0" algn="ctr">
              <a:lnSpc>
                <a:spcPct val="110000"/>
              </a:lnSpc>
              <a:spcBef>
                <a:spcPts val="600"/>
              </a:spcBef>
              <a:buNone/>
              <a:defRPr lang="en-US" altLang="zh-CN" sz="2200" b="0" kern="1200" baseline="0" dirty="0">
                <a:solidFill>
                  <a:srgbClr val="000000"/>
                </a:solidFill>
                <a:latin typeface="Arial" panose="020B0604020202020204"/>
                <a:ea typeface="微软雅黑" panose="020B0503020204020204" charset="-122"/>
                <a:cs typeface="+mn-cs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 dirty="0"/>
              <a:t>Click to edit Master subtitle style</a:t>
            </a:r>
            <a:endParaRPr lang="zh-CN" altLang="en-US" dirty="0"/>
          </a:p>
        </p:txBody>
      </p:sp>
      <p:grpSp>
        <p:nvGrpSpPr>
          <p:cNvPr id="40" name="组合 39"/>
          <p:cNvGrpSpPr/>
          <p:nvPr userDrawn="1"/>
        </p:nvGrpSpPr>
        <p:grpSpPr>
          <a:xfrm>
            <a:off x="23999" y="3248992"/>
            <a:ext cx="12143368" cy="108000"/>
            <a:chOff x="1419154" y="3501008"/>
            <a:chExt cx="6480000" cy="90000"/>
          </a:xfrm>
        </p:grpSpPr>
        <p:sp>
          <p:nvSpPr>
            <p:cNvPr id="38" name="矩形 37"/>
            <p:cNvSpPr/>
            <p:nvPr userDrawn="1"/>
          </p:nvSpPr>
          <p:spPr>
            <a:xfrm>
              <a:off x="4659154" y="3501008"/>
              <a:ext cx="3240000" cy="90000"/>
            </a:xfrm>
            <a:prstGeom prst="rect">
              <a:avLst/>
            </a:prstGeom>
            <a:gradFill>
              <a:gsLst>
                <a:gs pos="45000">
                  <a:srgbClr val="0070C0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39" name="矩形 38"/>
            <p:cNvSpPr/>
            <p:nvPr userDrawn="1"/>
          </p:nvSpPr>
          <p:spPr>
            <a:xfrm flipH="1">
              <a:off x="1419154" y="3501008"/>
              <a:ext cx="3240000" cy="90000"/>
            </a:xfrm>
            <a:prstGeom prst="rect">
              <a:avLst/>
            </a:prstGeom>
            <a:gradFill>
              <a:gsLst>
                <a:gs pos="45000">
                  <a:srgbClr val="0070C0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正常单开页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5343" y="188640"/>
            <a:ext cx="11520680" cy="647992"/>
          </a:xfrm>
        </p:spPr>
        <p:txBody>
          <a:bodyPr vert="horz" lIns="91440" tIns="45720" rIns="91440" bIns="45720" rtlCol="0" anchor="ctr">
            <a:normAutofit/>
            <a:scene3d>
              <a:camera prst="orthographicFront"/>
              <a:lightRig rig="threePt" dir="t"/>
            </a:scene3d>
            <a:sp3d extrusionH="57150">
              <a:bevelT w="25400" h="50800" prst="artDeco"/>
            </a:sp3d>
          </a:bodyPr>
          <a:lstStyle>
            <a:lvl1pPr>
              <a:defRPr lang="zh-CN" altLang="en-US" sz="2800" b="1" baseline="0" dirty="0">
                <a:solidFill>
                  <a:srgbClr val="0070C0"/>
                </a:solidFill>
              </a:defRPr>
            </a:lvl1pPr>
          </a:lstStyle>
          <a:p>
            <a:pPr lvl="0"/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35343" y="940460"/>
            <a:ext cx="11304667" cy="3352636"/>
          </a:xfrm>
        </p:spPr>
        <p:txBody>
          <a:bodyPr>
            <a:normAutofit/>
          </a:bodyPr>
          <a:lstStyle>
            <a:lvl1pPr marL="257175" indent="-257175">
              <a:lnSpc>
                <a:spcPct val="11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q"/>
              <a:defRPr sz="2200" b="1" baseline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1pPr>
            <a:lvl2pPr marL="538480" indent="-250825" algn="l" defTabSz="685800" rtl="0" eaLnBrk="1" latinLnBrk="0" hangingPunct="1">
              <a:lnSpc>
                <a:spcPct val="110000"/>
              </a:lnSpc>
              <a:spcBef>
                <a:spcPts val="900"/>
              </a:spcBef>
              <a:buClrTx/>
              <a:buSzPct val="90000"/>
              <a:buFont typeface="Wingdings" panose="05000000000000000000" pitchFamily="2" charset="2"/>
              <a:buChar char="Ø"/>
              <a:defRPr lang="en-US" altLang="zh-CN" sz="2000" b="1" kern="1200" baseline="0" dirty="0" smtClean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2pPr>
            <a:lvl3pPr marL="808355" indent="-250825" algn="l" defTabSz="685800" rtl="0" eaLnBrk="1" latinLnBrk="0" hangingPunct="1">
              <a:lnSpc>
                <a:spcPct val="110000"/>
              </a:lnSpc>
              <a:spcBef>
                <a:spcPts val="300"/>
              </a:spcBef>
              <a:buClrTx/>
              <a:buSzPct val="80000"/>
              <a:buFont typeface="Arial" panose="020B0604020202020204" pitchFamily="34" charset="0"/>
              <a:buChar char="•"/>
              <a:defRPr lang="en-US" altLang="zh-CN" sz="2000" b="0" kern="1200" baseline="0" dirty="0" smtClean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3pPr>
            <a:lvl4pPr>
              <a:defRPr sz="1500" baseline="0">
                <a:latin typeface="Arial Unicode MS" panose="020B0604020202020204" pitchFamily="34" charset="-122"/>
                <a:ea typeface="黑体" panose="02010609060101010101" pitchFamily="49" charset="-122"/>
              </a:defRPr>
            </a:lvl4pPr>
            <a:lvl5pPr>
              <a:defRPr sz="1500" baseline="0">
                <a:latin typeface="Arial Unicode MS" panose="020B0604020202020204" pitchFamily="34" charset="-122"/>
                <a:ea typeface="黑体" panose="02010609060101010101" pitchFamily="49" charset="-122"/>
              </a:defRPr>
            </a:lvl5pPr>
          </a:lstStyle>
          <a:p>
            <a:pPr lvl="0"/>
            <a:r>
              <a:rPr lang="en-US" altLang="zh-CN" dirty="0"/>
              <a:t>Click to edit Master text style</a:t>
            </a:r>
            <a:endParaRPr lang="en-US" altLang="zh-CN" dirty="0"/>
          </a:p>
          <a:p>
            <a:pPr lvl="1"/>
            <a:r>
              <a:rPr lang="en-US" altLang="zh-CN" dirty="0"/>
              <a:t>Second</a:t>
            </a:r>
            <a:endParaRPr lang="en-US" altLang="zh-CN" dirty="0"/>
          </a:p>
          <a:p>
            <a:pPr lvl="2"/>
            <a:r>
              <a:rPr lang="en-US" altLang="zh-CN" dirty="0"/>
              <a:t>Third</a:t>
            </a:r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474637" y="6343808"/>
            <a:ext cx="691768" cy="422236"/>
          </a:xfrm>
        </p:spPr>
        <p:txBody>
          <a:bodyPr/>
          <a:lstStyle>
            <a:lvl1pPr algn="ctr">
              <a:defRPr sz="105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1pPr>
          </a:lstStyle>
          <a:p>
            <a:fld id="{ECC5823B-8CA8-4514-B4CF-AB75C2ECDFC9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10" name="图片 14"/>
          <p:cNvPicPr/>
          <p:nvPr userDrawn="1"/>
        </p:nvPicPr>
        <p:blipFill rotWithShape="1">
          <a:blip r:embed="rId2"/>
          <a:srcRect r="85358"/>
          <a:stretch>
            <a:fillRect/>
          </a:stretch>
        </p:blipFill>
        <p:spPr>
          <a:xfrm>
            <a:off x="11280538" y="73605"/>
            <a:ext cx="683964" cy="684000"/>
          </a:xfrm>
          <a:prstGeom prst="rect">
            <a:avLst/>
          </a:prstGeom>
        </p:spPr>
      </p:pic>
      <p:sp>
        <p:nvSpPr>
          <p:cNvPr id="13" name="矩形 15"/>
          <p:cNvSpPr/>
          <p:nvPr userDrawn="1"/>
        </p:nvSpPr>
        <p:spPr>
          <a:xfrm>
            <a:off x="335983" y="845423"/>
            <a:ext cx="11519400" cy="54000"/>
          </a:xfrm>
          <a:prstGeom prst="rect">
            <a:avLst/>
          </a:prstGeom>
          <a:gradFill>
            <a:gsLst>
              <a:gs pos="45000">
                <a:srgbClr val="0070C0"/>
              </a:gs>
              <a:gs pos="100000">
                <a:srgbClr val="0070C0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正常单开页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5343" y="188640"/>
            <a:ext cx="11520680" cy="647992"/>
          </a:xfrm>
        </p:spPr>
        <p:txBody>
          <a:bodyPr vert="horz" lIns="91440" tIns="45720" rIns="91440" bIns="45720" rtlCol="0" anchor="ctr">
            <a:normAutofit/>
            <a:scene3d>
              <a:camera prst="orthographicFront"/>
              <a:lightRig rig="threePt" dir="t"/>
            </a:scene3d>
            <a:sp3d extrusionH="57150">
              <a:bevelT w="25400" h="50800" prst="artDeco"/>
            </a:sp3d>
          </a:bodyPr>
          <a:lstStyle>
            <a:lvl1pPr>
              <a:defRPr lang="zh-CN" altLang="en-US" sz="2800" b="1" baseline="0" dirty="0">
                <a:solidFill>
                  <a:srgbClr val="0070C0"/>
                </a:solidFill>
              </a:defRPr>
            </a:lvl1pPr>
          </a:lstStyle>
          <a:p>
            <a:pPr lvl="0"/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35343" y="940460"/>
            <a:ext cx="11304667" cy="451640"/>
          </a:xfrm>
        </p:spPr>
        <p:txBody>
          <a:bodyPr>
            <a:normAutofit/>
          </a:bodyPr>
          <a:lstStyle>
            <a:lvl1pPr marL="257175" indent="-257175">
              <a:lnSpc>
                <a:spcPct val="110000"/>
              </a:lnSpc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l"/>
              <a:defRPr lang="en-US" altLang="zh-CN" sz="2200" b="1" kern="1200" baseline="0" dirty="0" smtClean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1pPr>
            <a:lvl2pPr marL="538480" indent="-250825" algn="l" defTabSz="685800" rtl="0" eaLnBrk="1" latinLnBrk="0" hangingPunct="1">
              <a:lnSpc>
                <a:spcPct val="110000"/>
              </a:lnSpc>
              <a:spcBef>
                <a:spcPts val="900"/>
              </a:spcBef>
              <a:buClr>
                <a:srgbClr val="C00000"/>
              </a:buClr>
              <a:buSzPct val="90000"/>
              <a:buFont typeface="Arial" panose="020B0604020202020204" pitchFamily="34" charset="0"/>
              <a:buChar char="○"/>
              <a:defRPr lang="en-US" altLang="zh-CN" sz="2000" b="1" kern="1200" baseline="0" dirty="0" smtClean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2pPr>
            <a:lvl3pPr marL="557530" indent="0" algn="l" defTabSz="685800" rtl="0" eaLnBrk="1" latinLnBrk="0" hangingPunct="1">
              <a:lnSpc>
                <a:spcPct val="110000"/>
              </a:lnSpc>
              <a:spcBef>
                <a:spcPts val="300"/>
              </a:spcBef>
              <a:buClr>
                <a:srgbClr val="C00000"/>
              </a:buClr>
              <a:buSzPct val="80000"/>
              <a:buFont typeface="Arial Unicode MS" panose="020B0604020202020204" pitchFamily="34" charset="-122"/>
              <a:buNone/>
              <a:defRPr lang="en-US" altLang="zh-CN" sz="2000" b="0" kern="1200" baseline="0" dirty="0" smtClean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3pPr>
            <a:lvl4pPr>
              <a:defRPr sz="1500" baseline="0">
                <a:latin typeface="Arial Unicode MS" panose="020B0604020202020204" pitchFamily="34" charset="-122"/>
                <a:ea typeface="黑体" panose="02010609060101010101" pitchFamily="49" charset="-122"/>
              </a:defRPr>
            </a:lvl4pPr>
            <a:lvl5pPr>
              <a:defRPr sz="1500" baseline="0">
                <a:latin typeface="Arial Unicode MS" panose="020B0604020202020204" pitchFamily="34" charset="-122"/>
                <a:ea typeface="黑体" panose="02010609060101010101" pitchFamily="49" charset="-122"/>
              </a:defRPr>
            </a:lvl5pPr>
          </a:lstStyle>
          <a:p>
            <a:pPr marL="257175" lvl="0" indent="-257175" algn="l" defTabSz="685800" rtl="0" eaLnBrk="1" latinLnBrk="0" hangingPunct="1">
              <a:lnSpc>
                <a:spcPct val="11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q"/>
            </a:pPr>
            <a:r>
              <a:rPr lang="en-US" altLang="zh-CN" dirty="0"/>
              <a:t>Click to edit Master text styles</a:t>
            </a:r>
            <a:endParaRPr lang="en-US" altLang="zh-CN" dirty="0"/>
          </a:p>
          <a:p>
            <a:pPr marL="538480" lvl="1" indent="-250825" algn="l" defTabSz="685800" rtl="0" eaLnBrk="1" latinLnBrk="0" hangingPunct="1">
              <a:lnSpc>
                <a:spcPct val="110000"/>
              </a:lnSpc>
              <a:spcBef>
                <a:spcPts val="900"/>
              </a:spcBef>
              <a:buClrTx/>
              <a:buSzPct val="90000"/>
              <a:buFont typeface="Wingdings" panose="05000000000000000000" pitchFamily="2" charset="2"/>
              <a:buChar char="Ø"/>
            </a:pPr>
            <a:r>
              <a:rPr lang="en-US" altLang="zh-CN" dirty="0"/>
              <a:t>Second level</a:t>
            </a:r>
            <a:endParaRPr lang="en-US" altLang="zh-CN" dirty="0"/>
          </a:p>
          <a:p>
            <a:pPr marL="808355" lvl="2" indent="-250825" algn="l" defTabSz="685800" rtl="0" eaLnBrk="1" latinLnBrk="0" hangingPunct="1">
              <a:lnSpc>
                <a:spcPct val="110000"/>
              </a:lnSpc>
              <a:spcBef>
                <a:spcPts val="300"/>
              </a:spcBef>
              <a:buClrTx/>
              <a:buSzPct val="80000"/>
              <a:buFont typeface="Arial" panose="020B0604020202020204" pitchFamily="34" charset="0"/>
              <a:buChar char="•"/>
            </a:pPr>
            <a:r>
              <a:rPr lang="en-US" altLang="zh-CN" dirty="0"/>
              <a:t>Third level</a:t>
            </a:r>
            <a:endParaRPr lang="en-US" altLang="zh-CN" dirty="0"/>
          </a:p>
          <a:p>
            <a:pPr lvl="2"/>
            <a:endParaRPr lang="en-US" altLang="zh-CN" dirty="0"/>
          </a:p>
        </p:txBody>
      </p:sp>
      <p:sp>
        <p:nvSpPr>
          <p:cNvPr id="13" name="矩形 15"/>
          <p:cNvSpPr/>
          <p:nvPr userDrawn="1"/>
        </p:nvSpPr>
        <p:spPr>
          <a:xfrm>
            <a:off x="335983" y="845423"/>
            <a:ext cx="11519400" cy="54000"/>
          </a:xfrm>
          <a:prstGeom prst="rect">
            <a:avLst/>
          </a:prstGeom>
          <a:gradFill>
            <a:gsLst>
              <a:gs pos="45000">
                <a:srgbClr val="0070C0"/>
              </a:gs>
              <a:gs pos="100000">
                <a:srgbClr val="0070C0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474637" y="6343808"/>
            <a:ext cx="691768" cy="422236"/>
          </a:xfrm>
        </p:spPr>
        <p:txBody>
          <a:bodyPr/>
          <a:lstStyle>
            <a:lvl1pPr algn="ctr">
              <a:defRPr sz="105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1pPr>
          </a:lstStyle>
          <a:p>
            <a:fld id="{ECC5823B-8CA8-4514-B4CF-AB75C2ECDFC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正常双开页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98856" y="940459"/>
            <a:ext cx="5663705" cy="5544331"/>
          </a:xfrm>
        </p:spPr>
        <p:txBody>
          <a:bodyPr>
            <a:normAutofit/>
          </a:bodyPr>
          <a:lstStyle>
            <a:lvl1pPr marL="257175" indent="-257175">
              <a:lnSpc>
                <a:spcPct val="110000"/>
              </a:lnSpc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l"/>
              <a:defRPr lang="en-US" altLang="zh-CN" sz="2200" b="1" kern="1200" baseline="0" dirty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1pPr>
            <a:lvl2pPr marL="538480" indent="-250825" algn="l" defTabSz="685800" rtl="0" eaLnBrk="1" latinLnBrk="0" hangingPunct="1">
              <a:lnSpc>
                <a:spcPct val="110000"/>
              </a:lnSpc>
              <a:spcBef>
                <a:spcPts val="300"/>
              </a:spcBef>
              <a:buClr>
                <a:srgbClr val="C00000"/>
              </a:buClr>
              <a:buSzPct val="90000"/>
              <a:buFont typeface="Arial" panose="020B0604020202020204" pitchFamily="34" charset="0"/>
              <a:buChar char="○"/>
              <a:defRPr lang="en-US" altLang="zh-CN" sz="2000" b="1" kern="1200" baseline="0" dirty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2pPr>
            <a:lvl3pPr marL="808355" indent="-250825" algn="l" defTabSz="6858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rgbClr val="C00000"/>
              </a:buClr>
              <a:buSzPct val="80000"/>
              <a:buFont typeface="Arial Unicode MS" panose="020B0604020202020204" pitchFamily="34" charset="-122"/>
              <a:buChar char="-"/>
              <a:defRPr lang="en-US" altLang="zh-CN" sz="2000" b="0" kern="1200" baseline="0" dirty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3pPr>
            <a:lvl4pPr>
              <a:defRPr sz="1500" baseline="0">
                <a:latin typeface="Arial Unicode MS" panose="020B0604020202020204" pitchFamily="34" charset="-122"/>
                <a:ea typeface="黑体" panose="02010609060101010101" pitchFamily="49" charset="-122"/>
              </a:defRPr>
            </a:lvl4pPr>
            <a:lvl5pPr>
              <a:defRPr sz="1500" baseline="0">
                <a:latin typeface="Arial Unicode MS" panose="020B0604020202020204" pitchFamily="34" charset="-122"/>
                <a:ea typeface="黑体" panose="02010609060101010101" pitchFamily="49" charset="-122"/>
              </a:defRPr>
            </a:lvl5pPr>
          </a:lstStyle>
          <a:p>
            <a:pPr marL="257175" lvl="0" indent="-257175" algn="l" defTabSz="685800" rtl="0" eaLnBrk="1" latinLnBrk="0" hangingPunct="1">
              <a:lnSpc>
                <a:spcPct val="11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q"/>
            </a:pPr>
            <a:r>
              <a:rPr lang="en-US" altLang="zh-CN" dirty="0"/>
              <a:t>Click to edit Master text styles</a:t>
            </a:r>
            <a:endParaRPr lang="en-US" altLang="zh-CN" dirty="0"/>
          </a:p>
          <a:p>
            <a:pPr marL="538480" lvl="1" indent="-250825" algn="l" defTabSz="685800" rtl="0" eaLnBrk="1" latinLnBrk="0" hangingPunct="1">
              <a:lnSpc>
                <a:spcPct val="110000"/>
              </a:lnSpc>
              <a:spcBef>
                <a:spcPts val="900"/>
              </a:spcBef>
              <a:buClrTx/>
              <a:buSzPct val="90000"/>
              <a:buFont typeface="Wingdings" panose="05000000000000000000" pitchFamily="2" charset="2"/>
              <a:buChar char="Ø"/>
            </a:pPr>
            <a:r>
              <a:rPr lang="en-US" altLang="zh-CN" dirty="0"/>
              <a:t>Second level</a:t>
            </a:r>
            <a:endParaRPr lang="en-US" altLang="zh-CN" dirty="0"/>
          </a:p>
          <a:p>
            <a:pPr marL="808355" lvl="2" indent="-250825" algn="l" defTabSz="685800" rtl="0" eaLnBrk="1" latinLnBrk="0" hangingPunct="1">
              <a:lnSpc>
                <a:spcPct val="110000"/>
              </a:lnSpc>
              <a:spcBef>
                <a:spcPts val="300"/>
              </a:spcBef>
              <a:buClrTx/>
              <a:buSzPct val="80000"/>
              <a:buFont typeface="Arial" panose="020B0604020202020204" pitchFamily="34" charset="0"/>
              <a:buChar char="•"/>
            </a:pPr>
            <a:r>
              <a:rPr lang="en-US" altLang="zh-CN" dirty="0"/>
              <a:t>Third level</a:t>
            </a:r>
            <a:endParaRPr lang="en-US" altLang="zh-CN" dirty="0"/>
          </a:p>
          <a:p>
            <a:pPr marL="808355" lvl="2" indent="-179705" algn="l" defTabSz="685800" rtl="0" eaLnBrk="1" latinLnBrk="0" hangingPunct="1">
              <a:spcBef>
                <a:spcPts val="600"/>
              </a:spcBef>
              <a:buClr>
                <a:srgbClr val="C00000"/>
              </a:buClr>
              <a:buSzPct val="80000"/>
              <a:buFont typeface="Arial" panose="020B0604020202020204" pitchFamily="34" charset="0"/>
              <a:buChar char="○"/>
            </a:pPr>
            <a:endParaRPr lang="en-US" altLang="zh-CN" dirty="0"/>
          </a:p>
          <a:p>
            <a:pPr marL="808355" lvl="2" indent="-179705" algn="l" defTabSz="685800" rtl="0" eaLnBrk="1" latinLnBrk="0" hangingPunct="1">
              <a:spcBef>
                <a:spcPts val="600"/>
              </a:spcBef>
              <a:buClr>
                <a:srgbClr val="C00000"/>
              </a:buClr>
              <a:buSzPct val="80000"/>
              <a:buFont typeface="Arial" panose="020B0604020202020204" pitchFamily="34" charset="0"/>
              <a:buChar char="○"/>
            </a:pPr>
            <a:endParaRPr lang="en-US" altLang="zh-CN" dirty="0"/>
          </a:p>
          <a:p>
            <a:pPr marL="808355" lvl="2" indent="-179705" algn="l" defTabSz="685800" rtl="0" eaLnBrk="1" latinLnBrk="0" hangingPunct="1">
              <a:spcBef>
                <a:spcPts val="600"/>
              </a:spcBef>
              <a:buClr>
                <a:srgbClr val="C00000"/>
              </a:buClr>
              <a:buSzPct val="80000"/>
              <a:buFont typeface="Arial" panose="020B0604020202020204" pitchFamily="34" charset="0"/>
              <a:buChar char="○"/>
            </a:pPr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</p:txBody>
      </p:sp>
      <p:sp>
        <p:nvSpPr>
          <p:cNvPr id="10" name="内容占位符 2"/>
          <p:cNvSpPr>
            <a:spLocks noGrp="1"/>
          </p:cNvSpPr>
          <p:nvPr>
            <p:ph idx="13"/>
          </p:nvPr>
        </p:nvSpPr>
        <p:spPr>
          <a:xfrm>
            <a:off x="335343" y="940459"/>
            <a:ext cx="5663705" cy="5544331"/>
          </a:xfrm>
        </p:spPr>
        <p:txBody>
          <a:bodyPr>
            <a:normAutofit/>
          </a:bodyPr>
          <a:lstStyle>
            <a:lvl1pPr marL="257175" indent="-257175">
              <a:lnSpc>
                <a:spcPct val="110000"/>
              </a:lnSpc>
              <a:spcBef>
                <a:spcPts val="600"/>
              </a:spcBef>
              <a:buClr>
                <a:srgbClr val="C00000"/>
              </a:buClr>
              <a:buFont typeface="Wingdings" panose="05000000000000000000" pitchFamily="2" charset="2"/>
              <a:buChar char="l"/>
              <a:defRPr lang="en-US" altLang="zh-CN" sz="2200" b="1" kern="1200" baseline="0" dirty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1pPr>
            <a:lvl2pPr marL="538480" indent="-250825" algn="l" defTabSz="685800" rtl="0" eaLnBrk="1" latinLnBrk="0" hangingPunct="1">
              <a:lnSpc>
                <a:spcPct val="110000"/>
              </a:lnSpc>
              <a:spcBef>
                <a:spcPts val="300"/>
              </a:spcBef>
              <a:buClr>
                <a:srgbClr val="C00000"/>
              </a:buClr>
              <a:buSzPct val="90000"/>
              <a:buFont typeface="Arial" panose="020B0604020202020204" pitchFamily="34" charset="0"/>
              <a:buChar char="○"/>
              <a:defRPr lang="en-US" altLang="zh-CN" sz="2000" b="1" kern="1200" baseline="0" dirty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2pPr>
            <a:lvl3pPr marL="808355" indent="-250825" algn="l" defTabSz="685800" rtl="0" eaLnBrk="1" latinLnBrk="0" hangingPunct="1">
              <a:lnSpc>
                <a:spcPct val="110000"/>
              </a:lnSpc>
              <a:spcBef>
                <a:spcPts val="600"/>
              </a:spcBef>
              <a:buClr>
                <a:srgbClr val="C00000"/>
              </a:buClr>
              <a:buSzPct val="80000"/>
              <a:buFont typeface="Arial Unicode MS" panose="020B0604020202020204" pitchFamily="34" charset="-122"/>
              <a:buChar char="-"/>
              <a:defRPr lang="en-US" altLang="zh-CN" sz="2000" b="0" kern="1200" baseline="0" dirty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3pPr>
            <a:lvl4pPr>
              <a:defRPr sz="1500" baseline="0">
                <a:latin typeface="Arial Unicode MS" panose="020B0604020202020204" pitchFamily="34" charset="-122"/>
                <a:ea typeface="黑体" panose="02010609060101010101" pitchFamily="49" charset="-122"/>
              </a:defRPr>
            </a:lvl4pPr>
            <a:lvl5pPr>
              <a:defRPr sz="1500" baseline="0">
                <a:latin typeface="Arial Unicode MS" panose="020B0604020202020204" pitchFamily="34" charset="-122"/>
                <a:ea typeface="黑体" panose="02010609060101010101" pitchFamily="49" charset="-122"/>
              </a:defRPr>
            </a:lvl5pPr>
          </a:lstStyle>
          <a:p>
            <a:pPr marL="257175" lvl="0" indent="-257175" algn="l" defTabSz="685800" rtl="0" eaLnBrk="1" latinLnBrk="0" hangingPunct="1">
              <a:lnSpc>
                <a:spcPct val="11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q"/>
            </a:pPr>
            <a:r>
              <a:rPr lang="en-US" altLang="zh-CN" dirty="0"/>
              <a:t>Click to edit Master text styles</a:t>
            </a:r>
            <a:endParaRPr lang="en-US" altLang="zh-CN" dirty="0"/>
          </a:p>
          <a:p>
            <a:pPr marL="538480" lvl="1" indent="-250825" algn="l" defTabSz="685800" rtl="0" eaLnBrk="1" latinLnBrk="0" hangingPunct="1">
              <a:lnSpc>
                <a:spcPct val="110000"/>
              </a:lnSpc>
              <a:spcBef>
                <a:spcPts val="900"/>
              </a:spcBef>
              <a:buClrTx/>
              <a:buSzPct val="90000"/>
              <a:buFont typeface="Wingdings" panose="05000000000000000000" pitchFamily="2" charset="2"/>
              <a:buChar char="Ø"/>
            </a:pPr>
            <a:r>
              <a:rPr lang="en-US" altLang="zh-CN" dirty="0"/>
              <a:t>Second level</a:t>
            </a:r>
            <a:endParaRPr lang="en-US" altLang="zh-CN" dirty="0"/>
          </a:p>
          <a:p>
            <a:pPr marL="808355" lvl="2" indent="-250825" algn="l" defTabSz="685800" rtl="0" eaLnBrk="1" latinLnBrk="0" hangingPunct="1">
              <a:lnSpc>
                <a:spcPct val="110000"/>
              </a:lnSpc>
              <a:spcBef>
                <a:spcPts val="300"/>
              </a:spcBef>
              <a:buClrTx/>
              <a:buSzPct val="80000"/>
              <a:buFont typeface="Arial" panose="020B0604020202020204" pitchFamily="34" charset="0"/>
              <a:buChar char="•"/>
            </a:pPr>
            <a:r>
              <a:rPr lang="en-US" altLang="zh-CN" dirty="0"/>
              <a:t>Third level</a:t>
            </a:r>
            <a:endParaRPr lang="en-US" altLang="zh-CN" dirty="0"/>
          </a:p>
          <a:p>
            <a:pPr marL="808355" lvl="2" indent="-179705" algn="l" defTabSz="685800" rtl="0" eaLnBrk="1" latinLnBrk="0" hangingPunct="1">
              <a:spcBef>
                <a:spcPts val="600"/>
              </a:spcBef>
              <a:buClr>
                <a:srgbClr val="C00000"/>
              </a:buClr>
              <a:buSzPct val="80000"/>
              <a:buFont typeface="Arial" panose="020B0604020202020204" pitchFamily="34" charset="0"/>
              <a:buChar char="○"/>
            </a:pPr>
            <a:endParaRPr lang="en-US" altLang="zh-CN" dirty="0"/>
          </a:p>
          <a:p>
            <a:pPr marL="808355" lvl="2" indent="-179705" algn="l" defTabSz="685800" rtl="0" eaLnBrk="1" latinLnBrk="0" hangingPunct="1">
              <a:spcBef>
                <a:spcPts val="600"/>
              </a:spcBef>
              <a:buClr>
                <a:srgbClr val="C00000"/>
              </a:buClr>
              <a:buSzPct val="80000"/>
              <a:buFont typeface="Arial" panose="020B0604020202020204" pitchFamily="34" charset="0"/>
              <a:buChar char="○"/>
            </a:pPr>
            <a:endParaRPr lang="en-US" altLang="zh-CN" dirty="0"/>
          </a:p>
          <a:p>
            <a:pPr marL="808355" lvl="2" indent="-179705" algn="l" defTabSz="685800" rtl="0" eaLnBrk="1" latinLnBrk="0" hangingPunct="1">
              <a:spcBef>
                <a:spcPts val="600"/>
              </a:spcBef>
              <a:buClr>
                <a:srgbClr val="C00000"/>
              </a:buClr>
              <a:buSzPct val="80000"/>
              <a:buFont typeface="Arial" panose="020B0604020202020204" pitchFamily="34" charset="0"/>
              <a:buChar char="○"/>
            </a:pPr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</p:txBody>
      </p:sp>
      <p:sp>
        <p:nvSpPr>
          <p:cNvPr id="14" name="标题 1"/>
          <p:cNvSpPr>
            <a:spLocks noGrp="1"/>
          </p:cNvSpPr>
          <p:nvPr>
            <p:ph type="title"/>
          </p:nvPr>
        </p:nvSpPr>
        <p:spPr>
          <a:xfrm>
            <a:off x="335343" y="188640"/>
            <a:ext cx="11520680" cy="647992"/>
          </a:xfrm>
        </p:spPr>
        <p:txBody>
          <a:bodyPr vert="horz" lIns="91440" tIns="45720" rIns="91440" bIns="45720" rtlCol="0" anchor="ctr">
            <a:normAutofit/>
            <a:scene3d>
              <a:camera prst="orthographicFront"/>
              <a:lightRig rig="threePt" dir="t"/>
            </a:scene3d>
            <a:sp3d extrusionH="57150">
              <a:bevelT w="25400" h="50800" prst="artDeco"/>
            </a:sp3d>
          </a:bodyPr>
          <a:lstStyle>
            <a:lvl1pPr>
              <a:defRPr lang="zh-CN" altLang="en-US" sz="2800" b="1" baseline="0" dirty="0">
                <a:solidFill>
                  <a:srgbClr val="0070C0"/>
                </a:solidFill>
              </a:defRPr>
            </a:lvl1pPr>
          </a:lstStyle>
          <a:p>
            <a:pPr lvl="0"/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pic>
        <p:nvPicPr>
          <p:cNvPr id="15" name="图片 14"/>
          <p:cNvPicPr/>
          <p:nvPr userDrawn="1"/>
        </p:nvPicPr>
        <p:blipFill rotWithShape="1">
          <a:blip r:embed="rId2"/>
          <a:srcRect r="85358"/>
          <a:stretch>
            <a:fillRect/>
          </a:stretch>
        </p:blipFill>
        <p:spPr>
          <a:xfrm>
            <a:off x="11280538" y="73605"/>
            <a:ext cx="683964" cy="684000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335983" y="845423"/>
            <a:ext cx="11519400" cy="54000"/>
          </a:xfrm>
          <a:prstGeom prst="rect">
            <a:avLst/>
          </a:prstGeom>
          <a:gradFill>
            <a:gsLst>
              <a:gs pos="45000">
                <a:srgbClr val="0070C0"/>
              </a:gs>
              <a:gs pos="100000">
                <a:srgbClr val="0070C0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474637" y="6343808"/>
            <a:ext cx="691768" cy="422236"/>
          </a:xfrm>
        </p:spPr>
        <p:txBody>
          <a:bodyPr/>
          <a:lstStyle>
            <a:lvl1pPr algn="ctr">
              <a:defRPr sz="105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1pPr>
          </a:lstStyle>
          <a:p>
            <a:fld id="{ECC5823B-8CA8-4514-B4CF-AB75C2ECDFC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节标题页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22"/>
          <p:cNvSpPr/>
          <p:nvPr userDrawn="1"/>
        </p:nvSpPr>
        <p:spPr>
          <a:xfrm rot="10800000" flipH="1">
            <a:off x="6069683" y="2348879"/>
            <a:ext cx="6121682" cy="1610093"/>
          </a:xfrm>
          <a:prstGeom prst="rect">
            <a:avLst/>
          </a:prstGeom>
          <a:gradFill>
            <a:gsLst>
              <a:gs pos="67000">
                <a:srgbClr val="0070C0"/>
              </a:gs>
              <a:gs pos="82015">
                <a:srgbClr val="0070C0">
                  <a:alpha val="78000"/>
                </a:srgbClr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350"/>
          </a:p>
        </p:txBody>
      </p:sp>
      <p:sp>
        <p:nvSpPr>
          <p:cNvPr id="23" name="矩形 22"/>
          <p:cNvSpPr/>
          <p:nvPr userDrawn="1"/>
        </p:nvSpPr>
        <p:spPr>
          <a:xfrm rot="10800000">
            <a:off x="-3" y="2348879"/>
            <a:ext cx="6121682" cy="1610093"/>
          </a:xfrm>
          <a:prstGeom prst="rect">
            <a:avLst/>
          </a:prstGeom>
          <a:gradFill>
            <a:gsLst>
              <a:gs pos="67000">
                <a:srgbClr val="0070C0"/>
              </a:gs>
              <a:gs pos="82015">
                <a:srgbClr val="0070C0">
                  <a:alpha val="78000"/>
                </a:srgbClr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914352" y="2829890"/>
            <a:ext cx="10362660" cy="648072"/>
          </a:xfrm>
        </p:spPr>
        <p:txBody>
          <a:bodyPr anchor="t">
            <a:normAutofit/>
          </a:bodyPr>
          <a:lstStyle>
            <a:lvl1pPr algn="ctr">
              <a:defRPr sz="3600" b="1" cap="none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/>
          <p:nvPr userDrawn="1"/>
        </p:nvPicPr>
        <p:blipFill rotWithShape="1">
          <a:blip r:embed="rId2"/>
          <a:srcRect r="85358"/>
          <a:stretch>
            <a:fillRect/>
          </a:stretch>
        </p:blipFill>
        <p:spPr>
          <a:xfrm>
            <a:off x="11280538" y="73605"/>
            <a:ext cx="683964" cy="684000"/>
          </a:xfrm>
          <a:prstGeom prst="rect">
            <a:avLst/>
          </a:prstGeom>
        </p:spPr>
      </p:pic>
      <p:sp>
        <p:nvSpPr>
          <p:cNvPr id="16" name="矩形 15"/>
          <p:cNvSpPr/>
          <p:nvPr userDrawn="1"/>
        </p:nvSpPr>
        <p:spPr>
          <a:xfrm>
            <a:off x="335983" y="845423"/>
            <a:ext cx="11519400" cy="54000"/>
          </a:xfrm>
          <a:prstGeom prst="rect">
            <a:avLst/>
          </a:prstGeom>
          <a:gradFill>
            <a:gsLst>
              <a:gs pos="45000">
                <a:srgbClr val="0070C0"/>
              </a:gs>
              <a:gs pos="100000">
                <a:srgbClr val="0070C0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7" name="标题 1"/>
          <p:cNvSpPr>
            <a:spLocks noGrp="1"/>
          </p:cNvSpPr>
          <p:nvPr>
            <p:ph type="title"/>
          </p:nvPr>
        </p:nvSpPr>
        <p:spPr>
          <a:xfrm>
            <a:off x="335983" y="188640"/>
            <a:ext cx="11519400" cy="647992"/>
          </a:xfrm>
        </p:spPr>
        <p:txBody>
          <a:bodyPr vert="horz" lIns="91440" tIns="45720" rIns="91440" bIns="45720" rtlCol="0" anchor="ctr">
            <a:normAutofit/>
            <a:scene3d>
              <a:camera prst="orthographicFront"/>
              <a:lightRig rig="threePt" dir="t"/>
            </a:scene3d>
            <a:sp3d extrusionH="57150">
              <a:bevelT w="25400" h="50800" prst="artDeco"/>
            </a:sp3d>
          </a:bodyPr>
          <a:lstStyle>
            <a:lvl1pPr>
              <a:defRPr lang="zh-CN" altLang="en-US" sz="2800" b="1" baseline="0" dirty="0">
                <a:solidFill>
                  <a:srgbClr val="0070C0"/>
                </a:solidFill>
              </a:defRPr>
            </a:lvl1pPr>
          </a:lstStyle>
          <a:p>
            <a:pPr lvl="0"/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474637" y="6343808"/>
            <a:ext cx="691768" cy="422236"/>
          </a:xfrm>
        </p:spPr>
        <p:txBody>
          <a:bodyPr/>
          <a:lstStyle>
            <a:lvl1pPr algn="ctr">
              <a:defRPr sz="1050" b="1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1pPr>
          </a:lstStyle>
          <a:p>
            <a:fld id="{ECC5823B-8CA8-4514-B4CF-AB75C2ECDFC9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914352" y="2204864"/>
            <a:ext cx="10362660" cy="936104"/>
          </a:xfrm>
        </p:spPr>
        <p:txBody>
          <a:bodyPr anchor="t">
            <a:normAutofit/>
            <a:scene3d>
              <a:camera prst="orthographicFront"/>
              <a:lightRig rig="threePt" dir="t"/>
            </a:scene3d>
            <a:sp3d extrusionH="57150">
              <a:bevelT w="57150" h="38100" prst="artDeco"/>
            </a:sp3d>
          </a:bodyPr>
          <a:lstStyle>
            <a:lvl1pPr algn="ctr">
              <a:defRPr lang="zh-CN" altLang="en-US" sz="4000" b="1" kern="1200" baseline="0" dirty="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723050" y="3166808"/>
            <a:ext cx="10079475" cy="141715"/>
            <a:chOff x="1419154" y="3501008"/>
            <a:chExt cx="6480000" cy="90000"/>
          </a:xfrm>
        </p:grpSpPr>
        <p:sp>
          <p:nvSpPr>
            <p:cNvPr id="13" name="矩形 12"/>
            <p:cNvSpPr/>
            <p:nvPr userDrawn="1"/>
          </p:nvSpPr>
          <p:spPr>
            <a:xfrm>
              <a:off x="4659154" y="3501008"/>
              <a:ext cx="3240000" cy="90000"/>
            </a:xfrm>
            <a:prstGeom prst="rect">
              <a:avLst/>
            </a:prstGeom>
            <a:gradFill>
              <a:gsLst>
                <a:gs pos="45000">
                  <a:srgbClr val="0070C0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4" name="矩形 13"/>
            <p:cNvSpPr/>
            <p:nvPr userDrawn="1"/>
          </p:nvSpPr>
          <p:spPr>
            <a:xfrm flipH="1">
              <a:off x="1419154" y="3501008"/>
              <a:ext cx="3240000" cy="90000"/>
            </a:xfrm>
            <a:prstGeom prst="rect">
              <a:avLst/>
            </a:prstGeom>
            <a:gradFill>
              <a:gsLst>
                <a:gs pos="45000">
                  <a:srgbClr val="0070C0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grpSp>
        <p:nvGrpSpPr>
          <p:cNvPr id="6" name="组合 12"/>
          <p:cNvGrpSpPr/>
          <p:nvPr userDrawn="1"/>
        </p:nvGrpSpPr>
        <p:grpSpPr>
          <a:xfrm>
            <a:off x="479351" y="361219"/>
            <a:ext cx="1844502" cy="576000"/>
            <a:chOff x="1136323" y="419145"/>
            <a:chExt cx="1782423" cy="576000"/>
          </a:xfrm>
        </p:grpSpPr>
        <p:pic>
          <p:nvPicPr>
            <p:cNvPr id="7" name="图片 32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136323" y="425015"/>
              <a:ext cx="575302" cy="558000"/>
            </a:xfrm>
            <a:prstGeom prst="rect">
              <a:avLst/>
            </a:prstGeom>
          </p:spPr>
        </p:pic>
        <p:pic>
          <p:nvPicPr>
            <p:cNvPr id="8" name="图片 33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706511" y="419145"/>
              <a:ext cx="1212235" cy="576000"/>
            </a:xfrm>
            <a:prstGeom prst="rect">
              <a:avLst/>
            </a:prstGeom>
          </p:spPr>
        </p:pic>
      </p:grpSp>
      <p:pic>
        <p:nvPicPr>
          <p:cNvPr id="9" name="图片 17"/>
          <p:cNvPicPr>
            <a:picLocks noChangeAspect="1"/>
          </p:cNvPicPr>
          <p:nvPr userDrawn="1"/>
        </p:nvPicPr>
        <p:blipFill rotWithShape="1">
          <a:blip r:embed="rId4"/>
          <a:srcRect l="18423" r="323"/>
          <a:stretch>
            <a:fillRect/>
          </a:stretch>
        </p:blipFill>
        <p:spPr>
          <a:xfrm>
            <a:off x="2429202" y="332656"/>
            <a:ext cx="3472360" cy="63312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Click="0" advTm="0"/>
    </mc:Choice>
    <mc:Fallback>
      <p:transition advClick="0" advTm="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1878A-7C4B-412A-9DC5-5B7E58D1750F}" type="datetime1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823B-8CA8-4514-B4CF-AB75C2ECDFC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.xml"/><Relationship Id="rId8" Type="http://schemas.openxmlformats.org/officeDocument/2006/relationships/slideLayout" Target="../slideLayouts/slideLayout10.xml"/><Relationship Id="rId7" Type="http://schemas.openxmlformats.org/officeDocument/2006/relationships/slideLayout" Target="../slideLayouts/slideLayout9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2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defRPr sz="2800" b="1"/>
      </a:lvl1pPr>
    </p:titleStyle>
    <p:bodyStyle>
      <a:lvl1pPr marL="0" indent="0">
        <a:defRPr sz="1800"/>
      </a:lvl1pPr>
    </p:bodyStyle>
    <p:otherStyle>
      <a:defPPr>
        <a:defRPr sz="1600"/>
      </a:def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568" y="274639"/>
            <a:ext cx="10972229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68" y="1600206"/>
            <a:ext cx="10972229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568" y="6356366"/>
            <a:ext cx="28446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B1878A-7C4B-412A-9DC5-5B7E58D1750F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383" y="6356366"/>
            <a:ext cx="38605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145" y="6356366"/>
            <a:ext cx="28446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C5823B-8CA8-4514-B4CF-AB75C2ECDFC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</p:sldLayoutIdLst>
  <p:hf hdr="0" ftr="0" dt="0"/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Arial" panose="020B0604020202020204" pitchFamily="34" charset="0"/>
          <a:ea typeface="微软雅黑" panose="020B0503020204020204" charset="-122"/>
          <a:cs typeface="Arial" panose="020B0604020202020204" pitchFamily="34" charset="0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微软雅黑" panose="020B0503020204020204" charset="-122"/>
          <a:cs typeface="Arial" panose="020B0604020202020204" pitchFamily="34" charset="0"/>
        </a:defRPr>
      </a:lvl1pPr>
      <a:lvl2pPr marL="556895" indent="-213995" algn="l" defTabSz="685800" rtl="0" eaLnBrk="1" latinLnBrk="0" hangingPunct="1">
        <a:lnSpc>
          <a:spcPct val="110000"/>
        </a:lnSpc>
        <a:spcBef>
          <a:spcPts val="9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Arial" panose="020B0604020202020204" pitchFamily="34" charset="0"/>
          <a:ea typeface="微软雅黑" panose="020B0503020204020204" charset="-122"/>
          <a:cs typeface="Arial" panose="020B0604020202020204" pitchFamily="34" charset="0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Arial" panose="020B0604020202020204" pitchFamily="34" charset="0"/>
          <a:ea typeface="微软雅黑" panose="020B0503020204020204" charset="-122"/>
          <a:cs typeface="Arial" panose="020B0604020202020204" pitchFamily="34" charset="0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Arial" panose="020B0604020202020204" pitchFamily="34" charset="0"/>
          <a:ea typeface="微软雅黑" panose="020B0503020204020204" charset="-122"/>
          <a:cs typeface="Arial" panose="020B0604020202020204" pitchFamily="34" charset="0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Arial" panose="020B0604020202020204" pitchFamily="34" charset="0"/>
          <a:ea typeface="微软雅黑" panose="020B0503020204020204" charset="-122"/>
          <a:cs typeface="Arial" panose="020B0604020202020204" pitchFamily="34" charset="0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1" Type="http://schemas.openxmlformats.org/officeDocument/2006/relationships/notesSlide" Target="../notesSlides/notesSlide2.xml"/><Relationship Id="rId10" Type="http://schemas.openxmlformats.org/officeDocument/2006/relationships/slideLayout" Target="../slideLayouts/slideLayout9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5.webp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8.xml"/><Relationship Id="rId8" Type="http://schemas.openxmlformats.org/officeDocument/2006/relationships/tags" Target="../tags/tag17.xml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4" Type="http://schemas.openxmlformats.org/officeDocument/2006/relationships/notesSlide" Target="../notesSlides/notesSlide4.xml"/><Relationship Id="rId13" Type="http://schemas.openxmlformats.org/officeDocument/2006/relationships/slideLayout" Target="../slideLayouts/slideLayout5.xml"/><Relationship Id="rId12" Type="http://schemas.openxmlformats.org/officeDocument/2006/relationships/tags" Target="../tags/tag21.xml"/><Relationship Id="rId11" Type="http://schemas.openxmlformats.org/officeDocument/2006/relationships/tags" Target="../tags/tag20.xml"/><Relationship Id="rId10" Type="http://schemas.openxmlformats.org/officeDocument/2006/relationships/tags" Target="../tags/tag19.xml"/><Relationship Id="rId1" Type="http://schemas.openxmlformats.org/officeDocument/2006/relationships/tags" Target="../tags/tag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3" Type="http://schemas.openxmlformats.org/officeDocument/2006/relationships/notesSlide" Target="../notesSlides/notesSlide7.xml"/><Relationship Id="rId12" Type="http://schemas.openxmlformats.org/officeDocument/2006/relationships/slideLayout" Target="../slideLayouts/slideLayout5.xml"/><Relationship Id="rId11" Type="http://schemas.openxmlformats.org/officeDocument/2006/relationships/tags" Target="../tags/tag31.xml"/><Relationship Id="rId10" Type="http://schemas.openxmlformats.org/officeDocument/2006/relationships/tags" Target="../tags/tag30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tags" Target="../tags/tag36.xml"/><Relationship Id="rId7" Type="http://schemas.openxmlformats.org/officeDocument/2006/relationships/image" Target="../media/image9.png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image" Target="../media/image8.png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6" Type="http://schemas.openxmlformats.org/officeDocument/2006/relationships/notesSlide" Target="../notesSlides/notesSlide8.xml"/><Relationship Id="rId15" Type="http://schemas.openxmlformats.org/officeDocument/2006/relationships/slideLayout" Target="../slideLayouts/slideLayout5.xml"/><Relationship Id="rId14" Type="http://schemas.openxmlformats.org/officeDocument/2006/relationships/image" Target="../media/image12.png"/><Relationship Id="rId13" Type="http://schemas.openxmlformats.org/officeDocument/2006/relationships/image" Target="../media/image11.png"/><Relationship Id="rId12" Type="http://schemas.openxmlformats.org/officeDocument/2006/relationships/tags" Target="../tags/tag39.xml"/><Relationship Id="rId11" Type="http://schemas.openxmlformats.org/officeDocument/2006/relationships/tags" Target="../tags/tag38.xml"/><Relationship Id="rId10" Type="http://schemas.openxmlformats.org/officeDocument/2006/relationships/image" Target="../media/image10.png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3.png"/><Relationship Id="rId8" Type="http://schemas.openxmlformats.org/officeDocument/2006/relationships/image" Target="../media/image22.png"/><Relationship Id="rId7" Type="http://schemas.openxmlformats.org/officeDocument/2006/relationships/image" Target="../media/image21.png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1" Type="http://schemas.openxmlformats.org/officeDocument/2006/relationships/notesSlide" Target="../notesSlides/notesSlide12.xml"/><Relationship Id="rId10" Type="http://schemas.openxmlformats.org/officeDocument/2006/relationships/slideLayout" Target="../slideLayouts/slideLayout5.xml"/><Relationship Id="rId1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46.xml"/><Relationship Id="rId8" Type="http://schemas.openxmlformats.org/officeDocument/2006/relationships/image" Target="../media/image25.png"/><Relationship Id="rId7" Type="http://schemas.openxmlformats.org/officeDocument/2006/relationships/image" Target="../media/image24.png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7" Type="http://schemas.openxmlformats.org/officeDocument/2006/relationships/notesSlide" Target="../notesSlides/notesSlide13.xml"/><Relationship Id="rId16" Type="http://schemas.openxmlformats.org/officeDocument/2006/relationships/slideLayout" Target="../slideLayouts/slideLayout2.xml"/><Relationship Id="rId15" Type="http://schemas.openxmlformats.org/officeDocument/2006/relationships/image" Target="../media/image27.png"/><Relationship Id="rId14" Type="http://schemas.openxmlformats.org/officeDocument/2006/relationships/tags" Target="../tags/tag50.xml"/><Relationship Id="rId13" Type="http://schemas.openxmlformats.org/officeDocument/2006/relationships/tags" Target="../tags/tag49.xml"/><Relationship Id="rId12" Type="http://schemas.openxmlformats.org/officeDocument/2006/relationships/image" Target="../media/image26.png"/><Relationship Id="rId11" Type="http://schemas.openxmlformats.org/officeDocument/2006/relationships/tags" Target="../tags/tag48.xml"/><Relationship Id="rId10" Type="http://schemas.openxmlformats.org/officeDocument/2006/relationships/tags" Target="../tags/tag47.xml"/><Relationship Id="rId1" Type="http://schemas.openxmlformats.org/officeDocument/2006/relationships/tags" Target="../tags/tag40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4.xml"/><Relationship Id="rId8" Type="http://schemas.openxmlformats.org/officeDocument/2006/relationships/slideLayout" Target="../slideLayouts/slideLayout2.xml"/><Relationship Id="rId7" Type="http://schemas.openxmlformats.org/officeDocument/2006/relationships/tags" Target="../tags/tag57.xml"/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tags" Target="../tags/tag51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3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image" Target="../media/image4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4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5.xml"/><Relationship Id="rId7" Type="http://schemas.openxmlformats.org/officeDocument/2006/relationships/slideLayout" Target="../slideLayouts/slideLayout5.xml"/><Relationship Id="rId6" Type="http://schemas.openxmlformats.org/officeDocument/2006/relationships/image" Target="../media/image48.png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image" Target="../media/image4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49.png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7.xml"/><Relationship Id="rId8" Type="http://schemas.openxmlformats.org/officeDocument/2006/relationships/slideLayout" Target="../slideLayouts/slideLayout9.xml"/><Relationship Id="rId7" Type="http://schemas.openxmlformats.org/officeDocument/2006/relationships/tags" Target="../tags/tag66.xml"/><Relationship Id="rId6" Type="http://schemas.openxmlformats.org/officeDocument/2006/relationships/tags" Target="../tags/tag65.xml"/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tags" Target="../tags/tag60.xml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tags" Target="../tags/tag73.xml"/><Relationship Id="rId8" Type="http://schemas.openxmlformats.org/officeDocument/2006/relationships/tags" Target="../tags/tag72.xml"/><Relationship Id="rId7" Type="http://schemas.openxmlformats.org/officeDocument/2006/relationships/tags" Target="../tags/tag71.xml"/><Relationship Id="rId6" Type="http://schemas.openxmlformats.org/officeDocument/2006/relationships/tags" Target="../tags/tag70.xml"/><Relationship Id="rId5" Type="http://schemas.openxmlformats.org/officeDocument/2006/relationships/tags" Target="../tags/tag69.xml"/><Relationship Id="rId4" Type="http://schemas.openxmlformats.org/officeDocument/2006/relationships/tags" Target="../tags/tag68.xml"/><Relationship Id="rId3" Type="http://schemas.openxmlformats.org/officeDocument/2006/relationships/image" Target="../media/image51.png"/><Relationship Id="rId28" Type="http://schemas.openxmlformats.org/officeDocument/2006/relationships/notesSlide" Target="../notesSlides/notesSlide28.xml"/><Relationship Id="rId27" Type="http://schemas.openxmlformats.org/officeDocument/2006/relationships/slideLayout" Target="../slideLayouts/slideLayout5.xml"/><Relationship Id="rId26" Type="http://schemas.openxmlformats.org/officeDocument/2006/relationships/tags" Target="../tags/tag90.xml"/><Relationship Id="rId25" Type="http://schemas.openxmlformats.org/officeDocument/2006/relationships/tags" Target="../tags/tag89.xml"/><Relationship Id="rId24" Type="http://schemas.openxmlformats.org/officeDocument/2006/relationships/tags" Target="../tags/tag88.xml"/><Relationship Id="rId23" Type="http://schemas.openxmlformats.org/officeDocument/2006/relationships/tags" Target="../tags/tag87.xml"/><Relationship Id="rId22" Type="http://schemas.openxmlformats.org/officeDocument/2006/relationships/tags" Target="../tags/tag86.xml"/><Relationship Id="rId21" Type="http://schemas.openxmlformats.org/officeDocument/2006/relationships/tags" Target="../tags/tag85.xml"/><Relationship Id="rId20" Type="http://schemas.openxmlformats.org/officeDocument/2006/relationships/tags" Target="../tags/tag84.xml"/><Relationship Id="rId2" Type="http://schemas.openxmlformats.org/officeDocument/2006/relationships/tags" Target="../tags/tag67.xml"/><Relationship Id="rId19" Type="http://schemas.openxmlformats.org/officeDocument/2006/relationships/tags" Target="../tags/tag83.xml"/><Relationship Id="rId18" Type="http://schemas.openxmlformats.org/officeDocument/2006/relationships/tags" Target="../tags/tag82.xml"/><Relationship Id="rId17" Type="http://schemas.openxmlformats.org/officeDocument/2006/relationships/tags" Target="../tags/tag81.xml"/><Relationship Id="rId16" Type="http://schemas.openxmlformats.org/officeDocument/2006/relationships/tags" Target="../tags/tag80.xml"/><Relationship Id="rId15" Type="http://schemas.openxmlformats.org/officeDocument/2006/relationships/tags" Target="../tags/tag79.xml"/><Relationship Id="rId14" Type="http://schemas.openxmlformats.org/officeDocument/2006/relationships/tags" Target="../tags/tag78.xml"/><Relationship Id="rId13" Type="http://schemas.openxmlformats.org/officeDocument/2006/relationships/tags" Target="../tags/tag77.xml"/><Relationship Id="rId12" Type="http://schemas.openxmlformats.org/officeDocument/2006/relationships/tags" Target="../tags/tag76.xml"/><Relationship Id="rId11" Type="http://schemas.openxmlformats.org/officeDocument/2006/relationships/tags" Target="../tags/tag75.xml"/><Relationship Id="rId10" Type="http://schemas.openxmlformats.org/officeDocument/2006/relationships/tags" Target="../tags/tag74.xml"/><Relationship Id="rId1" Type="http://schemas.openxmlformats.org/officeDocument/2006/relationships/image" Target="../media/image5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5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53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594360" y="594360"/>
            <a:ext cx="109728" cy="5394960"/>
          </a:xfrm>
          <a:prstGeom prst="rect">
            <a:avLst/>
          </a:prstGeom>
          <a:solidFill>
            <a:srgbClr val="0E8A92"/>
          </a:solidFill>
          <a:ln>
            <a:noFill/>
          </a:ln>
        </p:spPr>
      </p:sp>
      <p:sp>
        <p:nvSpPr>
          <p:cNvPr id="4" name="Text 4"/>
          <p:cNvSpPr txBox="1"/>
          <p:nvPr/>
        </p:nvSpPr>
        <p:spPr>
          <a:xfrm>
            <a:off x="960120" y="777240"/>
            <a:ext cx="9966960" cy="1417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ctr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3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基于世界模型的</a:t>
            </a:r>
            <a:endParaRPr lang="zh-CN" sz="3400"/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3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一维纵向制动决策规划</a:t>
            </a:r>
            <a:endParaRPr lang="zh-CN" sz="3400"/>
          </a:p>
        </p:txBody>
      </p:sp>
      <p:sp>
        <p:nvSpPr>
          <p:cNvPr id="5" name="Text 5"/>
          <p:cNvSpPr txBox="1"/>
          <p:nvPr/>
        </p:nvSpPr>
        <p:spPr>
          <a:xfrm>
            <a:off x="987552" y="242316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800" b="0" i="0">
                <a:solidFill>
                  <a:srgbClr val="BFD6DB"/>
                </a:solidFill>
                <a:latin typeface="微软雅黑" panose="020B0503020204020204" charset="-122"/>
                <a:ea typeface="微软雅黑" panose="020B0503020204020204" charset="-122"/>
              </a:rPr>
              <a:t>Simulink 机理建模  ·  MLP / LSTM-PINN  ·  采样式 MPC</a:t>
            </a:r>
            <a:endParaRPr lang="zh-CN" sz="1800"/>
          </a:p>
        </p:txBody>
      </p:sp>
      <p:sp>
        <p:nvSpPr>
          <p:cNvPr id="6" name="Text 6"/>
          <p:cNvSpPr txBox="1"/>
          <p:nvPr/>
        </p:nvSpPr>
        <p:spPr>
          <a:xfrm>
            <a:off x="987552" y="3090672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en-US" altLang="zh-CN" sz="1300" b="0" i="0">
                <a:solidFill>
                  <a:srgbClr val="8DA9B2"/>
                </a:solidFill>
                <a:latin typeface="微软雅黑" panose="020B0503020204020204" charset="-122"/>
                <a:ea typeface="微软雅黑" panose="020B0503020204020204" charset="-122"/>
              </a:rPr>
              <a:t>Group 1</a:t>
            </a:r>
            <a:endParaRPr lang="zh-CN" sz="1300"/>
          </a:p>
        </p:txBody>
      </p:sp>
      <p:sp>
        <p:nvSpPr>
          <p:cNvPr id="7" name="Line 7"/>
          <p:cNvSpPr/>
          <p:nvPr/>
        </p:nvSpPr>
        <p:spPr>
          <a:xfrm>
            <a:off x="1097280" y="5440680"/>
            <a:ext cx="9738360" cy="914"/>
          </a:xfrm>
          <a:prstGeom prst="line">
            <a:avLst/>
          </a:prstGeom>
          <a:ln w="25400">
            <a:solidFill>
              <a:srgbClr val="68838D"/>
            </a:solidFill>
          </a:ln>
        </p:spPr>
      </p:sp>
      <p:sp>
        <p:nvSpPr>
          <p:cNvPr id="8" name="Shape 8"/>
          <p:cNvSpPr/>
          <p:nvPr/>
        </p:nvSpPr>
        <p:spPr>
          <a:xfrm>
            <a:off x="1572768" y="5010912"/>
            <a:ext cx="1554480" cy="502920"/>
          </a:xfrm>
          <a:prstGeom prst="roundRect">
            <a:avLst/>
          </a:prstGeom>
          <a:solidFill>
            <a:srgbClr val="0E8A92"/>
          </a:solidFill>
          <a:ln>
            <a:noFill/>
          </a:ln>
        </p:spPr>
      </p:sp>
      <p:sp>
        <p:nvSpPr>
          <p:cNvPr id="9" name="Shape 9"/>
          <p:cNvSpPr/>
          <p:nvPr/>
        </p:nvSpPr>
        <p:spPr>
          <a:xfrm>
            <a:off x="1847088" y="4800600"/>
            <a:ext cx="731520" cy="320040"/>
          </a:xfrm>
          <a:prstGeom prst="roundRect">
            <a:avLst/>
          </a:prstGeom>
          <a:solidFill>
            <a:srgbClr val="0E8A92"/>
          </a:solidFill>
          <a:ln>
            <a:noFill/>
          </a:ln>
        </p:spPr>
      </p:sp>
      <p:sp>
        <p:nvSpPr>
          <p:cNvPr id="10" name="Shape 10"/>
          <p:cNvSpPr/>
          <p:nvPr/>
        </p:nvSpPr>
        <p:spPr>
          <a:xfrm>
            <a:off x="1783080" y="5367528"/>
            <a:ext cx="329184" cy="329184"/>
          </a:xfrm>
          <a:prstGeom prst="ellipse">
            <a:avLst/>
          </a:prstGeom>
          <a:solidFill>
            <a:srgbClr val="17212B"/>
          </a:solidFill>
          <a:ln w="12700">
            <a:solidFill>
              <a:srgbClr val="FFFFFF"/>
            </a:solidFill>
          </a:ln>
        </p:spPr>
      </p:sp>
      <p:sp>
        <p:nvSpPr>
          <p:cNvPr id="11" name="Shape 11"/>
          <p:cNvSpPr/>
          <p:nvPr/>
        </p:nvSpPr>
        <p:spPr>
          <a:xfrm>
            <a:off x="2606040" y="5367528"/>
            <a:ext cx="329184" cy="329184"/>
          </a:xfrm>
          <a:prstGeom prst="ellipse">
            <a:avLst/>
          </a:prstGeom>
          <a:solidFill>
            <a:srgbClr val="17212B"/>
          </a:solidFill>
          <a:ln w="12700">
            <a:solidFill>
              <a:srgbClr val="FFFFFF"/>
            </a:solidFill>
          </a:ln>
        </p:spPr>
      </p:sp>
      <p:sp>
        <p:nvSpPr>
          <p:cNvPr id="12" name="Line 12"/>
          <p:cNvSpPr/>
          <p:nvPr/>
        </p:nvSpPr>
        <p:spPr>
          <a:xfrm>
            <a:off x="3657600" y="5257800"/>
            <a:ext cx="5440680" cy="914"/>
          </a:xfrm>
          <a:prstGeom prst="line">
            <a:avLst/>
          </a:prstGeom>
          <a:ln w="50800">
            <a:solidFill>
              <a:srgbClr val="F2A93B"/>
            </a:solidFill>
            <a:prstDash val="dash"/>
          </a:ln>
        </p:spPr>
      </p:sp>
      <p:sp>
        <p:nvSpPr>
          <p:cNvPr id="13" name="Shape 13"/>
          <p:cNvSpPr/>
          <p:nvPr/>
        </p:nvSpPr>
        <p:spPr>
          <a:xfrm>
            <a:off x="9601200" y="4526280"/>
            <a:ext cx="292608" cy="914400"/>
          </a:xfrm>
          <a:prstGeom prst="rect">
            <a:avLst/>
          </a:prstGeom>
          <a:solidFill>
            <a:srgbClr val="D64D4D"/>
          </a:solidFill>
          <a:ln>
            <a:noFill/>
          </a:ln>
        </p:spPr>
      </p:sp>
      <p:sp>
        <p:nvSpPr>
          <p:cNvPr id="14" name="Shape 14"/>
          <p:cNvSpPr/>
          <p:nvPr/>
        </p:nvSpPr>
        <p:spPr>
          <a:xfrm>
            <a:off x="9235440" y="5230368"/>
            <a:ext cx="1051560" cy="164592"/>
          </a:xfrm>
          <a:prstGeom prst="rect">
            <a:avLst/>
          </a:prstGeom>
          <a:solidFill>
            <a:srgbClr val="D64D4D"/>
          </a:solidFill>
          <a:ln>
            <a:noFill/>
          </a:ln>
        </p:spPr>
      </p:sp>
      <p:sp>
        <p:nvSpPr>
          <p:cNvPr id="15" name="Text 15"/>
          <p:cNvSpPr txBox="1"/>
          <p:nvPr/>
        </p:nvSpPr>
        <p:spPr>
          <a:xfrm>
            <a:off x="8183880" y="416052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300" b="1" i="0">
                <a:solidFill>
                  <a:srgbClr val="F2A93B"/>
                </a:solidFill>
                <a:latin typeface="微软雅黑" panose="020B0503020204020204" charset="-122"/>
                <a:ea typeface="微软雅黑" panose="020B0503020204020204" charset="-122"/>
              </a:rPr>
              <a:t>预测 · 规划 · 执行 · 反馈</a:t>
            </a:r>
            <a:endParaRPr lang="zh-CN" sz="1300"/>
          </a:p>
        </p:txBody>
      </p:sp>
      <p:sp>
        <p:nvSpPr>
          <p:cNvPr id="16" name="Text 16"/>
          <p:cNvSpPr txBox="1"/>
          <p:nvPr/>
        </p:nvSpPr>
        <p:spPr>
          <a:xfrm>
            <a:off x="987552" y="6080760"/>
            <a:ext cx="6583680" cy="274320"/>
          </a:xfrm>
          <a:prstGeom prst="rect">
            <a:avLst/>
          </a:prstGeom>
          <a:noFill/>
          <a:ln>
            <a:noFill/>
          </a:ln>
        </p:spPr>
        <p:txBody>
          <a:bodyPr wrap="square" lIns="73152" tIns="36576" rIns="73152" bIns="36576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100" b="0" i="0">
                <a:solidFill>
                  <a:srgbClr val="8DA9B2"/>
                </a:solidFill>
                <a:latin typeface="微软雅黑" panose="020B0503020204020204" charset="-122"/>
                <a:ea typeface="微软雅黑" panose="020B0503020204020204" charset="-122"/>
              </a:rPr>
              <a:t>汇报人：李子昂  /  王永鑫  /  李嘉奇</a:t>
            </a:r>
            <a:endParaRPr lang="zh-CN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11474637" y="6343656"/>
            <a:ext cx="691768" cy="422214"/>
          </a:xfrm>
        </p:spPr>
        <p:txBody>
          <a:bodyPr/>
          <a:lstStyle/>
          <a:p>
            <a:fld id="{ECC5823B-8CA8-4514-B4CF-AB75C2ECDFC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Contents</a:t>
            </a:r>
            <a:endParaRPr lang="en-US" dirty="0"/>
          </a:p>
        </p:txBody>
      </p:sp>
      <p:grpSp>
        <p:nvGrpSpPr>
          <p:cNvPr id="4" name="组合 3"/>
          <p:cNvGrpSpPr/>
          <p:nvPr>
            <p:custDataLst>
              <p:tags r:id="rId1"/>
            </p:custDataLst>
          </p:nvPr>
        </p:nvGrpSpPr>
        <p:grpSpPr>
          <a:xfrm>
            <a:off x="2855491" y="2060921"/>
            <a:ext cx="6237287" cy="683968"/>
            <a:chOff x="1350356" y="1945292"/>
            <a:chExt cx="6868074" cy="582961"/>
          </a:xfrm>
        </p:grpSpPr>
        <p:sp>
          <p:nvSpPr>
            <p:cNvPr id="5" name="MH_Number_1"/>
            <p:cNvSpPr/>
            <p:nvPr>
              <p:custDataLst>
                <p:tags r:id="rId2"/>
              </p:custDataLst>
            </p:nvPr>
          </p:nvSpPr>
          <p:spPr>
            <a:xfrm>
              <a:off x="1350356" y="1945295"/>
              <a:ext cx="859292" cy="582958"/>
            </a:xfrm>
            <a:prstGeom prst="roundRect">
              <a:avLst>
                <a:gd name="adj" fmla="val 7615"/>
              </a:avLst>
            </a:prstGeom>
            <a:solidFill>
              <a:srgbClr val="FF0000"/>
            </a:solid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500" b="1" kern="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一</a:t>
              </a:r>
              <a:endParaRPr lang="zh-CN" altLang="en-US" sz="2500" b="1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6" name="MH_Entry_1"/>
            <p:cNvSpPr/>
            <p:nvPr>
              <p:custDataLst>
                <p:tags r:id="rId3"/>
              </p:custDataLst>
            </p:nvPr>
          </p:nvSpPr>
          <p:spPr>
            <a:xfrm>
              <a:off x="2478265" y="1945292"/>
              <a:ext cx="5740165" cy="582958"/>
            </a:xfrm>
            <a:prstGeom prst="roundRect">
              <a:avLst>
                <a:gd name="adj" fmla="val 9124"/>
              </a:avLst>
            </a:prstGeom>
            <a:solidFill>
              <a:srgbClr val="0070C0">
                <a:alpha val="14902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>
              <a:norm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500" b="1" dirty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问题定义与机理基线</a:t>
              </a:r>
              <a:endParaRPr lang="zh-CN" altLang="en-US" sz="25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10" name="组合 3"/>
          <p:cNvGrpSpPr/>
          <p:nvPr>
            <p:custDataLst>
              <p:tags r:id="rId4"/>
            </p:custDataLst>
          </p:nvPr>
        </p:nvGrpSpPr>
        <p:grpSpPr>
          <a:xfrm>
            <a:off x="2855491" y="3160347"/>
            <a:ext cx="6237287" cy="683966"/>
            <a:chOff x="1350356" y="1945293"/>
            <a:chExt cx="6713404" cy="582960"/>
          </a:xfrm>
        </p:grpSpPr>
        <p:sp>
          <p:nvSpPr>
            <p:cNvPr id="11" name="MH_Number_1"/>
            <p:cNvSpPr/>
            <p:nvPr>
              <p:custDataLst>
                <p:tags r:id="rId5"/>
              </p:custDataLst>
            </p:nvPr>
          </p:nvSpPr>
          <p:spPr>
            <a:xfrm>
              <a:off x="1350356" y="1945295"/>
              <a:ext cx="859292" cy="582958"/>
            </a:xfrm>
            <a:prstGeom prst="roundRect">
              <a:avLst>
                <a:gd name="adj" fmla="val 7615"/>
              </a:avLst>
            </a:prstGeom>
            <a:solidFill>
              <a:srgbClr val="0070C0"/>
            </a:solid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500" b="1" kern="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二</a:t>
              </a:r>
              <a:endParaRPr lang="zh-CN" altLang="en-US" sz="2500" b="1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2" name="MH_Entry_1"/>
            <p:cNvSpPr/>
            <p:nvPr>
              <p:custDataLst>
                <p:tags r:id="rId6"/>
              </p:custDataLst>
            </p:nvPr>
          </p:nvSpPr>
          <p:spPr>
            <a:xfrm>
              <a:off x="2478265" y="1945293"/>
              <a:ext cx="5585495" cy="582958"/>
            </a:xfrm>
            <a:prstGeom prst="roundRect">
              <a:avLst>
                <a:gd name="adj" fmla="val 9124"/>
              </a:avLst>
            </a:prstGeom>
            <a:solidFill>
              <a:srgbClr val="0070C0">
                <a:alpha val="14902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>
              <a:normAutofit/>
            </a:bodyPr>
            <a:lstStyle/>
            <a:p>
              <a:pPr algn="ctr"/>
              <a:r>
                <a:rPr lang="zh-CN" altLang="en-US" sz="2500" b="1" dirty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非完整系统理论</a:t>
              </a:r>
              <a:endParaRPr lang="zh-CN" altLang="en-US" sz="25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13" name="组合 3"/>
          <p:cNvGrpSpPr/>
          <p:nvPr>
            <p:custDataLst>
              <p:tags r:id="rId7"/>
            </p:custDataLst>
          </p:nvPr>
        </p:nvGrpSpPr>
        <p:grpSpPr>
          <a:xfrm>
            <a:off x="2855491" y="4291803"/>
            <a:ext cx="6237287" cy="683966"/>
            <a:chOff x="1350356" y="1945293"/>
            <a:chExt cx="6713404" cy="582960"/>
          </a:xfrm>
        </p:grpSpPr>
        <p:sp>
          <p:nvSpPr>
            <p:cNvPr id="14" name="MH_Number_1"/>
            <p:cNvSpPr/>
            <p:nvPr>
              <p:custDataLst>
                <p:tags r:id="rId8"/>
              </p:custDataLst>
            </p:nvPr>
          </p:nvSpPr>
          <p:spPr>
            <a:xfrm>
              <a:off x="1350356" y="1945295"/>
              <a:ext cx="859292" cy="582958"/>
            </a:xfrm>
            <a:prstGeom prst="roundRect">
              <a:avLst>
                <a:gd name="adj" fmla="val 7615"/>
              </a:avLst>
            </a:prstGeom>
            <a:solidFill>
              <a:srgbClr val="0070C0"/>
            </a:solid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500" b="1" kern="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三</a:t>
              </a:r>
              <a:endParaRPr lang="zh-CN" altLang="en-US" sz="2500" b="1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15" name="MH_Entry_1"/>
            <p:cNvSpPr/>
            <p:nvPr>
              <p:custDataLst>
                <p:tags r:id="rId9"/>
              </p:custDataLst>
            </p:nvPr>
          </p:nvSpPr>
          <p:spPr>
            <a:xfrm>
              <a:off x="2478265" y="1945293"/>
              <a:ext cx="5585495" cy="582958"/>
            </a:xfrm>
            <a:prstGeom prst="roundRect">
              <a:avLst>
                <a:gd name="adj" fmla="val 9124"/>
              </a:avLst>
            </a:prstGeom>
            <a:solidFill>
              <a:srgbClr val="0070C0">
                <a:alpha val="14902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>
              <a:normAutofit/>
            </a:bodyPr>
            <a:lstStyle/>
            <a:p>
              <a:pPr algn="ctr"/>
              <a:r>
                <a:rPr lang="zh-CN" altLang="en-US" sz="2500" b="1" dirty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考虑微分约束的规划</a:t>
              </a:r>
              <a:endParaRPr lang="zh-CN" altLang="en-US" sz="25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问题定义与机理基线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823B-8CA8-4514-B4CF-AB75C2ECDFC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335898" y="981202"/>
            <a:ext cx="11520205" cy="499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sz="2650" b="1">
                <a:solidFill>
                  <a:srgbClr val="20242A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  <a:sym typeface="+mn-ea"/>
              </a:rPr>
              <a:t>研究背景：主动安全需要更早、更可靠的制动决策</a:t>
            </a:r>
            <a:endParaRPr lang="zh-CN" altLang="en-US" sz="2650" b="1">
              <a:solidFill>
                <a:srgbClr val="20242A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/>
              <a:sym typeface="+mn-ea"/>
            </a:endParaRPr>
          </a:p>
        </p:txBody>
      </p:sp>
      <p:sp>
        <p:nvSpPr>
          <p:cNvPr id="11" name="TableCell"/>
          <p:cNvSpPr>
            <a:spLocks noGrp="1"/>
          </p:cNvSpPr>
          <p:nvPr/>
        </p:nvSpPr>
        <p:spPr>
          <a:xfrm>
            <a:off x="263511" y="1624424"/>
            <a:ext cx="2609714" cy="760690"/>
          </a:xfrm>
          <a:prstGeom prst="rect">
            <a:avLst/>
          </a:prstGeom>
          <a:solidFill>
            <a:schemeClr val="accent5"/>
          </a:solidFill>
          <a:ln w="9000">
            <a:solidFill>
              <a:srgbClr val="CDD4DA"/>
            </a:solidFill>
          </a:ln>
        </p:spPr>
        <p:txBody>
          <a:bodyPr wrap="square" lIns="22858" tIns="22858" rIns="22858" bIns="22858" anchor="ctr">
            <a:normAutofit/>
          </a:bodyPr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rPr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安全挑战</a:t>
            </a:r>
            <a:endParaRPr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TableCell"/>
          <p:cNvSpPr>
            <a:spLocks noGrp="1"/>
          </p:cNvSpPr>
          <p:nvPr/>
        </p:nvSpPr>
        <p:spPr>
          <a:xfrm>
            <a:off x="2865606" y="1624424"/>
            <a:ext cx="2609714" cy="760690"/>
          </a:xfrm>
          <a:prstGeom prst="rect">
            <a:avLst/>
          </a:prstGeom>
          <a:solidFill>
            <a:schemeClr val="accent5"/>
          </a:solidFill>
          <a:ln w="9000">
            <a:solidFill>
              <a:srgbClr val="CDD4DA"/>
            </a:solidFill>
          </a:ln>
        </p:spPr>
        <p:txBody>
          <a:bodyPr wrap="square" lIns="22858" tIns="22858" rIns="22858" bIns="22858" anchor="ctr">
            <a:normAutofit/>
          </a:bodyPr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Tx/>
              <a:buSzTx/>
              <a:buFontTx/>
              <a:buNone/>
            </a:pPr>
            <a:r>
              <a:rPr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传统</a:t>
            </a:r>
            <a:r>
              <a:rPr lang="zh-CN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制动</a:t>
            </a:r>
            <a:r>
              <a:rPr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控制</a:t>
            </a:r>
            <a:endParaRPr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9" name="TableCell"/>
          <p:cNvSpPr>
            <a:spLocks noGrp="1"/>
          </p:cNvSpPr>
          <p:nvPr/>
        </p:nvSpPr>
        <p:spPr>
          <a:xfrm>
            <a:off x="5467700" y="1624424"/>
            <a:ext cx="2609714" cy="760690"/>
          </a:xfrm>
          <a:prstGeom prst="rect">
            <a:avLst/>
          </a:prstGeom>
          <a:solidFill>
            <a:schemeClr val="accent5"/>
          </a:solidFill>
          <a:ln w="9000">
            <a:solidFill>
              <a:srgbClr val="CDD4DA"/>
            </a:solidFill>
          </a:ln>
        </p:spPr>
        <p:txBody>
          <a:bodyPr wrap="square" lIns="22858" tIns="22858" rIns="22858" bIns="22858" anchor="ctr">
            <a:normAutofit lnSpcReduction="12000"/>
          </a:bodyPr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Tx/>
              <a:buSzTx/>
              <a:buFontTx/>
              <a:buNone/>
            </a:pPr>
            <a:r>
              <a:rPr lang="zh-CN" altLang="en-US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智能制动控制</a:t>
            </a:r>
            <a:endParaRPr lang="zh-CN" altLang="en-US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3" name="TableCell"/>
          <p:cNvSpPr>
            <a:spLocks noGrp="1"/>
          </p:cNvSpPr>
          <p:nvPr/>
        </p:nvSpPr>
        <p:spPr>
          <a:xfrm>
            <a:off x="263511" y="3213746"/>
            <a:ext cx="2609714" cy="760690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58" tIns="22858" rIns="22858" bIns="22858" anchor="ctr">
            <a:normAutofit lnSpcReduction="12000"/>
          </a:bodyPr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Tx/>
              <a:buSzTx/>
              <a:buFontTx/>
              <a:buNone/>
            </a:pPr>
            <a:r>
              <a:rPr sz="1400" b="1">
                <a:solidFill>
                  <a:srgbClr val="20242A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道路环境</a:t>
            </a:r>
            <a:endParaRPr sz="1400" b="1">
              <a:solidFill>
                <a:srgbClr val="20242A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1" name="TableCell"/>
          <p:cNvSpPr>
            <a:spLocks noGrp="1"/>
          </p:cNvSpPr>
          <p:nvPr/>
        </p:nvSpPr>
        <p:spPr>
          <a:xfrm>
            <a:off x="2865606" y="3213746"/>
            <a:ext cx="2609714" cy="760690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58" tIns="22858" rIns="22858" bIns="22858" anchor="ctr">
            <a:normAutofit lnSpcReduction="12000"/>
          </a:bodyPr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Tx/>
              <a:buSzTx/>
              <a:buFontTx/>
              <a:buNone/>
            </a:pPr>
            <a:r>
              <a:rPr sz="1400" b="1">
                <a:solidFill>
                  <a:srgbClr val="20242A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固定规则难适应速度与附着变化</a:t>
            </a:r>
            <a:endParaRPr sz="1400" b="1">
              <a:solidFill>
                <a:srgbClr val="20242A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2" name="TableCell"/>
          <p:cNvSpPr>
            <a:spLocks noGrp="1"/>
          </p:cNvSpPr>
          <p:nvPr/>
        </p:nvSpPr>
        <p:spPr>
          <a:xfrm>
            <a:off x="5467700" y="3213746"/>
            <a:ext cx="2609714" cy="760690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58" tIns="22858" rIns="22858" bIns="22858" anchor="ctr">
            <a:normAutofit lnSpcReduction="12000"/>
          </a:bodyPr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Tx/>
              <a:buSzTx/>
              <a:buFontTx/>
              <a:buNone/>
            </a:pPr>
            <a:r>
              <a:rPr sz="1400" b="1">
                <a:solidFill>
                  <a:srgbClr val="20242A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在线预测不同制动动作的后果</a:t>
            </a:r>
            <a:endParaRPr sz="1400" b="1">
              <a:solidFill>
                <a:srgbClr val="20242A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3" name="TableCell"/>
          <p:cNvSpPr>
            <a:spLocks noGrp="1"/>
          </p:cNvSpPr>
          <p:nvPr/>
        </p:nvSpPr>
        <p:spPr>
          <a:xfrm>
            <a:off x="263511" y="4013805"/>
            <a:ext cx="2609714" cy="760690"/>
          </a:xfrm>
          <a:prstGeom prst="rect">
            <a:avLst/>
          </a:prstGeom>
          <a:solidFill>
            <a:srgbClr val="F4F6F8"/>
          </a:solidFill>
          <a:ln w="9000">
            <a:solidFill>
              <a:srgbClr val="CDD4DA"/>
            </a:solidFill>
          </a:ln>
        </p:spPr>
        <p:txBody>
          <a:bodyPr wrap="square" lIns="22858" tIns="22858" rIns="22858" bIns="22858" anchor="ctr">
            <a:normAutofit lnSpcReduction="12000"/>
          </a:bodyPr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Tx/>
              <a:buSzTx/>
              <a:buFontTx/>
              <a:buNone/>
            </a:pPr>
            <a:r>
              <a:rPr sz="1400" b="1">
                <a:solidFill>
                  <a:srgbClr val="20242A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风险窗口</a:t>
            </a:r>
            <a:endParaRPr sz="1400" b="1">
              <a:solidFill>
                <a:srgbClr val="20242A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" name="TableCell"/>
          <p:cNvSpPr>
            <a:spLocks noGrp="1"/>
          </p:cNvSpPr>
          <p:nvPr/>
        </p:nvSpPr>
        <p:spPr>
          <a:xfrm>
            <a:off x="2865606" y="4013805"/>
            <a:ext cx="2609714" cy="760690"/>
          </a:xfrm>
          <a:prstGeom prst="rect">
            <a:avLst/>
          </a:prstGeom>
          <a:solidFill>
            <a:srgbClr val="F4F6F8"/>
          </a:solidFill>
          <a:ln w="9000">
            <a:solidFill>
              <a:srgbClr val="CDD4DA"/>
            </a:solidFill>
          </a:ln>
        </p:spPr>
        <p:txBody>
          <a:bodyPr wrap="square" lIns="22858" tIns="22858" rIns="22858" bIns="22858" anchor="ctr">
            <a:normAutofit lnSpcReduction="12000"/>
          </a:bodyPr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Tx/>
              <a:buSzTx/>
              <a:buFontTx/>
              <a:buNone/>
            </a:pPr>
            <a:r>
              <a:rPr sz="1400" b="1">
                <a:solidFill>
                  <a:srgbClr val="20242A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风险出现后再响应</a:t>
            </a:r>
            <a:endParaRPr sz="1400" b="1">
              <a:solidFill>
                <a:srgbClr val="20242A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5" name="TableCell"/>
          <p:cNvSpPr>
            <a:spLocks noGrp="1"/>
          </p:cNvSpPr>
          <p:nvPr/>
        </p:nvSpPr>
        <p:spPr>
          <a:xfrm>
            <a:off x="5467700" y="4013805"/>
            <a:ext cx="2609714" cy="760690"/>
          </a:xfrm>
          <a:prstGeom prst="rect">
            <a:avLst/>
          </a:prstGeom>
          <a:solidFill>
            <a:srgbClr val="F4F6F8"/>
          </a:solidFill>
          <a:ln w="9000">
            <a:solidFill>
              <a:srgbClr val="CDD4DA"/>
            </a:solidFill>
          </a:ln>
        </p:spPr>
        <p:txBody>
          <a:bodyPr wrap="square" lIns="22858" tIns="22858" rIns="22858" bIns="22858" anchor="ctr">
            <a:normAutofit lnSpcReduction="12000"/>
          </a:bodyPr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Tx/>
              <a:buSzTx/>
              <a:buFontTx/>
              <a:buNone/>
            </a:pPr>
            <a:r>
              <a:rPr sz="1400" b="1">
                <a:solidFill>
                  <a:srgbClr val="20242A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执行前比较候选制动轨迹</a:t>
            </a:r>
            <a:endParaRPr sz="1400" b="1">
              <a:solidFill>
                <a:srgbClr val="20242A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6" name="TableCell"/>
          <p:cNvSpPr>
            <a:spLocks noGrp="1"/>
          </p:cNvSpPr>
          <p:nvPr/>
        </p:nvSpPr>
        <p:spPr>
          <a:xfrm>
            <a:off x="263511" y="4813863"/>
            <a:ext cx="2609714" cy="760690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58" tIns="22858" rIns="22858" bIns="22858" anchor="ctr">
            <a:normAutofit lnSpcReduction="12000"/>
          </a:bodyPr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Tx/>
              <a:buSzTx/>
              <a:buFontTx/>
              <a:buNone/>
            </a:pPr>
            <a:r>
              <a:rPr sz="1400" b="1">
                <a:solidFill>
                  <a:srgbClr val="20242A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控制目标</a:t>
            </a:r>
            <a:endParaRPr sz="1400" b="1">
              <a:solidFill>
                <a:srgbClr val="20242A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7" name="TableCell"/>
          <p:cNvSpPr>
            <a:spLocks noGrp="1"/>
          </p:cNvSpPr>
          <p:nvPr/>
        </p:nvSpPr>
        <p:spPr>
          <a:xfrm>
            <a:off x="2865606" y="4813863"/>
            <a:ext cx="2609714" cy="760690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58" tIns="22858" rIns="22858" bIns="22858" anchor="ctr">
            <a:normAutofit lnSpcReduction="12000"/>
          </a:bodyPr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Tx/>
              <a:buSzTx/>
              <a:buFontTx/>
              <a:buNone/>
            </a:pPr>
            <a:r>
              <a:rPr sz="1400" b="1">
                <a:solidFill>
                  <a:srgbClr val="20242A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安全、精度与舒适性难兼顾</a:t>
            </a:r>
            <a:endParaRPr sz="1400" b="1">
              <a:solidFill>
                <a:srgbClr val="20242A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5" name="TableCell"/>
          <p:cNvSpPr>
            <a:spLocks noGrp="1"/>
          </p:cNvSpPr>
          <p:nvPr/>
        </p:nvSpPr>
        <p:spPr>
          <a:xfrm>
            <a:off x="5467700" y="4813863"/>
            <a:ext cx="2609714" cy="760690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58" tIns="22858" rIns="22858" bIns="22858" anchor="ctr">
            <a:normAutofit/>
          </a:bodyPr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None/>
            </a:pPr>
            <a:r>
              <a:rPr sz="1400" b="1">
                <a:solidFill>
                  <a:srgbClr val="20242A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多目标代价选择最优制动压力</a:t>
            </a:r>
            <a:endParaRPr sz="1400" b="1">
              <a:solidFill>
                <a:srgbClr val="20242A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0" name="Text"/>
          <p:cNvSpPr>
            <a:spLocks noGrp="1"/>
          </p:cNvSpPr>
          <p:nvPr/>
        </p:nvSpPr>
        <p:spPr>
          <a:xfrm>
            <a:off x="1015947" y="5851145"/>
            <a:ext cx="9920723" cy="658334"/>
          </a:xfrm>
          <a:prstGeom prst="roundRect">
            <a:avLst/>
          </a:prstGeom>
          <a:solidFill>
            <a:srgbClr val="EEF6F8"/>
          </a:solidFill>
          <a:ln w="9000">
            <a:solidFill>
              <a:srgbClr val="BFDDE2"/>
            </a:solidFill>
          </a:ln>
        </p:spPr>
        <p:txBody>
          <a:bodyPr wrap="square" lIns="45717" tIns="45717" rIns="45717" bIns="45717" anchor="ctr">
            <a:normAutofit lnSpcReduction="12000"/>
          </a:bodyPr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1219200">
              <a:lnSpc>
                <a:spcPct val="108000"/>
              </a:lnSpc>
              <a:spcAft>
                <a:spcPts val="500"/>
              </a:spcAft>
              <a:buClrTx/>
              <a:buSzTx/>
              <a:buFontTx/>
              <a:buNone/>
            </a:pPr>
            <a:r>
              <a:rPr lang="zh-CN" sz="200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</a:rPr>
              <a:t>汽车安全的关键正在从</a:t>
            </a:r>
            <a:r>
              <a:rPr lang="zh-CN" sz="20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“及时制动”</a:t>
            </a:r>
            <a:r>
              <a:rPr lang="zh-CN" sz="2000" b="1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</a:rPr>
              <a:t>，走向</a:t>
            </a:r>
            <a:r>
              <a:rPr lang="zh-CN" sz="20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“提前制动</a:t>
            </a:r>
            <a:r>
              <a:rPr lang="en-US" altLang="zh-CN" sz="20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&amp;</a:t>
            </a:r>
            <a:r>
              <a:rPr lang="zh-CN" altLang="en-US" sz="20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决策制动</a:t>
            </a:r>
            <a:r>
              <a:rPr lang="zh-CN" sz="20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endParaRPr lang="zh-CN" sz="20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2" name="图片 31"/>
          <p:cNvPicPr/>
          <p:nvPr/>
        </p:nvPicPr>
        <p:blipFill>
          <a:blip r:embed="rId1"/>
          <a:stretch>
            <a:fillRect/>
          </a:stretch>
        </p:blipFill>
        <p:spPr>
          <a:xfrm>
            <a:off x="8904141" y="2493059"/>
            <a:ext cx="2447163" cy="1636310"/>
          </a:xfrm>
          <a:prstGeom prst="rect">
            <a:avLst/>
          </a:prstGeom>
        </p:spPr>
      </p:pic>
      <p:sp>
        <p:nvSpPr>
          <p:cNvPr id="33" name="TableCell"/>
          <p:cNvSpPr>
            <a:spLocks noGrp="1"/>
          </p:cNvSpPr>
          <p:nvPr/>
        </p:nvSpPr>
        <p:spPr>
          <a:xfrm>
            <a:off x="263511" y="2413688"/>
            <a:ext cx="2609714" cy="760690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58" tIns="22858" rIns="22858" bIns="22858" anchor="ctr">
            <a:normAutofit lnSpcReduction="12000"/>
          </a:bodyPr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Tx/>
              <a:buSzTx/>
              <a:buFontTx/>
              <a:buNone/>
            </a:pPr>
            <a:r>
              <a:rPr lang="zh-CN" sz="1400" b="1">
                <a:solidFill>
                  <a:srgbClr val="20242A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制动类型</a:t>
            </a:r>
            <a:endParaRPr lang="zh-CN" sz="1400" b="1">
              <a:solidFill>
                <a:srgbClr val="20242A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5" name="TableCell"/>
          <p:cNvSpPr>
            <a:spLocks noGrp="1"/>
          </p:cNvSpPr>
          <p:nvPr/>
        </p:nvSpPr>
        <p:spPr>
          <a:xfrm>
            <a:off x="2865606" y="2413688"/>
            <a:ext cx="2609714" cy="760690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58" tIns="22858" rIns="22858" bIns="22858" anchor="ctr">
            <a:normAutofit lnSpcReduction="12000"/>
          </a:bodyPr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Tx/>
              <a:buSzTx/>
              <a:buFontTx/>
              <a:buNone/>
            </a:pPr>
            <a:r>
              <a:rPr lang="zh-CN" sz="1400" b="1">
                <a:solidFill>
                  <a:srgbClr val="20242A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响应式制动</a:t>
            </a:r>
            <a:endParaRPr lang="zh-CN" sz="1400" b="1">
              <a:solidFill>
                <a:srgbClr val="20242A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6" name="TableCell"/>
          <p:cNvSpPr>
            <a:spLocks noGrp="1"/>
          </p:cNvSpPr>
          <p:nvPr/>
        </p:nvSpPr>
        <p:spPr>
          <a:xfrm>
            <a:off x="5467700" y="2413688"/>
            <a:ext cx="2609714" cy="760690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58" tIns="22858" rIns="22858" bIns="22858" anchor="ctr">
            <a:normAutofit lnSpcReduction="12000"/>
          </a:bodyPr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Tx/>
              <a:buSzTx/>
              <a:buFontTx/>
              <a:buNone/>
            </a:pPr>
            <a:r>
              <a:rPr lang="zh-CN" sz="1400" b="1">
                <a:solidFill>
                  <a:srgbClr val="20242A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/>
              </a:rPr>
              <a:t>预测式制动</a:t>
            </a:r>
            <a:endParaRPr lang="zh-CN" sz="1400" b="1">
              <a:solidFill>
                <a:srgbClr val="20242A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问题定义与机理基线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823B-8CA8-4514-B4CF-AB75C2ECDFC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9" name="Text 19"/>
          <p:cNvSpPr txBox="1"/>
          <p:nvPr/>
        </p:nvSpPr>
        <p:spPr>
          <a:xfrm>
            <a:off x="335771" y="981329"/>
            <a:ext cx="9875006" cy="457176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>
            <a:normAutofit fontScale="90000" lnSpcReduction="20000"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2700" b="1" i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</a:rPr>
              <a:t>问题定义：从“拟合动力学”走向“预测式决策”</a:t>
            </a:r>
            <a:endParaRPr lang="zh-CN" sz="2700"/>
          </a:p>
        </p:txBody>
      </p:sp>
      <p:sp>
        <p:nvSpPr>
          <p:cNvPr id="21" name="Text 21"/>
          <p:cNvSpPr txBox="1"/>
          <p:nvPr/>
        </p:nvSpPr>
        <p:spPr>
          <a:xfrm>
            <a:off x="426571" y="1549625"/>
            <a:ext cx="10972229" cy="530324"/>
          </a:xfrm>
          <a:prstGeom prst="roundRect">
            <a:avLst/>
          </a:prstGeom>
          <a:solidFill>
            <a:srgbClr val="E9F4F5"/>
          </a:solidFill>
          <a:ln w="12700">
            <a:solidFill>
              <a:srgbClr val="B9DDE1"/>
            </a:solidFill>
          </a:ln>
        </p:spPr>
        <p:txBody>
          <a:bodyPr wrap="square" lIns="73148" tIns="36574" rIns="73148" bIns="36574" anchor="ctr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2000" b="1" i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</a:rPr>
              <a:t>目标：给定当前状态，在线选择</a:t>
            </a:r>
            <a:r>
              <a:rPr lang="zh-CN" sz="2000" b="1" i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制动轨迹</a:t>
            </a:r>
            <a:r>
              <a:rPr lang="zh-CN" sz="2000" b="1" i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</a:rPr>
              <a:t>，使车辆</a:t>
            </a:r>
            <a:r>
              <a:rPr lang="zh-CN" sz="2000" b="1" i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安全、精准、平顺</a:t>
            </a:r>
            <a:r>
              <a:rPr lang="zh-CN" sz="2000" b="1" i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</a:rPr>
              <a:t>地停在障碍物前。</a:t>
            </a:r>
            <a:endParaRPr lang="zh-CN" sz="2000"/>
          </a:p>
        </p:txBody>
      </p:sp>
      <p:sp>
        <p:nvSpPr>
          <p:cNvPr id="35" name="TableCell"/>
          <p:cNvSpPr txBox="1"/>
          <p:nvPr/>
        </p:nvSpPr>
        <p:spPr>
          <a:xfrm>
            <a:off x="24764" y="2420673"/>
            <a:ext cx="1412166" cy="767675"/>
          </a:xfrm>
          <a:prstGeom prst="rect">
            <a:avLst/>
          </a:prstGeom>
          <a:solidFill>
            <a:schemeClr val="accent5"/>
          </a:solidFill>
          <a:ln w="9000">
            <a:solidFill>
              <a:srgbClr val="CDD4DA"/>
            </a:solidFill>
          </a:ln>
        </p:spPr>
        <p:txBody>
          <a:bodyPr wrap="square" lIns="22858" tIns="22858" rIns="22858" bIns="22858" anchor="ctr"/>
          <a:lstStyle/>
          <a:p>
            <a:pPr algn="ctr"/>
            <a:r>
              <a:rPr lang="zh-CN" altLang="en-US" sz="160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维度</a:t>
            </a:r>
            <a:endParaRPr lang="zh-CN" altLang="en-US" sz="1600" b="1" dirty="0" smtClea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6" name="TableCell"/>
          <p:cNvSpPr txBox="1"/>
          <p:nvPr/>
        </p:nvSpPr>
        <p:spPr>
          <a:xfrm>
            <a:off x="1464234" y="2420673"/>
            <a:ext cx="1412166" cy="767675"/>
          </a:xfrm>
          <a:prstGeom prst="rect">
            <a:avLst/>
          </a:prstGeom>
          <a:solidFill>
            <a:schemeClr val="accent5"/>
          </a:solidFill>
          <a:ln w="9000">
            <a:solidFill>
              <a:srgbClr val="CDD4DA"/>
            </a:solidFill>
          </a:ln>
        </p:spPr>
        <p:txBody>
          <a:bodyPr wrap="square" lIns="22858" tIns="22858" rIns="22858" bIns="22858" anchor="ctr"/>
          <a:lstStyle/>
          <a:p>
            <a:pPr algn="ctr"/>
            <a:r>
              <a:rPr lang="zh-CN" altLang="en-US" sz="160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系统辨识</a:t>
            </a:r>
            <a:endParaRPr lang="zh-CN" altLang="en-US" sz="1600" b="1" dirty="0" smtClea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7" name="TableCell"/>
          <p:cNvSpPr txBox="1"/>
          <p:nvPr/>
        </p:nvSpPr>
        <p:spPr>
          <a:xfrm>
            <a:off x="2903704" y="2420673"/>
            <a:ext cx="1412166" cy="767675"/>
          </a:xfrm>
          <a:prstGeom prst="rect">
            <a:avLst/>
          </a:prstGeom>
          <a:solidFill>
            <a:schemeClr val="accent5"/>
          </a:solidFill>
          <a:ln w="9000">
            <a:solidFill>
              <a:srgbClr val="CDD4DA"/>
            </a:solidFill>
          </a:ln>
        </p:spPr>
        <p:txBody>
          <a:bodyPr wrap="square" lIns="22858" tIns="22858" rIns="22858" bIns="22858" anchor="ctr"/>
          <a:lstStyle/>
          <a:p>
            <a:pPr algn="ctr"/>
            <a:r>
              <a:rPr lang="zh-CN" altLang="en-US" sz="160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预测式规划</a:t>
            </a:r>
            <a:endParaRPr lang="zh-CN" altLang="en-US" sz="1600" b="1" dirty="0" smtClea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9" name="TableCell"/>
          <p:cNvSpPr txBox="1"/>
          <p:nvPr/>
        </p:nvSpPr>
        <p:spPr>
          <a:xfrm>
            <a:off x="24764" y="3220731"/>
            <a:ext cx="1412166" cy="767675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58" tIns="22858" rIns="22858" bIns="22858" anchor="ctr"/>
          <a:lstStyle/>
          <a:p>
            <a:pPr algn="ctr"/>
            <a:r>
              <a:rPr lang="zh-CN" altLang="en-US" sz="160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学习目标</a:t>
            </a:r>
            <a:endParaRPr lang="zh-CN" altLang="en-US" sz="1600" b="1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0" name="TableCell"/>
          <p:cNvSpPr txBox="1"/>
          <p:nvPr/>
        </p:nvSpPr>
        <p:spPr>
          <a:xfrm>
            <a:off x="1464234" y="3220731"/>
            <a:ext cx="1412166" cy="767675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58" tIns="22858" rIns="22858" bIns="22858" anchor="ctr"/>
          <a:lstStyle/>
          <a:p>
            <a:pPr algn="ctr"/>
            <a:r>
              <a:rPr lang="zh-CN" altLang="en-US" sz="160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拟合状态转移</a:t>
            </a:r>
            <a:endParaRPr lang="zh-CN" altLang="en-US" sz="1600" b="1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3" name="TableCell"/>
          <p:cNvSpPr txBox="1"/>
          <p:nvPr/>
        </p:nvSpPr>
        <p:spPr>
          <a:xfrm>
            <a:off x="2903704" y="3220731"/>
            <a:ext cx="1412166" cy="767675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58" tIns="22858" rIns="22858" bIns="22858" anchor="ctr"/>
          <a:lstStyle/>
          <a:p>
            <a:pPr algn="ctr"/>
            <a:r>
              <a:rPr lang="zh-CN" altLang="en-US" sz="160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选择当前动作</a:t>
            </a:r>
            <a:endParaRPr lang="zh-CN" altLang="en-US" sz="1600" b="1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7" name="TableCell"/>
          <p:cNvSpPr txBox="1"/>
          <p:nvPr/>
        </p:nvSpPr>
        <p:spPr>
          <a:xfrm>
            <a:off x="24764" y="4020789"/>
            <a:ext cx="1412166" cy="767675"/>
          </a:xfrm>
          <a:prstGeom prst="rect">
            <a:avLst/>
          </a:prstGeom>
          <a:solidFill>
            <a:srgbClr val="F4F6F8"/>
          </a:solidFill>
          <a:ln w="9000">
            <a:solidFill>
              <a:srgbClr val="CDD4DA"/>
            </a:solidFill>
          </a:ln>
        </p:spPr>
        <p:txBody>
          <a:bodyPr wrap="square" lIns="22858" tIns="22858" rIns="22858" bIns="22858" anchor="ctr"/>
          <a:lstStyle/>
          <a:p>
            <a:pPr algn="ctr"/>
            <a:r>
              <a:rPr lang="zh-CN" altLang="en-US" sz="160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使用方式</a:t>
            </a:r>
            <a:endParaRPr lang="zh-CN" altLang="en-US" sz="1600" b="1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0" name="TableCell"/>
          <p:cNvSpPr txBox="1"/>
          <p:nvPr/>
        </p:nvSpPr>
        <p:spPr>
          <a:xfrm>
            <a:off x="1464234" y="4020789"/>
            <a:ext cx="1412166" cy="767675"/>
          </a:xfrm>
          <a:prstGeom prst="rect">
            <a:avLst/>
          </a:prstGeom>
          <a:solidFill>
            <a:srgbClr val="F4F6F8"/>
          </a:solidFill>
          <a:ln w="9000">
            <a:solidFill>
              <a:srgbClr val="CDD4DA"/>
            </a:solidFill>
          </a:ln>
        </p:spPr>
        <p:txBody>
          <a:bodyPr wrap="square" lIns="22858" tIns="22858" rIns="22858" bIns="22858" anchor="ctr"/>
          <a:lstStyle/>
          <a:p>
            <a:pPr algn="ctr"/>
            <a:r>
              <a:rPr lang="zh-CN" altLang="en-US" sz="160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离线预测评估</a:t>
            </a:r>
            <a:endParaRPr lang="zh-CN" altLang="en-US" sz="1600" b="1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1" name="TableCell"/>
          <p:cNvSpPr txBox="1"/>
          <p:nvPr/>
        </p:nvSpPr>
        <p:spPr>
          <a:xfrm>
            <a:off x="2903704" y="4020789"/>
            <a:ext cx="1412166" cy="767675"/>
          </a:xfrm>
          <a:prstGeom prst="rect">
            <a:avLst/>
          </a:prstGeom>
          <a:solidFill>
            <a:srgbClr val="F4F6F8"/>
          </a:solidFill>
          <a:ln w="9000">
            <a:solidFill>
              <a:srgbClr val="CDD4DA"/>
            </a:solidFill>
          </a:ln>
        </p:spPr>
        <p:txBody>
          <a:bodyPr wrap="square" lIns="22858" tIns="22858" rIns="22858" bIns="22858" anchor="ctr"/>
          <a:lstStyle/>
          <a:p>
            <a:pPr algn="ctr"/>
            <a:r>
              <a:rPr lang="zh-CN" altLang="en-US" sz="160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在线反复推演</a:t>
            </a:r>
            <a:endParaRPr lang="zh-CN" altLang="en-US" sz="1600" b="1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2" name="TableCell"/>
          <p:cNvSpPr txBox="1"/>
          <p:nvPr/>
        </p:nvSpPr>
        <p:spPr>
          <a:xfrm>
            <a:off x="24764" y="4820848"/>
            <a:ext cx="1412166" cy="767675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58" tIns="22858" rIns="22858" bIns="22858" anchor="ctr"/>
          <a:lstStyle/>
          <a:p>
            <a:pPr algn="ctr"/>
            <a:r>
              <a:rPr lang="zh-CN" altLang="en-US" sz="160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关键问题</a:t>
            </a:r>
            <a:endParaRPr lang="zh-CN" altLang="en-US" sz="1600" b="1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3" name="TableCell"/>
          <p:cNvSpPr txBox="1"/>
          <p:nvPr/>
        </p:nvSpPr>
        <p:spPr>
          <a:xfrm>
            <a:off x="1464234" y="4820848"/>
            <a:ext cx="1412166" cy="767675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58" tIns="22858" rIns="22858" bIns="22858" anchor="ctr"/>
          <a:lstStyle/>
          <a:p>
            <a:pPr algn="ctr"/>
            <a:r>
              <a:rPr lang="zh-CN" altLang="en-US" sz="160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预测是否准确</a:t>
            </a:r>
            <a:endParaRPr lang="zh-CN" altLang="en-US" sz="1600" b="1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4" name="TableCell"/>
          <p:cNvSpPr txBox="1"/>
          <p:nvPr/>
        </p:nvSpPr>
        <p:spPr>
          <a:xfrm>
            <a:off x="2903704" y="4820848"/>
            <a:ext cx="1412166" cy="767675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58" tIns="22858" rIns="22858" bIns="22858" anchor="ctr"/>
          <a:lstStyle/>
          <a:p>
            <a:pPr algn="ctr"/>
            <a:r>
              <a:rPr lang="zh-CN" altLang="en-US" sz="160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候选轨迹哪条代价最低</a:t>
            </a:r>
            <a:endParaRPr lang="zh-CN" altLang="en-US" sz="1600" b="1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6" name="Text"/>
          <p:cNvSpPr txBox="1"/>
          <p:nvPr/>
        </p:nvSpPr>
        <p:spPr>
          <a:xfrm>
            <a:off x="1015312" y="5770758"/>
            <a:ext cx="9920723" cy="658334"/>
          </a:xfrm>
          <a:prstGeom prst="roundRect">
            <a:avLst/>
          </a:prstGeom>
          <a:solidFill>
            <a:srgbClr val="EEF6F8"/>
          </a:solidFill>
          <a:ln w="9000">
            <a:solidFill>
              <a:srgbClr val="BFDDE2"/>
            </a:solidFill>
          </a:ln>
        </p:spPr>
        <p:txBody>
          <a:bodyPr wrap="square" lIns="45717" tIns="45717" rIns="45717" bIns="45717" anchor="ctr">
            <a:normAutofit/>
          </a:bodyPr>
          <a:lstStyle/>
          <a:p>
            <a:pPr algn="ctr"/>
            <a:r>
              <a:rPr lang="zh-CN" altLang="en-US" sz="1550" b="1" dirty="0" smtClean="0">
                <a:solidFill>
                  <a:srgbClr val="0F6B7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把世界模型放入规划闭环，而不止停留在拟合</a:t>
            </a:r>
            <a:endParaRPr lang="zh-CN" altLang="en-US" sz="1550"/>
          </a:p>
        </p:txBody>
      </p:sp>
      <p:sp>
        <p:nvSpPr>
          <p:cNvPr id="71" name="Shape 22"/>
          <p:cNvSpPr/>
          <p:nvPr>
            <p:custDataLst>
              <p:tags r:id="rId1"/>
            </p:custDataLst>
          </p:nvPr>
        </p:nvSpPr>
        <p:spPr>
          <a:xfrm>
            <a:off x="4511440" y="2959759"/>
            <a:ext cx="2250958" cy="179886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sp>
        <p:nvSpPr>
          <p:cNvPr id="73" name="Shape 23"/>
          <p:cNvSpPr/>
          <p:nvPr>
            <p:custDataLst>
              <p:tags r:id="rId2"/>
            </p:custDataLst>
          </p:nvPr>
        </p:nvSpPr>
        <p:spPr>
          <a:xfrm>
            <a:off x="4511440" y="2959759"/>
            <a:ext cx="76196" cy="1798226"/>
          </a:xfrm>
          <a:prstGeom prst="rect">
            <a:avLst/>
          </a:prstGeom>
          <a:solidFill>
            <a:srgbClr val="0E8A92"/>
          </a:solidFill>
          <a:ln>
            <a:noFill/>
          </a:ln>
        </p:spPr>
      </p:sp>
      <p:sp>
        <p:nvSpPr>
          <p:cNvPr id="74" name="Text 24"/>
          <p:cNvSpPr txBox="1"/>
          <p:nvPr>
            <p:custDataLst>
              <p:tags r:id="rId3"/>
            </p:custDataLst>
          </p:nvPr>
        </p:nvSpPr>
        <p:spPr>
          <a:xfrm>
            <a:off x="4668912" y="3071514"/>
            <a:ext cx="2199525" cy="321293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>
            <a:no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400" b="1" i="0">
                <a:solidFill>
                  <a:srgbClr val="0E8A92"/>
                </a:solidFill>
                <a:latin typeface="微软雅黑" panose="020B0503020204020204" charset="-122"/>
                <a:ea typeface="微软雅黑" panose="020B0503020204020204" charset="-122"/>
              </a:rPr>
              <a:t>状态 State</a:t>
            </a:r>
            <a:endParaRPr lang="zh-CN" sz="1400"/>
          </a:p>
        </p:txBody>
      </p:sp>
      <p:sp>
        <p:nvSpPr>
          <p:cNvPr id="75" name="Text 25"/>
          <p:cNvSpPr txBox="1"/>
          <p:nvPr>
            <p:custDataLst>
              <p:tags r:id="rId4"/>
            </p:custDataLst>
          </p:nvPr>
        </p:nvSpPr>
        <p:spPr>
          <a:xfrm>
            <a:off x="4668996" y="3340520"/>
            <a:ext cx="2186091" cy="1660903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8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v</a:t>
            </a:r>
            <a:r>
              <a:rPr lang="en-US" altLang="zh-CN" sz="1800" b="0" i="0" baseline="-2500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t</a:t>
            </a:r>
            <a:r>
              <a:rPr lang="zh-CN" sz="18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：当前车速
x</a:t>
            </a:r>
            <a:r>
              <a:rPr lang="en-US" altLang="zh-CN" sz="1800" baseline="-2500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</a:t>
            </a:r>
            <a:r>
              <a:rPr lang="zh-CN" sz="18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：障碍距离
a</a:t>
            </a:r>
            <a:r>
              <a:rPr lang="en-US" altLang="zh-CN" sz="1800" baseline="-2500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</a:t>
            </a:r>
            <a:r>
              <a:rPr lang="zh-CN" sz="18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：当前减速度
μ</a:t>
            </a:r>
            <a:r>
              <a:rPr lang="en-US" altLang="zh-CN" sz="1800" baseline="-2500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</a:t>
            </a:r>
            <a:r>
              <a:rPr lang="zh-CN" sz="18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：路面附着系数</a:t>
            </a:r>
            <a:endParaRPr lang="zh-CN" sz="1800"/>
          </a:p>
        </p:txBody>
      </p:sp>
      <p:sp>
        <p:nvSpPr>
          <p:cNvPr id="76" name="Shape 26"/>
          <p:cNvSpPr/>
          <p:nvPr>
            <p:custDataLst>
              <p:tags r:id="rId5"/>
            </p:custDataLst>
          </p:nvPr>
        </p:nvSpPr>
        <p:spPr>
          <a:xfrm>
            <a:off x="7041783" y="2996588"/>
            <a:ext cx="2157618" cy="1762033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sp>
        <p:nvSpPr>
          <p:cNvPr id="78" name="Shape 27"/>
          <p:cNvSpPr/>
          <p:nvPr>
            <p:custDataLst>
              <p:tags r:id="rId6"/>
            </p:custDataLst>
          </p:nvPr>
        </p:nvSpPr>
        <p:spPr>
          <a:xfrm>
            <a:off x="7041783" y="2996588"/>
            <a:ext cx="76196" cy="1762033"/>
          </a:xfrm>
          <a:prstGeom prst="rect">
            <a:avLst/>
          </a:prstGeom>
          <a:solidFill>
            <a:srgbClr val="F2A93B"/>
          </a:solidFill>
          <a:ln>
            <a:noFill/>
          </a:ln>
        </p:spPr>
      </p:sp>
      <p:sp>
        <p:nvSpPr>
          <p:cNvPr id="79" name="Text 28"/>
          <p:cNvSpPr txBox="1"/>
          <p:nvPr>
            <p:custDataLst>
              <p:tags r:id="rId7"/>
            </p:custDataLst>
          </p:nvPr>
        </p:nvSpPr>
        <p:spPr>
          <a:xfrm>
            <a:off x="7254497" y="3108342"/>
            <a:ext cx="2199525" cy="162552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>
            <a:no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400" b="1" i="0">
                <a:solidFill>
                  <a:srgbClr val="F2A93B"/>
                </a:solidFill>
                <a:latin typeface="微软雅黑" panose="020B0503020204020204" charset="-122"/>
                <a:ea typeface="微软雅黑" panose="020B0503020204020204" charset="-122"/>
              </a:rPr>
              <a:t>动作 Action</a:t>
            </a:r>
            <a:endParaRPr lang="zh-CN" sz="1400"/>
          </a:p>
        </p:txBody>
      </p:sp>
      <p:sp>
        <p:nvSpPr>
          <p:cNvPr id="80" name="Text 29"/>
          <p:cNvSpPr txBox="1"/>
          <p:nvPr>
            <p:custDataLst>
              <p:tags r:id="rId8"/>
            </p:custDataLst>
          </p:nvPr>
        </p:nvSpPr>
        <p:spPr>
          <a:xfrm>
            <a:off x="7254497" y="3377568"/>
            <a:ext cx="2186191" cy="1371529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8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P</a:t>
            </a:r>
            <a:r>
              <a:rPr lang="en-US" altLang="zh-CN" sz="1800" b="0" i="0" baseline="-2500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t</a:t>
            </a:r>
            <a:r>
              <a:rPr lang="zh-CN" sz="18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：制动主缸压力
</a:t>
            </a:r>
            <a:r>
              <a:rPr lang="en-US" altLang="zh-CN" sz="18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T</a:t>
            </a:r>
            <a:r>
              <a:rPr lang="en-US" altLang="zh-CN" sz="1800" baseline="-2500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b</a:t>
            </a:r>
            <a:r>
              <a:rPr lang="zh-CN" sz="18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：制动轨迹</a:t>
            </a:r>
            <a:endParaRPr lang="zh-CN" sz="1800" b="0" i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" name="Shape 30"/>
          <p:cNvSpPr/>
          <p:nvPr>
            <p:custDataLst>
              <p:tags r:id="rId9"/>
            </p:custDataLst>
          </p:nvPr>
        </p:nvSpPr>
        <p:spPr>
          <a:xfrm>
            <a:off x="9589905" y="2961029"/>
            <a:ext cx="2293501" cy="179759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sp>
        <p:nvSpPr>
          <p:cNvPr id="82" name="Shape 31"/>
          <p:cNvSpPr/>
          <p:nvPr>
            <p:custDataLst>
              <p:tags r:id="rId10"/>
            </p:custDataLst>
          </p:nvPr>
        </p:nvSpPr>
        <p:spPr>
          <a:xfrm>
            <a:off x="9478786" y="2961029"/>
            <a:ext cx="76196" cy="1797591"/>
          </a:xfrm>
          <a:prstGeom prst="rect">
            <a:avLst/>
          </a:prstGeom>
          <a:solidFill>
            <a:srgbClr val="D64D4D"/>
          </a:solidFill>
          <a:ln>
            <a:noFill/>
          </a:ln>
        </p:spPr>
      </p:sp>
      <p:sp>
        <p:nvSpPr>
          <p:cNvPr id="83" name="Text 32"/>
          <p:cNvSpPr txBox="1"/>
          <p:nvPr>
            <p:custDataLst>
              <p:tags r:id="rId11"/>
            </p:custDataLst>
          </p:nvPr>
        </p:nvSpPr>
        <p:spPr>
          <a:xfrm>
            <a:off x="9747377" y="3072784"/>
            <a:ext cx="2199525" cy="166361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>
            <a:no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400" b="1" i="0">
                <a:solidFill>
                  <a:srgbClr val="D64D4D"/>
                </a:solidFill>
                <a:latin typeface="微软雅黑" panose="020B0503020204020204" charset="-122"/>
                <a:ea typeface="微软雅黑" panose="020B0503020204020204" charset="-122"/>
              </a:rPr>
              <a:t>目标 Objective</a:t>
            </a:r>
            <a:endParaRPr lang="zh-CN" sz="1400"/>
          </a:p>
        </p:txBody>
      </p:sp>
      <p:sp>
        <p:nvSpPr>
          <p:cNvPr id="84" name="Text 33"/>
          <p:cNvSpPr txBox="1"/>
          <p:nvPr>
            <p:custDataLst>
              <p:tags r:id="rId12"/>
            </p:custDataLst>
          </p:nvPr>
        </p:nvSpPr>
        <p:spPr>
          <a:xfrm>
            <a:off x="9747377" y="3342010"/>
            <a:ext cx="2381761" cy="1400102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8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安全：避免 </a:t>
            </a:r>
            <a:r>
              <a:rPr lang="zh-CN" sz="180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xₜ</a:t>
            </a:r>
            <a:r>
              <a:rPr lang="zh-CN" sz="18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&lt; </a:t>
            </a:r>
            <a:r>
              <a:rPr lang="en-US" altLang="zh-CN" sz="18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18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0
精准：x</a:t>
            </a:r>
            <a:r>
              <a:rPr lang="zh-CN" sz="1800" b="0" i="0" baseline="-2500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stop</a:t>
            </a:r>
            <a:r>
              <a:rPr lang="zh-CN" sz="18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 ≈ d</a:t>
            </a:r>
            <a:r>
              <a:rPr lang="zh-CN" sz="1800" b="0" i="0" baseline="-2500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safe</a:t>
            </a:r>
            <a:r>
              <a:rPr lang="zh-CN" sz="18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
舒适：限制减速度与压力突变</a:t>
            </a:r>
            <a:endParaRPr lang="zh-CN" sz="1800"/>
          </a:p>
        </p:txBody>
      </p:sp>
      <p:sp>
        <p:nvSpPr>
          <p:cNvPr id="85" name="Text 19"/>
          <p:cNvSpPr txBox="1"/>
          <p:nvPr/>
        </p:nvSpPr>
        <p:spPr>
          <a:xfrm>
            <a:off x="1127066" y="2132398"/>
            <a:ext cx="2170952" cy="335263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/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600" b="1" i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</a:rPr>
              <a:t>为什么不是系统辨识？</a:t>
            </a:r>
            <a:endParaRPr lang="zh-CN" sz="1600" b="1" i="0">
              <a:solidFill>
                <a:srgbClr val="0B1F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问题定义与机理基线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823B-8CA8-4514-B4CF-AB75C2ECDFC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9" name="Text 19"/>
          <p:cNvSpPr txBox="1"/>
          <p:nvPr/>
        </p:nvSpPr>
        <p:spPr>
          <a:xfrm>
            <a:off x="335771" y="981329"/>
            <a:ext cx="9875006" cy="457176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>
            <a:normAutofit fontScale="90000" lnSpcReduction="20000"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2700" b="1" i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</a:rPr>
              <a:t>项目技术路线：</a:t>
            </a:r>
            <a:endParaRPr lang="zh-CN" sz="2700" b="1" i="0">
              <a:solidFill>
                <a:srgbClr val="0B1F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"/>
          <p:cNvSpPr txBox="1"/>
          <p:nvPr/>
        </p:nvSpPr>
        <p:spPr>
          <a:xfrm>
            <a:off x="731482" y="1828883"/>
            <a:ext cx="2240163" cy="1097223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0F6B75"/>
            </a:solidFill>
          </a:ln>
        </p:spPr>
        <p:txBody>
          <a:bodyPr wrap="square" lIns="73148" tIns="73148" rIns="73148" bIns="73148" anchor="ctr">
            <a:normAutofit/>
          </a:bodyPr>
          <a:lstStyle/>
          <a:p>
            <a:pPr algn="ctr"/>
            <a:r>
              <a:rPr lang="zh-CN" altLang="en-US" sz="1500" b="1" dirty="0" smtClean="0">
                <a:solidFill>
                  <a:srgbClr val="0F6B7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机理模型</a:t>
            </a:r>
            <a:endParaRPr lang="zh-CN" altLang="en-US" sz="1500"/>
          </a:p>
          <a:p>
            <a:pPr algn="ctr"/>
            <a:r>
              <a:rPr lang="zh-CN" altLang="en-US" sz="980" dirty="0" smtClean="0">
                <a:solidFill>
                  <a:srgbClr val="5A626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可复现基线</a:t>
            </a:r>
            <a:endParaRPr lang="zh-CN" altLang="en-US" sz="980"/>
          </a:p>
        </p:txBody>
      </p:sp>
      <p:cxnSp>
        <p:nvCxnSpPr>
          <p:cNvPr id="18" name="Line"/>
          <p:cNvCxnSpPr/>
          <p:nvPr/>
        </p:nvCxnSpPr>
        <p:spPr>
          <a:xfrm>
            <a:off x="2971645" y="2377495"/>
            <a:ext cx="429746" cy="9144"/>
          </a:xfrm>
          <a:prstGeom prst="line">
            <a:avLst/>
          </a:prstGeom>
          <a:ln w="24000">
            <a:solidFill>
              <a:srgbClr val="9E1B32"/>
            </a:solidFill>
            <a:tailEnd type="triangle"/>
          </a:ln>
        </p:spPr>
      </p:cxnSp>
      <p:sp>
        <p:nvSpPr>
          <p:cNvPr id="3" name="Text"/>
          <p:cNvSpPr txBox="1"/>
          <p:nvPr/>
        </p:nvSpPr>
        <p:spPr>
          <a:xfrm>
            <a:off x="3520257" y="1828883"/>
            <a:ext cx="2240163" cy="1097223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245C8A"/>
            </a:solidFill>
          </a:ln>
        </p:spPr>
        <p:txBody>
          <a:bodyPr wrap="square" lIns="73148" tIns="73148" rIns="73148" bIns="73148" anchor="ctr">
            <a:normAutofit/>
          </a:bodyPr>
          <a:lstStyle/>
          <a:p>
            <a:pPr algn="ctr"/>
            <a:r>
              <a:rPr lang="zh-CN" altLang="en-US" sz="1500" b="1" dirty="0" smtClean="0">
                <a:solidFill>
                  <a:srgbClr val="245C8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CarSim</a:t>
            </a:r>
            <a:endParaRPr lang="zh-CN" altLang="en-US" sz="1500"/>
          </a:p>
          <a:p>
            <a:pPr algn="ctr"/>
            <a:r>
              <a:rPr lang="zh-CN" altLang="en-US" sz="980" dirty="0" smtClean="0">
                <a:solidFill>
                  <a:srgbClr val="5A626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高保真伪真实数据</a:t>
            </a:r>
            <a:endParaRPr lang="zh-CN" altLang="en-US" sz="980"/>
          </a:p>
        </p:txBody>
      </p:sp>
      <p:cxnSp>
        <p:nvCxnSpPr>
          <p:cNvPr id="20" name="Line"/>
          <p:cNvCxnSpPr/>
          <p:nvPr/>
        </p:nvCxnSpPr>
        <p:spPr>
          <a:xfrm>
            <a:off x="5760420" y="2377495"/>
            <a:ext cx="429746" cy="9144"/>
          </a:xfrm>
          <a:prstGeom prst="line">
            <a:avLst/>
          </a:prstGeom>
          <a:ln w="24000">
            <a:solidFill>
              <a:srgbClr val="9E1B32"/>
            </a:solidFill>
            <a:tailEnd type="triangle"/>
          </a:ln>
        </p:spPr>
      </p:cxnSp>
      <p:sp>
        <p:nvSpPr>
          <p:cNvPr id="5" name="Text"/>
          <p:cNvSpPr txBox="1"/>
          <p:nvPr/>
        </p:nvSpPr>
        <p:spPr>
          <a:xfrm>
            <a:off x="6309031" y="1828883"/>
            <a:ext cx="2240163" cy="1097223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2F7D5C"/>
            </a:solidFill>
          </a:ln>
        </p:spPr>
        <p:txBody>
          <a:bodyPr wrap="square" lIns="73148" tIns="73148" rIns="73148" bIns="73148" anchor="ctr">
            <a:normAutofit/>
          </a:bodyPr>
          <a:lstStyle/>
          <a:p>
            <a:pPr algn="ctr"/>
            <a:r>
              <a:rPr lang="zh-CN" altLang="en-US" sz="1500" b="1" dirty="0" smtClean="0">
                <a:solidFill>
                  <a:srgbClr val="2F7D5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GRU-PINN</a:t>
            </a:r>
            <a:endParaRPr lang="zh-CN" altLang="en-US" sz="1500"/>
          </a:p>
          <a:p>
            <a:pPr algn="ctr"/>
            <a:r>
              <a:rPr lang="zh-CN" altLang="en-US" sz="980" dirty="0" smtClean="0">
                <a:solidFill>
                  <a:srgbClr val="5A626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底盘世界模型</a:t>
            </a:r>
            <a:endParaRPr lang="zh-CN" altLang="en-US" sz="980"/>
          </a:p>
        </p:txBody>
      </p:sp>
      <p:cxnSp>
        <p:nvCxnSpPr>
          <p:cNvPr id="6" name="Line"/>
          <p:cNvCxnSpPr/>
          <p:nvPr/>
        </p:nvCxnSpPr>
        <p:spPr>
          <a:xfrm>
            <a:off x="8549195" y="2377495"/>
            <a:ext cx="429746" cy="9144"/>
          </a:xfrm>
          <a:prstGeom prst="line">
            <a:avLst/>
          </a:prstGeom>
          <a:ln w="24000">
            <a:solidFill>
              <a:srgbClr val="9E1B32"/>
            </a:solidFill>
            <a:tailEnd type="triangle"/>
          </a:ln>
        </p:spPr>
      </p:cxnSp>
      <p:sp>
        <p:nvSpPr>
          <p:cNvPr id="7" name="Text"/>
          <p:cNvSpPr txBox="1"/>
          <p:nvPr/>
        </p:nvSpPr>
        <p:spPr>
          <a:xfrm>
            <a:off x="9097806" y="1828883"/>
            <a:ext cx="2240163" cy="1097223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9E1B32"/>
            </a:solidFill>
          </a:ln>
        </p:spPr>
        <p:txBody>
          <a:bodyPr wrap="square" lIns="73148" tIns="73148" rIns="73148" bIns="73148" anchor="ctr">
            <a:normAutofit/>
          </a:bodyPr>
          <a:lstStyle/>
          <a:p>
            <a:pPr algn="ctr"/>
            <a:r>
              <a:rPr lang="zh-CN" altLang="en-US" sz="1500" b="1" dirty="0" smtClean="0">
                <a:solidFill>
                  <a:srgbClr val="9E1B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采样式 MPC</a:t>
            </a:r>
            <a:endParaRPr lang="zh-CN" altLang="en-US" sz="1500"/>
          </a:p>
          <a:p>
            <a:pPr algn="ctr"/>
            <a:r>
              <a:rPr lang="zh-CN" altLang="en-US" sz="980" dirty="0" smtClean="0">
                <a:solidFill>
                  <a:srgbClr val="5A626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上层决策规划器</a:t>
            </a:r>
            <a:endParaRPr lang="zh-CN" altLang="en-US" sz="980"/>
          </a:p>
        </p:txBody>
      </p:sp>
      <p:sp>
        <p:nvSpPr>
          <p:cNvPr id="24" name="Text"/>
          <p:cNvSpPr txBox="1"/>
          <p:nvPr/>
        </p:nvSpPr>
        <p:spPr>
          <a:xfrm>
            <a:off x="1199453" y="5876798"/>
            <a:ext cx="9875006" cy="777200"/>
          </a:xfrm>
          <a:prstGeom prst="roundRect">
            <a:avLst/>
          </a:prstGeom>
          <a:solidFill>
            <a:srgbClr val="F7F7F4"/>
          </a:solidFill>
          <a:ln w="9000">
            <a:solidFill>
              <a:srgbClr val="D9DEE5"/>
            </a:solidFill>
          </a:ln>
        </p:spPr>
        <p:txBody>
          <a:bodyPr wrap="square" lIns="45717" tIns="45717" rIns="45717" bIns="45717" anchor="ctr">
            <a:normAutofit/>
          </a:bodyPr>
          <a:lstStyle/>
          <a:p>
            <a:pPr algn="ctr"/>
            <a:r>
              <a:rPr lang="zh-CN" altLang="en-US" sz="150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环境 → 数据集 → 世界模型 → 规划器：四层结构支撑后续替换与扩展</a:t>
            </a:r>
            <a:endParaRPr lang="zh-CN" altLang="en-US" sz="1500"/>
          </a:p>
        </p:txBody>
      </p:sp>
      <p:sp>
        <p:nvSpPr>
          <p:cNvPr id="42" name="Shape 42"/>
          <p:cNvSpPr/>
          <p:nvPr/>
        </p:nvSpPr>
        <p:spPr>
          <a:xfrm>
            <a:off x="953403" y="3426460"/>
            <a:ext cx="2240163" cy="157268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8A92"/>
            </a:solidFill>
          </a:ln>
        </p:spPr>
      </p:sp>
      <p:sp>
        <p:nvSpPr>
          <p:cNvPr id="43" name="Text 43"/>
          <p:cNvSpPr txBox="1"/>
          <p:nvPr/>
        </p:nvSpPr>
        <p:spPr>
          <a:xfrm>
            <a:off x="1063126" y="3572757"/>
            <a:ext cx="2020719" cy="292593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>
            <a:normAutofit fontScale="70000"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700" b="1" i="0">
                <a:solidFill>
                  <a:srgbClr val="0E8A92"/>
                </a:solidFill>
                <a:latin typeface="微软雅黑" panose="020B0503020204020204" charset="-122"/>
                <a:ea typeface="微软雅黑" panose="020B0503020204020204" charset="-122"/>
              </a:rPr>
              <a:t>① 机理环境</a:t>
            </a:r>
            <a:endParaRPr lang="zh-CN" sz="1700"/>
          </a:p>
        </p:txBody>
      </p:sp>
      <p:sp>
        <p:nvSpPr>
          <p:cNvPr id="44" name="Text 44"/>
          <p:cNvSpPr txBox="1"/>
          <p:nvPr/>
        </p:nvSpPr>
        <p:spPr>
          <a:xfrm>
            <a:off x="1081413" y="3956785"/>
            <a:ext cx="1984145" cy="932639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200" b="0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Simulink / MATLAB
纵向制动方程</a:t>
            </a:r>
            <a:endParaRPr lang="zh-CN" sz="1200"/>
          </a:p>
        </p:txBody>
      </p:sp>
      <p:sp>
        <p:nvSpPr>
          <p:cNvPr id="45" name="Line 45"/>
          <p:cNvSpPr/>
          <p:nvPr/>
        </p:nvSpPr>
        <p:spPr>
          <a:xfrm>
            <a:off x="3211854" y="4203660"/>
            <a:ext cx="320023" cy="914"/>
          </a:xfrm>
          <a:prstGeom prst="line">
            <a:avLst/>
          </a:prstGeom>
          <a:ln w="25400">
            <a:solidFill>
              <a:srgbClr val="607080"/>
            </a:solidFill>
            <a:tailEnd type="triangle"/>
          </a:ln>
        </p:spPr>
      </p:sp>
      <p:sp>
        <p:nvSpPr>
          <p:cNvPr id="46" name="Shape 46"/>
          <p:cNvSpPr/>
          <p:nvPr/>
        </p:nvSpPr>
        <p:spPr>
          <a:xfrm>
            <a:off x="3605025" y="3426460"/>
            <a:ext cx="2240163" cy="157268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6B5C2"/>
            </a:solidFill>
          </a:ln>
        </p:spPr>
      </p:sp>
      <p:sp>
        <p:nvSpPr>
          <p:cNvPr id="47" name="Text 47"/>
          <p:cNvSpPr txBox="1"/>
          <p:nvPr/>
        </p:nvSpPr>
        <p:spPr>
          <a:xfrm>
            <a:off x="3714748" y="3572757"/>
            <a:ext cx="2020719" cy="292593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>
            <a:normAutofit fontScale="70000"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700" b="1" i="0">
                <a:solidFill>
                  <a:srgbClr val="36B5C2"/>
                </a:solidFill>
                <a:latin typeface="微软雅黑" panose="020B0503020204020204" charset="-122"/>
                <a:ea typeface="微软雅黑" panose="020B0503020204020204" charset="-122"/>
              </a:rPr>
              <a:t>② 数据集</a:t>
            </a:r>
            <a:endParaRPr lang="zh-CN" sz="1700"/>
          </a:p>
        </p:txBody>
      </p:sp>
      <p:sp>
        <p:nvSpPr>
          <p:cNvPr id="48" name="Text 48"/>
          <p:cNvSpPr txBox="1"/>
          <p:nvPr/>
        </p:nvSpPr>
        <p:spPr>
          <a:xfrm>
            <a:off x="3733035" y="3956785"/>
            <a:ext cx="1984145" cy="932639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200" b="0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30,000 单步数据
16,000 时序数据</a:t>
            </a:r>
            <a:endParaRPr lang="zh-CN" sz="1200"/>
          </a:p>
        </p:txBody>
      </p:sp>
      <p:sp>
        <p:nvSpPr>
          <p:cNvPr id="49" name="Line 49"/>
          <p:cNvSpPr/>
          <p:nvPr/>
        </p:nvSpPr>
        <p:spPr>
          <a:xfrm>
            <a:off x="5863476" y="4203660"/>
            <a:ext cx="320023" cy="914"/>
          </a:xfrm>
          <a:prstGeom prst="line">
            <a:avLst/>
          </a:prstGeom>
          <a:ln w="25400">
            <a:solidFill>
              <a:srgbClr val="607080"/>
            </a:solidFill>
            <a:tailEnd type="triangle"/>
          </a:ln>
        </p:spPr>
      </p:sp>
      <p:sp>
        <p:nvSpPr>
          <p:cNvPr id="50" name="Shape 50"/>
          <p:cNvSpPr/>
          <p:nvPr/>
        </p:nvSpPr>
        <p:spPr>
          <a:xfrm>
            <a:off x="6256647" y="3426460"/>
            <a:ext cx="2240163" cy="157268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2A93B"/>
            </a:solidFill>
          </a:ln>
        </p:spPr>
      </p:sp>
      <p:sp>
        <p:nvSpPr>
          <p:cNvPr id="51" name="Text 51"/>
          <p:cNvSpPr txBox="1"/>
          <p:nvPr/>
        </p:nvSpPr>
        <p:spPr>
          <a:xfrm>
            <a:off x="6366369" y="3572757"/>
            <a:ext cx="2020719" cy="292593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>
            <a:normAutofit fontScale="70000"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700" b="1" i="0">
                <a:solidFill>
                  <a:srgbClr val="F2A93B"/>
                </a:solidFill>
                <a:latin typeface="微软雅黑" panose="020B0503020204020204" charset="-122"/>
                <a:ea typeface="微软雅黑" panose="020B0503020204020204" charset="-122"/>
              </a:rPr>
              <a:t>③ 世界模型</a:t>
            </a:r>
            <a:endParaRPr lang="zh-CN" sz="1700"/>
          </a:p>
        </p:txBody>
      </p:sp>
      <p:sp>
        <p:nvSpPr>
          <p:cNvPr id="52" name="Text 52"/>
          <p:cNvSpPr txBox="1"/>
          <p:nvPr/>
        </p:nvSpPr>
        <p:spPr>
          <a:xfrm>
            <a:off x="6384656" y="3956785"/>
            <a:ext cx="1984145" cy="932639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200" b="0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MLP 基线
LSTM + PINN</a:t>
            </a:r>
            <a:endParaRPr lang="zh-CN" sz="1200"/>
          </a:p>
        </p:txBody>
      </p:sp>
      <p:sp>
        <p:nvSpPr>
          <p:cNvPr id="53" name="Line 53"/>
          <p:cNvSpPr/>
          <p:nvPr/>
        </p:nvSpPr>
        <p:spPr>
          <a:xfrm>
            <a:off x="8515097" y="4203660"/>
            <a:ext cx="320023" cy="914"/>
          </a:xfrm>
          <a:prstGeom prst="line">
            <a:avLst/>
          </a:prstGeom>
          <a:ln w="25400">
            <a:solidFill>
              <a:srgbClr val="607080"/>
            </a:solidFill>
            <a:tailEnd type="triangle"/>
          </a:ln>
        </p:spPr>
      </p:sp>
      <p:sp>
        <p:nvSpPr>
          <p:cNvPr id="54" name="Shape 54"/>
          <p:cNvSpPr/>
          <p:nvPr/>
        </p:nvSpPr>
        <p:spPr>
          <a:xfrm>
            <a:off x="8908269" y="3426460"/>
            <a:ext cx="2240163" cy="157268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64D4D"/>
            </a:solidFill>
          </a:ln>
        </p:spPr>
      </p:sp>
      <p:sp>
        <p:nvSpPr>
          <p:cNvPr id="55" name="Text 55"/>
          <p:cNvSpPr txBox="1"/>
          <p:nvPr/>
        </p:nvSpPr>
        <p:spPr>
          <a:xfrm>
            <a:off x="9017991" y="3572757"/>
            <a:ext cx="2020719" cy="292593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>
            <a:normAutofit fontScale="70000"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700" b="1" i="0">
                <a:solidFill>
                  <a:srgbClr val="D64D4D"/>
                </a:solidFill>
                <a:latin typeface="微软雅黑" panose="020B0503020204020204" charset="-122"/>
                <a:ea typeface="微软雅黑" panose="020B0503020204020204" charset="-122"/>
              </a:rPr>
              <a:t>④ 决策验证</a:t>
            </a:r>
            <a:endParaRPr lang="zh-CN" sz="1700"/>
          </a:p>
        </p:txBody>
      </p:sp>
      <p:sp>
        <p:nvSpPr>
          <p:cNvPr id="56" name="Text 56"/>
          <p:cNvSpPr txBox="1"/>
          <p:nvPr/>
        </p:nvSpPr>
        <p:spPr>
          <a:xfrm>
            <a:off x="9036278" y="3956785"/>
            <a:ext cx="1984145" cy="932639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200" b="0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安全屏障
采样式 MPC</a:t>
            </a:r>
            <a:endParaRPr lang="zh-CN" sz="1200"/>
          </a:p>
        </p:txBody>
      </p:sp>
      <p:sp>
        <p:nvSpPr>
          <p:cNvPr id="57" name="Line 57"/>
          <p:cNvSpPr/>
          <p:nvPr/>
        </p:nvSpPr>
        <p:spPr>
          <a:xfrm flipH="1">
            <a:off x="2004909" y="5136299"/>
            <a:ext cx="8028014" cy="914"/>
          </a:xfrm>
          <a:prstGeom prst="line">
            <a:avLst/>
          </a:prstGeom>
          <a:ln w="25400">
            <a:solidFill>
              <a:srgbClr val="0E8A92"/>
            </a:solidFill>
            <a:prstDash val="dash"/>
            <a:tailEnd type="triangle"/>
          </a:ln>
        </p:spPr>
      </p:sp>
      <p:sp>
        <p:nvSpPr>
          <p:cNvPr id="58" name="Text 58"/>
          <p:cNvSpPr txBox="1"/>
          <p:nvPr/>
        </p:nvSpPr>
        <p:spPr>
          <a:xfrm>
            <a:off x="4363811" y="5173127"/>
            <a:ext cx="4023150" cy="320023"/>
          </a:xfrm>
          <a:prstGeom prst="rect">
            <a:avLst/>
          </a:prstGeom>
          <a:solidFill>
            <a:srgbClr val="F4F7F8"/>
          </a:solidFill>
          <a:ln>
            <a:noFill/>
          </a:ln>
        </p:spPr>
        <p:txBody>
          <a:bodyPr wrap="square" lIns="73148" tIns="36574" rIns="73148" bIns="36574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200" b="1" i="0">
                <a:solidFill>
                  <a:srgbClr val="0E8A92"/>
                </a:solidFill>
                <a:latin typeface="微软雅黑" panose="020B0503020204020204" charset="-122"/>
                <a:ea typeface="微软雅黑" panose="020B0503020204020204" charset="-122"/>
              </a:rPr>
              <a:t>结果反馈与数据迭代</a:t>
            </a:r>
            <a:endParaRPr lang="zh-CN" sz="1200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问题定义与机理基线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823B-8CA8-4514-B4CF-AB75C2ECDFC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4" name="Text"/>
          <p:cNvSpPr txBox="1"/>
          <p:nvPr/>
        </p:nvSpPr>
        <p:spPr>
          <a:xfrm>
            <a:off x="1199453" y="5876798"/>
            <a:ext cx="9875006" cy="777200"/>
          </a:xfrm>
          <a:prstGeom prst="roundRect">
            <a:avLst/>
          </a:prstGeom>
          <a:solidFill>
            <a:srgbClr val="F7F7F4"/>
          </a:solidFill>
          <a:ln w="9000">
            <a:solidFill>
              <a:srgbClr val="D9DEE5"/>
            </a:solidFill>
          </a:ln>
        </p:spPr>
        <p:txBody>
          <a:bodyPr wrap="square" lIns="45717" tIns="45717" rIns="45717" bIns="45717" anchor="ctr">
            <a:normAutofit/>
          </a:bodyPr>
          <a:lstStyle/>
          <a:p>
            <a:pPr algn="ctr"/>
            <a:r>
              <a:rPr lang="zh-CN" altLang="en-US" sz="150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环境 → 数据集 → 世界模型 → 规划器：四层结构支撑后续替换与扩展</a:t>
            </a:r>
            <a:endParaRPr lang="zh-CN" altLang="en-US" sz="1500"/>
          </a:p>
        </p:txBody>
      </p:sp>
      <p:sp>
        <p:nvSpPr>
          <p:cNvPr id="59" name="Shape 59"/>
          <p:cNvSpPr/>
          <p:nvPr/>
        </p:nvSpPr>
        <p:spPr>
          <a:xfrm>
            <a:off x="749579" y="2420673"/>
            <a:ext cx="3428821" cy="14629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sp>
        <p:nvSpPr>
          <p:cNvPr id="60" name="Shape 60"/>
          <p:cNvSpPr/>
          <p:nvPr/>
        </p:nvSpPr>
        <p:spPr>
          <a:xfrm>
            <a:off x="749579" y="2420673"/>
            <a:ext cx="73148" cy="1462964"/>
          </a:xfrm>
          <a:prstGeom prst="rect">
            <a:avLst/>
          </a:prstGeom>
          <a:solidFill>
            <a:srgbClr val="0E8A92"/>
          </a:solidFill>
          <a:ln>
            <a:noFill/>
          </a:ln>
        </p:spPr>
      </p:sp>
      <p:sp>
        <p:nvSpPr>
          <p:cNvPr id="61" name="Text 61"/>
          <p:cNvSpPr txBox="1"/>
          <p:nvPr/>
        </p:nvSpPr>
        <p:spPr>
          <a:xfrm>
            <a:off x="969024" y="2576112"/>
            <a:ext cx="3063080" cy="274306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>
            <a:normAutofit fontScale="80000"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400" b="1" i="0">
                <a:solidFill>
                  <a:srgbClr val="0E8A92"/>
                </a:solidFill>
                <a:latin typeface="微软雅黑" panose="020B0503020204020204" charset="-122"/>
                <a:ea typeface="微软雅黑" panose="020B0503020204020204" charset="-122"/>
              </a:rPr>
              <a:t>MATLAB 产物</a:t>
            </a:r>
            <a:endParaRPr lang="zh-CN" sz="1400"/>
          </a:p>
        </p:txBody>
      </p:sp>
      <p:sp>
        <p:nvSpPr>
          <p:cNvPr id="62" name="Text 62"/>
          <p:cNvSpPr txBox="1"/>
          <p:nvPr/>
        </p:nvSpPr>
        <p:spPr>
          <a:xfrm>
            <a:off x="969024" y="2950997"/>
            <a:ext cx="3044793" cy="804630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4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brake_mechanism_model.slx
world_model_mlp.mat</a:t>
            </a:r>
            <a:endParaRPr lang="zh-CN" sz="1400"/>
          </a:p>
        </p:txBody>
      </p:sp>
      <p:sp>
        <p:nvSpPr>
          <p:cNvPr id="63" name="Shape 63"/>
          <p:cNvSpPr/>
          <p:nvPr/>
        </p:nvSpPr>
        <p:spPr>
          <a:xfrm>
            <a:off x="4434419" y="2420673"/>
            <a:ext cx="3428821" cy="14629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sp>
        <p:nvSpPr>
          <p:cNvPr id="64" name="Shape 64"/>
          <p:cNvSpPr/>
          <p:nvPr/>
        </p:nvSpPr>
        <p:spPr>
          <a:xfrm>
            <a:off x="4434419" y="2420673"/>
            <a:ext cx="73148" cy="1462964"/>
          </a:xfrm>
          <a:prstGeom prst="rect">
            <a:avLst/>
          </a:prstGeom>
          <a:solidFill>
            <a:srgbClr val="F2A93B"/>
          </a:solidFill>
          <a:ln>
            <a:noFill/>
          </a:ln>
        </p:spPr>
      </p:sp>
      <p:sp>
        <p:nvSpPr>
          <p:cNvPr id="65" name="Text 65"/>
          <p:cNvSpPr txBox="1"/>
          <p:nvPr/>
        </p:nvSpPr>
        <p:spPr>
          <a:xfrm>
            <a:off x="4653864" y="2576112"/>
            <a:ext cx="3063080" cy="274306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>
            <a:normAutofit fontScale="80000"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400" b="1" i="0">
                <a:solidFill>
                  <a:srgbClr val="F2A93B"/>
                </a:solidFill>
                <a:latin typeface="微软雅黑" panose="020B0503020204020204" charset="-122"/>
                <a:ea typeface="微软雅黑" panose="020B0503020204020204" charset="-122"/>
              </a:rPr>
              <a:t>PyTorch 产物</a:t>
            </a:r>
            <a:endParaRPr lang="zh-CN" sz="1400"/>
          </a:p>
        </p:txBody>
      </p:sp>
      <p:sp>
        <p:nvSpPr>
          <p:cNvPr id="66" name="Text 66"/>
          <p:cNvSpPr txBox="1"/>
          <p:nvPr/>
        </p:nvSpPr>
        <p:spPr>
          <a:xfrm>
            <a:off x="4653864" y="2950997"/>
            <a:ext cx="3044793" cy="804630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4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world_model_lstm.pt
训练与评估脚本</a:t>
            </a:r>
            <a:endParaRPr lang="zh-CN" sz="1400"/>
          </a:p>
        </p:txBody>
      </p:sp>
      <p:sp>
        <p:nvSpPr>
          <p:cNvPr id="67" name="Shape 67"/>
          <p:cNvSpPr/>
          <p:nvPr/>
        </p:nvSpPr>
        <p:spPr>
          <a:xfrm>
            <a:off x="8128403" y="2420673"/>
            <a:ext cx="3428821" cy="14629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sp>
        <p:nvSpPr>
          <p:cNvPr id="68" name="Shape 68"/>
          <p:cNvSpPr/>
          <p:nvPr/>
        </p:nvSpPr>
        <p:spPr>
          <a:xfrm>
            <a:off x="8128403" y="2420673"/>
            <a:ext cx="73148" cy="1462964"/>
          </a:xfrm>
          <a:prstGeom prst="rect">
            <a:avLst/>
          </a:prstGeom>
          <a:solidFill>
            <a:srgbClr val="D64D4D"/>
          </a:solidFill>
          <a:ln>
            <a:noFill/>
          </a:ln>
        </p:spPr>
      </p:sp>
      <p:sp>
        <p:nvSpPr>
          <p:cNvPr id="69" name="Text 69"/>
          <p:cNvSpPr txBox="1"/>
          <p:nvPr/>
        </p:nvSpPr>
        <p:spPr>
          <a:xfrm>
            <a:off x="8347847" y="2576112"/>
            <a:ext cx="3063080" cy="274306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>
            <a:normAutofit fontScale="80000"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400" b="1" i="0">
                <a:solidFill>
                  <a:srgbClr val="D64D4D"/>
                </a:solidFill>
                <a:latin typeface="微软雅黑" panose="020B0503020204020204" charset="-122"/>
                <a:ea typeface="微软雅黑" panose="020B0503020204020204" charset="-122"/>
              </a:rPr>
              <a:t>验证产物</a:t>
            </a:r>
            <a:endParaRPr lang="zh-CN" sz="1400"/>
          </a:p>
        </p:txBody>
      </p:sp>
      <p:sp>
        <p:nvSpPr>
          <p:cNvPr id="70" name="Text 70"/>
          <p:cNvSpPr txBox="1"/>
          <p:nvPr/>
        </p:nvSpPr>
        <p:spPr>
          <a:xfrm>
            <a:off x="8347847" y="2950997"/>
            <a:ext cx="3044793" cy="804630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4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指标 CSV · 训练曲线
安全场景 · MPC 刹停曲线</a:t>
            </a:r>
            <a:endParaRPr lang="zh-CN" sz="1400"/>
          </a:p>
        </p:txBody>
      </p:sp>
      <p:sp>
        <p:nvSpPr>
          <p:cNvPr id="71" name="Text 71"/>
          <p:cNvSpPr txBox="1"/>
          <p:nvPr/>
        </p:nvSpPr>
        <p:spPr>
          <a:xfrm>
            <a:off x="813584" y="4185373"/>
            <a:ext cx="10697923" cy="566898"/>
          </a:xfrm>
          <a:prstGeom prst="roundRect">
            <a:avLst/>
          </a:prstGeom>
          <a:solidFill>
            <a:srgbClr val="EAF0F2"/>
          </a:solidFill>
          <a:ln w="12700">
            <a:solidFill>
              <a:srgbClr val="D9E1E5"/>
            </a:solidFill>
          </a:ln>
        </p:spPr>
        <p:txBody>
          <a:bodyPr wrap="square" lIns="73148" tIns="36574" rIns="73148" bIns="36574" anchor="ctr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2100" b="1" i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</a:rPr>
              <a:t>统一数据接口：[vₜ, aₜ, Pₜ, μₜ]  →  [vₜ₊₁, aₜ₊₁]</a:t>
            </a:r>
            <a:endParaRPr lang="zh-CN" sz="2100"/>
          </a:p>
        </p:txBody>
      </p:sp>
      <p:sp>
        <p:nvSpPr>
          <p:cNvPr id="40" name="Text 40"/>
          <p:cNvSpPr txBox="1"/>
          <p:nvPr/>
        </p:nvSpPr>
        <p:spPr>
          <a:xfrm>
            <a:off x="335454" y="980695"/>
            <a:ext cx="9875006" cy="457176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>
            <a:normAutofit fontScale="90000" lnSpcReduction="20000"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2700" b="1" i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</a:rPr>
              <a:t>当前工程闭环：机理数据 → 学习模型 → 安全验证</a:t>
            </a:r>
            <a:endParaRPr lang="zh-CN" sz="2700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问题定义与机理基线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823B-8CA8-4514-B4CF-AB75C2ECDFC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9" name="Text 19"/>
          <p:cNvSpPr txBox="1"/>
          <p:nvPr/>
        </p:nvSpPr>
        <p:spPr>
          <a:xfrm>
            <a:off x="335771" y="981329"/>
            <a:ext cx="9875006" cy="457176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>
            <a:normAutofit fontScale="90000" lnSpcReduction="20000"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2700" b="1" i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</a:rPr>
              <a:t>项目数据与物理参数总览：</a:t>
            </a:r>
            <a:endParaRPr lang="zh-CN" sz="2700" b="1" i="0">
              <a:solidFill>
                <a:srgbClr val="0B1F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Shape"/>
          <p:cNvSpPr/>
          <p:nvPr/>
        </p:nvSpPr>
        <p:spPr>
          <a:xfrm>
            <a:off x="192395" y="1700112"/>
            <a:ext cx="6400467" cy="4617479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9DEE5"/>
            </a:solidFill>
          </a:ln>
        </p:spPr>
      </p:sp>
      <p:pic>
        <p:nvPicPr>
          <p:cNvPr id="18" name="01_dataset_inventory.png" descr="01_dataset_inventor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113" y="2231643"/>
            <a:ext cx="6309031" cy="3508699"/>
          </a:xfrm>
          <a:prstGeom prst="rect">
            <a:avLst/>
          </a:prstGeom>
        </p:spPr>
      </p:pic>
      <p:sp>
        <p:nvSpPr>
          <p:cNvPr id="3" name="Text"/>
          <p:cNvSpPr txBox="1"/>
          <p:nvPr/>
        </p:nvSpPr>
        <p:spPr>
          <a:xfrm>
            <a:off x="6745254" y="1124705"/>
            <a:ext cx="2247148" cy="530197"/>
          </a:xfrm>
          <a:prstGeom prst="roundRect">
            <a:avLst/>
          </a:prstGeom>
          <a:solidFill>
            <a:srgbClr val="FDF4F2"/>
          </a:solidFill>
          <a:ln w="9000">
            <a:solidFill>
              <a:srgbClr val="E6C2BC"/>
            </a:solidFill>
          </a:ln>
        </p:spPr>
        <p:txBody>
          <a:bodyPr wrap="square" lIns="54861" tIns="54861" rIns="54861" bIns="54861" anchor="ctr"/>
          <a:lstStyle/>
          <a:p>
            <a:r>
              <a:rPr lang="zh-CN" altLang="en-US" sz="1400" b="1" dirty="0" smtClean="0">
                <a:solidFill>
                  <a:srgbClr val="9E1B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机理单步数据：30,000 条</a:t>
            </a:r>
            <a:endParaRPr lang="zh-CN" altLang="en-US" sz="1400" b="1" dirty="0" smtClean="0">
              <a:solidFill>
                <a:srgbClr val="9E1B3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0" name="Text"/>
          <p:cNvSpPr txBox="1"/>
          <p:nvPr/>
        </p:nvSpPr>
        <p:spPr>
          <a:xfrm>
            <a:off x="6745254" y="1911429"/>
            <a:ext cx="2247148" cy="530197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9DEE5"/>
            </a:solidFill>
          </a:ln>
        </p:spPr>
        <p:txBody>
          <a:bodyPr wrap="square" lIns="54861" tIns="54861" rIns="54861" bIns="54861" anchor="ctr"/>
          <a:lstStyle/>
          <a:p>
            <a:r>
              <a:rPr lang="zh-CN" altLang="en-US" sz="140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机理时序数据：16,000 条</a:t>
            </a:r>
            <a:endParaRPr lang="zh-CN" altLang="en-US" sz="1400" b="1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1" name="Text"/>
          <p:cNvSpPr txBox="1"/>
          <p:nvPr/>
        </p:nvSpPr>
        <p:spPr>
          <a:xfrm>
            <a:off x="9123840" y="1124705"/>
            <a:ext cx="2883385" cy="530197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9DEE5"/>
            </a:solidFill>
          </a:ln>
        </p:spPr>
        <p:txBody>
          <a:bodyPr wrap="square" lIns="54861" tIns="54861" rIns="54861" bIns="54861" anchor="ctr"/>
          <a:lstStyle/>
          <a:p>
            <a:r>
              <a:rPr lang="zh-CN" altLang="en-US" sz="140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CarSim 原始状态转移：13,070 条</a:t>
            </a:r>
            <a:endParaRPr lang="zh-CN" altLang="en-US" sz="1400" b="1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2" name="Text"/>
          <p:cNvSpPr txBox="1"/>
          <p:nvPr/>
        </p:nvSpPr>
        <p:spPr>
          <a:xfrm>
            <a:off x="9123840" y="1910794"/>
            <a:ext cx="2883385" cy="530197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9DEE5"/>
            </a:solidFill>
          </a:ln>
        </p:spPr>
        <p:txBody>
          <a:bodyPr wrap="square" lIns="54861" tIns="54861" rIns="54861" bIns="54861" anchor="ctr"/>
          <a:lstStyle/>
          <a:p>
            <a:r>
              <a:rPr lang="zh-CN" altLang="en-US" sz="140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CarSim 训练数据：10,924 条</a:t>
            </a:r>
            <a:endParaRPr lang="zh-CN" altLang="en-US" sz="1400" b="1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9" name="TableCell"/>
          <p:cNvSpPr txBox="1"/>
          <p:nvPr>
            <p:custDataLst>
              <p:tags r:id="rId2"/>
            </p:custDataLst>
          </p:nvPr>
        </p:nvSpPr>
        <p:spPr>
          <a:xfrm>
            <a:off x="7119249" y="2865784"/>
            <a:ext cx="2068722" cy="560676"/>
          </a:xfrm>
          <a:prstGeom prst="rect">
            <a:avLst/>
          </a:prstGeom>
          <a:solidFill>
            <a:srgbClr val="9E1B32"/>
          </a:solidFill>
          <a:ln w="9000">
            <a:solidFill>
              <a:srgbClr val="CDD4DA"/>
            </a:solidFill>
          </a:ln>
        </p:spPr>
        <p:txBody>
          <a:bodyPr wrap="square" lIns="22858" tIns="22858" rIns="22858" bIns="22858" anchor="ctr">
            <a:normAutofit/>
          </a:bodyPr>
          <a:lstStyle/>
          <a:p>
            <a:pPr algn="ctr"/>
            <a:r>
              <a:rPr lang="zh-CN" altLang="en-US" sz="140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参数</a:t>
            </a:r>
            <a:endParaRPr lang="zh-CN" altLang="en-US" sz="1400" b="1" dirty="0" smtClea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0" name="TableCell"/>
          <p:cNvSpPr txBox="1"/>
          <p:nvPr>
            <p:custDataLst>
              <p:tags r:id="rId3"/>
            </p:custDataLst>
          </p:nvPr>
        </p:nvSpPr>
        <p:spPr>
          <a:xfrm>
            <a:off x="9153048" y="2865784"/>
            <a:ext cx="2068722" cy="560676"/>
          </a:xfrm>
          <a:prstGeom prst="rect">
            <a:avLst/>
          </a:prstGeom>
          <a:solidFill>
            <a:srgbClr val="9E1B32"/>
          </a:solidFill>
          <a:ln w="9000">
            <a:solidFill>
              <a:srgbClr val="CDD4DA"/>
            </a:solidFill>
          </a:ln>
        </p:spPr>
        <p:txBody>
          <a:bodyPr wrap="square" lIns="22858" tIns="22858" rIns="22858" bIns="22858" anchor="ctr">
            <a:normAutofit/>
          </a:bodyPr>
          <a:lstStyle/>
          <a:p>
            <a:pPr algn="ctr"/>
            <a:r>
              <a:rPr lang="zh-CN" altLang="en-US" sz="140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含义</a:t>
            </a:r>
            <a:endParaRPr lang="zh-CN" altLang="en-US" sz="1400" b="1" dirty="0" smtClean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3" name="TableCell"/>
          <p:cNvSpPr txBox="1"/>
          <p:nvPr>
            <p:custDataLst>
              <p:tags r:id="rId4"/>
            </p:custDataLst>
          </p:nvPr>
        </p:nvSpPr>
        <p:spPr>
          <a:xfrm>
            <a:off x="7119249" y="3588377"/>
            <a:ext cx="2068722" cy="560676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58" tIns="22858" rIns="22858" bIns="22858" anchor="ctr">
            <a:normAutofit/>
          </a:bodyPr>
          <a:lstStyle/>
          <a:p>
            <a:pPr algn="ctr"/>
            <a:r>
              <a:rPr lang="zh-CN" altLang="en-US" sz="140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P</a:t>
            </a:r>
            <a:endParaRPr lang="zh-CN" altLang="en-US" sz="1400" b="1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4" name="TableCell"/>
          <p:cNvSpPr txBox="1"/>
          <p:nvPr>
            <p:custDataLst>
              <p:tags r:id="rId5"/>
            </p:custDataLst>
          </p:nvPr>
        </p:nvSpPr>
        <p:spPr>
          <a:xfrm>
            <a:off x="9153048" y="3588377"/>
            <a:ext cx="2068722" cy="560676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58" tIns="22858" rIns="22858" bIns="22858" anchor="ctr">
            <a:normAutofit/>
          </a:bodyPr>
          <a:lstStyle/>
          <a:p>
            <a:pPr algn="ctr"/>
            <a:r>
              <a:rPr lang="zh-CN" altLang="en-US" sz="140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主缸压力</a:t>
            </a:r>
            <a:endParaRPr lang="zh-CN" altLang="en-US" sz="1400" b="1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5" name="TableCell"/>
          <p:cNvSpPr txBox="1"/>
          <p:nvPr>
            <p:custDataLst>
              <p:tags r:id="rId6"/>
            </p:custDataLst>
          </p:nvPr>
        </p:nvSpPr>
        <p:spPr>
          <a:xfrm>
            <a:off x="7119249" y="4310334"/>
            <a:ext cx="2068722" cy="560676"/>
          </a:xfrm>
          <a:prstGeom prst="rect">
            <a:avLst/>
          </a:prstGeom>
          <a:solidFill>
            <a:srgbClr val="F4F6F8"/>
          </a:solidFill>
          <a:ln w="9000">
            <a:solidFill>
              <a:srgbClr val="CDD4DA"/>
            </a:solidFill>
          </a:ln>
        </p:spPr>
        <p:txBody>
          <a:bodyPr wrap="square" lIns="22858" tIns="22858" rIns="22858" bIns="22858" anchor="ctr">
            <a:normAutofit/>
          </a:bodyPr>
          <a:lstStyle/>
          <a:p>
            <a:pPr algn="ctr"/>
            <a:r>
              <a:rPr lang="zh-CN" altLang="en-US" sz="140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μ</a:t>
            </a:r>
            <a:endParaRPr lang="zh-CN" altLang="en-US" sz="1400" b="1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6" name="TableCell"/>
          <p:cNvSpPr txBox="1"/>
          <p:nvPr>
            <p:custDataLst>
              <p:tags r:id="rId7"/>
            </p:custDataLst>
          </p:nvPr>
        </p:nvSpPr>
        <p:spPr>
          <a:xfrm>
            <a:off x="9153048" y="4310334"/>
            <a:ext cx="2068722" cy="560676"/>
          </a:xfrm>
          <a:prstGeom prst="rect">
            <a:avLst/>
          </a:prstGeom>
          <a:solidFill>
            <a:srgbClr val="F4F6F8"/>
          </a:solidFill>
          <a:ln w="9000">
            <a:solidFill>
              <a:srgbClr val="CDD4DA"/>
            </a:solidFill>
          </a:ln>
        </p:spPr>
        <p:txBody>
          <a:bodyPr wrap="square" lIns="22858" tIns="22858" rIns="22858" bIns="22858" anchor="ctr">
            <a:normAutofit/>
          </a:bodyPr>
          <a:lstStyle/>
          <a:p>
            <a:pPr algn="ctr"/>
            <a:r>
              <a:rPr lang="zh-CN" altLang="en-US" sz="140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路面附着</a:t>
            </a:r>
            <a:endParaRPr lang="zh-CN" altLang="en-US" sz="1400" b="1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7" name="TableCell"/>
          <p:cNvSpPr txBox="1"/>
          <p:nvPr>
            <p:custDataLst>
              <p:tags r:id="rId8"/>
            </p:custDataLst>
          </p:nvPr>
        </p:nvSpPr>
        <p:spPr>
          <a:xfrm>
            <a:off x="7119249" y="5032926"/>
            <a:ext cx="2068722" cy="560676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58" tIns="22858" rIns="22858" bIns="22858" anchor="ctr">
            <a:normAutofit/>
          </a:bodyPr>
          <a:lstStyle/>
          <a:p>
            <a:pPr algn="ctr"/>
            <a:r>
              <a:rPr lang="zh-CN" altLang="en-US" sz="140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m</a:t>
            </a:r>
            <a:endParaRPr lang="zh-CN" altLang="en-US" sz="1400" b="1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8" name="TableCell"/>
          <p:cNvSpPr txBox="1"/>
          <p:nvPr>
            <p:custDataLst>
              <p:tags r:id="rId9"/>
            </p:custDataLst>
          </p:nvPr>
        </p:nvSpPr>
        <p:spPr>
          <a:xfrm>
            <a:off x="9153048" y="5032926"/>
            <a:ext cx="2068722" cy="560676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58" tIns="22858" rIns="22858" bIns="22858" anchor="ctr">
            <a:normAutofit/>
          </a:bodyPr>
          <a:lstStyle/>
          <a:p>
            <a:pPr algn="ctr"/>
            <a:r>
              <a:rPr lang="zh-CN" altLang="en-US" sz="140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整车质量</a:t>
            </a:r>
            <a:endParaRPr lang="zh-CN" altLang="en-US" sz="1400" b="1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9" name="TableCell"/>
          <p:cNvSpPr txBox="1"/>
          <p:nvPr>
            <p:custDataLst>
              <p:tags r:id="rId10"/>
            </p:custDataLst>
          </p:nvPr>
        </p:nvSpPr>
        <p:spPr>
          <a:xfrm>
            <a:off x="7119249" y="5754884"/>
            <a:ext cx="2068722" cy="560676"/>
          </a:xfrm>
          <a:prstGeom prst="rect">
            <a:avLst/>
          </a:prstGeom>
          <a:solidFill>
            <a:srgbClr val="F4F6F8"/>
          </a:solidFill>
          <a:ln w="9000">
            <a:solidFill>
              <a:srgbClr val="CDD4DA"/>
            </a:solidFill>
          </a:ln>
        </p:spPr>
        <p:txBody>
          <a:bodyPr wrap="square" lIns="22858" tIns="22858" rIns="22858" bIns="22858" anchor="ctr">
            <a:normAutofit/>
          </a:bodyPr>
          <a:lstStyle/>
          <a:p>
            <a:pPr algn="ctr"/>
            <a:r>
              <a:rPr lang="zh-CN" altLang="en-US" sz="140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Δt</a:t>
            </a:r>
            <a:endParaRPr lang="zh-CN" altLang="en-US" sz="1400" b="1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0" name="TableCell"/>
          <p:cNvSpPr txBox="1"/>
          <p:nvPr>
            <p:custDataLst>
              <p:tags r:id="rId11"/>
            </p:custDataLst>
          </p:nvPr>
        </p:nvSpPr>
        <p:spPr>
          <a:xfrm>
            <a:off x="9153048" y="5754884"/>
            <a:ext cx="2068722" cy="560676"/>
          </a:xfrm>
          <a:prstGeom prst="rect">
            <a:avLst/>
          </a:prstGeom>
          <a:solidFill>
            <a:srgbClr val="F4F6F8"/>
          </a:solidFill>
          <a:ln w="9000">
            <a:solidFill>
              <a:srgbClr val="CDD4DA"/>
            </a:solidFill>
          </a:ln>
        </p:spPr>
        <p:txBody>
          <a:bodyPr wrap="square" lIns="22858" tIns="22858" rIns="22858" bIns="22858" anchor="ctr">
            <a:normAutofit/>
          </a:bodyPr>
          <a:lstStyle/>
          <a:p>
            <a:pPr algn="ctr"/>
            <a:r>
              <a:rPr lang="zh-CN" altLang="en-US" sz="140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采样周期</a:t>
            </a:r>
            <a:endParaRPr lang="zh-CN" altLang="en-US" sz="1400" b="1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82" name="Text 82"/>
          <p:cNvSpPr txBox="1"/>
          <p:nvPr/>
        </p:nvSpPr>
        <p:spPr>
          <a:xfrm>
            <a:off x="3286907" y="950216"/>
            <a:ext cx="3245951" cy="749769"/>
          </a:xfrm>
          <a:prstGeom prst="roundRect">
            <a:avLst/>
          </a:prstGeom>
          <a:solidFill>
            <a:srgbClr val="F6F9FA"/>
          </a:solidFill>
          <a:ln>
            <a:noFill/>
          </a:ln>
        </p:spPr>
        <p:txBody>
          <a:bodyPr wrap="square" lIns="73148" tIns="36574" rIns="73148" bIns="36574" anchor="ctr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400" b="0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m = 1800 kg   ·   Δt = 0.05 s
k = 3500 N/MPa</a:t>
            </a:r>
            <a:endParaRPr lang="zh-CN" sz="1400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Road adhesion respons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7381" y="2852450"/>
            <a:ext cx="3503113" cy="2626223"/>
          </a:xfrm>
          <a:prstGeom prst="rect">
            <a:avLst/>
          </a:prstGeom>
          <a:ln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问题定义与机理基线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823B-8CA8-4514-B4CF-AB75C2ECDFC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9" name="Text 19"/>
          <p:cNvSpPr txBox="1"/>
          <p:nvPr/>
        </p:nvSpPr>
        <p:spPr>
          <a:xfrm>
            <a:off x="335771" y="981329"/>
            <a:ext cx="9875006" cy="457176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>
            <a:no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2700" b="1" i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</a:rPr>
              <a:t>机理基线：</a:t>
            </a:r>
            <a:r>
              <a:rPr lang="zh-CN" altLang="en-US" sz="2700" b="1" i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</a:rPr>
              <a:t>伪真实数据？可解释机理模型覆盖不同路面</a:t>
            </a:r>
            <a:endParaRPr lang="zh-CN" altLang="en-US" sz="2700" b="1" i="0">
              <a:solidFill>
                <a:srgbClr val="0B1F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335263" y="2171765"/>
                <a:ext cx="4206656" cy="658461"/>
              </a:xfrm>
              <a:prstGeom prst="roundRect">
                <a:avLst/>
              </a:prstGeom>
              <a:solidFill>
                <a:srgbClr val="FFFFFF"/>
              </a:solidFill>
              <a:ln w="9000">
                <a:solidFill>
                  <a:srgbClr val="D9DEE5"/>
                </a:solidFill>
              </a:ln>
            </p:spPr>
            <p:txBody>
              <a:bodyPr wrap="square" lIns="73148" tIns="73148" rIns="73148" bIns="73148" anchor="ctr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100"/>
                          </m:ctrlPr>
                        </m:sSubPr>
                        <m:e>
                          <m:r>
                            <a:rPr lang="en-US" sz="215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𝐹</m:t>
                          </m:r>
                        </m:e>
                        <m:sub>
                          <m:r>
                            <a:rPr lang="en-US" sz="146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𝑏𝑟𝑎𝑘𝑒</m:t>
                          </m:r>
                        </m:sub>
                      </m:sSub>
                      <m:r>
                        <a:rPr lang="en-US" sz="215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 = </m:t>
                      </m:r>
                      <m:r>
                        <a:rPr lang="en-US" sz="215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𝑘</m:t>
                      </m:r>
                      <m:r>
                        <a:rPr lang="en-US" sz="215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  ·  </m:t>
                      </m:r>
                      <m:r>
                        <a:rPr lang="en-US" sz="215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𝑃</m:t>
                      </m:r>
                    </m:oMath>
                  </m:oMathPara>
                </a14:m>
                <a:endParaRPr lang="en-US" sz="2150"/>
              </a:p>
            </p:txBody>
          </p:sp>
        </mc:Choice>
        <mc:Fallback>
          <p:sp>
            <p:nvSpPr>
              <p:cNvPr id="5" name="Text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3"/>
                </p:custDataLst>
              </p:nvPr>
            </p:nvSpPr>
            <p:spPr>
              <a:xfrm>
                <a:off x="335263" y="2171765"/>
                <a:ext cx="4206656" cy="658461"/>
              </a:xfrm>
              <a:prstGeom prst="roundRect">
                <a:avLst/>
              </a:prstGeom>
              <a:blipFill rotWithShape="1">
                <a:blip r:embed="rId4"/>
                <a:stretch>
                  <a:fillRect l="-120" t="-781" r="-111" b="-670"/>
                </a:stretch>
              </a:blipFill>
              <a:ln w="9000">
                <a:solidFill>
                  <a:srgbClr val="D9DEE5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335263" y="3067704"/>
                <a:ext cx="4206656" cy="658461"/>
              </a:xfrm>
              <a:prstGeom prst="roundRect">
                <a:avLst/>
              </a:prstGeom>
              <a:solidFill>
                <a:srgbClr val="FFFFFF"/>
              </a:solidFill>
              <a:ln w="9000">
                <a:solidFill>
                  <a:srgbClr val="D9DEE5"/>
                </a:solidFill>
              </a:ln>
            </p:spPr>
            <p:txBody>
              <a:bodyPr wrap="square" lIns="73148" tIns="73148" rIns="73148" bIns="73148" anchor="ctr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100"/>
                          </m:ctrlPr>
                        </m:sSubPr>
                        <m:e>
                          <m:r>
                            <a:rPr lang="en-US" sz="2150" dirty="0">
                              <a:solidFill>
                                <a:srgbClr val="9E1B32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𝐹</m:t>
                          </m:r>
                        </m:e>
                        <m:sub>
                          <m:r>
                            <a:rPr lang="en-US" sz="1460" dirty="0">
                              <a:solidFill>
                                <a:srgbClr val="9E1B32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𝑎𝑐𝑡𝑢𝑎𝑙</m:t>
                          </m:r>
                        </m:sub>
                      </m:sSub>
                      <m:r>
                        <a:rPr lang="en-US" sz="2150" dirty="0">
                          <a:solidFill>
                            <a:srgbClr val="9E1B32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 = </m:t>
                      </m:r>
                      <m:r>
                        <a:rPr lang="en-US" sz="2150" dirty="0">
                          <a:solidFill>
                            <a:srgbClr val="9E1B32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𝑚𝑖𝑛</m:t>
                      </m:r>
                      <m:r>
                        <a:rPr lang="en-US" sz="2150" dirty="0">
                          <a:solidFill>
                            <a:srgbClr val="9E1B32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(</m:t>
                      </m:r>
                      <m:sSub>
                        <m:sSubPr>
                          <m:ctrlPr>
                            <a:rPr sz="100"/>
                          </m:ctrlPr>
                        </m:sSubPr>
                        <m:e>
                          <m:r>
                            <a:rPr lang="en-US" sz="2150" dirty="0">
                              <a:solidFill>
                                <a:srgbClr val="9E1B32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𝐹</m:t>
                          </m:r>
                        </m:e>
                        <m:sub>
                          <m:r>
                            <a:rPr lang="en-US" sz="1460" dirty="0">
                              <a:solidFill>
                                <a:srgbClr val="9E1B32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𝑏𝑟𝑎𝑘𝑒</m:t>
                          </m:r>
                        </m:sub>
                      </m:sSub>
                      <m:r>
                        <a:rPr lang="en-US" sz="2150" dirty="0">
                          <a:solidFill>
                            <a:srgbClr val="9E1B32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, </m:t>
                      </m:r>
                      <m:r>
                        <a:rPr lang="en-US" sz="2150" dirty="0">
                          <a:solidFill>
                            <a:srgbClr val="9E1B32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𝜇</m:t>
                      </m:r>
                      <m:r>
                        <a:rPr lang="en-US" sz="2150" dirty="0">
                          <a:solidFill>
                            <a:srgbClr val="9E1B32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  ·  </m:t>
                      </m:r>
                      <m:r>
                        <a:rPr lang="en-US" sz="2150" dirty="0">
                          <a:solidFill>
                            <a:srgbClr val="9E1B32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𝑚</m:t>
                      </m:r>
                      <m:r>
                        <a:rPr lang="en-US" sz="2150" dirty="0">
                          <a:solidFill>
                            <a:srgbClr val="9E1B32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  ·  </m:t>
                      </m:r>
                      <m:r>
                        <a:rPr lang="en-US" sz="2150" dirty="0">
                          <a:solidFill>
                            <a:srgbClr val="9E1B32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𝑔</m:t>
                      </m:r>
                      <m:r>
                        <a:rPr lang="en-US" sz="2150" dirty="0">
                          <a:solidFill>
                            <a:srgbClr val="9E1B32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)</m:t>
                      </m:r>
                    </m:oMath>
                  </m:oMathPara>
                </a14:m>
                <a:endParaRPr lang="en-US" sz="2150"/>
              </a:p>
            </p:txBody>
          </p:sp>
        </mc:Choice>
        <mc:Fallback>
          <p:sp>
            <p:nvSpPr>
              <p:cNvPr id="6" name="Text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6"/>
                </p:custDataLst>
              </p:nvPr>
            </p:nvSpPr>
            <p:spPr>
              <a:xfrm>
                <a:off x="335263" y="3067704"/>
                <a:ext cx="4206656" cy="658461"/>
              </a:xfrm>
              <a:prstGeom prst="roundRect">
                <a:avLst/>
              </a:prstGeom>
              <a:blipFill rotWithShape="1">
                <a:blip r:embed="rId7"/>
                <a:stretch>
                  <a:fillRect l="-120" t="-774" r="-111" b="-677"/>
                </a:stretch>
              </a:blipFill>
              <a:ln w="9000">
                <a:solidFill>
                  <a:srgbClr val="D9DEE5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335263" y="3963642"/>
                <a:ext cx="4206656" cy="658461"/>
              </a:xfrm>
              <a:prstGeom prst="roundRect">
                <a:avLst/>
              </a:prstGeom>
              <a:solidFill>
                <a:srgbClr val="FFFFFF"/>
              </a:solidFill>
              <a:ln w="9000">
                <a:solidFill>
                  <a:srgbClr val="D9DEE5"/>
                </a:solidFill>
              </a:ln>
            </p:spPr>
            <p:txBody>
              <a:bodyPr wrap="square" lIns="73148" tIns="73148" rIns="73148" bIns="73148" anchor="ctr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100"/>
                          </m:ctrlPr>
                        </m:sSubPr>
                        <m:e>
                          <m:r>
                            <a:rPr lang="en-US" sz="215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𝑎</m:t>
                          </m:r>
                        </m:e>
                        <m:sub>
                          <m:r>
                            <a:rPr lang="en-US" sz="146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𝑛𝑒𝑥𝑡</m:t>
                          </m:r>
                        </m:sub>
                      </m:sSub>
                      <m:r>
                        <a:rPr lang="en-US" sz="215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 = −</m:t>
                      </m:r>
                      <m:sSub>
                        <m:sSubPr>
                          <m:ctrlPr>
                            <a:rPr sz="100"/>
                          </m:ctrlPr>
                        </m:sSubPr>
                        <m:e>
                          <m:r>
                            <a:rPr lang="en-US" sz="215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𝐹</m:t>
                          </m:r>
                        </m:e>
                        <m:sub>
                          <m:r>
                            <a:rPr lang="en-US" sz="146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𝑎𝑐𝑡𝑢𝑎𝑙</m:t>
                          </m:r>
                        </m:sub>
                      </m:sSub>
                      <m:r>
                        <a:rPr lang="en-US" sz="215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 / </m:t>
                      </m:r>
                      <m:r>
                        <a:rPr lang="en-US" sz="215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𝑚</m:t>
                      </m:r>
                    </m:oMath>
                  </m:oMathPara>
                </a14:m>
                <a:endParaRPr lang="en-US" sz="2150"/>
              </a:p>
            </p:txBody>
          </p:sp>
        </mc:Choice>
        <mc:Fallback>
          <p:sp>
            <p:nvSpPr>
              <p:cNvPr id="7" name="Text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9"/>
                </p:custDataLst>
              </p:nvPr>
            </p:nvSpPr>
            <p:spPr>
              <a:xfrm>
                <a:off x="335263" y="3963642"/>
                <a:ext cx="4206656" cy="658461"/>
              </a:xfrm>
              <a:prstGeom prst="roundRect">
                <a:avLst/>
              </a:prstGeom>
              <a:blipFill rotWithShape="1">
                <a:blip r:embed="rId10"/>
                <a:stretch>
                  <a:fillRect l="-120" t="-767" r="-111" b="-684"/>
                </a:stretch>
              </a:blipFill>
              <a:ln w="9000">
                <a:solidFill>
                  <a:srgbClr val="D9DEE5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335263" y="4860215"/>
                <a:ext cx="4206656" cy="658461"/>
              </a:xfrm>
              <a:prstGeom prst="roundRect">
                <a:avLst/>
              </a:prstGeom>
              <a:solidFill>
                <a:srgbClr val="FFFFFF"/>
              </a:solidFill>
              <a:ln w="9000">
                <a:solidFill>
                  <a:srgbClr val="D9DEE5"/>
                </a:solidFill>
              </a:ln>
            </p:spPr>
            <p:txBody>
              <a:bodyPr wrap="square" lIns="73148" tIns="73148" rIns="73148" bIns="73148" anchor="ctr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100"/>
                          </m:ctrlPr>
                        </m:sSubPr>
                        <m:e>
                          <m:r>
                            <a:rPr lang="en-US" sz="215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𝑣</m:t>
                          </m:r>
                        </m:e>
                        <m:sub>
                          <m:r>
                            <a:rPr lang="en-US" sz="146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𝑛𝑒𝑥𝑡</m:t>
                          </m:r>
                        </m:sub>
                      </m:sSub>
                      <m:r>
                        <a:rPr lang="en-US" sz="215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 = </m:t>
                      </m:r>
                      <m:r>
                        <a:rPr lang="en-US" sz="215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𝑚𝑎𝑥</m:t>
                      </m:r>
                      <m:r>
                        <a:rPr lang="en-US" sz="215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(</m:t>
                      </m:r>
                      <m:r>
                        <a:rPr lang="en-US" sz="215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𝑣</m:t>
                      </m:r>
                      <m:r>
                        <a:rPr lang="en-US" sz="215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 + </m:t>
                      </m:r>
                      <m:sSub>
                        <m:sSubPr>
                          <m:ctrlPr>
                            <a:rPr sz="100"/>
                          </m:ctrlPr>
                        </m:sSubPr>
                        <m:e>
                          <m:r>
                            <a:rPr lang="en-US" sz="215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𝑎</m:t>
                          </m:r>
                        </m:e>
                        <m:sub>
                          <m:r>
                            <a:rPr lang="en-US" sz="146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𝑛𝑒𝑥𝑡</m:t>
                          </m:r>
                        </m:sub>
                      </m:sSub>
                      <m:r>
                        <a:rPr lang="en-US" sz="215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  ·  </m:t>
                      </m:r>
                      <m:r>
                        <a:rPr lang="en-US" sz="215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𝛥</m:t>
                      </m:r>
                      <m:r>
                        <a:rPr lang="en-US" sz="215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𝑡</m:t>
                      </m:r>
                      <m:r>
                        <a:rPr lang="en-US" sz="215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, </m:t>
                      </m:r>
                      <m:r>
                        <a:rPr lang="en-US" sz="215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0</m:t>
                      </m:r>
                      <m:r>
                        <a:rPr lang="en-US" sz="215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)</m:t>
                      </m:r>
                    </m:oMath>
                  </m:oMathPara>
                </a14:m>
                <a:endParaRPr lang="en-US" sz="2150"/>
              </a:p>
            </p:txBody>
          </p:sp>
        </mc:Choice>
        <mc:Fallback>
          <p:sp>
            <p:nvSpPr>
              <p:cNvPr id="8" name="Text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2"/>
                </p:custDataLst>
              </p:nvPr>
            </p:nvSpPr>
            <p:spPr>
              <a:xfrm>
                <a:off x="335263" y="4860215"/>
                <a:ext cx="4206656" cy="658461"/>
              </a:xfrm>
              <a:prstGeom prst="roundRect">
                <a:avLst/>
              </a:prstGeom>
              <a:blipFill rotWithShape="1">
                <a:blip r:embed="rId13"/>
                <a:stretch>
                  <a:fillRect l="-120" t="-760" r="-111" b="-692"/>
                </a:stretch>
              </a:blipFill>
              <a:ln w="9000">
                <a:solidFill>
                  <a:srgbClr val="D9DEE5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"/>
          <p:cNvSpPr txBox="1"/>
          <p:nvPr/>
        </p:nvSpPr>
        <p:spPr>
          <a:xfrm>
            <a:off x="335263" y="6271747"/>
            <a:ext cx="10286464" cy="502894"/>
          </a:xfrm>
          <a:prstGeom prst="roundRect">
            <a:avLst/>
          </a:prstGeom>
          <a:solidFill>
            <a:srgbClr val="EEF6F8"/>
          </a:solidFill>
          <a:ln w="9000">
            <a:solidFill>
              <a:srgbClr val="BFDDE2"/>
            </a:solidFill>
          </a:ln>
        </p:spPr>
        <p:txBody>
          <a:bodyPr wrap="square" lIns="36574" tIns="36574" rIns="36574" bIns="36574" anchor="ctr">
            <a:normAutofit/>
          </a:bodyPr>
          <a:lstStyle/>
          <a:p>
            <a:pPr algn="ctr"/>
            <a:r>
              <a:rPr lang="zh-CN" altLang="en-US" sz="1350" b="1" dirty="0" smtClean="0">
                <a:solidFill>
                  <a:srgbClr val="0F6B75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机理基线提供可解释约束，也是规划器的最小可运行动力学环境。</a:t>
            </a:r>
            <a:endParaRPr lang="zh-CN" altLang="en-US" sz="1350"/>
          </a:p>
        </p:txBody>
      </p:sp>
      <p:sp>
        <p:nvSpPr>
          <p:cNvPr id="13" name="Title"/>
          <p:cNvSpPr txBox="1"/>
          <p:nvPr/>
        </p:nvSpPr>
        <p:spPr>
          <a:xfrm>
            <a:off x="1559479" y="1703160"/>
            <a:ext cx="1748699" cy="499084"/>
          </a:xfrm>
          <a:prstGeom prst="rect">
            <a:avLst/>
          </a:prstGeom>
          <a:noFill/>
          <a:ln>
            <a:noFill/>
          </a:ln>
        </p:spPr>
        <p:txBody>
          <a:bodyPr wrap="square" lIns="73148" tIns="73148" rIns="73148" bIns="73148" anchor="t">
            <a:noAutofit/>
          </a:bodyPr>
          <a:lstStyle/>
          <a:p>
            <a:r>
              <a:rPr lang="zh-CN" altLang="en-US" sz="200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纵向制动方程</a:t>
            </a:r>
            <a:endParaRPr lang="zh-CN" altLang="en-US" sz="2000" b="1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85" name="Text 85"/>
          <p:cNvSpPr txBox="1"/>
          <p:nvPr/>
        </p:nvSpPr>
        <p:spPr>
          <a:xfrm>
            <a:off x="263702" y="5611889"/>
            <a:ext cx="10880793" cy="566898"/>
          </a:xfrm>
          <a:prstGeom prst="roundRect">
            <a:avLst/>
          </a:prstGeom>
          <a:solidFill>
            <a:srgbClr val="E9F4F5"/>
          </a:solidFill>
          <a:ln w="12700">
            <a:solidFill>
              <a:srgbClr val="B9DDE1"/>
            </a:solidFill>
          </a:ln>
        </p:spPr>
        <p:txBody>
          <a:bodyPr wrap="square" lIns="73148" tIns="36574" rIns="73148" bIns="36574" anchor="ctr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500" b="1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采样覆盖：20–120 km/h  ·  0–10 MPa  ·  μ = 0.2 / 0.4 / 0.6 / 0.8  ·  随机与平滑压力曲线</a:t>
            </a:r>
            <a:endParaRPr lang="zh-CN" sz="1500"/>
          </a:p>
        </p:txBody>
      </p:sp>
      <p:pic>
        <p:nvPicPr>
          <p:cNvPr id="11" name="02_mechanism_dataset_coverage.png" descr="02_mechanism_dataset_cover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99715" y="1582246"/>
            <a:ext cx="6309031" cy="2903863"/>
          </a:xfrm>
          <a:prstGeom prst="rect">
            <a:avLst/>
          </a:prstGeom>
        </p:spPr>
      </p:pic>
      <p:sp>
        <p:nvSpPr>
          <p:cNvPr id="12" name="Text"/>
          <p:cNvSpPr txBox="1"/>
          <p:nvPr/>
        </p:nvSpPr>
        <p:spPr>
          <a:xfrm>
            <a:off x="9623559" y="1052319"/>
            <a:ext cx="2083961" cy="530197"/>
          </a:xfrm>
          <a:prstGeom prst="roundRect">
            <a:avLst/>
          </a:prstGeom>
          <a:solidFill>
            <a:srgbClr val="FDF4F2"/>
          </a:solidFill>
          <a:ln w="9000">
            <a:solidFill>
              <a:srgbClr val="E6C2BC"/>
            </a:solidFill>
          </a:ln>
        </p:spPr>
        <p:txBody>
          <a:bodyPr wrap="square" lIns="54861" tIns="54861" rIns="54861" bIns="54861" anchor="ctr">
            <a:normAutofit/>
          </a:bodyPr>
          <a:lstStyle/>
          <a:p>
            <a:r>
              <a:rPr lang="zh-CN" altLang="en-US" sz="1200" b="1" dirty="0" smtClean="0">
                <a:solidFill>
                  <a:srgbClr val="9E1B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速度覆盖：约 20-120 km/h</a:t>
            </a:r>
            <a:endParaRPr lang="zh-CN" altLang="en-US" sz="1200"/>
          </a:p>
        </p:txBody>
      </p:sp>
      <p:sp>
        <p:nvSpPr>
          <p:cNvPr id="14" name="Text"/>
          <p:cNvSpPr txBox="1"/>
          <p:nvPr/>
        </p:nvSpPr>
        <p:spPr>
          <a:xfrm>
            <a:off x="9623559" y="1839043"/>
            <a:ext cx="2083961" cy="530197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9DEE5"/>
            </a:solidFill>
          </a:ln>
        </p:spPr>
        <p:txBody>
          <a:bodyPr wrap="square" lIns="54861" tIns="54861" rIns="54861" bIns="54861" anchor="ctr">
            <a:normAutofit/>
          </a:bodyPr>
          <a:lstStyle/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压力覆盖：0-10 MPa</a:t>
            </a:r>
            <a:endParaRPr lang="zh-CN" altLang="en-US" sz="1120"/>
          </a:p>
        </p:txBody>
      </p:sp>
      <p:sp>
        <p:nvSpPr>
          <p:cNvPr id="15" name="Text"/>
          <p:cNvSpPr txBox="1"/>
          <p:nvPr/>
        </p:nvSpPr>
        <p:spPr>
          <a:xfrm>
            <a:off x="9623559" y="2625132"/>
            <a:ext cx="2083961" cy="530197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9DEE5"/>
            </a:solidFill>
          </a:ln>
        </p:spPr>
        <p:txBody>
          <a:bodyPr wrap="square" lIns="54861" tIns="54861" rIns="54861" bIns="54861" anchor="ctr">
            <a:normAutofit/>
          </a:bodyPr>
          <a:lstStyle/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附着覆盖：0.2 / 0.4 / 0.6 / 0.8</a:t>
            </a:r>
            <a:endParaRPr lang="zh-CN" altLang="en-US" sz="1120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问题定义与机理基线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823B-8CA8-4514-B4CF-AB75C2ECDFC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3" name="Title"/>
          <p:cNvSpPr txBox="1"/>
          <p:nvPr/>
        </p:nvSpPr>
        <p:spPr>
          <a:xfrm>
            <a:off x="335136" y="980314"/>
            <a:ext cx="8320607" cy="502894"/>
          </a:xfrm>
          <a:prstGeom prst="rect">
            <a:avLst/>
          </a:prstGeom>
          <a:noFill/>
          <a:ln>
            <a:noFill/>
          </a:ln>
        </p:spPr>
        <p:txBody>
          <a:bodyPr wrap="square" lIns="73148" tIns="73148" rIns="73148" bIns="73148" anchor="t">
            <a:normAutofit fontScale="80000"/>
          </a:bodyPr>
          <a:lstStyle/>
          <a:p>
            <a:r>
              <a:rPr lang="zh-CN" altLang="en-US" sz="265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路面附着限制下的制动响应</a:t>
            </a:r>
            <a:endParaRPr lang="zh-CN" altLang="en-US" sz="2650"/>
          </a:p>
        </p:txBody>
      </p:sp>
      <p:sp>
        <p:nvSpPr>
          <p:cNvPr id="17" name="Shape"/>
          <p:cNvSpPr/>
          <p:nvPr/>
        </p:nvSpPr>
        <p:spPr>
          <a:xfrm>
            <a:off x="433682" y="1658204"/>
            <a:ext cx="6400467" cy="4617479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9DEE5"/>
            </a:solidFill>
          </a:ln>
        </p:spPr>
      </p:sp>
      <p:pic>
        <p:nvPicPr>
          <p:cNvPr id="18" name="03_mechanism_pressure_mu_response.png" descr="03_mechanism_pressure_mu_respons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9400" y="1916512"/>
            <a:ext cx="6309031" cy="4055146"/>
          </a:xfrm>
          <a:prstGeom prst="rect">
            <a:avLst/>
          </a:prstGeom>
        </p:spPr>
      </p:pic>
      <p:sp>
        <p:nvSpPr>
          <p:cNvPr id="3" name="Text"/>
          <p:cNvSpPr txBox="1"/>
          <p:nvPr/>
        </p:nvSpPr>
        <p:spPr>
          <a:xfrm>
            <a:off x="7108455" y="1841075"/>
            <a:ext cx="3703127" cy="530324"/>
          </a:xfrm>
          <a:prstGeom prst="roundRect">
            <a:avLst/>
          </a:prstGeom>
          <a:solidFill>
            <a:srgbClr val="FDF4F2"/>
          </a:solidFill>
          <a:ln w="9000">
            <a:solidFill>
              <a:srgbClr val="E6C2BC"/>
            </a:solidFill>
          </a:ln>
        </p:spPr>
        <p:txBody>
          <a:bodyPr wrap="square" lIns="54861" tIns="54861" rIns="54861" bIns="54861" anchor="ctr">
            <a:normAutofit/>
          </a:bodyPr>
          <a:lstStyle/>
          <a:p>
            <a:r>
              <a:rPr lang="zh-CN" altLang="en-US" sz="1200" b="1" dirty="0" smtClean="0">
                <a:solidFill>
                  <a:srgbClr val="9E1B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压力增加只在未饱和前提升减速度</a:t>
            </a:r>
            <a:endParaRPr lang="zh-CN" altLang="en-US" sz="1200"/>
          </a:p>
        </p:txBody>
      </p:sp>
      <p:sp>
        <p:nvSpPr>
          <p:cNvPr id="20" name="Text"/>
          <p:cNvSpPr txBox="1"/>
          <p:nvPr/>
        </p:nvSpPr>
        <p:spPr>
          <a:xfrm>
            <a:off x="7108455" y="2627418"/>
            <a:ext cx="3703127" cy="530324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9DEE5"/>
            </a:solidFill>
          </a:ln>
        </p:spPr>
        <p:txBody>
          <a:bodyPr wrap="square" lIns="54861" tIns="54861" rIns="54861" bIns="54861" anchor="ctr">
            <a:normAutofit/>
          </a:bodyPr>
          <a:lstStyle/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低附着路面更早达到制动上限</a:t>
            </a:r>
            <a:endParaRPr lang="zh-CN" altLang="en-US" sz="1120"/>
          </a:p>
        </p:txBody>
      </p:sp>
      <p:sp>
        <p:nvSpPr>
          <p:cNvPr id="21" name="Text"/>
          <p:cNvSpPr txBox="1"/>
          <p:nvPr/>
        </p:nvSpPr>
        <p:spPr>
          <a:xfrm>
            <a:off x="7108455" y="3413761"/>
            <a:ext cx="3703127" cy="530324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9DEE5"/>
            </a:solidFill>
          </a:ln>
        </p:spPr>
        <p:txBody>
          <a:bodyPr wrap="square" lIns="54861" tIns="54861" rIns="54861" bIns="54861" anchor="ctr">
            <a:normAutofit/>
          </a:bodyPr>
          <a:lstStyle/>
          <a:p>
            <a:r>
              <a:rPr lang="zh-CN" altLang="en-US" sz="11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该规律为模型提供可解释物理先验</a:t>
            </a:r>
            <a:endParaRPr lang="zh-CN" altLang="en-US" sz="1120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问题定义与机理基线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823B-8CA8-4514-B4CF-AB75C2ECDFC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9" name="Text 19"/>
          <p:cNvSpPr txBox="1"/>
          <p:nvPr/>
        </p:nvSpPr>
        <p:spPr>
          <a:xfrm>
            <a:off x="335771" y="981329"/>
            <a:ext cx="9875006" cy="457176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>
            <a:normAutofit fontScale="70000"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en-US" altLang="zh-CN" sz="2700" b="1" i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</a:rPr>
              <a:t>MLP </a:t>
            </a:r>
            <a:r>
              <a:rPr lang="zh-CN" altLang="en-US" sz="2700" b="1" i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</a:rPr>
              <a:t>基线：先验证单步动力学可以被准确学习</a:t>
            </a:r>
            <a:endParaRPr lang="zh-CN" altLang="en-US" sz="2700" b="1" i="0">
              <a:solidFill>
                <a:srgbClr val="0B1F33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endParaRPr lang="zh-CN" altLang="en-US" sz="2700" b="1" i="0">
              <a:solidFill>
                <a:srgbClr val="0B1F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" name="Shape 93"/>
          <p:cNvSpPr/>
          <p:nvPr/>
        </p:nvSpPr>
        <p:spPr>
          <a:xfrm>
            <a:off x="406697" y="1438379"/>
            <a:ext cx="7406254" cy="525752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pic>
        <p:nvPicPr>
          <p:cNvPr id="94" name="MLP prediction comparis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9097" y="1593819"/>
            <a:ext cx="6561454" cy="4919216"/>
          </a:xfrm>
          <a:prstGeom prst="rect">
            <a:avLst/>
          </a:prstGeom>
          <a:ln>
            <a:noFill/>
          </a:ln>
        </p:spPr>
      </p:pic>
      <p:sp>
        <p:nvSpPr>
          <p:cNvPr id="95" name="Shape 95"/>
          <p:cNvSpPr/>
          <p:nvPr/>
        </p:nvSpPr>
        <p:spPr>
          <a:xfrm>
            <a:off x="8087257" y="1529814"/>
            <a:ext cx="3401391" cy="12343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sp>
        <p:nvSpPr>
          <p:cNvPr id="96" name="Shape 96"/>
          <p:cNvSpPr/>
          <p:nvPr/>
        </p:nvSpPr>
        <p:spPr>
          <a:xfrm>
            <a:off x="8087257" y="1529814"/>
            <a:ext cx="73148" cy="1234376"/>
          </a:xfrm>
          <a:prstGeom prst="rect">
            <a:avLst/>
          </a:prstGeom>
          <a:solidFill>
            <a:srgbClr val="0E8A92"/>
          </a:solidFill>
          <a:ln>
            <a:noFill/>
          </a:ln>
        </p:spPr>
      </p:sp>
      <p:sp>
        <p:nvSpPr>
          <p:cNvPr id="97" name="Text 97"/>
          <p:cNvSpPr txBox="1"/>
          <p:nvPr/>
        </p:nvSpPr>
        <p:spPr>
          <a:xfrm>
            <a:off x="8306701" y="1685254"/>
            <a:ext cx="3035650" cy="274306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>
            <a:normAutofit fontScale="80000"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400" b="1" i="0">
                <a:solidFill>
                  <a:srgbClr val="0E8A92"/>
                </a:solidFill>
                <a:latin typeface="微软雅黑" panose="020B0503020204020204" charset="-122"/>
                <a:ea typeface="微软雅黑" panose="020B0503020204020204" charset="-122"/>
              </a:rPr>
              <a:t>速度预测 vₜ₊₁</a:t>
            </a:r>
            <a:endParaRPr lang="zh-CN" sz="1400"/>
          </a:p>
        </p:txBody>
      </p:sp>
      <p:sp>
        <p:nvSpPr>
          <p:cNvPr id="98" name="Text 98"/>
          <p:cNvSpPr txBox="1"/>
          <p:nvPr/>
        </p:nvSpPr>
        <p:spPr>
          <a:xfrm>
            <a:off x="8306701" y="2060138"/>
            <a:ext cx="3017363" cy="576042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>
            <a:normAutofit lnSpcReduction="20000"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7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MAE  0.0185 m/s
R²     0.999994</a:t>
            </a:r>
            <a:endParaRPr lang="zh-CN" sz="1700"/>
          </a:p>
        </p:txBody>
      </p:sp>
      <p:sp>
        <p:nvSpPr>
          <p:cNvPr id="99" name="Shape 99"/>
          <p:cNvSpPr/>
          <p:nvPr/>
        </p:nvSpPr>
        <p:spPr>
          <a:xfrm>
            <a:off x="8087257" y="2974491"/>
            <a:ext cx="3401391" cy="12343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sp>
        <p:nvSpPr>
          <p:cNvPr id="100" name="Shape 100"/>
          <p:cNvSpPr/>
          <p:nvPr/>
        </p:nvSpPr>
        <p:spPr>
          <a:xfrm>
            <a:off x="8087257" y="2974491"/>
            <a:ext cx="73148" cy="1234376"/>
          </a:xfrm>
          <a:prstGeom prst="rect">
            <a:avLst/>
          </a:prstGeom>
          <a:solidFill>
            <a:srgbClr val="F2A93B"/>
          </a:solidFill>
          <a:ln>
            <a:noFill/>
          </a:ln>
        </p:spPr>
      </p:sp>
      <p:sp>
        <p:nvSpPr>
          <p:cNvPr id="101" name="Text 101"/>
          <p:cNvSpPr txBox="1"/>
          <p:nvPr/>
        </p:nvSpPr>
        <p:spPr>
          <a:xfrm>
            <a:off x="8306701" y="3129931"/>
            <a:ext cx="3035650" cy="274306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>
            <a:normAutofit fontScale="80000"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400" b="1" i="0">
                <a:solidFill>
                  <a:srgbClr val="F2A93B"/>
                </a:solidFill>
                <a:latin typeface="微软雅黑" panose="020B0503020204020204" charset="-122"/>
                <a:ea typeface="微软雅黑" panose="020B0503020204020204" charset="-122"/>
              </a:rPr>
              <a:t>减速度预测 aₜ₊₁</a:t>
            </a:r>
            <a:endParaRPr lang="zh-CN" sz="1400"/>
          </a:p>
        </p:txBody>
      </p:sp>
      <p:sp>
        <p:nvSpPr>
          <p:cNvPr id="102" name="Text 102"/>
          <p:cNvSpPr txBox="1"/>
          <p:nvPr/>
        </p:nvSpPr>
        <p:spPr>
          <a:xfrm>
            <a:off x="8306701" y="3504815"/>
            <a:ext cx="3017363" cy="576042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>
            <a:normAutofit lnSpcReduction="20000"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7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MAE  0.00277 m/s²
R²     0.999998</a:t>
            </a:r>
            <a:endParaRPr lang="zh-CN" sz="1700"/>
          </a:p>
        </p:txBody>
      </p:sp>
      <p:sp>
        <p:nvSpPr>
          <p:cNvPr id="103" name="Shape 103"/>
          <p:cNvSpPr/>
          <p:nvPr/>
        </p:nvSpPr>
        <p:spPr>
          <a:xfrm>
            <a:off x="8087257" y="4419167"/>
            <a:ext cx="3401391" cy="157268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sp>
        <p:nvSpPr>
          <p:cNvPr id="104" name="Shape 104"/>
          <p:cNvSpPr/>
          <p:nvPr/>
        </p:nvSpPr>
        <p:spPr>
          <a:xfrm>
            <a:off x="8087257" y="4419167"/>
            <a:ext cx="73148" cy="1572686"/>
          </a:xfrm>
          <a:prstGeom prst="rect">
            <a:avLst/>
          </a:prstGeom>
          <a:solidFill>
            <a:srgbClr val="2F9E73"/>
          </a:solidFill>
          <a:ln>
            <a:noFill/>
          </a:ln>
        </p:spPr>
      </p:sp>
      <p:sp>
        <p:nvSpPr>
          <p:cNvPr id="105" name="Text 105"/>
          <p:cNvSpPr txBox="1"/>
          <p:nvPr/>
        </p:nvSpPr>
        <p:spPr>
          <a:xfrm>
            <a:off x="8306701" y="4574607"/>
            <a:ext cx="3035650" cy="274306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>
            <a:normAutofit fontScale="80000"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400" b="1" i="0">
                <a:solidFill>
                  <a:srgbClr val="2F9E73"/>
                </a:solidFill>
                <a:latin typeface="微软雅黑" panose="020B0503020204020204" charset="-122"/>
                <a:ea typeface="微软雅黑" panose="020B0503020204020204" charset="-122"/>
              </a:rPr>
              <a:t>工程结论</a:t>
            </a:r>
            <a:endParaRPr lang="zh-CN" sz="1400"/>
          </a:p>
        </p:txBody>
      </p:sp>
      <p:sp>
        <p:nvSpPr>
          <p:cNvPr id="106" name="Text 106"/>
          <p:cNvSpPr txBox="1"/>
          <p:nvPr/>
        </p:nvSpPr>
        <p:spPr>
          <a:xfrm>
            <a:off x="8306701" y="4949492"/>
            <a:ext cx="3017363" cy="914352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15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MLP 已足以验证单步系统辨识闭环；预测曲线与机理真值高度重合。</a:t>
            </a:r>
            <a:endParaRPr lang="zh-CN" sz="1500"/>
          </a:p>
        </p:txBody>
      </p:sp>
      <p:sp>
        <p:nvSpPr>
          <p:cNvPr id="107" name="Text 107"/>
          <p:cNvSpPr txBox="1"/>
          <p:nvPr/>
        </p:nvSpPr>
        <p:spPr>
          <a:xfrm>
            <a:off x="8114687" y="6211298"/>
            <a:ext cx="3355673" cy="411459"/>
          </a:xfrm>
          <a:prstGeom prst="roundRect">
            <a:avLst/>
          </a:prstGeom>
          <a:solidFill>
            <a:srgbClr val="FDEEEE"/>
          </a:solidFill>
          <a:ln w="12700">
            <a:solidFill>
              <a:srgbClr val="F3C5C5"/>
            </a:solidFill>
          </a:ln>
        </p:spPr>
        <p:txBody>
          <a:bodyPr wrap="square" lIns="73148" tIns="36574" rIns="73148" bIns="36574" anchor="ctr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200" b="1" i="0">
                <a:solidFill>
                  <a:srgbClr val="D64D4D"/>
                </a:solidFill>
                <a:latin typeface="微软雅黑" panose="020B0503020204020204" charset="-122"/>
                <a:ea typeface="微软雅黑" panose="020B0503020204020204" charset="-122"/>
              </a:rPr>
              <a:t>注意：这是单步随机样本任务</a:t>
            </a:r>
            <a:endParaRPr lang="zh-CN" sz="1200"/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"/>
          <p:cNvSpPr/>
          <p:nvPr/>
        </p:nvSpPr>
        <p:spPr>
          <a:xfrm>
            <a:off x="0" y="179"/>
            <a:ext cx="12191060" cy="6857643"/>
          </a:xfrm>
          <a:prstGeom prst="rect">
            <a:avLst/>
          </a:prstGeom>
          <a:solidFill>
            <a:srgbClr val="FBFBFA"/>
          </a:solidFill>
          <a:ln>
            <a:noFill/>
          </a:ln>
        </p:spPr>
      </p:sp>
      <p:sp>
        <p:nvSpPr>
          <p:cNvPr id="12" name="Shape"/>
          <p:cNvSpPr/>
          <p:nvPr/>
        </p:nvSpPr>
        <p:spPr>
          <a:xfrm>
            <a:off x="0" y="179"/>
            <a:ext cx="12191060" cy="164583"/>
          </a:xfrm>
          <a:prstGeom prst="rect">
            <a:avLst/>
          </a:prstGeom>
          <a:solidFill>
            <a:srgbClr val="9E1B32"/>
          </a:solidFill>
          <a:ln>
            <a:noFill/>
          </a:ln>
        </p:spPr>
      </p:sp>
      <p:sp>
        <p:nvSpPr>
          <p:cNvPr id="13" name="Title"/>
          <p:cNvSpPr txBox="1"/>
          <p:nvPr/>
        </p:nvSpPr>
        <p:spPr>
          <a:xfrm>
            <a:off x="566898" y="311058"/>
            <a:ext cx="8320607" cy="502894"/>
          </a:xfrm>
          <a:prstGeom prst="rect">
            <a:avLst/>
          </a:prstGeom>
          <a:noFill/>
          <a:ln>
            <a:noFill/>
          </a:ln>
        </p:spPr>
        <p:txBody>
          <a:bodyPr wrap="square" lIns="73148" tIns="73148" rIns="73148" bIns="73148" anchor="t">
            <a:normAutofit fontScale="80000"/>
          </a:bodyPr>
          <a:lstStyle/>
          <a:p>
            <a:r>
              <a:rPr lang="zh-CN" altLang="en-US" sz="265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MLP 基线预测结果</a:t>
            </a:r>
            <a:endParaRPr lang="zh-CN" altLang="en-US" sz="2650"/>
          </a:p>
        </p:txBody>
      </p:sp>
      <p:sp>
        <p:nvSpPr>
          <p:cNvPr id="14" name="Section"/>
          <p:cNvSpPr txBox="1"/>
          <p:nvPr/>
        </p:nvSpPr>
        <p:spPr>
          <a:xfrm>
            <a:off x="9280677" y="347632"/>
            <a:ext cx="1965858" cy="347454"/>
          </a:xfrm>
          <a:prstGeom prst="rect">
            <a:avLst/>
          </a:prstGeom>
          <a:noFill/>
          <a:ln>
            <a:noFill/>
          </a:ln>
        </p:spPr>
        <p:txBody>
          <a:bodyPr wrap="square" lIns="73148" tIns="73148" rIns="73148" bIns="73148" anchor="t">
            <a:normAutofit/>
          </a:bodyPr>
          <a:lstStyle/>
          <a:p>
            <a:pPr algn="r"/>
            <a:r>
              <a:rPr lang="zh-CN" altLang="en-US" sz="1100" dirty="0" smtClean="0">
                <a:solidFill>
                  <a:srgbClr val="5A626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问题定义与机理基线</a:t>
            </a:r>
            <a:endParaRPr lang="zh-CN" altLang="en-US" sz="1100"/>
          </a:p>
        </p:txBody>
      </p:sp>
      <p:sp>
        <p:nvSpPr>
          <p:cNvPr id="15" name="Page"/>
          <p:cNvSpPr txBox="1"/>
          <p:nvPr/>
        </p:nvSpPr>
        <p:spPr>
          <a:xfrm>
            <a:off x="11292252" y="283628"/>
            <a:ext cx="566898" cy="411459"/>
          </a:xfrm>
          <a:prstGeom prst="roundRect">
            <a:avLst/>
          </a:prstGeom>
          <a:solidFill>
            <a:srgbClr val="9E1B32"/>
          </a:solidFill>
          <a:ln w="9000">
            <a:solidFill>
              <a:srgbClr val="9E1B32"/>
            </a:solidFill>
          </a:ln>
        </p:spPr>
        <p:txBody>
          <a:bodyPr wrap="square" lIns="9143" tIns="9143" rIns="9143" bIns="9143" anchor="ctr">
            <a:normAutofit/>
          </a:bodyPr>
          <a:lstStyle/>
          <a:p>
            <a:pPr algn="ctr"/>
            <a:r>
              <a:rPr lang="zh-CN" altLang="en-US" sz="135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9</a:t>
            </a:r>
            <a:endParaRPr lang="zh-CN" altLang="en-US" sz="1350"/>
          </a:p>
        </p:txBody>
      </p:sp>
      <p:sp>
        <p:nvSpPr>
          <p:cNvPr id="16" name="Footer"/>
          <p:cNvSpPr txBox="1"/>
          <p:nvPr/>
        </p:nvSpPr>
        <p:spPr>
          <a:xfrm>
            <a:off x="566898" y="5870321"/>
            <a:ext cx="5303244" cy="201158"/>
          </a:xfrm>
          <a:prstGeom prst="rect">
            <a:avLst/>
          </a:prstGeom>
          <a:noFill/>
          <a:ln>
            <a:noFill/>
          </a:ln>
        </p:spPr>
        <p:txBody>
          <a:bodyPr wrap="square" lIns="9143" tIns="9143" rIns="9143" bIns="9143" anchor="t">
            <a:normAutofit/>
          </a:bodyPr>
          <a:lstStyle/>
          <a:p>
            <a:r>
              <a:rPr lang="zh-CN" altLang="en-US" sz="850" dirty="0" smtClean="0">
                <a:solidFill>
                  <a:srgbClr val="8A929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World Model in Brake System  ·  Simulink / CarSim / GRU-PINN / MPC</a:t>
            </a:r>
            <a:endParaRPr lang="zh-CN" altLang="en-US" sz="850"/>
          </a:p>
        </p:txBody>
      </p:sp>
      <p:sp>
        <p:nvSpPr>
          <p:cNvPr id="17" name="Shape"/>
          <p:cNvSpPr/>
          <p:nvPr/>
        </p:nvSpPr>
        <p:spPr>
          <a:xfrm>
            <a:off x="640047" y="1033397"/>
            <a:ext cx="5806138" cy="4617479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9DEE5"/>
            </a:solidFill>
          </a:ln>
        </p:spPr>
      </p:sp>
      <p:pic>
        <p:nvPicPr>
          <p:cNvPr id="18" name="results/prediction_compare.png" descr="results/prediction_compa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764" y="1177080"/>
            <a:ext cx="5714702" cy="4284394"/>
          </a:xfrm>
          <a:prstGeom prst="rect">
            <a:avLst/>
          </a:prstGeom>
        </p:spPr>
      </p:pic>
      <p:sp>
        <p:nvSpPr>
          <p:cNvPr id="19" name="TableCell"/>
          <p:cNvSpPr txBox="1"/>
          <p:nvPr/>
        </p:nvSpPr>
        <p:spPr>
          <a:xfrm>
            <a:off x="6629055" y="1170550"/>
            <a:ext cx="1131511" cy="761960"/>
          </a:xfrm>
          <a:prstGeom prst="rect">
            <a:avLst/>
          </a:prstGeom>
          <a:solidFill>
            <a:srgbClr val="9E1B32"/>
          </a:solidFill>
          <a:ln w="9000">
            <a:solidFill>
              <a:srgbClr val="CDD4DA"/>
            </a:solidFill>
          </a:ln>
        </p:spPr>
        <p:txBody>
          <a:bodyPr wrap="square" lIns="22858" tIns="22858" rIns="22858" bIns="22858" anchor="ctr">
            <a:normAutofit/>
          </a:bodyPr>
          <a:lstStyle/>
          <a:p>
            <a:pPr algn="ctr"/>
            <a:r>
              <a:rPr lang="zh-CN" altLang="en-US" sz="76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output</a:t>
            </a:r>
            <a:endParaRPr lang="zh-CN" altLang="en-US" sz="760"/>
          </a:p>
        </p:txBody>
      </p:sp>
      <p:sp>
        <p:nvSpPr>
          <p:cNvPr id="20" name="TableCell"/>
          <p:cNvSpPr txBox="1"/>
          <p:nvPr/>
        </p:nvSpPr>
        <p:spPr>
          <a:xfrm>
            <a:off x="7760566" y="1170550"/>
            <a:ext cx="1131511" cy="761960"/>
          </a:xfrm>
          <a:prstGeom prst="rect">
            <a:avLst/>
          </a:prstGeom>
          <a:solidFill>
            <a:srgbClr val="9E1B32"/>
          </a:solidFill>
          <a:ln w="9000">
            <a:solidFill>
              <a:srgbClr val="CDD4DA"/>
            </a:solidFill>
          </a:ln>
        </p:spPr>
        <p:txBody>
          <a:bodyPr wrap="square" lIns="22858" tIns="22858" rIns="22858" bIns="22858" anchor="ctr">
            <a:normAutofit/>
          </a:bodyPr>
          <a:lstStyle/>
          <a:p>
            <a:pPr algn="ctr"/>
            <a:r>
              <a:rPr lang="zh-CN" altLang="en-US" sz="76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mse</a:t>
            </a:r>
            <a:endParaRPr lang="zh-CN" altLang="en-US" sz="760"/>
          </a:p>
        </p:txBody>
      </p:sp>
      <p:sp>
        <p:nvSpPr>
          <p:cNvPr id="21" name="TableCell"/>
          <p:cNvSpPr txBox="1"/>
          <p:nvPr/>
        </p:nvSpPr>
        <p:spPr>
          <a:xfrm>
            <a:off x="8892077" y="1170550"/>
            <a:ext cx="1131511" cy="761960"/>
          </a:xfrm>
          <a:prstGeom prst="rect">
            <a:avLst/>
          </a:prstGeom>
          <a:solidFill>
            <a:srgbClr val="9E1B32"/>
          </a:solidFill>
          <a:ln w="9000">
            <a:solidFill>
              <a:srgbClr val="CDD4DA"/>
            </a:solidFill>
          </a:ln>
        </p:spPr>
        <p:txBody>
          <a:bodyPr wrap="square" lIns="22858" tIns="22858" rIns="22858" bIns="22858" anchor="ctr">
            <a:normAutofit/>
          </a:bodyPr>
          <a:lstStyle/>
          <a:p>
            <a:pPr algn="ctr"/>
            <a:r>
              <a:rPr lang="zh-CN" altLang="en-US" sz="76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mae</a:t>
            </a:r>
            <a:endParaRPr lang="zh-CN" altLang="en-US" sz="760"/>
          </a:p>
        </p:txBody>
      </p:sp>
      <p:sp>
        <p:nvSpPr>
          <p:cNvPr id="22" name="TableCell"/>
          <p:cNvSpPr txBox="1"/>
          <p:nvPr/>
        </p:nvSpPr>
        <p:spPr>
          <a:xfrm>
            <a:off x="10023588" y="1170550"/>
            <a:ext cx="1131511" cy="761960"/>
          </a:xfrm>
          <a:prstGeom prst="rect">
            <a:avLst/>
          </a:prstGeom>
          <a:solidFill>
            <a:srgbClr val="9E1B32"/>
          </a:solidFill>
          <a:ln w="9000">
            <a:solidFill>
              <a:srgbClr val="CDD4DA"/>
            </a:solidFill>
          </a:ln>
        </p:spPr>
        <p:txBody>
          <a:bodyPr wrap="square" lIns="22858" tIns="22858" rIns="22858" bIns="22858" anchor="ctr">
            <a:normAutofit/>
          </a:bodyPr>
          <a:lstStyle/>
          <a:p>
            <a:pPr algn="ctr"/>
            <a:r>
              <a:rPr lang="zh-CN" altLang="en-US" sz="76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r2</a:t>
            </a:r>
            <a:endParaRPr lang="zh-CN" altLang="en-US" sz="760"/>
          </a:p>
        </p:txBody>
      </p:sp>
      <p:sp>
        <p:nvSpPr>
          <p:cNvPr id="23" name="TableCell"/>
          <p:cNvSpPr txBox="1"/>
          <p:nvPr/>
        </p:nvSpPr>
        <p:spPr>
          <a:xfrm>
            <a:off x="6629055" y="1932510"/>
            <a:ext cx="1131511" cy="761960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58" tIns="22858" rIns="22858" bIns="22858" anchor="ctr">
            <a:normAutofit/>
          </a:bodyPr>
          <a:lstStyle/>
          <a:p>
            <a:pPr algn="ctr"/>
            <a:r>
              <a:rPr lang="zh-CN" altLang="en-US" sz="76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v_next</a:t>
            </a:r>
            <a:endParaRPr lang="zh-CN" altLang="en-US" sz="760"/>
          </a:p>
        </p:txBody>
      </p:sp>
      <p:sp>
        <p:nvSpPr>
          <p:cNvPr id="24" name="TableCell"/>
          <p:cNvSpPr txBox="1"/>
          <p:nvPr/>
        </p:nvSpPr>
        <p:spPr>
          <a:xfrm>
            <a:off x="7760566" y="1932510"/>
            <a:ext cx="1131511" cy="761960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58" tIns="22858" rIns="22858" bIns="22858" anchor="ctr">
            <a:normAutofit/>
          </a:bodyPr>
          <a:lstStyle/>
          <a:p>
            <a:pPr algn="ctr"/>
            <a:r>
              <a:rPr lang="zh-CN" altLang="en-US" sz="76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0.000433839452664508</a:t>
            </a:r>
            <a:endParaRPr lang="zh-CN" altLang="en-US" sz="760"/>
          </a:p>
        </p:txBody>
      </p:sp>
      <p:sp>
        <p:nvSpPr>
          <p:cNvPr id="25" name="TableCell"/>
          <p:cNvSpPr txBox="1"/>
          <p:nvPr/>
        </p:nvSpPr>
        <p:spPr>
          <a:xfrm>
            <a:off x="8892077" y="1932510"/>
            <a:ext cx="1131511" cy="761960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58" tIns="22858" rIns="22858" bIns="22858" anchor="ctr">
            <a:normAutofit/>
          </a:bodyPr>
          <a:lstStyle/>
          <a:p>
            <a:pPr algn="ctr"/>
            <a:r>
              <a:rPr lang="zh-CN" altLang="en-US" sz="76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0.0185269870071398</a:t>
            </a:r>
            <a:endParaRPr lang="zh-CN" altLang="en-US" sz="760"/>
          </a:p>
        </p:txBody>
      </p:sp>
      <p:sp>
        <p:nvSpPr>
          <p:cNvPr id="26" name="TableCell"/>
          <p:cNvSpPr txBox="1"/>
          <p:nvPr/>
        </p:nvSpPr>
        <p:spPr>
          <a:xfrm>
            <a:off x="10023588" y="1932510"/>
            <a:ext cx="1131511" cy="761960"/>
          </a:xfrm>
          <a:prstGeom prst="rect">
            <a:avLst/>
          </a:prstGeom>
          <a:solidFill>
            <a:srgbClr val="FFFFFF"/>
          </a:solidFill>
          <a:ln w="9000">
            <a:solidFill>
              <a:srgbClr val="CDD4DA"/>
            </a:solidFill>
          </a:ln>
        </p:spPr>
        <p:txBody>
          <a:bodyPr wrap="square" lIns="22858" tIns="22858" rIns="22858" bIns="22858" anchor="ctr">
            <a:normAutofit/>
          </a:bodyPr>
          <a:lstStyle/>
          <a:p>
            <a:pPr algn="ctr"/>
            <a:r>
              <a:rPr lang="zh-CN" altLang="en-US" sz="76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0.999994463161941</a:t>
            </a:r>
            <a:endParaRPr lang="zh-CN" altLang="en-US" sz="760"/>
          </a:p>
        </p:txBody>
      </p:sp>
      <p:sp>
        <p:nvSpPr>
          <p:cNvPr id="27" name="TableCell"/>
          <p:cNvSpPr txBox="1"/>
          <p:nvPr/>
        </p:nvSpPr>
        <p:spPr>
          <a:xfrm>
            <a:off x="6629055" y="2694470"/>
            <a:ext cx="1131511" cy="761960"/>
          </a:xfrm>
          <a:prstGeom prst="rect">
            <a:avLst/>
          </a:prstGeom>
          <a:solidFill>
            <a:srgbClr val="F4F6F8"/>
          </a:solidFill>
          <a:ln w="9000">
            <a:solidFill>
              <a:srgbClr val="CDD4DA"/>
            </a:solidFill>
          </a:ln>
        </p:spPr>
        <p:txBody>
          <a:bodyPr wrap="square" lIns="22858" tIns="22858" rIns="22858" bIns="22858" anchor="ctr">
            <a:normAutofit/>
          </a:bodyPr>
          <a:lstStyle/>
          <a:p>
            <a:pPr algn="ctr"/>
            <a:r>
              <a:rPr lang="zh-CN" altLang="en-US" sz="76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a_next</a:t>
            </a:r>
            <a:endParaRPr lang="zh-CN" altLang="en-US" sz="760"/>
          </a:p>
        </p:txBody>
      </p:sp>
      <p:sp>
        <p:nvSpPr>
          <p:cNvPr id="28" name="TableCell"/>
          <p:cNvSpPr txBox="1"/>
          <p:nvPr/>
        </p:nvSpPr>
        <p:spPr>
          <a:xfrm>
            <a:off x="7760566" y="2694470"/>
            <a:ext cx="1131511" cy="761960"/>
          </a:xfrm>
          <a:prstGeom prst="rect">
            <a:avLst/>
          </a:prstGeom>
          <a:solidFill>
            <a:srgbClr val="F4F6F8"/>
          </a:solidFill>
          <a:ln w="9000">
            <a:solidFill>
              <a:srgbClr val="CDD4DA"/>
            </a:solidFill>
          </a:ln>
        </p:spPr>
        <p:txBody>
          <a:bodyPr wrap="square" lIns="22858" tIns="22858" rIns="22858" bIns="22858" anchor="ctr">
            <a:normAutofit/>
          </a:bodyPr>
          <a:lstStyle/>
          <a:p>
            <a:pPr algn="ctr"/>
            <a:r>
              <a:rPr lang="zh-CN" altLang="en-US" sz="76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1.04613970274565e-05</a:t>
            </a:r>
            <a:endParaRPr lang="zh-CN" altLang="en-US" sz="760"/>
          </a:p>
        </p:txBody>
      </p:sp>
      <p:sp>
        <p:nvSpPr>
          <p:cNvPr id="29" name="TableCell"/>
          <p:cNvSpPr txBox="1"/>
          <p:nvPr/>
        </p:nvSpPr>
        <p:spPr>
          <a:xfrm>
            <a:off x="8892077" y="2694470"/>
            <a:ext cx="1131511" cy="761960"/>
          </a:xfrm>
          <a:prstGeom prst="rect">
            <a:avLst/>
          </a:prstGeom>
          <a:solidFill>
            <a:srgbClr val="F4F6F8"/>
          </a:solidFill>
          <a:ln w="9000">
            <a:solidFill>
              <a:srgbClr val="CDD4DA"/>
            </a:solidFill>
          </a:ln>
        </p:spPr>
        <p:txBody>
          <a:bodyPr wrap="square" lIns="22858" tIns="22858" rIns="22858" bIns="22858" anchor="ctr">
            <a:normAutofit/>
          </a:bodyPr>
          <a:lstStyle/>
          <a:p>
            <a:pPr algn="ctr"/>
            <a:r>
              <a:rPr lang="zh-CN" altLang="en-US" sz="76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0.00276958528558822</a:t>
            </a:r>
            <a:endParaRPr lang="zh-CN" altLang="en-US" sz="760"/>
          </a:p>
        </p:txBody>
      </p:sp>
      <p:sp>
        <p:nvSpPr>
          <p:cNvPr id="30" name="TableCell"/>
          <p:cNvSpPr txBox="1"/>
          <p:nvPr/>
        </p:nvSpPr>
        <p:spPr>
          <a:xfrm>
            <a:off x="10023588" y="2694470"/>
            <a:ext cx="1131511" cy="761960"/>
          </a:xfrm>
          <a:prstGeom prst="rect">
            <a:avLst/>
          </a:prstGeom>
          <a:solidFill>
            <a:srgbClr val="F4F6F8"/>
          </a:solidFill>
          <a:ln w="9000">
            <a:solidFill>
              <a:srgbClr val="CDD4DA"/>
            </a:solidFill>
          </a:ln>
        </p:spPr>
        <p:txBody>
          <a:bodyPr wrap="square" lIns="22858" tIns="22858" rIns="22858" bIns="22858" anchor="ctr">
            <a:normAutofit/>
          </a:bodyPr>
          <a:lstStyle/>
          <a:p>
            <a:pPr algn="ctr"/>
            <a:r>
              <a:rPr lang="zh-CN" altLang="en-US" sz="76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0.999997936571855</a:t>
            </a:r>
            <a:endParaRPr lang="zh-CN" altLang="en-US" sz="760"/>
          </a:p>
        </p:txBody>
      </p:sp>
      <p:sp>
        <p:nvSpPr>
          <p:cNvPr id="31" name="Text"/>
          <p:cNvSpPr txBox="1"/>
          <p:nvPr/>
        </p:nvSpPr>
        <p:spPr>
          <a:xfrm>
            <a:off x="6720490" y="3703306"/>
            <a:ext cx="4343174" cy="411459"/>
          </a:xfrm>
          <a:prstGeom prst="roundRect">
            <a:avLst/>
          </a:prstGeom>
          <a:solidFill>
            <a:srgbClr val="F7F7F4"/>
          </a:solidFill>
          <a:ln w="9000">
            <a:solidFill>
              <a:srgbClr val="D9DEE5"/>
            </a:solidFill>
          </a:ln>
        </p:spPr>
        <p:txBody>
          <a:bodyPr wrap="square" lIns="18287" tIns="18287" rIns="18287" bIns="18287" anchor="ctr">
            <a:normAutofit/>
          </a:bodyPr>
          <a:lstStyle/>
          <a:p>
            <a:r>
              <a:rPr lang="zh-CN" altLang="en-US" sz="8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单步动力学可以被准确学习</a:t>
            </a:r>
            <a:endParaRPr lang="zh-CN" altLang="en-US" sz="820"/>
          </a:p>
        </p:txBody>
      </p:sp>
      <p:sp>
        <p:nvSpPr>
          <p:cNvPr id="32" name="Text"/>
          <p:cNvSpPr txBox="1"/>
          <p:nvPr/>
        </p:nvSpPr>
        <p:spPr>
          <a:xfrm>
            <a:off x="6720490" y="4233630"/>
            <a:ext cx="4343174" cy="411459"/>
          </a:xfrm>
          <a:prstGeom prst="roundRect">
            <a:avLst/>
          </a:prstGeom>
          <a:solidFill>
            <a:srgbClr val="F7F7F4"/>
          </a:solidFill>
          <a:ln w="9000">
            <a:solidFill>
              <a:srgbClr val="D9DEE5"/>
            </a:solidFill>
          </a:ln>
        </p:spPr>
        <p:txBody>
          <a:bodyPr wrap="square" lIns="18287" tIns="18287" rIns="18287" bIns="18287" anchor="ctr">
            <a:normAutofit/>
          </a:bodyPr>
          <a:lstStyle/>
          <a:p>
            <a:r>
              <a:rPr lang="zh-CN" altLang="en-US" sz="8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MLP 验证了数据生成、归一化和推理链路</a:t>
            </a:r>
            <a:endParaRPr lang="zh-CN" altLang="en-US" sz="820"/>
          </a:p>
        </p:txBody>
      </p:sp>
      <p:sp>
        <p:nvSpPr>
          <p:cNvPr id="33" name="Text"/>
          <p:cNvSpPr txBox="1"/>
          <p:nvPr/>
        </p:nvSpPr>
        <p:spPr>
          <a:xfrm>
            <a:off x="6720490" y="4763954"/>
            <a:ext cx="4343174" cy="411459"/>
          </a:xfrm>
          <a:prstGeom prst="roundRect">
            <a:avLst/>
          </a:prstGeom>
          <a:solidFill>
            <a:srgbClr val="F7F7F4"/>
          </a:solidFill>
          <a:ln w="9000">
            <a:solidFill>
              <a:srgbClr val="D9DEE5"/>
            </a:solidFill>
          </a:ln>
        </p:spPr>
        <p:txBody>
          <a:bodyPr wrap="square" lIns="18287" tIns="18287" rIns="18287" bIns="18287" anchor="ctr">
            <a:normAutofit/>
          </a:bodyPr>
          <a:lstStyle/>
          <a:p>
            <a:r>
              <a:rPr lang="zh-CN" altLang="en-US" sz="82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局限：没有显式历史依赖</a:t>
            </a:r>
            <a:endParaRPr lang="zh-CN" altLang="en-US" sz="82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"/>
          <p:cNvSpPr/>
          <p:nvPr/>
        </p:nvSpPr>
        <p:spPr>
          <a:xfrm>
            <a:off x="0" y="179"/>
            <a:ext cx="12191060" cy="6857643"/>
          </a:xfrm>
          <a:prstGeom prst="rect">
            <a:avLst/>
          </a:prstGeom>
          <a:solidFill>
            <a:srgbClr val="FBFBFA"/>
          </a:solidFill>
          <a:ln>
            <a:noFill/>
          </a:ln>
        </p:spPr>
      </p:sp>
      <p:sp>
        <p:nvSpPr>
          <p:cNvPr id="12" name="Shape"/>
          <p:cNvSpPr/>
          <p:nvPr/>
        </p:nvSpPr>
        <p:spPr>
          <a:xfrm>
            <a:off x="0" y="179"/>
            <a:ext cx="12191060" cy="164583"/>
          </a:xfrm>
          <a:prstGeom prst="rect">
            <a:avLst/>
          </a:prstGeom>
          <a:solidFill>
            <a:srgbClr val="9E1B32"/>
          </a:solidFill>
          <a:ln>
            <a:noFill/>
          </a:ln>
        </p:spPr>
      </p:sp>
      <p:sp>
        <p:nvSpPr>
          <p:cNvPr id="13" name="Title"/>
          <p:cNvSpPr txBox="1"/>
          <p:nvPr/>
        </p:nvSpPr>
        <p:spPr>
          <a:xfrm>
            <a:off x="566898" y="311058"/>
            <a:ext cx="8320607" cy="502894"/>
          </a:xfrm>
          <a:prstGeom prst="rect">
            <a:avLst/>
          </a:prstGeom>
          <a:noFill/>
          <a:ln>
            <a:noFill/>
          </a:ln>
        </p:spPr>
        <p:txBody>
          <a:bodyPr wrap="square" lIns="73148" tIns="73148" rIns="73148" bIns="73148" anchor="t">
            <a:normAutofit fontScale="80000"/>
          </a:bodyPr>
          <a:lstStyle/>
          <a:p>
            <a:r>
              <a:rPr lang="zh-CN" altLang="en-US" sz="265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统一数据字段</a:t>
            </a:r>
            <a:endParaRPr lang="zh-CN" altLang="en-US" sz="2650"/>
          </a:p>
        </p:txBody>
      </p:sp>
      <p:sp>
        <p:nvSpPr>
          <p:cNvPr id="14" name="Section"/>
          <p:cNvSpPr txBox="1"/>
          <p:nvPr/>
        </p:nvSpPr>
        <p:spPr>
          <a:xfrm>
            <a:off x="9280677" y="347632"/>
            <a:ext cx="1965858" cy="347454"/>
          </a:xfrm>
          <a:prstGeom prst="rect">
            <a:avLst/>
          </a:prstGeom>
          <a:noFill/>
          <a:ln>
            <a:noFill/>
          </a:ln>
        </p:spPr>
        <p:txBody>
          <a:bodyPr wrap="square" lIns="73148" tIns="73148" rIns="73148" bIns="73148" anchor="t">
            <a:normAutofit/>
          </a:bodyPr>
          <a:lstStyle/>
          <a:p>
            <a:pPr algn="r"/>
            <a:r>
              <a:rPr lang="zh-CN" altLang="en-US" sz="1100" dirty="0" smtClean="0">
                <a:solidFill>
                  <a:srgbClr val="5A626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问题定义与机理基线</a:t>
            </a:r>
            <a:endParaRPr lang="zh-CN" altLang="en-US" sz="1100"/>
          </a:p>
        </p:txBody>
      </p:sp>
      <p:sp>
        <p:nvSpPr>
          <p:cNvPr id="15" name="Page"/>
          <p:cNvSpPr txBox="1"/>
          <p:nvPr/>
        </p:nvSpPr>
        <p:spPr>
          <a:xfrm>
            <a:off x="11292252" y="283628"/>
            <a:ext cx="566898" cy="411459"/>
          </a:xfrm>
          <a:prstGeom prst="roundRect">
            <a:avLst/>
          </a:prstGeom>
          <a:solidFill>
            <a:srgbClr val="9E1B32"/>
          </a:solidFill>
          <a:ln w="9000">
            <a:solidFill>
              <a:srgbClr val="9E1B32"/>
            </a:solidFill>
          </a:ln>
        </p:spPr>
        <p:txBody>
          <a:bodyPr wrap="square" lIns="9143" tIns="9143" rIns="9143" bIns="9143" anchor="ctr">
            <a:normAutofit/>
          </a:bodyPr>
          <a:lstStyle/>
          <a:p>
            <a:pPr algn="ctr"/>
            <a:r>
              <a:rPr lang="zh-CN" altLang="en-US" sz="135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10</a:t>
            </a:r>
            <a:endParaRPr lang="zh-CN" altLang="en-US" sz="1350"/>
          </a:p>
        </p:txBody>
      </p:sp>
      <p:sp>
        <p:nvSpPr>
          <p:cNvPr id="16" name="Footer"/>
          <p:cNvSpPr txBox="1"/>
          <p:nvPr/>
        </p:nvSpPr>
        <p:spPr>
          <a:xfrm>
            <a:off x="566898" y="5870321"/>
            <a:ext cx="5303244" cy="201158"/>
          </a:xfrm>
          <a:prstGeom prst="rect">
            <a:avLst/>
          </a:prstGeom>
          <a:noFill/>
          <a:ln>
            <a:noFill/>
          </a:ln>
        </p:spPr>
        <p:txBody>
          <a:bodyPr wrap="square" lIns="9143" tIns="9143" rIns="9143" bIns="9143" anchor="t">
            <a:normAutofit/>
          </a:bodyPr>
          <a:lstStyle/>
          <a:p>
            <a:r>
              <a:rPr lang="zh-CN" altLang="en-US" sz="850" dirty="0" smtClean="0">
                <a:solidFill>
                  <a:srgbClr val="8A929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World Model in Brake System  ·  Simulink / CarSim / GRU-PINN / MPC</a:t>
            </a:r>
            <a:endParaRPr lang="zh-CN" altLang="en-US" sz="85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"/>
              <p:cNvSpPr txBox="1"/>
              <p:nvPr/>
            </p:nvSpPr>
            <p:spPr>
              <a:xfrm>
                <a:off x="914352" y="1325990"/>
                <a:ext cx="2971645" cy="658334"/>
              </a:xfrm>
              <a:prstGeom prst="roundRect">
                <a:avLst/>
              </a:prstGeom>
              <a:solidFill>
                <a:srgbClr val="FFFFFF"/>
              </a:solidFill>
              <a:ln w="9000">
                <a:solidFill>
                  <a:srgbClr val="0F6B75"/>
                </a:solidFill>
              </a:ln>
            </p:spPr>
            <p:txBody>
              <a:bodyPr wrap="square" lIns="45717" tIns="45717" rIns="45717" bIns="45717" anchor="ctr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100"/>
                          </m:ctrlPr>
                        </m:sSubPr>
                        <m:e>
                          <m:r>
                            <a:rPr lang="en-US" sz="1800" dirty="0">
                              <a:solidFill>
                                <a:srgbClr val="0F6B75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𝑡𝑟𝑎𝑗𝑒𝑐𝑡𝑜𝑟𝑦</m:t>
                          </m:r>
                        </m:e>
                        <m:sub>
                          <m:r>
                            <a:rPr lang="en-US" sz="1225" dirty="0">
                              <a:solidFill>
                                <a:srgbClr val="0F6B75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𝑖𝑑</m:t>
                          </m:r>
                        </m:sub>
                      </m:sSub>
                    </m:oMath>
                  </m:oMathPara>
                </a14:m>
                <a:endParaRPr lang="en-US" sz="1800"/>
              </a:p>
            </p:txBody>
          </p:sp>
        </mc:Choice>
        <mc:Fallback>
          <p:sp>
            <p:nvSpPr>
              <p:cNvPr id="17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352" y="1325990"/>
                <a:ext cx="2971645" cy="658334"/>
              </a:xfrm>
              <a:prstGeom prst="roundRect">
                <a:avLst/>
              </a:prstGeom>
              <a:blipFill rotWithShape="1">
                <a:blip r:embed="rId1"/>
                <a:stretch>
                  <a:fillRect l="-169" t="-788" r="-156" b="-683"/>
                </a:stretch>
              </a:blipFill>
              <a:ln w="9000">
                <a:solidFill>
                  <a:srgbClr val="0F6B75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"/>
              <p:cNvSpPr txBox="1"/>
              <p:nvPr/>
            </p:nvSpPr>
            <p:spPr>
              <a:xfrm>
                <a:off x="4434609" y="1325990"/>
                <a:ext cx="2971645" cy="658334"/>
              </a:xfrm>
              <a:prstGeom prst="roundRect">
                <a:avLst/>
              </a:prstGeom>
              <a:solidFill>
                <a:srgbClr val="FFFFFF"/>
              </a:solidFill>
              <a:ln w="9000">
                <a:solidFill>
                  <a:srgbClr val="245C8A"/>
                </a:solidFill>
              </a:ln>
            </p:spPr>
            <p:txBody>
              <a:bodyPr wrap="square" lIns="45717" tIns="45717" rIns="45717" bIns="45717" anchor="ctr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dirty="0">
                          <a:solidFill>
                            <a:srgbClr val="245C8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𝑠𝑡𝑒𝑝</m:t>
                      </m:r>
                    </m:oMath>
                  </m:oMathPara>
                </a14:m>
                <a:endParaRPr lang="en-US" sz="1800"/>
              </a:p>
            </p:txBody>
          </p:sp>
        </mc:Choice>
        <mc:Fallback>
          <p:sp>
            <p:nvSpPr>
              <p:cNvPr id="18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4609" y="1325990"/>
                <a:ext cx="2971645" cy="658334"/>
              </a:xfrm>
              <a:prstGeom prst="roundRect">
                <a:avLst/>
              </a:prstGeom>
              <a:blipFill rotWithShape="1">
                <a:blip r:embed="rId2"/>
                <a:stretch>
                  <a:fillRect l="-163" t="-788" r="-141" b="-683"/>
                </a:stretch>
              </a:blipFill>
              <a:ln w="9000">
                <a:solidFill>
                  <a:srgbClr val="245C8A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"/>
              <p:cNvSpPr txBox="1"/>
              <p:nvPr/>
            </p:nvSpPr>
            <p:spPr>
              <a:xfrm>
                <a:off x="7954866" y="1325990"/>
                <a:ext cx="2971645" cy="658334"/>
              </a:xfrm>
              <a:prstGeom prst="roundRect">
                <a:avLst/>
              </a:prstGeom>
              <a:solidFill>
                <a:srgbClr val="FFFFFF"/>
              </a:solidFill>
              <a:ln w="9000">
                <a:solidFill>
                  <a:srgbClr val="9E1B32"/>
                </a:solidFill>
              </a:ln>
            </p:spPr>
            <p:txBody>
              <a:bodyPr wrap="square" lIns="45717" tIns="45717" rIns="45717" bIns="45717" anchor="ctr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100"/>
                          </m:ctrlPr>
                        </m:sSubPr>
                        <m:e>
                          <m:r>
                            <a:rPr lang="en-US" sz="1800" dirty="0">
                              <a:solidFill>
                                <a:srgbClr val="9E1B32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𝑡𝑖𝑚𝑒</m:t>
                          </m:r>
                        </m:e>
                        <m:sub>
                          <m:r>
                            <a:rPr lang="en-US" sz="1225" dirty="0">
                              <a:solidFill>
                                <a:srgbClr val="9E1B32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en-US" sz="1800"/>
              </a:p>
            </p:txBody>
          </p:sp>
        </mc:Choice>
        <mc:Fallback>
          <p:sp>
            <p:nvSpPr>
              <p:cNvPr id="19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4866" y="1325990"/>
                <a:ext cx="2971645" cy="658334"/>
              </a:xfrm>
              <a:prstGeom prst="roundRect">
                <a:avLst/>
              </a:prstGeom>
              <a:blipFill rotWithShape="1">
                <a:blip r:embed="rId3"/>
                <a:stretch>
                  <a:fillRect l="-178" t="-788" r="-147" b="-683"/>
                </a:stretch>
              </a:blipFill>
              <a:ln w="9000">
                <a:solidFill>
                  <a:srgbClr val="9E1B32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"/>
              <p:cNvSpPr txBox="1"/>
              <p:nvPr/>
            </p:nvSpPr>
            <p:spPr>
              <a:xfrm>
                <a:off x="914352" y="2359208"/>
                <a:ext cx="2971645" cy="658334"/>
              </a:xfrm>
              <a:prstGeom prst="roundRect">
                <a:avLst/>
              </a:prstGeom>
              <a:solidFill>
                <a:srgbClr val="FFFFFF"/>
              </a:solidFill>
              <a:ln w="9000">
                <a:solidFill>
                  <a:srgbClr val="0F6B75"/>
                </a:solidFill>
              </a:ln>
            </p:spPr>
            <p:txBody>
              <a:bodyPr wrap="square" lIns="45717" tIns="45717" rIns="45717" bIns="45717" anchor="ctr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100"/>
                          </m:ctrlPr>
                        </m:sSubPr>
                        <m:e>
                          <m:r>
                            <a:rPr lang="en-US" sz="1800" dirty="0">
                              <a:solidFill>
                                <a:srgbClr val="0F6B75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𝑣</m:t>
                          </m:r>
                        </m:e>
                        <m:sub>
                          <m:r>
                            <a:rPr lang="en-US" sz="1225" dirty="0">
                              <a:solidFill>
                                <a:srgbClr val="0F6B75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𝑚𝑝𝑠</m:t>
                          </m:r>
                        </m:sub>
                      </m:sSub>
                    </m:oMath>
                  </m:oMathPara>
                </a14:m>
                <a:endParaRPr lang="en-US" sz="1800"/>
              </a:p>
            </p:txBody>
          </p:sp>
        </mc:Choice>
        <mc:Fallback>
          <p:sp>
            <p:nvSpPr>
              <p:cNvPr id="20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352" y="2359208"/>
                <a:ext cx="2971645" cy="658334"/>
              </a:xfrm>
              <a:prstGeom prst="roundRect">
                <a:avLst/>
              </a:prstGeom>
              <a:blipFill rotWithShape="1">
                <a:blip r:embed="rId4"/>
                <a:stretch>
                  <a:fillRect l="-169" t="-799" r="-156" b="-672"/>
                </a:stretch>
              </a:blipFill>
              <a:ln w="9000">
                <a:solidFill>
                  <a:srgbClr val="0F6B75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"/>
              <p:cNvSpPr txBox="1"/>
              <p:nvPr/>
            </p:nvSpPr>
            <p:spPr>
              <a:xfrm>
                <a:off x="4434609" y="2359208"/>
                <a:ext cx="2971645" cy="658334"/>
              </a:xfrm>
              <a:prstGeom prst="roundRect">
                <a:avLst/>
              </a:prstGeom>
              <a:solidFill>
                <a:srgbClr val="FFFFFF"/>
              </a:solidFill>
              <a:ln w="9000">
                <a:solidFill>
                  <a:srgbClr val="245C8A"/>
                </a:solidFill>
              </a:ln>
            </p:spPr>
            <p:txBody>
              <a:bodyPr wrap="square" lIns="45717" tIns="45717" rIns="45717" bIns="45717" anchor="ctr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100"/>
                          </m:ctrlPr>
                        </m:sSubPr>
                        <m:e>
                          <m:r>
                            <a:rPr lang="en-US" sz="1800" dirty="0">
                              <a:solidFill>
                                <a:srgbClr val="245C8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𝑎</m:t>
                          </m:r>
                        </m:e>
                        <m:sub>
                          <m:r>
                            <a:rPr lang="en-US" sz="1225" dirty="0">
                              <a:solidFill>
                                <a:srgbClr val="245C8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𝑚𝑝𝑠</m:t>
                          </m:r>
                          <m:r>
                            <a:rPr lang="en-US" sz="1225" dirty="0">
                              <a:solidFill>
                                <a:srgbClr val="245C8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800"/>
              </a:p>
            </p:txBody>
          </p:sp>
        </mc:Choice>
        <mc:Fallback>
          <p:sp>
            <p:nvSpPr>
              <p:cNvPr id="21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4609" y="2359208"/>
                <a:ext cx="2971645" cy="658334"/>
              </a:xfrm>
              <a:prstGeom prst="roundRect">
                <a:avLst/>
              </a:prstGeom>
              <a:blipFill rotWithShape="1">
                <a:blip r:embed="rId5"/>
                <a:stretch>
                  <a:fillRect l="-163" t="-799" r="-141" b="-672"/>
                </a:stretch>
              </a:blipFill>
              <a:ln w="9000">
                <a:solidFill>
                  <a:srgbClr val="245C8A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"/>
              <p:cNvSpPr txBox="1"/>
              <p:nvPr/>
            </p:nvSpPr>
            <p:spPr>
              <a:xfrm>
                <a:off x="7954866" y="2359208"/>
                <a:ext cx="2971645" cy="658334"/>
              </a:xfrm>
              <a:prstGeom prst="roundRect">
                <a:avLst/>
              </a:prstGeom>
              <a:solidFill>
                <a:srgbClr val="FFFFFF"/>
              </a:solidFill>
              <a:ln w="9000">
                <a:solidFill>
                  <a:srgbClr val="9E1B32"/>
                </a:solidFill>
              </a:ln>
            </p:spPr>
            <p:txBody>
              <a:bodyPr wrap="square" lIns="45717" tIns="45717" rIns="45717" bIns="45717" anchor="ctr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100"/>
                          </m:ctrlPr>
                        </m:sSubPr>
                        <m:e>
                          <m:r>
                            <a:rPr lang="en-US" sz="1800" dirty="0">
                              <a:solidFill>
                                <a:srgbClr val="9E1B32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𝑝𝑟𝑒𝑠𝑠𝑢𝑟𝑒</m:t>
                          </m:r>
                        </m:e>
                        <m:sub>
                          <m:r>
                            <a:rPr lang="en-US" sz="1225" dirty="0">
                              <a:solidFill>
                                <a:srgbClr val="9E1B32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𝑀𝑃𝑎</m:t>
                          </m:r>
                        </m:sub>
                      </m:sSub>
                    </m:oMath>
                  </m:oMathPara>
                </a14:m>
                <a:endParaRPr lang="en-US" sz="1800"/>
              </a:p>
            </p:txBody>
          </p:sp>
        </mc:Choice>
        <mc:Fallback>
          <p:sp>
            <p:nvSpPr>
              <p:cNvPr id="22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4866" y="2359208"/>
                <a:ext cx="2971645" cy="658334"/>
              </a:xfrm>
              <a:prstGeom prst="roundRect">
                <a:avLst/>
              </a:prstGeom>
              <a:blipFill rotWithShape="1">
                <a:blip r:embed="rId6"/>
                <a:stretch>
                  <a:fillRect l="-178" t="-799" r="-147" b="-672"/>
                </a:stretch>
              </a:blipFill>
              <a:ln w="9000">
                <a:solidFill>
                  <a:srgbClr val="9E1B32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"/>
              <p:cNvSpPr txBox="1"/>
              <p:nvPr/>
            </p:nvSpPr>
            <p:spPr>
              <a:xfrm>
                <a:off x="914352" y="3392426"/>
                <a:ext cx="2971645" cy="658334"/>
              </a:xfrm>
              <a:prstGeom prst="roundRect">
                <a:avLst/>
              </a:prstGeom>
              <a:solidFill>
                <a:srgbClr val="FFFFFF"/>
              </a:solidFill>
              <a:ln w="9000">
                <a:solidFill>
                  <a:srgbClr val="0F6B75"/>
                </a:solidFill>
              </a:ln>
            </p:spPr>
            <p:txBody>
              <a:bodyPr wrap="square" lIns="45717" tIns="45717" rIns="45717" bIns="45717" anchor="ctr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dirty="0">
                          <a:solidFill>
                            <a:srgbClr val="0F6B75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𝜇</m:t>
                      </m:r>
                    </m:oMath>
                  </m:oMathPara>
                </a14:m>
                <a:endParaRPr lang="en-US" sz="1800"/>
              </a:p>
            </p:txBody>
          </p:sp>
        </mc:Choice>
        <mc:Fallback>
          <p:sp>
            <p:nvSpPr>
              <p:cNvPr id="23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352" y="3392426"/>
                <a:ext cx="2971645" cy="658334"/>
              </a:xfrm>
              <a:prstGeom prst="roundRect">
                <a:avLst/>
              </a:prstGeom>
              <a:blipFill rotWithShape="1">
                <a:blip r:embed="rId7"/>
                <a:stretch>
                  <a:fillRect l="-169" t="-811" r="-156" b="-661"/>
                </a:stretch>
              </a:blipFill>
              <a:ln w="9000">
                <a:solidFill>
                  <a:srgbClr val="0F6B75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"/>
              <p:cNvSpPr txBox="1"/>
              <p:nvPr/>
            </p:nvSpPr>
            <p:spPr>
              <a:xfrm>
                <a:off x="4434609" y="3392426"/>
                <a:ext cx="2971645" cy="658334"/>
              </a:xfrm>
              <a:prstGeom prst="roundRect">
                <a:avLst/>
              </a:prstGeom>
              <a:solidFill>
                <a:srgbClr val="FFFFFF"/>
              </a:solidFill>
              <a:ln w="9000">
                <a:solidFill>
                  <a:srgbClr val="245C8A"/>
                </a:solidFill>
              </a:ln>
            </p:spPr>
            <p:txBody>
              <a:bodyPr wrap="square" lIns="45717" tIns="45717" rIns="45717" bIns="45717" anchor="ctr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100"/>
                          </m:ctrlPr>
                        </m:sSubPr>
                        <m:e>
                          <m:r>
                            <a:rPr lang="en-US" sz="1800" dirty="0">
                              <a:solidFill>
                                <a:srgbClr val="245C8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𝑣</m:t>
                          </m:r>
                        </m:e>
                        <m:sub>
                          <m:r>
                            <a:rPr lang="en-US" sz="1225" dirty="0">
                              <a:solidFill>
                                <a:srgbClr val="245C8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𝑛𝑒𝑥𝑡</m:t>
                          </m:r>
                          <m:r>
                            <a:rPr lang="en-US" sz="1225" dirty="0">
                              <a:solidFill>
                                <a:srgbClr val="245C8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_</m:t>
                          </m:r>
                          <m:r>
                            <a:rPr lang="en-US" sz="1225" dirty="0">
                              <a:solidFill>
                                <a:srgbClr val="245C8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𝑚𝑝𝑠</m:t>
                          </m:r>
                        </m:sub>
                      </m:sSub>
                    </m:oMath>
                  </m:oMathPara>
                </a14:m>
                <a:endParaRPr lang="en-US" sz="1800"/>
              </a:p>
            </p:txBody>
          </p:sp>
        </mc:Choice>
        <mc:Fallback>
          <p:sp>
            <p:nvSpPr>
              <p:cNvPr id="24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4609" y="3392426"/>
                <a:ext cx="2971645" cy="658334"/>
              </a:xfrm>
              <a:prstGeom prst="roundRect">
                <a:avLst/>
              </a:prstGeom>
              <a:blipFill rotWithShape="1">
                <a:blip r:embed="rId8"/>
                <a:stretch>
                  <a:fillRect l="-163" t="-811" r="-141" b="-661"/>
                </a:stretch>
              </a:blipFill>
              <a:ln w="9000">
                <a:solidFill>
                  <a:srgbClr val="245C8A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"/>
              <p:cNvSpPr txBox="1"/>
              <p:nvPr/>
            </p:nvSpPr>
            <p:spPr>
              <a:xfrm>
                <a:off x="7954866" y="3392426"/>
                <a:ext cx="2971645" cy="658334"/>
              </a:xfrm>
              <a:prstGeom prst="roundRect">
                <a:avLst/>
              </a:prstGeom>
              <a:solidFill>
                <a:srgbClr val="FFFFFF"/>
              </a:solidFill>
              <a:ln w="9000">
                <a:solidFill>
                  <a:srgbClr val="9E1B32"/>
                </a:solidFill>
              </a:ln>
            </p:spPr>
            <p:txBody>
              <a:bodyPr wrap="square" lIns="45717" tIns="45717" rIns="45717" bIns="45717" anchor="ctr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100"/>
                          </m:ctrlPr>
                        </m:sSubPr>
                        <m:e>
                          <m:r>
                            <a:rPr lang="en-US" sz="1800" dirty="0">
                              <a:solidFill>
                                <a:srgbClr val="9E1B32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𝑎</m:t>
                          </m:r>
                        </m:e>
                        <m:sub>
                          <m:r>
                            <a:rPr lang="en-US" sz="1225" dirty="0">
                              <a:solidFill>
                                <a:srgbClr val="9E1B32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𝑛𝑒𝑥𝑡</m:t>
                          </m:r>
                          <m:r>
                            <a:rPr lang="en-US" sz="1225" dirty="0">
                              <a:solidFill>
                                <a:srgbClr val="9E1B32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_</m:t>
                          </m:r>
                          <m:r>
                            <a:rPr lang="en-US" sz="1225" dirty="0">
                              <a:solidFill>
                                <a:srgbClr val="9E1B32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𝑚𝑝𝑠</m:t>
                          </m:r>
                          <m:r>
                            <a:rPr lang="en-US" sz="1225" dirty="0">
                              <a:solidFill>
                                <a:srgbClr val="9E1B32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800"/>
              </a:p>
            </p:txBody>
          </p:sp>
        </mc:Choice>
        <mc:Fallback>
          <p:sp>
            <p:nvSpPr>
              <p:cNvPr id="25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4866" y="3392426"/>
                <a:ext cx="2971645" cy="658334"/>
              </a:xfrm>
              <a:prstGeom prst="roundRect">
                <a:avLst/>
              </a:prstGeom>
              <a:blipFill rotWithShape="1">
                <a:blip r:embed="rId9"/>
                <a:stretch>
                  <a:fillRect l="-178" t="-811" r="-147" b="-661"/>
                </a:stretch>
              </a:blipFill>
              <a:ln w="9000">
                <a:solidFill>
                  <a:srgbClr val="9E1B32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"/>
          <p:cNvSpPr txBox="1"/>
          <p:nvPr/>
        </p:nvSpPr>
        <p:spPr>
          <a:xfrm>
            <a:off x="960070" y="4681663"/>
            <a:ext cx="10012159" cy="685764"/>
          </a:xfrm>
          <a:prstGeom prst="roundRect">
            <a:avLst/>
          </a:prstGeom>
          <a:solidFill>
            <a:srgbClr val="F7F7F4"/>
          </a:solidFill>
          <a:ln w="9000">
            <a:solidFill>
              <a:srgbClr val="D9DEE5"/>
            </a:solidFill>
          </a:ln>
        </p:spPr>
        <p:txBody>
          <a:bodyPr wrap="square" lIns="54861" tIns="54861" rIns="54861" bIns="54861" anchor="ctr">
            <a:normAutofit/>
          </a:bodyPr>
          <a:lstStyle/>
          <a:p>
            <a:pPr algn="ctr"/>
            <a:r>
              <a:rPr lang="zh-CN" altLang="en-US" sz="1400" b="1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CarSim 附加字段可以保留，但训练接口只依赖统一输入输出字段。</a:t>
            </a:r>
            <a:endParaRPr lang="zh-CN" altLang="en-US" sz="1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pPr algn="ctr"/>
            <a:r>
              <a:rPr dirty="0">
                <a:ea typeface="微软雅黑" panose="020B0503020204020204" charset="-122"/>
              </a:rPr>
              <a:t>模型总架构</a:t>
            </a:r>
            <a:endParaRPr dirty="0">
              <a:ea typeface="微软雅黑" panose="020B050302020402020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823B-8CA8-4514-B4CF-AB75C2ECDFC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6" name="对象 7"/>
          <p:cNvSpPr txBox="1"/>
          <p:nvPr/>
        </p:nvSpPr>
        <p:spPr>
          <a:xfrm>
            <a:off x="6771733" y="1579220"/>
            <a:ext cx="241973" cy="287667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zh-CN" altLang="en-US" sz="2000" dirty="0"/>
          </a:p>
        </p:txBody>
      </p:sp>
      <p:grpSp>
        <p:nvGrpSpPr>
          <p:cNvPr id="30" name="组合 29"/>
          <p:cNvGrpSpPr/>
          <p:nvPr/>
        </p:nvGrpSpPr>
        <p:grpSpPr>
          <a:xfrm>
            <a:off x="382905" y="1746250"/>
            <a:ext cx="2475230" cy="4523740"/>
            <a:chOff x="723" y="3366"/>
            <a:chExt cx="3898" cy="5398"/>
          </a:xfrm>
        </p:grpSpPr>
        <p:sp>
          <p:nvSpPr>
            <p:cNvPr id="12" name="矩形 11"/>
            <p:cNvSpPr/>
            <p:nvPr/>
          </p:nvSpPr>
          <p:spPr>
            <a:xfrm>
              <a:off x="723" y="3366"/>
              <a:ext cx="3899" cy="539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14" name="组合 13"/>
            <p:cNvGrpSpPr/>
            <p:nvPr>
              <p:custDataLst>
                <p:tags r:id="rId1"/>
              </p:custDataLst>
            </p:nvPr>
          </p:nvGrpSpPr>
          <p:grpSpPr>
            <a:xfrm>
              <a:off x="913" y="5865"/>
              <a:ext cx="3441" cy="1799"/>
              <a:chOff x="913" y="4047"/>
              <a:chExt cx="4437" cy="5572"/>
            </a:xfrm>
          </p:grpSpPr>
          <p:sp>
            <p:nvSpPr>
              <p:cNvPr id="15" name="矩形 14"/>
              <p:cNvSpPr/>
              <p:nvPr>
                <p:custDataLst>
                  <p:tags r:id="rId2"/>
                </p:custDataLst>
              </p:nvPr>
            </p:nvSpPr>
            <p:spPr>
              <a:xfrm>
                <a:off x="913" y="4047"/>
                <a:ext cx="4437" cy="5572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3" name="文本框 12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913" y="4048"/>
                <a:ext cx="4436" cy="5502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p>
                <a:pPr algn="ctr">
                  <a:lnSpc>
                    <a:spcPct val="150000"/>
                  </a:lnSpc>
                </a:pPr>
                <a:r>
                  <a:rPr lang="zh-CN" b="1" dirty="0">
                    <a:latin typeface="微软雅黑" panose="020B0503020204020204" charset="-122"/>
                    <a:ea typeface="微软雅黑" panose="020B0503020204020204" charset="-122"/>
                  </a:rPr>
                  <a:t>整车动力学模型</a:t>
                </a:r>
                <a:endParaRPr lang="zh-CN" dirty="0"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</p:txBody>
          </p:sp>
        </p:grpSp>
        <p:grpSp>
          <p:nvGrpSpPr>
            <p:cNvPr id="25" name="组合 24"/>
            <p:cNvGrpSpPr/>
            <p:nvPr>
              <p:custDataLst>
                <p:tags r:id="rId4"/>
              </p:custDataLst>
            </p:nvPr>
          </p:nvGrpSpPr>
          <p:grpSpPr>
            <a:xfrm>
              <a:off x="913" y="3702"/>
              <a:ext cx="3443" cy="1799"/>
              <a:chOff x="913" y="4047"/>
              <a:chExt cx="3443" cy="5572"/>
            </a:xfrm>
            <a:solidFill>
              <a:schemeClr val="accent6">
                <a:lumMod val="40000"/>
                <a:lumOff val="60000"/>
              </a:schemeClr>
            </a:solidFill>
          </p:grpSpPr>
          <p:sp>
            <p:nvSpPr>
              <p:cNvPr id="19" name="矩形 18"/>
              <p:cNvSpPr/>
              <p:nvPr>
                <p:custDataLst>
                  <p:tags r:id="rId5"/>
                </p:custDataLst>
              </p:nvPr>
            </p:nvSpPr>
            <p:spPr>
              <a:xfrm>
                <a:off x="913" y="4047"/>
                <a:ext cx="3443" cy="5572"/>
              </a:xfrm>
              <a:prstGeom prst="rect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1" name="文本框 20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913" y="4048"/>
                <a:ext cx="3442" cy="5571"/>
              </a:xfrm>
              <a:prstGeom prst="rect">
                <a:avLst/>
              </a:prstGeom>
              <a:grpFill/>
              <a:ln w="38100">
                <a:solidFill>
                  <a:schemeClr val="tx1"/>
                </a:solidFill>
              </a:ln>
            </p:spPr>
            <p:txBody>
              <a:bodyPr wrap="square" rtlCol="0" anchor="ctr" anchorCtr="0">
                <a:noAutofit/>
              </a:bodyPr>
              <a:p>
                <a:pPr algn="ctr">
                  <a:lnSpc>
                    <a:spcPct val="150000"/>
                  </a:lnSpc>
                </a:pPr>
                <a:r>
                  <a:rPr lang="zh-CN" b="1" dirty="0">
                    <a:latin typeface="微软雅黑" panose="020B0503020204020204" charset="-122"/>
                    <a:ea typeface="微软雅黑" panose="020B0503020204020204" charset="-122"/>
                  </a:rPr>
                  <a:t>路面仿真模型</a:t>
                </a:r>
                <a:endParaRPr lang="zh-CN" dirty="0"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</p:txBody>
          </p:sp>
        </p:grpSp>
        <p:pic>
          <p:nvPicPr>
            <p:cNvPr id="22" name="图片 21"/>
            <p:cNvPicPr/>
            <p:nvPr/>
          </p:nvPicPr>
          <p:blipFill>
            <a:blip r:embed="rId7"/>
            <a:stretch>
              <a:fillRect/>
            </a:stretch>
          </p:blipFill>
          <p:spPr>
            <a:xfrm>
              <a:off x="822" y="7854"/>
              <a:ext cx="3710" cy="742"/>
            </a:xfrm>
            <a:prstGeom prst="rect">
              <a:avLst/>
            </a:prstGeom>
          </p:spPr>
        </p:pic>
      </p:grpSp>
      <p:grpSp>
        <p:nvGrpSpPr>
          <p:cNvPr id="23" name="组合 22"/>
          <p:cNvGrpSpPr/>
          <p:nvPr/>
        </p:nvGrpSpPr>
        <p:grpSpPr>
          <a:xfrm>
            <a:off x="4470400" y="4380230"/>
            <a:ext cx="2507615" cy="1896110"/>
            <a:chOff x="4929" y="3364"/>
            <a:chExt cx="4264" cy="3143"/>
          </a:xfrm>
        </p:grpSpPr>
        <p:sp>
          <p:nvSpPr>
            <p:cNvPr id="26" name="矩形 25"/>
            <p:cNvSpPr/>
            <p:nvPr/>
          </p:nvSpPr>
          <p:spPr>
            <a:xfrm>
              <a:off x="4929" y="3364"/>
              <a:ext cx="4264" cy="3143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4929" y="3365"/>
              <a:ext cx="4263" cy="1016"/>
            </a:xfrm>
            <a:prstGeom prst="rect">
              <a:avLst/>
            </a:prstGeom>
            <a:noFill/>
            <a:ln w="38100"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5">
                      <a:lumMod val="40000"/>
                      <a:lumOff val="60000"/>
                    </a:schemeClr>
                  </a:solidFill>
                </a14:hiddenFill>
              </a:ext>
            </a:extLst>
          </p:spPr>
          <p:txBody>
            <a:bodyPr wrap="square" rtlCol="0" anchor="t" anchorCtr="0">
              <a:noAutofit/>
            </a:bodyPr>
            <a:p>
              <a:pPr algn="ctr">
                <a:lnSpc>
                  <a:spcPct val="150000"/>
                </a:lnSpc>
              </a:pPr>
              <a:r>
                <a:rPr lang="zh-CN" b="1" dirty="0">
                  <a:latin typeface="微软雅黑" panose="020B0503020204020204" charset="-122"/>
                  <a:ea typeface="微软雅黑" panose="020B0503020204020204" charset="-122"/>
                </a:rPr>
                <a:t>线控制动模型</a:t>
              </a:r>
              <a:endParaRPr lang="zh-CN" dirty="0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pic>
          <p:nvPicPr>
            <p:cNvPr id="39" name="图片 38"/>
            <p:cNvPicPr/>
            <p:nvPr/>
          </p:nvPicPr>
          <p:blipFill>
            <a:blip r:embed="rId8"/>
            <a:srcRect l="17843" r="19837"/>
            <a:stretch>
              <a:fillRect/>
            </a:stretch>
          </p:blipFill>
          <p:spPr>
            <a:xfrm>
              <a:off x="5899" y="4117"/>
              <a:ext cx="2436" cy="2240"/>
            </a:xfrm>
            <a:prstGeom prst="rect">
              <a:avLst/>
            </a:prstGeom>
          </p:spPr>
        </p:pic>
      </p:grpSp>
      <p:grpSp>
        <p:nvGrpSpPr>
          <p:cNvPr id="32" name="组合 31"/>
          <p:cNvGrpSpPr/>
          <p:nvPr>
            <p:custDataLst>
              <p:tags r:id="rId9"/>
            </p:custDataLst>
          </p:nvPr>
        </p:nvGrpSpPr>
        <p:grpSpPr>
          <a:xfrm>
            <a:off x="8381365" y="1748790"/>
            <a:ext cx="2948940" cy="4528185"/>
            <a:chOff x="913" y="4047"/>
            <a:chExt cx="3443" cy="5572"/>
          </a:xfrm>
          <a:solidFill>
            <a:schemeClr val="accent6">
              <a:lumMod val="40000"/>
              <a:lumOff val="60000"/>
            </a:schemeClr>
          </a:solidFill>
        </p:grpSpPr>
        <p:sp>
          <p:nvSpPr>
            <p:cNvPr id="33" name="矩形 32"/>
            <p:cNvSpPr/>
            <p:nvPr>
              <p:custDataLst>
                <p:tags r:id="rId10"/>
              </p:custDataLst>
            </p:nvPr>
          </p:nvSpPr>
          <p:spPr>
            <a:xfrm>
              <a:off x="913" y="4047"/>
              <a:ext cx="3443" cy="557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5" name="文本框 34"/>
            <p:cNvSpPr txBox="1"/>
            <p:nvPr>
              <p:custDataLst>
                <p:tags r:id="rId11"/>
              </p:custDataLst>
            </p:nvPr>
          </p:nvSpPr>
          <p:spPr>
            <a:xfrm>
              <a:off x="975" y="4163"/>
              <a:ext cx="3318" cy="1268"/>
            </a:xfrm>
            <a:prstGeom prst="rect">
              <a:avLst/>
            </a:prstGeom>
            <a:noFill/>
            <a:ln w="38100">
              <a:noFill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txBody>
            <a:bodyPr wrap="square" rtlCol="0" anchor="ctr" anchorCtr="0">
              <a:noAutofit/>
            </a:bodyPr>
            <a:p>
              <a:pPr algn="ctr">
                <a:lnSpc>
                  <a:spcPct val="150000"/>
                </a:lnSpc>
              </a:pPr>
              <a:r>
                <a:rPr lang="zh-CN" b="1" dirty="0">
                  <a:latin typeface="微软雅黑" panose="020B0503020204020204" charset="-122"/>
                  <a:ea typeface="微软雅黑" panose="020B0503020204020204" charset="-122"/>
                </a:rPr>
                <a:t>决策规划</a:t>
              </a:r>
              <a:r>
                <a:rPr lang="zh-CN" b="1" dirty="0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世界模型</a:t>
              </a:r>
              <a:endParaRPr lang="zh-CN" dirty="0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4480560" y="1748790"/>
            <a:ext cx="2479040" cy="1913864"/>
            <a:chOff x="5706" y="2267"/>
            <a:chExt cx="4160" cy="3145"/>
          </a:xfrm>
        </p:grpSpPr>
        <p:sp>
          <p:nvSpPr>
            <p:cNvPr id="37" name="矩形 36"/>
            <p:cNvSpPr/>
            <p:nvPr/>
          </p:nvSpPr>
          <p:spPr>
            <a:xfrm>
              <a:off x="5706" y="2267"/>
              <a:ext cx="4160" cy="3145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5706" y="2268"/>
              <a:ext cx="4159" cy="1017"/>
            </a:xfrm>
            <a:prstGeom prst="rect">
              <a:avLst/>
            </a:prstGeom>
            <a:noFill/>
            <a:ln w="38100"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5">
                      <a:lumMod val="40000"/>
                      <a:lumOff val="60000"/>
                    </a:schemeClr>
                  </a:solidFill>
                </a14:hiddenFill>
              </a:ext>
            </a:extLst>
          </p:spPr>
          <p:txBody>
            <a:bodyPr wrap="square" rtlCol="0" anchor="t" anchorCtr="0">
              <a:noAutofit/>
            </a:bodyPr>
            <a:p>
              <a:pPr algn="ctr">
                <a:lnSpc>
                  <a:spcPct val="150000"/>
                </a:lnSpc>
              </a:pPr>
              <a:r>
                <a:rPr lang="zh-CN" b="1" dirty="0">
                  <a:latin typeface="微软雅黑" panose="020B0503020204020204" charset="-122"/>
                  <a:ea typeface="微软雅黑" panose="020B0503020204020204" charset="-122"/>
                </a:rPr>
                <a:t>制动预测模型</a:t>
              </a:r>
              <a:endParaRPr lang="zh-CN" dirty="0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pic>
          <p:nvPicPr>
            <p:cNvPr id="53" name="图片 52"/>
            <p:cNvPicPr/>
            <p:nvPr/>
          </p:nvPicPr>
          <p:blipFill>
            <a:blip r:embed="rId12"/>
            <a:stretch>
              <a:fillRect/>
            </a:stretch>
          </p:blipFill>
          <p:spPr>
            <a:xfrm>
              <a:off x="6203" y="2984"/>
              <a:ext cx="3060" cy="2331"/>
            </a:xfrm>
            <a:prstGeom prst="rect">
              <a:avLst/>
            </a:prstGeom>
          </p:spPr>
        </p:pic>
      </p:grpSp>
      <p:cxnSp>
        <p:nvCxnSpPr>
          <p:cNvPr id="57" name="肘形连接符 56"/>
          <p:cNvCxnSpPr>
            <a:stCxn id="13" idx="3"/>
            <a:endCxn id="26" idx="1"/>
          </p:cNvCxnSpPr>
          <p:nvPr/>
        </p:nvCxnSpPr>
        <p:spPr>
          <a:xfrm>
            <a:off x="2687955" y="4584700"/>
            <a:ext cx="1782445" cy="743585"/>
          </a:xfrm>
          <a:prstGeom prst="bentConnector3">
            <a:avLst>
              <a:gd name="adj1" fmla="val 50018"/>
            </a:avLst>
          </a:prstGeom>
          <a:ln w="31750" cap="rnd">
            <a:solidFill>
              <a:prstClr val="black"/>
            </a:solidFill>
            <a:round/>
            <a:headEnd type="triangle" w="med" len="med"/>
            <a:tailEnd type="triangl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0" name="肘形连接符 59"/>
          <p:cNvCxnSpPr>
            <a:stCxn id="26" idx="3"/>
          </p:cNvCxnSpPr>
          <p:nvPr/>
        </p:nvCxnSpPr>
        <p:spPr>
          <a:xfrm flipV="1">
            <a:off x="6978015" y="4218305"/>
            <a:ext cx="1429385" cy="1109980"/>
          </a:xfrm>
          <a:prstGeom prst="bentConnector3">
            <a:avLst>
              <a:gd name="adj1" fmla="val 50022"/>
            </a:avLst>
          </a:prstGeom>
          <a:ln w="31750" cap="rnd">
            <a:solidFill>
              <a:prstClr val="black"/>
            </a:solidFill>
            <a:round/>
            <a:headEnd type="triangle" w="med" len="med"/>
            <a:tailEnd type="triangl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1" name="肘形连接符 60"/>
          <p:cNvCxnSpPr>
            <a:stCxn id="21" idx="2"/>
            <a:endCxn id="13" idx="0"/>
          </p:cNvCxnSpPr>
          <p:nvPr/>
        </p:nvCxnSpPr>
        <p:spPr>
          <a:xfrm rot="5400000">
            <a:off x="1443355" y="3687445"/>
            <a:ext cx="304800" cy="3175"/>
          </a:xfrm>
          <a:prstGeom prst="bentConnector3">
            <a:avLst>
              <a:gd name="adj1" fmla="val 49896"/>
            </a:avLst>
          </a:prstGeom>
          <a:ln w="31750" cap="rnd">
            <a:solidFill>
              <a:prstClr val="black"/>
            </a:solidFill>
            <a:round/>
            <a:headEnd type="triangle" w="med" len="med"/>
            <a:tailEnd type="triangl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2" name="肘形连接符 61"/>
          <p:cNvCxnSpPr>
            <a:stCxn id="37" idx="3"/>
          </p:cNvCxnSpPr>
          <p:nvPr/>
        </p:nvCxnSpPr>
        <p:spPr>
          <a:xfrm>
            <a:off x="6959600" y="2705735"/>
            <a:ext cx="1436370" cy="1073785"/>
          </a:xfrm>
          <a:prstGeom prst="bentConnector3">
            <a:avLst>
              <a:gd name="adj1" fmla="val 50000"/>
            </a:avLst>
          </a:prstGeom>
          <a:ln w="31750" cap="rnd">
            <a:solidFill>
              <a:prstClr val="black"/>
            </a:solidFill>
            <a:round/>
            <a:headEnd type="triangle" w="med" len="med"/>
            <a:tailEnd type="triangl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3" name="肘形连接符 62"/>
          <p:cNvCxnSpPr>
            <a:stCxn id="37" idx="2"/>
            <a:endCxn id="27" idx="0"/>
          </p:cNvCxnSpPr>
          <p:nvPr/>
        </p:nvCxnSpPr>
        <p:spPr>
          <a:xfrm rot="5400000" flipV="1">
            <a:off x="5362893" y="4019868"/>
            <a:ext cx="718185" cy="3810"/>
          </a:xfrm>
          <a:prstGeom prst="bentConnector3">
            <a:avLst>
              <a:gd name="adj1" fmla="val 50000"/>
            </a:avLst>
          </a:prstGeom>
          <a:ln w="31750" cap="rnd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4" name="文本框 63"/>
          <p:cNvSpPr txBox="1"/>
          <p:nvPr/>
        </p:nvSpPr>
        <p:spPr>
          <a:xfrm>
            <a:off x="4793615" y="3837305"/>
            <a:ext cx="8369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训练</a:t>
            </a:r>
            <a:endParaRPr lang="zh-CN" altLang="en-US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6922135" y="2289175"/>
            <a:ext cx="99504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当前状态</a:t>
            </a:r>
            <a:endParaRPr lang="zh-CN" altLang="en-US" sz="1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6976110" y="2873375"/>
            <a:ext cx="7175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下一时刻状态</a:t>
            </a:r>
            <a:endParaRPr lang="zh-CN" altLang="en-US" sz="1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7078980" y="4584700"/>
            <a:ext cx="602615" cy="5219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制动信号</a:t>
            </a:r>
            <a:endParaRPr lang="zh-CN" altLang="en-US" sz="1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3611245" y="4695190"/>
            <a:ext cx="7581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制动减速度</a:t>
            </a:r>
            <a:endParaRPr lang="zh-CN" altLang="en-US" sz="1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3" name="文本框 72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8422640" y="2595245"/>
                <a:ext cx="2898775" cy="3533140"/>
              </a:xfrm>
              <a:prstGeom prst="rect">
                <a:avLst/>
              </a:prstGeom>
              <a:noFill/>
              <a:ln w="38100">
                <a:noFill/>
              </a:ln>
              <a:extLst>
                <a:ext uri="{909E8E84-426E-40DD-AFC4-6F175D3DCCD1}">
                  <a14:hiddenFill xmlns:a14="http://schemas.microsoft.com/office/drawing/2010/main">
                    <a:grpFill/>
                  </a14:hiddenFill>
                </a:ext>
              </a:extLst>
            </p:spPr>
            <p:txBody>
              <a:bodyPr wrap="square" rtlCol="0" anchor="ctr" anchorCtr="0">
                <a:noAutofit/>
              </a:bodyPr>
              <a:p>
                <a:pPr marL="285750" indent="-285750" algn="l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dirty="0">
                    <a:latin typeface="微软雅黑" panose="020B0503020204020204" charset="-122"/>
                    <a:ea typeface="微软雅黑" panose="020B0503020204020204" charset="-122"/>
                  </a:rPr>
                  <a:t>系统状态：车速、距离</a:t>
                </a:r>
                <a:endParaRPr lang="zh-CN" dirty="0"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pPr marL="285750" indent="-285750" algn="l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dirty="0">
                    <a:latin typeface="微软雅黑" panose="020B0503020204020204" charset="-122"/>
                    <a:ea typeface="微软雅黑" panose="020B0503020204020204" charset="-122"/>
                  </a:rPr>
                  <a:t>代价函数：考虑制动减速度、制动距离等</a:t>
                </a:r>
                <a:endParaRPr lang="zh-CN" dirty="0"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  <a:p>
                <a:pPr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>
                          <a:latin typeface="Cambria Math" panose="02040503050406030204" pitchFamily="18" charset="0"/>
                          <a:ea typeface="微软雅黑" panose="020B0503020204020204" charset="-122"/>
                          <a:cs typeface="Cambria Math" panose="02040503050406030204" pitchFamily="18" charset="0"/>
                          <a:sym typeface="+mn-ea"/>
                        </a:rPr>
                        <m:t>𝐽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ea typeface="微软雅黑" panose="020B0503020204020204" charset="-122"/>
                          <a:cs typeface="Cambria Math" panose="02040503050406030204" pitchFamily="18" charset="0"/>
                          <a:sym typeface="+mn-ea"/>
                        </a:rPr>
                        <m:t>=</m:t>
                      </m:r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  <a:sym typeface="+mn-ea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  <a:sym typeface="+mn-ea"/>
                            </a:rPr>
                            <m:t>𝜔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  <a:sym typeface="+mn-ea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  <a:sym typeface="+mn-ea"/>
                            </a:rPr>
                          </m:ctrlPr>
                        </m:sSup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  <a:sym typeface="+mn-ea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charset="-122"/>
                                  <a:cs typeface="Cambria Math" panose="02040503050406030204" pitchFamily="18" charset="0"/>
                                  <a:sym typeface="+mn-ea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charset="-122"/>
                                  <a:cs typeface="Cambria Math" panose="02040503050406030204" pitchFamily="18" charset="0"/>
                                  <a:sym typeface="+mn-ea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charset="-122"/>
                                  <a:cs typeface="Cambria Math" panose="02040503050406030204" pitchFamily="18" charset="0"/>
                                  <a:sym typeface="+mn-ea"/>
                                </a:rPr>
                                <m:t>𝑓</m:t>
                              </m:r>
                            </m:sub>
                          </m:sSub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  <a:sym typeface="+mn-ea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charset="-122"/>
                                  <a:cs typeface="Cambria Math" panose="02040503050406030204" pitchFamily="18" charset="0"/>
                                  <a:sym typeface="+mn-ea"/>
                                </a:rPr>
                              </m:ctrlPr>
                            </m:sSub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charset="-122"/>
                                  <a:cs typeface="Cambria Math" panose="02040503050406030204" pitchFamily="18" charset="0"/>
                                  <a:sym typeface="+mn-ea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微软雅黑" panose="020B0503020204020204" charset="-122"/>
                                  <a:cs typeface="Cambria Math" panose="02040503050406030204" pitchFamily="18" charset="0"/>
                                  <a:sym typeface="+mn-ea"/>
                                </a:rPr>
                                <m:t>𝑠𝑎𝑓𝑒</m:t>
                              </m:r>
                            </m:sub>
                          </m:sSub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  <a:sym typeface="+mn-ea"/>
                            </a:rPr>
                            <m:t>)</m:t>
                          </m:r>
                        </m:e>
                        <m:sup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  <a:sym typeface="+mn-ea"/>
                            </a:rPr>
                            <m:t>2</m:t>
                          </m:r>
                        </m:sup>
                      </m:sSup>
                      <m:r>
                        <a:rPr lang="en-US" altLang="zh-CN" i="1" dirty="0">
                          <a:latin typeface="Cambria Math" panose="02040503050406030204" pitchFamily="18" charset="0"/>
                          <a:ea typeface="微软雅黑" panose="020B0503020204020204" charset="-122"/>
                          <a:cs typeface="Cambria Math" panose="02040503050406030204" pitchFamily="18" charset="0"/>
                          <a:sym typeface="+mn-ea"/>
                        </a:rPr>
                        <m:t>+</m:t>
                      </m:r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  <a:sym typeface="+mn-ea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  <a:sym typeface="+mn-ea"/>
                            </a:rPr>
                            <m:t>𝜔</m:t>
                          </m:r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  <a:sym typeface="+mn-ea"/>
                            </a:rPr>
                            <m:t>2</m:t>
                          </m:r>
                        </m:sub>
                      </m:sSub>
                      <m:r>
                        <a:rPr lang="en-US" altLang="zh-CN" i="1" dirty="0">
                          <a:latin typeface="Cambria Math" panose="02040503050406030204" pitchFamily="18" charset="0"/>
                          <a:ea typeface="微软雅黑" panose="020B0503020204020204" charset="-122"/>
                          <a:cs typeface="Cambria Math" panose="02040503050406030204" pitchFamily="18" charset="0"/>
                          <a:sym typeface="+mn-ea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CN" dirty="0">
                          <a:latin typeface="Cambria Math" panose="02040503050406030204" pitchFamily="18" charset="0"/>
                          <a:ea typeface="微软雅黑" panose="020B0503020204020204" charset="-122"/>
                          <a:cs typeface="Cambria Math" panose="02040503050406030204" pitchFamily="18" charset="0"/>
                          <a:sym typeface="+mn-ea"/>
                        </a:rPr>
                        <m:t>max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ea typeface="微软雅黑" panose="020B0503020204020204" charset="-122"/>
                          <a:cs typeface="Cambria Math" panose="02040503050406030204" pitchFamily="18" charset="0"/>
                          <a:sym typeface="+mn-ea"/>
                        </a:rPr>
                        <m:t>(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  <a:sym typeface="+mn-ea"/>
                            </a:rPr>
                          </m:ctrlPr>
                        </m:d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  <a:sym typeface="+mn-ea"/>
                            </a:rPr>
                            <m:t>𝑎</m:t>
                          </m:r>
                        </m:e>
                      </m:d>
                      <m:r>
                        <a:rPr lang="en-US" altLang="zh-CN" i="1" dirty="0">
                          <a:latin typeface="Cambria Math" panose="02040503050406030204" pitchFamily="18" charset="0"/>
                          <a:ea typeface="微软雅黑" panose="020B0503020204020204" charset="-122"/>
                          <a:cs typeface="Cambria Math" panose="02040503050406030204" pitchFamily="18" charset="0"/>
                          <a:sym typeface="+mn-ea"/>
                        </a:rPr>
                        <m:t>)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ea typeface="微软雅黑" panose="020B0503020204020204" charset="-122"/>
                          <a:cs typeface="Cambria Math" panose="02040503050406030204" pitchFamily="18" charset="0"/>
                          <a:sym typeface="+mn-ea"/>
                        </a:rPr>
                        <m:t>)</m:t>
                      </m:r>
                    </m:oMath>
                  </m:oMathPara>
                </a14:m>
                <a:endParaRPr lang="en-US" altLang="zh-CN" i="1" dirty="0">
                  <a:latin typeface="Cambria Math" panose="02040503050406030204" pitchFamily="18" charset="0"/>
                  <a:ea typeface="微软雅黑" panose="020B0503020204020204" charset="-122"/>
                  <a:cs typeface="Cambria Math" panose="02040503050406030204" pitchFamily="18" charset="0"/>
                  <a:sym typeface="+mn-ea"/>
                </a:endParaRPr>
              </a:p>
              <a:p>
                <a:pPr marL="285750" indent="-285750" algn="l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dirty="0"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制动约束边界条件</a:t>
                </a:r>
                <a:endParaRPr lang="zh-CN" altLang="en-US" dirty="0"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</p:txBody>
          </p:sp>
        </mc:Choice>
        <mc:Fallback>
          <p:sp>
            <p:nvSpPr>
              <p:cNvPr id="73" name="文本框 72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4"/>
                </p:custDataLst>
              </p:nvPr>
            </p:nvSpPr>
            <p:spPr>
              <a:xfrm>
                <a:off x="8422640" y="2595245"/>
                <a:ext cx="2898775" cy="3533140"/>
              </a:xfrm>
              <a:prstGeom prst="rect">
                <a:avLst/>
              </a:prstGeom>
              <a:blipFill rotWithShape="1">
                <a:blip r:embed="rId15"/>
                <a:stretch>
                  <a:fillRect/>
                </a:stretch>
              </a:blipFill>
              <a:ln w="38100">
                <a:noFill/>
              </a:ln>
              <a:extLst>
                <a:ext uri="{909E8E84-426E-40DD-AFC4-6F175D3DCCD1}">
                  <a14:hiddenFill xmlns:a14="http://schemas.microsoft.com/office/drawing/2010/main">
                    <a:grpFill/>
                  </a14:hiddenFill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文本框 73"/>
          <p:cNvSpPr txBox="1"/>
          <p:nvPr/>
        </p:nvSpPr>
        <p:spPr>
          <a:xfrm>
            <a:off x="1625600" y="3535680"/>
            <a:ext cx="12592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路面附着系数</a:t>
            </a:r>
            <a:endParaRPr lang="zh-CN" altLang="en-US" sz="1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75" name="肘形连接符 74"/>
          <p:cNvCxnSpPr>
            <a:stCxn id="37" idx="1"/>
          </p:cNvCxnSpPr>
          <p:nvPr/>
        </p:nvCxnSpPr>
        <p:spPr>
          <a:xfrm rot="10800000" flipV="1">
            <a:off x="2687320" y="2705735"/>
            <a:ext cx="1793240" cy="1718310"/>
          </a:xfrm>
          <a:prstGeom prst="bentConnector3">
            <a:avLst>
              <a:gd name="adj1" fmla="val 49965"/>
            </a:avLst>
          </a:prstGeom>
          <a:ln w="31750" cap="rnd">
            <a:solidFill>
              <a:srgbClr val="FF0000"/>
            </a:solidFill>
            <a:round/>
            <a:headEnd type="triangle" w="med" len="med"/>
            <a:tailEnd type="triangl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6" name="文本框 75"/>
          <p:cNvSpPr txBox="1"/>
          <p:nvPr/>
        </p:nvSpPr>
        <p:spPr>
          <a:xfrm>
            <a:off x="3617595" y="3395345"/>
            <a:ext cx="8369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训练</a:t>
            </a:r>
            <a:endParaRPr lang="zh-CN" altLang="en-US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11474637" y="6343656"/>
            <a:ext cx="691768" cy="422214"/>
          </a:xfrm>
        </p:spPr>
        <p:txBody>
          <a:bodyPr/>
          <a:lstStyle/>
          <a:p>
            <a:fld id="{ECC5823B-8CA8-4514-B4CF-AB75C2ECDFC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Contents</a:t>
            </a:r>
            <a:endParaRPr lang="en-US" altLang="zh-CN" sz="3600" dirty="0"/>
          </a:p>
        </p:txBody>
      </p:sp>
      <p:grpSp>
        <p:nvGrpSpPr>
          <p:cNvPr id="4" name="组合 3"/>
          <p:cNvGrpSpPr/>
          <p:nvPr>
            <p:custDataLst>
              <p:tags r:id="rId1"/>
            </p:custDataLst>
          </p:nvPr>
        </p:nvGrpSpPr>
        <p:grpSpPr>
          <a:xfrm>
            <a:off x="2855491" y="2060921"/>
            <a:ext cx="6237287" cy="683968"/>
            <a:chOff x="1350356" y="1945292"/>
            <a:chExt cx="6868074" cy="582961"/>
          </a:xfrm>
        </p:grpSpPr>
        <p:sp>
          <p:nvSpPr>
            <p:cNvPr id="5" name="MH_Number_1"/>
            <p:cNvSpPr/>
            <p:nvPr>
              <p:custDataLst>
                <p:tags r:id="rId2"/>
              </p:custDataLst>
            </p:nvPr>
          </p:nvSpPr>
          <p:spPr>
            <a:xfrm>
              <a:off x="1350356" y="1945295"/>
              <a:ext cx="859292" cy="582958"/>
            </a:xfrm>
            <a:prstGeom prst="roundRect">
              <a:avLst>
                <a:gd name="adj" fmla="val 7615"/>
              </a:avLst>
            </a:prstGeom>
            <a:solidFill>
              <a:srgbClr val="0070C0"/>
            </a:solid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500" b="1" kern="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一</a:t>
              </a:r>
              <a:endParaRPr lang="zh-CN" altLang="en-US" sz="2500" b="1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6" name="MH_Entry_1"/>
            <p:cNvSpPr/>
            <p:nvPr>
              <p:custDataLst>
                <p:tags r:id="rId3"/>
              </p:custDataLst>
            </p:nvPr>
          </p:nvSpPr>
          <p:spPr>
            <a:xfrm>
              <a:off x="2478265" y="1945292"/>
              <a:ext cx="5740165" cy="582958"/>
            </a:xfrm>
            <a:prstGeom prst="roundRect">
              <a:avLst>
                <a:gd name="adj" fmla="val 9124"/>
              </a:avLst>
            </a:prstGeom>
            <a:solidFill>
              <a:srgbClr val="0070C0">
                <a:alpha val="14902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>
              <a:norm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500" b="1" dirty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  <a:sym typeface="+mn-ea"/>
                </a:rPr>
                <a:t>问题定义与机理基线</a:t>
              </a:r>
              <a:endParaRPr lang="zh-CN" altLang="en-US" sz="25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</p:grpSp>
      <p:sp>
        <p:nvSpPr>
          <p:cNvPr id="12" name="MH_Entry_1"/>
          <p:cNvSpPr/>
          <p:nvPr>
            <p:custDataLst>
              <p:tags r:id="rId4"/>
            </p:custDataLst>
          </p:nvPr>
        </p:nvSpPr>
        <p:spPr>
          <a:xfrm>
            <a:off x="3903142" y="3160409"/>
            <a:ext cx="5189585" cy="683859"/>
          </a:xfrm>
          <a:prstGeom prst="roundRect">
            <a:avLst>
              <a:gd name="adj" fmla="val 9124"/>
            </a:avLst>
          </a:prstGeom>
          <a:solidFill>
            <a:srgbClr val="0070C0">
              <a:alpha val="14902"/>
            </a:srgbClr>
          </a:solidFill>
          <a:ln w="25400" cap="flat" cmpd="sng" algn="ctr">
            <a:noFill/>
            <a:prstDash val="solid"/>
          </a:ln>
          <a:effectLst/>
        </p:spPr>
        <p:txBody>
          <a:bodyPr wrap="square" rtlCol="0" anchor="ctr">
            <a:normAutofit/>
          </a:bodyPr>
          <a:lstStyle/>
          <a:p>
            <a:pPr algn="ctr"/>
            <a:r>
              <a:rPr lang="en-US" altLang="zh-CN" sz="25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CarSim </a:t>
            </a:r>
            <a:r>
              <a:rPr lang="zh-CN" altLang="en-US" sz="25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数据与时序世界模型</a:t>
            </a:r>
            <a:endParaRPr lang="zh-CN" altLang="en-US" sz="2500" b="1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5" name="MH_Entry_1"/>
          <p:cNvSpPr/>
          <p:nvPr>
            <p:custDataLst>
              <p:tags r:id="rId5"/>
            </p:custDataLst>
          </p:nvPr>
        </p:nvSpPr>
        <p:spPr>
          <a:xfrm>
            <a:off x="3903142" y="4291920"/>
            <a:ext cx="5189585" cy="683859"/>
          </a:xfrm>
          <a:prstGeom prst="roundRect">
            <a:avLst>
              <a:gd name="adj" fmla="val 9124"/>
            </a:avLst>
          </a:prstGeom>
          <a:solidFill>
            <a:srgbClr val="0070C0">
              <a:alpha val="14902"/>
            </a:srgbClr>
          </a:solidFill>
          <a:ln w="25400" cap="flat" cmpd="sng" algn="ctr">
            <a:noFill/>
            <a:prstDash val="solid"/>
          </a:ln>
          <a:effectLst/>
        </p:spPr>
        <p:txBody>
          <a:bodyPr wrap="square" lIns="91435" tIns="45717" rIns="91435" bIns="45717" rtlCol="0" anchor="ctr">
            <a:norm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25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闭环规划与工程交付</a:t>
            </a:r>
            <a:endParaRPr lang="zh-CN" altLang="en-US" sz="2500" b="1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7" name="MH_Number_1"/>
          <p:cNvSpPr/>
          <p:nvPr>
            <p:custDataLst>
              <p:tags r:id="rId6"/>
            </p:custDataLst>
          </p:nvPr>
        </p:nvSpPr>
        <p:spPr>
          <a:xfrm>
            <a:off x="2855491" y="4291860"/>
            <a:ext cx="798350" cy="683964"/>
          </a:xfrm>
          <a:prstGeom prst="roundRect">
            <a:avLst>
              <a:gd name="adj" fmla="val 7615"/>
            </a:avLst>
          </a:prstGeom>
          <a:solidFill>
            <a:srgbClr val="0070C0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500" b="1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三</a:t>
            </a:r>
            <a:endParaRPr lang="zh-CN" altLang="en-US" sz="2500" b="1" kern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8" name="MH_Number_1"/>
          <p:cNvSpPr/>
          <p:nvPr>
            <p:custDataLst>
              <p:tags r:id="rId7"/>
            </p:custDataLst>
          </p:nvPr>
        </p:nvSpPr>
        <p:spPr>
          <a:xfrm>
            <a:off x="2855491" y="3176562"/>
            <a:ext cx="780371" cy="683964"/>
          </a:xfrm>
          <a:prstGeom prst="roundRect">
            <a:avLst>
              <a:gd name="adj" fmla="val 7615"/>
            </a:avLst>
          </a:prstGeom>
          <a:solidFill>
            <a:srgbClr val="FF000B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500" b="1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二</a:t>
            </a:r>
            <a:endParaRPr lang="zh-CN" altLang="en-US" sz="2500" b="1" kern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04_mechanism_sequence_example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395" y="1143000"/>
            <a:ext cx="6475095" cy="562229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pPr algn="ctr"/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时序建模数据：从单点到连续时间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823B-8CA8-4514-B4CF-AB75C2ECDFC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5" name="内容占位符 2"/>
          <p:cNvSpPr txBox="1"/>
          <p:nvPr/>
        </p:nvSpPr>
        <p:spPr>
          <a:xfrm>
            <a:off x="6599712" y="1189538"/>
            <a:ext cx="3168187" cy="472292"/>
          </a:xfrm>
          <a:prstGeom prst="rect">
            <a:avLst/>
          </a:prstGeom>
        </p:spPr>
        <p:txBody>
          <a:bodyPr vert="horz" lIns="89995" tIns="45717" rIns="91435" bIns="45717" rtlCol="0">
            <a:noAutofit/>
          </a:bodyPr>
          <a:lstStyle>
            <a:lvl1pPr marL="257175" indent="-257175" algn="l" defTabSz="685800" rtl="0" eaLnBrk="1" latinLnBrk="0" hangingPunct="1">
              <a:lnSpc>
                <a:spcPct val="11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q"/>
              <a:defRPr sz="2200" b="1" kern="1200" baseline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1pPr>
            <a:lvl2pPr marL="538480" indent="-250825" algn="l" defTabSz="685800" rtl="0" eaLnBrk="1" latinLnBrk="0" hangingPunct="1">
              <a:lnSpc>
                <a:spcPct val="110000"/>
              </a:lnSpc>
              <a:spcBef>
                <a:spcPts val="900"/>
              </a:spcBef>
              <a:buClrTx/>
              <a:buSzPct val="90000"/>
              <a:buFont typeface="Wingdings" panose="05000000000000000000" pitchFamily="2" charset="2"/>
              <a:buChar char="Ø"/>
              <a:defRPr lang="en-US" altLang="zh-CN" sz="2000" b="1" kern="1200" baseline="0" dirty="0" smtClean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2pPr>
            <a:lvl3pPr marL="808355" indent="-250825" algn="l" defTabSz="685800" rtl="0" eaLnBrk="1" latinLnBrk="0" hangingPunct="1">
              <a:lnSpc>
                <a:spcPct val="110000"/>
              </a:lnSpc>
              <a:spcBef>
                <a:spcPts val="300"/>
              </a:spcBef>
              <a:buClrTx/>
              <a:buSzPct val="80000"/>
              <a:buFont typeface="Arial" panose="020B0604020202020204" pitchFamily="34" charset="0"/>
              <a:buChar char="•"/>
              <a:defRPr lang="en-US" altLang="zh-CN" sz="2000" b="0" kern="1200" baseline="0" dirty="0" smtClean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500" kern="1200" baseline="0">
                <a:solidFill>
                  <a:schemeClr val="tx1"/>
                </a:solidFill>
                <a:latin typeface="Arial Unicode MS" panose="020B0604020202020204" pitchFamily="34" charset="-122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500" kern="1200" baseline="0">
                <a:solidFill>
                  <a:schemeClr val="tx1"/>
                </a:solidFill>
                <a:latin typeface="Arial Unicode MS" panose="020B0604020202020204" pitchFamily="34" charset="-122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 时序建模数据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46" name="对象 7"/>
          <p:cNvSpPr txBox="1"/>
          <p:nvPr/>
        </p:nvSpPr>
        <p:spPr>
          <a:xfrm>
            <a:off x="6771733" y="1579220"/>
            <a:ext cx="241973" cy="287667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zh-CN" altLang="en-US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8" name="文本框 47"/>
              <p:cNvSpPr txBox="1"/>
              <p:nvPr/>
            </p:nvSpPr>
            <p:spPr>
              <a:xfrm>
                <a:off x="6858000" y="1866900"/>
                <a:ext cx="5307965" cy="28613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 eaLnBrk="1" fontAlgn="auto" latinLnBrk="0" hangingPunct="1">
                  <a:lnSpc>
                    <a:spcPct val="150000"/>
                  </a:lnSpc>
                </a:pPr>
                <a:r>
                  <a:rPr lang="zh-CN" altLang="en-US" sz="2000" kern="0" dirty="0">
                    <a:solidFill>
                      <a:srgbClr val="00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默认时间步数</a:t>
                </a:r>
                <a:r>
                  <a:rPr lang="en-US" altLang="zh-CN" sz="2000" kern="0" dirty="0">
                    <a:solidFill>
                      <a:srgbClr val="00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i="1" kern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charset="-122"/>
                        <a:cs typeface="Cambria Math" panose="02040503050406030204" pitchFamily="18" charset="0"/>
                      </a:rPr>
                      <m:t>𝐾</m:t>
                    </m:r>
                    <m:r>
                      <a:rPr lang="en-US" altLang="zh-CN" sz="2000" i="1" kern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charset="-122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altLang="zh-CN" sz="2000" i="1" kern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微软雅黑" panose="020B0503020204020204" charset="-122"/>
                        <a:cs typeface="Cambria Math" panose="02040503050406030204" pitchFamily="18" charset="0"/>
                      </a:rPr>
                      <m:t>5</m:t>
                    </m:r>
                  </m:oMath>
                </a14:m>
                <a:endParaRPr lang="en-US" altLang="zh-CN" sz="2000" i="1" kern="0" dirty="0">
                  <a:solidFill>
                    <a:srgbClr val="000000"/>
                  </a:solidFill>
                  <a:latin typeface="Cambria Math" panose="02040503050406030204" pitchFamily="18" charset="0"/>
                  <a:ea typeface="微软雅黑" panose="020B0503020204020204" charset="-122"/>
                  <a:cs typeface="Cambria Math" panose="02040503050406030204" pitchFamily="18" charset="0"/>
                </a:endParaRPr>
              </a:p>
              <a:p>
                <a:pPr marL="0" indent="0" eaLnBrk="1" fontAlgn="auto" latinLnBrk="0" hangingPunct="1">
                  <a:lnSpc>
                    <a:spcPct val="150000"/>
                  </a:lnSpc>
                </a:pPr>
                <a:endParaRPr lang="en-US" altLang="zh-CN" sz="2000" i="1" kern="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pPr marL="0" indent="0" eaLnBrk="1" fontAlgn="auto" latinLnBrk="0" hangingPunct="1">
                  <a:lnSpc>
                    <a:spcPct val="150000"/>
                  </a:lnSpc>
                </a:pPr>
                <a:r>
                  <a:rPr lang="zh-CN" altLang="en-US" sz="2000" i="0" kern="0" dirty="0">
                    <a:solidFill>
                      <a:srgbClr val="00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状态特征：速度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brk/>
                          </m:rPr>
                          <a:rPr lang="en-US" altLang="zh-CN" sz="20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brk/>
                          </m:rPr>
                          <a:rPr lang="en-US" altLang="zh-CN" sz="20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2000" i="0" kern="0" dirty="0">
                    <a:solidFill>
                      <a:srgbClr val="00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、加速度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brk/>
                          </m:rPr>
                          <a:rPr lang="en-US" altLang="zh-CN" sz="20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m:rPr>
                            <m:brk/>
                          </m:rPr>
                          <a:rPr lang="en-US" altLang="zh-CN" sz="20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2000" i="0" kern="0" dirty="0">
                    <a:solidFill>
                      <a:srgbClr val="00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、压力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brk/>
                          </m:rPr>
                          <a:rPr lang="en-US" altLang="zh-CN" sz="20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m:rPr>
                            <m:brk/>
                          </m:rPr>
                          <a:rPr lang="en-US" altLang="zh-CN" sz="20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sz="2000" i="0" kern="0" dirty="0">
                    <a:solidFill>
                      <a:srgbClr val="00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、附着系数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m:rPr>
                            <m:brk/>
                          </m:rPr>
                          <a:rPr lang="en-US" altLang="zh-CN" sz="20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zh-CN" altLang="en-US" sz="2000" i="0" kern="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pPr marL="0" indent="0" eaLnBrk="1" fontAlgn="auto" latinLnBrk="0" hangingPunct="1">
                  <a:lnSpc>
                    <a:spcPct val="150000"/>
                  </a:lnSpc>
                </a:pPr>
                <a:endParaRPr lang="zh-CN" altLang="en-US" sz="2000" i="0" kern="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pPr marL="0" indent="0" eaLnBrk="1" fontAlgn="auto" latinLnBrk="0" hangingPunct="1">
                  <a:lnSpc>
                    <a:spcPct val="150000"/>
                  </a:lnSpc>
                </a:pPr>
                <a:r>
                  <a:rPr lang="zh-CN" altLang="en-US" sz="2000" i="0" kern="0" dirty="0">
                    <a:solidFill>
                      <a:srgbClr val="00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目标：下一时刻速度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brk/>
                          </m:rPr>
                          <a:rPr lang="en-US" altLang="zh-CN" sz="20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brk/>
                          </m:rPr>
                          <a:rPr lang="en-US" altLang="zh-CN" sz="20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brk/>
                          </m:rPr>
                          <a:rPr lang="en-US" altLang="zh-CN" sz="20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brk/>
                          </m:rPr>
                          <a:rPr lang="en-US" altLang="zh-CN" sz="20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000" i="0" kern="0" dirty="0">
                    <a:solidFill>
                      <a:srgbClr val="00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、加速度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brk/>
                          </m:rPr>
                          <a:rPr lang="en-US" altLang="zh-CN" sz="20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m:rPr>
                            <m:brk/>
                          </m:rPr>
                          <a:rPr lang="en-US" altLang="zh-CN" sz="20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brk/>
                          </m:rPr>
                          <a:rPr lang="en-US" altLang="zh-CN" sz="20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brk/>
                          </m:rPr>
                          <a:rPr lang="en-US" altLang="zh-CN" sz="2000" i="1" kern="0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zh-CN" altLang="en-US" sz="2000" i="0" kern="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mc:Choice>
        <mc:Fallback>
          <p:sp>
            <p:nvSpPr>
              <p:cNvPr id="48" name="文本框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0" y="1866900"/>
                <a:ext cx="5307965" cy="286131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ctr" anchorCtr="0">
            <a:normAutofit/>
          </a:bodyPr>
          <a:lstStyle/>
          <a:p>
            <a:pPr algn="ctr">
              <a:buClrTx/>
              <a:buSzTx/>
              <a:buFontTx/>
            </a:pPr>
            <a:r>
              <a:rPr sz="2800" dirty="0">
                <a:latin typeface="微软雅黑" panose="020B0503020204020204" charset="-122"/>
                <a:ea typeface="微软雅黑" panose="020B0503020204020204" charset="-122"/>
                <a:cs typeface="+mn-ea"/>
              </a:rPr>
              <a:t>CarSim联合仿真接口</a:t>
            </a:r>
            <a:endParaRPr sz="2800" dirty="0"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823B-8CA8-4514-B4CF-AB75C2ECDFC9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3" name="组合 2"/>
          <p:cNvGrpSpPr/>
          <p:nvPr/>
        </p:nvGrpSpPr>
        <p:grpSpPr>
          <a:xfrm>
            <a:off x="640080" y="1017905"/>
            <a:ext cx="10835640" cy="1649095"/>
            <a:chOff x="1008" y="2083"/>
            <a:chExt cx="17064" cy="2597"/>
          </a:xfrm>
        </p:grpSpPr>
        <p:sp>
          <p:nvSpPr>
            <p:cNvPr id="195" name="Shape 195"/>
            <p:cNvSpPr/>
            <p:nvPr/>
          </p:nvSpPr>
          <p:spPr>
            <a:xfrm>
              <a:off x="1008" y="2160"/>
              <a:ext cx="4392" cy="252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0E8A92"/>
              </a:solidFill>
            </a:ln>
          </p:spPr>
        </p:sp>
        <p:sp>
          <p:nvSpPr>
            <p:cNvPr id="196" name="Text 196"/>
            <p:cNvSpPr txBox="1"/>
            <p:nvPr/>
          </p:nvSpPr>
          <p:spPr>
            <a:xfrm>
              <a:off x="1181" y="2390"/>
              <a:ext cx="4046" cy="46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73152" tIns="36576" rIns="73152" bIns="36576" anchor="t"/>
            <a:lstStyle/>
            <a:p>
              <a:pPr algn="ctr">
                <a:lnSpc>
                  <a:spcPct val="108000"/>
                </a:lnSpc>
                <a:spcAft>
                  <a:spcPts val="500"/>
                </a:spcAft>
              </a:pPr>
              <a:r>
                <a:rPr lang="zh-CN" sz="2400" b="1" i="0">
                  <a:solidFill>
                    <a:srgbClr val="0E8A92"/>
                  </a:solidFill>
                  <a:latin typeface="微软雅黑" panose="020B0503020204020204" charset="-122"/>
                  <a:ea typeface="微软雅黑" panose="020B0503020204020204" charset="-122"/>
                </a:rPr>
                <a:t>当前数据源</a:t>
              </a:r>
              <a:endParaRPr lang="zh-CN" sz="2400" b="1" i="0">
                <a:solidFill>
                  <a:srgbClr val="0E8A92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97" name="Text 197"/>
            <p:cNvSpPr txBox="1"/>
            <p:nvPr/>
          </p:nvSpPr>
          <p:spPr>
            <a:xfrm>
              <a:off x="1035" y="3235"/>
              <a:ext cx="4164" cy="10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73152" tIns="36576" rIns="73152" bIns="36576" anchor="t">
              <a:noAutofit/>
            </a:bodyPr>
            <a:lstStyle/>
            <a:p>
              <a:pPr algn="ctr">
                <a:lnSpc>
                  <a:spcPct val="108000"/>
                </a:lnSpc>
                <a:spcAft>
                  <a:spcPts val="500"/>
                </a:spcAft>
              </a:pPr>
              <a:r>
                <a:rPr lang="zh-CN" sz="1800" b="0" i="0">
                  <a:solidFill>
                    <a:srgbClr val="607080"/>
                  </a:solidFill>
                  <a:latin typeface="微软雅黑" panose="020B0503020204020204" charset="-122"/>
                  <a:ea typeface="微软雅黑" panose="020B0503020204020204" charset="-122"/>
                </a:rPr>
                <a:t>自建 Simulink 机制模型
快速 · 可解释 · 可控</a:t>
              </a:r>
              <a:endParaRPr lang="zh-CN" sz="1800" b="0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98" name="Line 198"/>
            <p:cNvSpPr/>
            <p:nvPr/>
          </p:nvSpPr>
          <p:spPr>
            <a:xfrm>
              <a:off x="5472" y="3413"/>
              <a:ext cx="1800" cy="1"/>
            </a:xfrm>
            <a:prstGeom prst="line">
              <a:avLst/>
            </a:prstGeom>
            <a:ln w="38100">
              <a:solidFill>
                <a:srgbClr val="F2A93B"/>
              </a:solidFill>
              <a:tailEnd type="triangle"/>
            </a:ln>
          </p:spPr>
        </p:sp>
        <p:sp>
          <p:nvSpPr>
            <p:cNvPr id="199" name="Text 199"/>
            <p:cNvSpPr txBox="1"/>
            <p:nvPr/>
          </p:nvSpPr>
          <p:spPr>
            <a:xfrm>
              <a:off x="5587" y="2203"/>
              <a:ext cx="1555" cy="107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73152" tIns="36576" rIns="73152" bIns="36576" anchor="t">
              <a:noAutofit/>
            </a:bodyPr>
            <a:lstStyle/>
            <a:p>
              <a:pPr algn="ctr">
                <a:lnSpc>
                  <a:spcPct val="108000"/>
                </a:lnSpc>
                <a:spcAft>
                  <a:spcPts val="500"/>
                </a:spcAft>
              </a:pPr>
              <a:r>
                <a:rPr lang="zh-CN" sz="1800" b="1" i="0">
                  <a:solidFill>
                    <a:srgbClr val="F2A93B"/>
                  </a:solidFill>
                  <a:latin typeface="微软雅黑" panose="020B0503020204020204" charset="-122"/>
                  <a:ea typeface="微软雅黑" panose="020B0503020204020204" charset="-122"/>
                </a:rPr>
                <a:t>统一 CSV</a:t>
              </a:r>
              <a:endParaRPr lang="zh-CN" sz="1800" b="1" i="0">
                <a:solidFill>
                  <a:srgbClr val="F2A93B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00" name="Shape 200"/>
            <p:cNvSpPr/>
            <p:nvPr/>
          </p:nvSpPr>
          <p:spPr>
            <a:xfrm>
              <a:off x="7344" y="2160"/>
              <a:ext cx="4392" cy="252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F2A93B"/>
              </a:solidFill>
            </a:ln>
          </p:spPr>
        </p:sp>
        <p:sp>
          <p:nvSpPr>
            <p:cNvPr id="201" name="Text 201"/>
            <p:cNvSpPr txBox="1"/>
            <p:nvPr/>
          </p:nvSpPr>
          <p:spPr>
            <a:xfrm>
              <a:off x="7517" y="2390"/>
              <a:ext cx="4046" cy="71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73152" tIns="36576" rIns="73152" bIns="36576" anchor="t"/>
            <a:lstStyle/>
            <a:p>
              <a:pPr algn="ctr">
                <a:lnSpc>
                  <a:spcPct val="108000"/>
                </a:lnSpc>
                <a:spcAft>
                  <a:spcPts val="500"/>
                </a:spcAft>
              </a:pPr>
              <a:r>
                <a:rPr lang="zh-CN" sz="2400" b="1" i="0">
                  <a:solidFill>
                    <a:srgbClr val="F2A93B"/>
                  </a:solidFill>
                  <a:latin typeface="微软雅黑" panose="020B0503020204020204" charset="-122"/>
                  <a:ea typeface="微软雅黑" panose="020B0503020204020204" charset="-122"/>
                </a:rPr>
                <a:t>共享接口</a:t>
              </a:r>
              <a:endParaRPr lang="zh-CN" sz="2400" b="1" i="0">
                <a:solidFill>
                  <a:srgbClr val="F2A93B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02" name="Text 202"/>
            <p:cNvSpPr txBox="1"/>
            <p:nvPr/>
          </p:nvSpPr>
          <p:spPr>
            <a:xfrm>
              <a:off x="7546" y="3286"/>
              <a:ext cx="3989" cy="122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73152" tIns="36576" rIns="73152" bIns="36576" anchor="t">
              <a:normAutofit/>
            </a:bodyPr>
            <a:lstStyle/>
            <a:p>
              <a:pPr algn="ctr">
                <a:lnSpc>
                  <a:spcPct val="108000"/>
                </a:lnSpc>
                <a:spcAft>
                  <a:spcPts val="500"/>
                </a:spcAft>
              </a:pPr>
              <a:r>
                <a:rPr lang="zh-CN" sz="1800" b="0" i="0">
                  <a:solidFill>
                    <a:srgbClr val="607080"/>
                  </a:solidFill>
                  <a:latin typeface="微软雅黑" panose="020B0503020204020204" charset="-122"/>
                  <a:ea typeface="微软雅黑" panose="020B0503020204020204" charset="-122"/>
                </a:rPr>
                <a:t>trajectory_id / step
v, a, P, μ → next state</a:t>
              </a:r>
              <a:endParaRPr lang="zh-CN" sz="1800" b="0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03" name="Line 203"/>
            <p:cNvSpPr/>
            <p:nvPr/>
          </p:nvSpPr>
          <p:spPr>
            <a:xfrm>
              <a:off x="11808" y="3413"/>
              <a:ext cx="1800" cy="1"/>
            </a:xfrm>
            <a:prstGeom prst="line">
              <a:avLst/>
            </a:prstGeom>
            <a:ln w="38100">
              <a:solidFill>
                <a:srgbClr val="F2A93B"/>
              </a:solidFill>
              <a:tailEnd type="triangle"/>
            </a:ln>
          </p:spPr>
        </p:sp>
        <p:sp>
          <p:nvSpPr>
            <p:cNvPr id="204" name="Text 204"/>
            <p:cNvSpPr txBox="1"/>
            <p:nvPr/>
          </p:nvSpPr>
          <p:spPr>
            <a:xfrm>
              <a:off x="11923" y="2083"/>
              <a:ext cx="1555" cy="88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73152" tIns="36576" rIns="73152" bIns="36576" anchor="t">
              <a:noAutofit/>
            </a:bodyPr>
            <a:lstStyle/>
            <a:p>
              <a:pPr algn="ctr">
                <a:lnSpc>
                  <a:spcPct val="108000"/>
                </a:lnSpc>
                <a:spcAft>
                  <a:spcPts val="500"/>
                </a:spcAft>
              </a:pPr>
              <a:r>
                <a:rPr lang="zh-CN" sz="1800" b="1" i="0">
                  <a:solidFill>
                    <a:srgbClr val="F2A93B"/>
                  </a:solidFill>
                  <a:latin typeface="微软雅黑" panose="020B0503020204020204" charset="-122"/>
                  <a:ea typeface="微软雅黑" panose="020B0503020204020204" charset="-122"/>
                </a:rPr>
                <a:t>无缝</a:t>
              </a:r>
              <a:endParaRPr lang="zh-CN" sz="1800" b="1" i="0">
                <a:solidFill>
                  <a:srgbClr val="F2A93B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>
                <a:lnSpc>
                  <a:spcPct val="108000"/>
                </a:lnSpc>
                <a:spcAft>
                  <a:spcPts val="500"/>
                </a:spcAft>
              </a:pPr>
              <a:r>
                <a:rPr lang="zh-CN" sz="1800" b="1" i="0">
                  <a:solidFill>
                    <a:srgbClr val="F2A93B"/>
                  </a:solidFill>
                  <a:latin typeface="微软雅黑" panose="020B0503020204020204" charset="-122"/>
                  <a:ea typeface="微软雅黑" panose="020B0503020204020204" charset="-122"/>
                </a:rPr>
                <a:t>替换</a:t>
              </a:r>
              <a:endParaRPr lang="zh-CN" sz="1800" b="1" i="0">
                <a:solidFill>
                  <a:srgbClr val="F2A93B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05" name="Shape 205"/>
            <p:cNvSpPr/>
            <p:nvPr/>
          </p:nvSpPr>
          <p:spPr>
            <a:xfrm>
              <a:off x="13680" y="2160"/>
              <a:ext cx="4392" cy="252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D64D4D"/>
              </a:solidFill>
            </a:ln>
          </p:spPr>
        </p:sp>
        <p:sp>
          <p:nvSpPr>
            <p:cNvPr id="206" name="Text 206"/>
            <p:cNvSpPr txBox="1"/>
            <p:nvPr/>
          </p:nvSpPr>
          <p:spPr>
            <a:xfrm>
              <a:off x="13853" y="2390"/>
              <a:ext cx="4046" cy="46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73152" tIns="36576" rIns="73152" bIns="36576" anchor="t"/>
            <a:lstStyle/>
            <a:p>
              <a:pPr algn="ctr">
                <a:lnSpc>
                  <a:spcPct val="108000"/>
                </a:lnSpc>
                <a:spcAft>
                  <a:spcPts val="500"/>
                </a:spcAft>
              </a:pPr>
              <a:r>
                <a:rPr lang="zh-CN" sz="2400" b="1" i="0">
                  <a:solidFill>
                    <a:srgbClr val="D64D4D"/>
                  </a:solidFill>
                  <a:latin typeface="微软雅黑" panose="020B0503020204020204" charset="-122"/>
                  <a:ea typeface="微软雅黑" panose="020B0503020204020204" charset="-122"/>
                </a:rPr>
                <a:t>下一数据源</a:t>
              </a:r>
              <a:endParaRPr lang="zh-CN" sz="2400" b="1" i="0">
                <a:solidFill>
                  <a:srgbClr val="D64D4D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07" name="Text 207"/>
            <p:cNvSpPr txBox="1"/>
            <p:nvPr/>
          </p:nvSpPr>
          <p:spPr>
            <a:xfrm>
              <a:off x="13882" y="3104"/>
              <a:ext cx="3989" cy="140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73152" tIns="36576" rIns="73152" bIns="36576" anchor="t">
              <a:noAutofit/>
            </a:bodyPr>
            <a:lstStyle/>
            <a:p>
              <a:pPr algn="ctr">
                <a:lnSpc>
                  <a:spcPct val="108000"/>
                </a:lnSpc>
                <a:spcAft>
                  <a:spcPts val="500"/>
                </a:spcAft>
              </a:pPr>
              <a:r>
                <a:rPr lang="zh-CN" sz="1800" b="0" i="0">
                  <a:solidFill>
                    <a:srgbClr val="607080"/>
                  </a:solidFill>
                  <a:latin typeface="微软雅黑" panose="020B0503020204020204" charset="-122"/>
                  <a:ea typeface="微软雅黑" panose="020B0503020204020204" charset="-122"/>
                </a:rPr>
                <a:t>CarSim S-Function
轮胎 · 俯仰 · 轮速 · 滑移率</a:t>
              </a:r>
              <a:endParaRPr lang="zh-CN" sz="1800" b="0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t="19802" b="13729"/>
          <a:stretch>
            <a:fillRect/>
          </a:stretch>
        </p:blipFill>
        <p:spPr>
          <a:xfrm>
            <a:off x="762000" y="3124200"/>
            <a:ext cx="10511790" cy="255778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"/>
              <p:cNvSpPr txBox="1"/>
              <p:nvPr/>
            </p:nvSpPr>
            <p:spPr>
              <a:xfrm>
                <a:off x="408940" y="6019800"/>
                <a:ext cx="10914380" cy="603250"/>
              </a:xfrm>
              <a:prstGeom prst="roundRect">
                <a:avLst/>
              </a:prstGeom>
              <a:noFill/>
              <a:ln w="9000"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EEF6F8"/>
                    </a:solidFill>
                  </a14:hiddenFill>
                </a:ext>
              </a:extLst>
            </p:spPr>
            <p:txBody>
              <a:bodyPr wrap="square" lIns="36576" tIns="36576" rIns="36576" bIns="36576" anchor="ctr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dirty="0">
                          <a:solidFill>
                            <a:srgbClr val="0F6B75"/>
                          </a:solidFill>
                          <a:latin typeface="Cambria Math" panose="02040503050406030204" pitchFamily="18" charset="0"/>
                          <a:ea typeface="微软雅黑" panose="020B0503020204020204" charset="-122"/>
                          <a:cs typeface="Cambria Math" panose="02040503050406030204" pitchFamily="18" charset="0"/>
                        </a:rPr>
                        <m:t>𝑆𝐼𝑀𝐹𝐼𝐿𝐸</m:t>
                      </m:r>
                      <m:r>
                        <a:rPr lang="en-US" sz="2400" dirty="0">
                          <a:solidFill>
                            <a:srgbClr val="0F6B75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 → 切换 </m:t>
                      </m:r>
                      <m:r>
                        <a:rPr lang="en-US" sz="2400" dirty="0">
                          <a:solidFill>
                            <a:srgbClr val="0F6B75"/>
                          </a:solidFill>
                          <a:latin typeface="Cambria Math" panose="02040503050406030204" pitchFamily="18" charset="0"/>
                          <a:ea typeface="微软雅黑" panose="020B0503020204020204" charset="-122"/>
                          <a:cs typeface="Cambria Math" panose="02040503050406030204" pitchFamily="18" charset="0"/>
                        </a:rPr>
                        <m:t>𝐶𝑎𝑟𝑆𝑖𝑚</m:t>
                      </m:r>
                      <m:r>
                        <a:rPr lang="en-US" sz="2400" dirty="0">
                          <a:solidFill>
                            <a:srgbClr val="0F6B75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 </m:t>
                      </m:r>
                      <m:r>
                        <a:rPr lang="en-US" sz="2400" dirty="0">
                          <a:solidFill>
                            <a:srgbClr val="0F6B75"/>
                          </a:solidFill>
                          <a:latin typeface="Cambria Math" panose="02040503050406030204" pitchFamily="18" charset="0"/>
                          <a:ea typeface="微软雅黑" panose="020B0503020204020204" charset="-122"/>
                          <a:cs typeface="Cambria Math" panose="02040503050406030204" pitchFamily="18" charset="0"/>
                        </a:rPr>
                        <m:t>𝑅𝑢𝑛</m:t>
                      </m:r>
                      <m:r>
                        <a:rPr lang="en-US" sz="2400" dirty="0">
                          <a:solidFill>
                            <a:srgbClr val="0F6B75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；</m:t>
                      </m:r>
                      <m:sSub>
                        <m:sSubPr>
                          <m:ctrlPr>
                            <a:rPr sz="280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dirty="0">
                              <a:solidFill>
                                <a:srgbClr val="0F6B75"/>
                              </a:solidFill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𝑉𝑥</m:t>
                          </m:r>
                        </m:e>
                        <m:sub>
                          <m:r>
                            <a:rPr lang="en-US" sz="1800" dirty="0">
                              <a:solidFill>
                                <a:srgbClr val="0F6B75"/>
                              </a:solidFill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𝑆𝑀</m:t>
                          </m:r>
                        </m:sub>
                      </m:sSub>
                      <m:r>
                        <a:rPr lang="en-US" sz="2400" dirty="0">
                          <a:solidFill>
                            <a:srgbClr val="0F6B75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, </m:t>
                      </m:r>
                      <m:sSub>
                        <m:sSubPr>
                          <m:ctrlPr>
                            <a:rPr sz="2800"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dirty="0">
                              <a:solidFill>
                                <a:srgbClr val="0F6B75"/>
                              </a:solidFill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𝐴𝑥</m:t>
                          </m:r>
                        </m:e>
                        <m:sub>
                          <m:r>
                            <a:rPr lang="en-US" sz="1800" dirty="0">
                              <a:solidFill>
                                <a:srgbClr val="0F6B75"/>
                              </a:solidFill>
                              <a:latin typeface="Cambria Math" panose="02040503050406030204" pitchFamily="18" charset="0"/>
                              <a:ea typeface="微软雅黑" panose="020B0503020204020204" charset="-122"/>
                              <a:cs typeface="Cambria Math" panose="02040503050406030204" pitchFamily="18" charset="0"/>
                            </a:rPr>
                            <m:t>𝑆𝑀</m:t>
                          </m:r>
                        </m:sub>
                      </m:sSub>
                      <m:r>
                        <a:rPr lang="en-US" sz="2400" dirty="0">
                          <a:solidFill>
                            <a:srgbClr val="0F6B75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 →</m:t>
                      </m:r>
                      <m:r>
                        <m:rPr>
                          <m:brk/>
                        </m:rPr>
                        <a:rPr lang="en-US" sz="2400" dirty="0">
                          <a:solidFill>
                            <a:srgbClr val="0F6B75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批</m:t>
                      </m:r>
                      <m:r>
                        <a:rPr lang="en-US" sz="2400" dirty="0">
                          <a:solidFill>
                            <a:srgbClr val="0F6B75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量采集</m:t>
                      </m:r>
                      <m:r>
                        <a:rPr lang="en-US" sz="2400" dirty="0">
                          <a:solidFill>
                            <a:srgbClr val="0F6B75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状态反馈</m:t>
                      </m:r>
                    </m:oMath>
                  </m:oMathPara>
                </a14:m>
                <a:endParaRPr lang="en-US" sz="2400" dirty="0">
                  <a:solidFill>
                    <a:srgbClr val="0F6B75"/>
                  </a:solidFill>
                  <a:latin typeface="微软雅黑" panose="020B0503020204020204" charset="-122"/>
                  <a:ea typeface="微软雅黑" panose="020B0503020204020204" charset="-122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2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940" y="6019800"/>
                <a:ext cx="10914380" cy="603250"/>
              </a:xfrm>
              <a:prstGeom prst="round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 w="9000"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EEF6F8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/>
          <p:cNvSpPr txBox="1"/>
          <p:nvPr/>
        </p:nvSpPr>
        <p:spPr>
          <a:xfrm>
            <a:off x="2895600" y="5681980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2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一维纵向任务的简化假设：四轮同压</a:t>
            </a:r>
            <a:endParaRPr lang="zh-CN" altLang="en-US" sz="2000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ctr" anchorCtr="0">
            <a:normAutofit/>
          </a:bodyPr>
          <a:lstStyle/>
          <a:p>
            <a:pPr algn="ctr">
              <a:buClrTx/>
              <a:buSzTx/>
              <a:buFontTx/>
            </a:pPr>
            <a:r>
              <a:rPr sz="2800" dirty="0">
                <a:latin typeface="微软雅黑" panose="020B0503020204020204" charset="-122"/>
                <a:ea typeface="微软雅黑" panose="020B0503020204020204" charset="-122"/>
                <a:cs typeface="+mn-ea"/>
              </a:rPr>
              <a:t>CarSim单工况冒烟测试</a:t>
            </a:r>
            <a:endParaRPr sz="2800" dirty="0"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823B-8CA8-4514-B4CF-AB75C2ECDFC9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6" name="图片 5" descr="11_carsim_smoke_trajectory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1066800"/>
            <a:ext cx="6713220" cy="585279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"/>
              <p:cNvSpPr txBox="1"/>
              <p:nvPr/>
            </p:nvSpPr>
            <p:spPr>
              <a:xfrm>
                <a:off x="7315200" y="1828800"/>
                <a:ext cx="4557395" cy="1040765"/>
              </a:xfrm>
              <a:prstGeom prst="roundRect">
                <a:avLst/>
              </a:prstGeom>
              <a:solidFill>
                <a:srgbClr val="FFFFFF"/>
              </a:solidFill>
              <a:ln w="9000">
                <a:solidFill>
                  <a:srgbClr val="D9DEE5"/>
                </a:solidFill>
              </a:ln>
            </p:spPr>
            <p:txBody>
              <a:bodyPr wrap="square" lIns="36576" tIns="36576" rIns="36576" bIns="36576" anchor="ctr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80</m:t>
                      </m:r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 </m:t>
                      </m:r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𝑘𝑚</m:t>
                      </m:r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/</m:t>
                      </m:r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ℎ</m:t>
                      </m:r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，</m:t>
                      </m:r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𝜇</m:t>
                      </m:r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 = </m:t>
                      </m:r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0</m:t>
                      </m:r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.</m:t>
                      </m:r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85</m:t>
                      </m:r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，</m:t>
                      </m:r>
                    </m:oMath>
                  </m:oMathPara>
                </a14:m>
                <a:endParaRPr lang="en-US" sz="2000" dirty="0">
                  <a:solidFill>
                    <a:srgbClr val="20242A"/>
                  </a:solidFill>
                  <a:latin typeface="Cambria Math" panose="02040503050406030204"/>
                  <a:ea typeface="Cambria Math" panose="02040503050406030204"/>
                  <a:cs typeface="Cambria Math" panose="02040503050406030204"/>
                </a:endParaRPr>
              </a:p>
              <a:p>
                <a:pPr algn="l"/>
                <a:r>
                  <a:rPr lang="zh-CN" altLang="en-US" sz="2000" b="0" i="0" dirty="0">
                    <a:solidFill>
                      <a:srgbClr val="20242A"/>
                    </a:solidFill>
                    <a:latin typeface="微软雅黑" panose="020B0503020204020204" charset="-122"/>
                    <a:ea typeface="微软雅黑" panose="020B0503020204020204" charset="-122"/>
                    <a:cs typeface="Cambria Math" panose="02040503050406030204"/>
                  </a:rPr>
                  <a:t>主缸压强</a:t>
                </a:r>
                <a:r>
                  <a:rPr lang="en-US" altLang="zh-CN" sz="2000" b="0" i="0" dirty="0">
                    <a:solidFill>
                      <a:srgbClr val="20242A"/>
                    </a:solidFill>
                    <a:latin typeface="Cambria Math" panose="02040503050406030204"/>
                    <a:ea typeface="宋体" panose="02010600030101010101" pitchFamily="2" charset="-122"/>
                    <a:cs typeface="Cambria Math" panose="02040503050406030204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  <m:brk/>
                      </m:rPr>
                      <a:rPr lang="en-US" sz="2000" dirty="0">
                        <a:solidFill>
                          <a:srgbClr val="20242A"/>
                        </a:solidFill>
                        <a:latin typeface="Cambria Math" panose="02040503050406030204"/>
                        <a:ea typeface="Cambria Math" panose="02040503050406030204"/>
                        <a:cs typeface="Cambria Math" panose="02040503050406030204"/>
                      </a:rPr>
                      <m:t>p</m:t>
                    </m:r>
                    <m:r>
                      <a:rPr lang="en-US" sz="2000" dirty="0">
                        <a:solidFill>
                          <a:srgbClr val="20242A"/>
                        </a:solidFill>
                        <a:latin typeface="Cambria Math" panose="02040503050406030204"/>
                        <a:ea typeface="Cambria Math" panose="02040503050406030204"/>
                        <a:cs typeface="Cambria Math" panose="02040503050406030204"/>
                      </a:rPr>
                      <m:t>=</m:t>
                    </m:r>
                    <m:r>
                      <a:rPr lang="en-US" sz="2000" dirty="0">
                        <a:solidFill>
                          <a:srgbClr val="20242A"/>
                        </a:solidFill>
                        <a:latin typeface="Cambria Math" panose="02040503050406030204"/>
                        <a:ea typeface="Cambria Math" panose="02040503050406030204"/>
                        <a:cs typeface="Cambria Math" panose="02040503050406030204"/>
                      </a:rPr>
                      <m:t>2</m:t>
                    </m:r>
                    <m:r>
                      <a:rPr lang="en-US" sz="2000" dirty="0">
                        <a:solidFill>
                          <a:srgbClr val="20242A"/>
                        </a:solidFill>
                        <a:latin typeface="Cambria Math" panose="02040503050406030204"/>
                        <a:ea typeface="Cambria Math" panose="02040503050406030204"/>
                        <a:cs typeface="Cambria Math" panose="02040503050406030204"/>
                      </a:rPr>
                      <m:t> </m:t>
                    </m:r>
                    <m:r>
                      <a:rPr lang="en-US" sz="2000" dirty="0">
                        <a:solidFill>
                          <a:srgbClr val="20242A"/>
                        </a:solidFill>
                        <a:latin typeface="Cambria Math" panose="02040503050406030204"/>
                        <a:ea typeface="Cambria Math" panose="02040503050406030204"/>
                        <a:cs typeface="Cambria Math" panose="02040503050406030204"/>
                      </a:rPr>
                      <m:t>𝑀𝑃𝑎</m:t>
                    </m:r>
                  </m:oMath>
                </a14:m>
                <a:endParaRPr lang="en-US" sz="2000" dirty="0">
                  <a:solidFill>
                    <a:srgbClr val="20242A"/>
                  </a:solidFill>
                  <a:latin typeface="Cambria Math" panose="02040503050406030204"/>
                  <a:ea typeface="Cambria Math" panose="02040503050406030204"/>
                  <a:cs typeface="Cambria Math" panose="02040503050406030204"/>
                </a:endParaRPr>
              </a:p>
            </p:txBody>
          </p:sp>
        </mc:Choice>
        <mc:Fallback>
          <p:sp>
            <p:nvSpPr>
              <p:cNvPr id="19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0" y="1828800"/>
                <a:ext cx="4557395" cy="1040765"/>
              </a:xfrm>
              <a:prstGeom prst="roundRect">
                <a:avLst/>
              </a:prstGeom>
              <a:blipFill rotWithShape="1">
                <a:blip r:embed="rId2"/>
                <a:stretch>
                  <a:fillRect l="-111" t="-488" r="-98" b="-427"/>
                </a:stretch>
              </a:blipFill>
              <a:ln w="9000">
                <a:solidFill>
                  <a:srgbClr val="D9DEE5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"/>
          <p:cNvSpPr txBox="1"/>
          <p:nvPr/>
        </p:nvSpPr>
        <p:spPr>
          <a:xfrm>
            <a:off x="7315200" y="3107055"/>
            <a:ext cx="3703320" cy="530225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9DEE5"/>
            </a:solidFill>
          </a:ln>
        </p:spPr>
        <p:txBody>
          <a:bodyPr wrap="square" lIns="54864" tIns="54864" rIns="54864" bIns="54864" anchor="ctr"/>
          <a:lstStyle/>
          <a:p>
            <a:r>
              <a:rPr lang="zh-CN" altLang="en-US" sz="2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仿真 2.5 s，2501 个样本</a:t>
            </a:r>
            <a:endParaRPr lang="zh-CN" altLang="en-US" sz="2000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1" name="Text"/>
          <p:cNvSpPr txBox="1"/>
          <p:nvPr/>
        </p:nvSpPr>
        <p:spPr>
          <a:xfrm>
            <a:off x="7315200" y="3874770"/>
            <a:ext cx="3703320" cy="530225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9DEE5"/>
            </a:solidFill>
          </a:ln>
        </p:spPr>
        <p:txBody>
          <a:bodyPr wrap="square" lIns="54864" tIns="54864" rIns="54864" bIns="54864" anchor="ctr"/>
          <a:lstStyle/>
          <a:p>
            <a:r>
              <a:rPr lang="zh-CN" altLang="en-US" sz="2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末速度：58.373 km/h</a:t>
            </a:r>
            <a:endParaRPr lang="zh-CN" altLang="en-US" sz="2000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8" name="Text"/>
          <p:cNvSpPr txBox="1"/>
          <p:nvPr/>
        </p:nvSpPr>
        <p:spPr>
          <a:xfrm>
            <a:off x="7315200" y="4642485"/>
            <a:ext cx="3703320" cy="530225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9DEE5"/>
            </a:solidFill>
          </a:ln>
        </p:spPr>
        <p:txBody>
          <a:bodyPr wrap="square" lIns="54864" tIns="54864" rIns="54864" bIns="54864" anchor="ctr"/>
          <a:lstStyle/>
          <a:p>
            <a:r>
              <a:rPr lang="zh-CN" altLang="en-US" sz="2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最小加速度：-3.238 m/s²</a:t>
            </a:r>
            <a:endParaRPr lang="zh-CN" altLang="en-US" sz="2000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3" name="Text"/>
          <p:cNvSpPr txBox="1"/>
          <p:nvPr/>
        </p:nvSpPr>
        <p:spPr>
          <a:xfrm>
            <a:off x="7315200" y="5410200"/>
            <a:ext cx="3703320" cy="530225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9DEE5"/>
            </a:solidFill>
          </a:ln>
        </p:spPr>
        <p:txBody>
          <a:bodyPr wrap="square" lIns="54864" tIns="54864" rIns="54864" bIns="54864" anchor="ctr"/>
          <a:lstStyle/>
          <a:p>
            <a:r>
              <a:rPr lang="zh-CN" altLang="en-US" sz="2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结果：PASS</a:t>
            </a:r>
            <a:endParaRPr lang="zh-CN" altLang="en-US" sz="2000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9" name="Text"/>
          <p:cNvSpPr txBox="1"/>
          <p:nvPr/>
        </p:nvSpPr>
        <p:spPr>
          <a:xfrm>
            <a:off x="7315200" y="6096000"/>
            <a:ext cx="3703320" cy="530225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9DEE5"/>
            </a:solidFill>
          </a:ln>
        </p:spPr>
        <p:txBody>
          <a:bodyPr wrap="square" lIns="54864" tIns="54864" rIns="54864" bIns="54864" anchor="ctr"/>
          <a:lstStyle/>
          <a:p>
            <a:r>
              <a:rPr lang="zh-CN" altLang="en-US" sz="2000" dirty="0" smtClean="0">
                <a:solidFill>
                  <a:srgbClr val="077CC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验证接口正确性，链路能跑通</a:t>
            </a:r>
            <a:endParaRPr lang="zh-CN" altLang="en-US" sz="2000" dirty="0" smtClean="0">
              <a:solidFill>
                <a:srgbClr val="077CC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10_carsim_matrix_smok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230" y="1676400"/>
            <a:ext cx="6588760" cy="421576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ctr" anchorCtr="0">
            <a:normAutofit/>
          </a:bodyPr>
          <a:lstStyle/>
          <a:p>
            <a:pPr algn="ctr">
              <a:buClrTx/>
              <a:buSzTx/>
              <a:buFontTx/>
            </a:pPr>
            <a:r>
              <a:rPr sz="2800" dirty="0">
                <a:latin typeface="微软雅黑" panose="020B0503020204020204" charset="-122"/>
                <a:ea typeface="微软雅黑" panose="020B0503020204020204" charset="-122"/>
                <a:cs typeface="+mn-ea"/>
              </a:rPr>
              <a:t>CarSim工况矩阵冒烟测试</a:t>
            </a:r>
            <a:endParaRPr sz="2800" dirty="0"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823B-8CA8-4514-B4CF-AB75C2ECDFC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"/>
          <p:cNvSpPr txBox="1"/>
          <p:nvPr/>
        </p:nvSpPr>
        <p:spPr>
          <a:xfrm>
            <a:off x="7275195" y="6096000"/>
            <a:ext cx="4446905" cy="530225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9DEE5"/>
            </a:solidFill>
          </a:ln>
        </p:spPr>
        <p:txBody>
          <a:bodyPr wrap="square" lIns="54864" tIns="54864" rIns="54864" bIns="54864" anchor="ctr"/>
          <a:lstStyle/>
          <a:p>
            <a:pPr algn="ctr"/>
            <a:r>
              <a:rPr lang="zh-CN" altLang="en-US" sz="2000" dirty="0" smtClean="0">
                <a:solidFill>
                  <a:srgbClr val="077CC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覆盖边界组合，避免试验跑通偶然性</a:t>
            </a:r>
            <a:endParaRPr lang="zh-CN" altLang="en-US" sz="2000" dirty="0" smtClean="0">
              <a:solidFill>
                <a:srgbClr val="077CC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6701790" y="1343025"/>
            <a:ext cx="5443220" cy="2749550"/>
            <a:chOff x="10440" y="1843"/>
            <a:chExt cx="7128" cy="3600"/>
          </a:xfrm>
        </p:grpSpPr>
        <p:sp>
          <p:nvSpPr>
            <p:cNvPr id="5" name="TableCell"/>
            <p:cNvSpPr txBox="1"/>
            <p:nvPr/>
          </p:nvSpPr>
          <p:spPr>
            <a:xfrm>
              <a:off x="10440" y="1843"/>
              <a:ext cx="1426" cy="514"/>
            </a:xfrm>
            <a:prstGeom prst="rect">
              <a:avLst/>
            </a:prstGeom>
            <a:solidFill>
              <a:srgbClr val="9E1B32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1800" b="1" dirty="0" smtClean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序号</a:t>
              </a:r>
              <a:endParaRPr lang="zh-CN" altLang="en-US" sz="180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" name="TableCell"/>
            <p:cNvSpPr txBox="1"/>
            <p:nvPr/>
          </p:nvSpPr>
          <p:spPr>
            <a:xfrm>
              <a:off x="11866" y="1843"/>
              <a:ext cx="1426" cy="514"/>
            </a:xfrm>
            <a:prstGeom prst="rect">
              <a:avLst/>
            </a:prstGeom>
            <a:solidFill>
              <a:srgbClr val="9E1B32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1800" b="1" dirty="0" smtClean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初速度</a:t>
              </a:r>
              <a:endParaRPr lang="zh-CN" altLang="en-US" sz="180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" name="TableCell"/>
            <p:cNvSpPr txBox="1"/>
            <p:nvPr/>
          </p:nvSpPr>
          <p:spPr>
            <a:xfrm>
              <a:off x="13291" y="1843"/>
              <a:ext cx="1426" cy="514"/>
            </a:xfrm>
            <a:prstGeom prst="rect">
              <a:avLst/>
            </a:prstGeom>
            <a:solidFill>
              <a:srgbClr val="9E1B32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1800" b="1" dirty="0" smtClean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附着系数</a:t>
              </a:r>
              <a:endParaRPr lang="zh-CN" altLang="en-US" sz="180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TableCell"/>
            <p:cNvSpPr txBox="1"/>
            <p:nvPr/>
          </p:nvSpPr>
          <p:spPr>
            <a:xfrm>
              <a:off x="14717" y="1843"/>
              <a:ext cx="1426" cy="514"/>
            </a:xfrm>
            <a:prstGeom prst="rect">
              <a:avLst/>
            </a:prstGeom>
            <a:solidFill>
              <a:srgbClr val="9E1B32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1600" b="1" dirty="0" smtClean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观测初速度</a:t>
              </a:r>
              <a:endParaRPr lang="zh-CN" altLang="en-US" sz="160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TableCell"/>
            <p:cNvSpPr txBox="1"/>
            <p:nvPr/>
          </p:nvSpPr>
          <p:spPr>
            <a:xfrm>
              <a:off x="16142" y="1843"/>
              <a:ext cx="1426" cy="514"/>
            </a:xfrm>
            <a:prstGeom prst="rect">
              <a:avLst/>
            </a:prstGeom>
            <a:solidFill>
              <a:srgbClr val="9E1B32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1600" b="1" dirty="0" smtClean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观测末速度</a:t>
              </a:r>
              <a:endParaRPr lang="zh-CN" altLang="en-US" sz="160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4" name="TableCell"/>
            <p:cNvSpPr txBox="1"/>
            <p:nvPr/>
          </p:nvSpPr>
          <p:spPr>
            <a:xfrm>
              <a:off x="10440" y="2357"/>
              <a:ext cx="1426" cy="514"/>
            </a:xfrm>
            <a:prstGeom prst="rect">
              <a:avLst/>
            </a:prstGeom>
            <a:solidFill>
              <a:srgbClr val="FFFFFF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18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</a:t>
              </a:r>
              <a:endParaRPr lang="zh-CN" altLang="en-US" sz="18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TableCell"/>
            <p:cNvSpPr txBox="1"/>
            <p:nvPr/>
          </p:nvSpPr>
          <p:spPr>
            <a:xfrm>
              <a:off x="11866" y="2357"/>
              <a:ext cx="1426" cy="514"/>
            </a:xfrm>
            <a:prstGeom prst="rect">
              <a:avLst/>
            </a:prstGeom>
            <a:solidFill>
              <a:srgbClr val="FFFFFF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18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20</a:t>
              </a:r>
              <a:endParaRPr lang="zh-CN" altLang="en-US" sz="18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6" name="TableCell"/>
            <p:cNvSpPr txBox="1"/>
            <p:nvPr/>
          </p:nvSpPr>
          <p:spPr>
            <a:xfrm>
              <a:off x="13291" y="2357"/>
              <a:ext cx="1426" cy="514"/>
            </a:xfrm>
            <a:prstGeom prst="rect">
              <a:avLst/>
            </a:prstGeom>
            <a:solidFill>
              <a:srgbClr val="FFFFFF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18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0.2</a:t>
              </a:r>
              <a:endParaRPr lang="zh-CN" altLang="en-US" sz="18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7" name="TableCell"/>
            <p:cNvSpPr txBox="1"/>
            <p:nvPr/>
          </p:nvSpPr>
          <p:spPr>
            <a:xfrm>
              <a:off x="14717" y="2357"/>
              <a:ext cx="1426" cy="514"/>
            </a:xfrm>
            <a:prstGeom prst="rect">
              <a:avLst/>
            </a:prstGeom>
            <a:solidFill>
              <a:srgbClr val="FFFFFF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18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20</a:t>
              </a:r>
              <a:endParaRPr lang="zh-CN" altLang="en-US" sz="18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8" name="TableCell"/>
            <p:cNvSpPr txBox="1"/>
            <p:nvPr/>
          </p:nvSpPr>
          <p:spPr>
            <a:xfrm>
              <a:off x="16142" y="2357"/>
              <a:ext cx="1426" cy="514"/>
            </a:xfrm>
            <a:prstGeom prst="rect">
              <a:avLst/>
            </a:prstGeom>
            <a:solidFill>
              <a:srgbClr val="FFFFFF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18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1.3860</a:t>
              </a:r>
              <a:endParaRPr lang="zh-CN" altLang="en-US" sz="18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9" name="TableCell"/>
            <p:cNvSpPr txBox="1"/>
            <p:nvPr/>
          </p:nvSpPr>
          <p:spPr>
            <a:xfrm>
              <a:off x="10440" y="2872"/>
              <a:ext cx="1426" cy="514"/>
            </a:xfrm>
            <a:prstGeom prst="rect">
              <a:avLst/>
            </a:prstGeom>
            <a:solidFill>
              <a:srgbClr val="F4F6F8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18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2</a:t>
              </a:r>
              <a:endParaRPr lang="zh-CN" altLang="en-US" sz="18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0" name="TableCell"/>
            <p:cNvSpPr txBox="1"/>
            <p:nvPr/>
          </p:nvSpPr>
          <p:spPr>
            <a:xfrm>
              <a:off x="11866" y="2872"/>
              <a:ext cx="1426" cy="514"/>
            </a:xfrm>
            <a:prstGeom prst="rect">
              <a:avLst/>
            </a:prstGeom>
            <a:solidFill>
              <a:srgbClr val="F4F6F8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18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20</a:t>
              </a:r>
              <a:endParaRPr lang="zh-CN" altLang="en-US" sz="18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1" name="TableCell"/>
            <p:cNvSpPr txBox="1"/>
            <p:nvPr/>
          </p:nvSpPr>
          <p:spPr>
            <a:xfrm>
              <a:off x="13291" y="2872"/>
              <a:ext cx="1426" cy="514"/>
            </a:xfrm>
            <a:prstGeom prst="rect">
              <a:avLst/>
            </a:prstGeom>
            <a:solidFill>
              <a:srgbClr val="F4F6F8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18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0.8</a:t>
              </a:r>
              <a:endParaRPr lang="zh-CN" altLang="en-US" sz="18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2" name="TableCell"/>
            <p:cNvSpPr txBox="1"/>
            <p:nvPr/>
          </p:nvSpPr>
          <p:spPr>
            <a:xfrm>
              <a:off x="14717" y="2872"/>
              <a:ext cx="1426" cy="514"/>
            </a:xfrm>
            <a:prstGeom prst="rect">
              <a:avLst/>
            </a:prstGeom>
            <a:solidFill>
              <a:srgbClr val="F4F6F8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18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20</a:t>
              </a:r>
              <a:endParaRPr lang="zh-CN" altLang="en-US" sz="18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3" name="TableCell"/>
            <p:cNvSpPr txBox="1"/>
            <p:nvPr/>
          </p:nvSpPr>
          <p:spPr>
            <a:xfrm>
              <a:off x="16142" y="2872"/>
              <a:ext cx="1426" cy="514"/>
            </a:xfrm>
            <a:prstGeom prst="rect">
              <a:avLst/>
            </a:prstGeom>
            <a:solidFill>
              <a:srgbClr val="F4F6F8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16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-0.0001</a:t>
              </a:r>
              <a:endParaRPr lang="zh-CN" altLang="en-US" sz="16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4" name="TableCell"/>
            <p:cNvSpPr txBox="1"/>
            <p:nvPr/>
          </p:nvSpPr>
          <p:spPr>
            <a:xfrm>
              <a:off x="10440" y="3386"/>
              <a:ext cx="1426" cy="514"/>
            </a:xfrm>
            <a:prstGeom prst="rect">
              <a:avLst/>
            </a:prstGeom>
            <a:solidFill>
              <a:srgbClr val="FFFFFF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18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3</a:t>
              </a:r>
              <a:endParaRPr lang="zh-CN" altLang="en-US" sz="18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5" name="TableCell"/>
            <p:cNvSpPr txBox="1"/>
            <p:nvPr/>
          </p:nvSpPr>
          <p:spPr>
            <a:xfrm>
              <a:off x="11866" y="3386"/>
              <a:ext cx="1426" cy="514"/>
            </a:xfrm>
            <a:prstGeom prst="rect">
              <a:avLst/>
            </a:prstGeom>
            <a:solidFill>
              <a:srgbClr val="FFFFFF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18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80</a:t>
              </a:r>
              <a:endParaRPr lang="zh-CN" altLang="en-US" sz="18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6" name="TableCell"/>
            <p:cNvSpPr txBox="1"/>
            <p:nvPr/>
          </p:nvSpPr>
          <p:spPr>
            <a:xfrm>
              <a:off x="13291" y="3386"/>
              <a:ext cx="1426" cy="514"/>
            </a:xfrm>
            <a:prstGeom prst="rect">
              <a:avLst/>
            </a:prstGeom>
            <a:solidFill>
              <a:srgbClr val="FFFFFF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18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0.2</a:t>
              </a:r>
              <a:endParaRPr lang="zh-CN" altLang="en-US" sz="18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7" name="TableCell"/>
            <p:cNvSpPr txBox="1"/>
            <p:nvPr/>
          </p:nvSpPr>
          <p:spPr>
            <a:xfrm>
              <a:off x="14717" y="3386"/>
              <a:ext cx="1426" cy="514"/>
            </a:xfrm>
            <a:prstGeom prst="rect">
              <a:avLst/>
            </a:prstGeom>
            <a:solidFill>
              <a:srgbClr val="FFFFFF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18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80</a:t>
              </a:r>
              <a:endParaRPr lang="zh-CN" altLang="en-US" sz="18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8" name="TableCell"/>
            <p:cNvSpPr txBox="1"/>
            <p:nvPr/>
          </p:nvSpPr>
          <p:spPr>
            <a:xfrm>
              <a:off x="16142" y="3386"/>
              <a:ext cx="1426" cy="514"/>
            </a:xfrm>
            <a:prstGeom prst="rect">
              <a:avLst/>
            </a:prstGeom>
            <a:solidFill>
              <a:srgbClr val="FFFFFF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18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61.1019</a:t>
              </a:r>
              <a:endParaRPr lang="zh-CN" altLang="en-US" sz="18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9" name="TableCell"/>
            <p:cNvSpPr txBox="1"/>
            <p:nvPr/>
          </p:nvSpPr>
          <p:spPr>
            <a:xfrm>
              <a:off x="10440" y="3900"/>
              <a:ext cx="1426" cy="514"/>
            </a:xfrm>
            <a:prstGeom prst="rect">
              <a:avLst/>
            </a:prstGeom>
            <a:solidFill>
              <a:srgbClr val="F4F6F8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18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4</a:t>
              </a:r>
              <a:endParaRPr lang="zh-CN" altLang="en-US" sz="18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0" name="TableCell"/>
            <p:cNvSpPr txBox="1"/>
            <p:nvPr/>
          </p:nvSpPr>
          <p:spPr>
            <a:xfrm>
              <a:off x="11866" y="3900"/>
              <a:ext cx="1426" cy="514"/>
            </a:xfrm>
            <a:prstGeom prst="rect">
              <a:avLst/>
            </a:prstGeom>
            <a:solidFill>
              <a:srgbClr val="F4F6F8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18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80</a:t>
              </a:r>
              <a:endParaRPr lang="zh-CN" altLang="en-US" sz="18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1" name="TableCell"/>
            <p:cNvSpPr txBox="1"/>
            <p:nvPr/>
          </p:nvSpPr>
          <p:spPr>
            <a:xfrm>
              <a:off x="13291" y="3900"/>
              <a:ext cx="1426" cy="514"/>
            </a:xfrm>
            <a:prstGeom prst="rect">
              <a:avLst/>
            </a:prstGeom>
            <a:solidFill>
              <a:srgbClr val="F4F6F8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18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0.8</a:t>
              </a:r>
              <a:endParaRPr lang="zh-CN" altLang="en-US" sz="18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2" name="TableCell"/>
            <p:cNvSpPr txBox="1"/>
            <p:nvPr/>
          </p:nvSpPr>
          <p:spPr>
            <a:xfrm>
              <a:off x="14717" y="3900"/>
              <a:ext cx="1426" cy="514"/>
            </a:xfrm>
            <a:prstGeom prst="rect">
              <a:avLst/>
            </a:prstGeom>
            <a:solidFill>
              <a:srgbClr val="F4F6F8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18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80</a:t>
              </a:r>
              <a:endParaRPr lang="zh-CN" altLang="en-US" sz="18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3" name="TableCell"/>
            <p:cNvSpPr txBox="1"/>
            <p:nvPr/>
          </p:nvSpPr>
          <p:spPr>
            <a:xfrm>
              <a:off x="16142" y="3900"/>
              <a:ext cx="1426" cy="514"/>
            </a:xfrm>
            <a:prstGeom prst="rect">
              <a:avLst/>
            </a:prstGeom>
            <a:solidFill>
              <a:srgbClr val="F4F6F8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18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9.6028</a:t>
              </a:r>
              <a:endParaRPr lang="zh-CN" altLang="en-US" sz="18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4" name="TableCell"/>
            <p:cNvSpPr txBox="1"/>
            <p:nvPr/>
          </p:nvSpPr>
          <p:spPr>
            <a:xfrm>
              <a:off x="10440" y="4415"/>
              <a:ext cx="1426" cy="514"/>
            </a:xfrm>
            <a:prstGeom prst="rect">
              <a:avLst/>
            </a:prstGeom>
            <a:solidFill>
              <a:srgbClr val="FFFFFF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18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5</a:t>
              </a:r>
              <a:endParaRPr lang="zh-CN" altLang="en-US" sz="18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5" name="TableCell"/>
            <p:cNvSpPr txBox="1"/>
            <p:nvPr/>
          </p:nvSpPr>
          <p:spPr>
            <a:xfrm>
              <a:off x="11866" y="4415"/>
              <a:ext cx="1426" cy="514"/>
            </a:xfrm>
            <a:prstGeom prst="rect">
              <a:avLst/>
            </a:prstGeom>
            <a:solidFill>
              <a:srgbClr val="FFFFFF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18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120</a:t>
              </a:r>
              <a:endParaRPr lang="zh-CN" altLang="en-US" sz="18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6" name="TableCell"/>
            <p:cNvSpPr txBox="1"/>
            <p:nvPr/>
          </p:nvSpPr>
          <p:spPr>
            <a:xfrm>
              <a:off x="13291" y="4415"/>
              <a:ext cx="1426" cy="514"/>
            </a:xfrm>
            <a:prstGeom prst="rect">
              <a:avLst/>
            </a:prstGeom>
            <a:solidFill>
              <a:srgbClr val="FFFFFF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18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0.2</a:t>
              </a:r>
              <a:endParaRPr lang="zh-CN" altLang="en-US" sz="18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7" name="TableCell"/>
            <p:cNvSpPr txBox="1"/>
            <p:nvPr/>
          </p:nvSpPr>
          <p:spPr>
            <a:xfrm>
              <a:off x="14717" y="4415"/>
              <a:ext cx="1426" cy="514"/>
            </a:xfrm>
            <a:prstGeom prst="rect">
              <a:avLst/>
            </a:prstGeom>
            <a:solidFill>
              <a:srgbClr val="FFFFFF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18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120</a:t>
              </a:r>
              <a:endParaRPr lang="zh-CN" altLang="en-US" sz="18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8" name="TableCell"/>
            <p:cNvSpPr txBox="1"/>
            <p:nvPr/>
          </p:nvSpPr>
          <p:spPr>
            <a:xfrm>
              <a:off x="16142" y="4415"/>
              <a:ext cx="1426" cy="514"/>
            </a:xfrm>
            <a:prstGeom prst="rect">
              <a:avLst/>
            </a:prstGeom>
            <a:solidFill>
              <a:srgbClr val="FFFFFF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18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99.6308</a:t>
              </a:r>
              <a:endParaRPr lang="zh-CN" altLang="en-US" sz="18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9" name="TableCell"/>
            <p:cNvSpPr txBox="1"/>
            <p:nvPr/>
          </p:nvSpPr>
          <p:spPr>
            <a:xfrm>
              <a:off x="10440" y="4929"/>
              <a:ext cx="1426" cy="514"/>
            </a:xfrm>
            <a:prstGeom prst="rect">
              <a:avLst/>
            </a:prstGeom>
            <a:solidFill>
              <a:srgbClr val="F4F6F8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18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6</a:t>
              </a:r>
              <a:endParaRPr lang="zh-CN" altLang="en-US" sz="18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0" name="TableCell"/>
            <p:cNvSpPr txBox="1"/>
            <p:nvPr/>
          </p:nvSpPr>
          <p:spPr>
            <a:xfrm>
              <a:off x="11866" y="4929"/>
              <a:ext cx="1426" cy="514"/>
            </a:xfrm>
            <a:prstGeom prst="rect">
              <a:avLst/>
            </a:prstGeom>
            <a:solidFill>
              <a:srgbClr val="F4F6F8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18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120</a:t>
              </a:r>
              <a:endParaRPr lang="zh-CN" altLang="en-US" sz="18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1" name="TableCell"/>
            <p:cNvSpPr txBox="1"/>
            <p:nvPr/>
          </p:nvSpPr>
          <p:spPr>
            <a:xfrm>
              <a:off x="13291" y="4929"/>
              <a:ext cx="1426" cy="514"/>
            </a:xfrm>
            <a:prstGeom prst="rect">
              <a:avLst/>
            </a:prstGeom>
            <a:solidFill>
              <a:srgbClr val="F4F6F8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18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0.8</a:t>
              </a:r>
              <a:endParaRPr lang="zh-CN" altLang="en-US" sz="18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2" name="TableCell"/>
            <p:cNvSpPr txBox="1"/>
            <p:nvPr/>
          </p:nvSpPr>
          <p:spPr>
            <a:xfrm>
              <a:off x="14717" y="4929"/>
              <a:ext cx="1426" cy="514"/>
            </a:xfrm>
            <a:prstGeom prst="rect">
              <a:avLst/>
            </a:prstGeom>
            <a:solidFill>
              <a:srgbClr val="F4F6F8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18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120</a:t>
              </a:r>
              <a:endParaRPr lang="zh-CN" altLang="en-US" sz="18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3" name="TableCell"/>
            <p:cNvSpPr txBox="1"/>
            <p:nvPr/>
          </p:nvSpPr>
          <p:spPr>
            <a:xfrm>
              <a:off x="16142" y="4929"/>
              <a:ext cx="1426" cy="514"/>
            </a:xfrm>
            <a:prstGeom prst="rect">
              <a:avLst/>
            </a:prstGeom>
            <a:solidFill>
              <a:srgbClr val="F4F6F8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18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53.8344</a:t>
              </a:r>
              <a:endParaRPr lang="zh-CN" altLang="en-US" sz="18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7920990" y="4419600"/>
            <a:ext cx="3335020" cy="1532890"/>
            <a:chOff x="10674" y="6720"/>
            <a:chExt cx="5252" cy="2414"/>
          </a:xfrm>
        </p:grpSpPr>
        <p:sp>
          <p:nvSpPr>
            <p:cNvPr id="17" name="Text"/>
            <p:cNvSpPr txBox="1"/>
            <p:nvPr/>
          </p:nvSpPr>
          <p:spPr>
            <a:xfrm>
              <a:off x="10674" y="6720"/>
              <a:ext cx="5132" cy="2414"/>
            </a:xfrm>
            <a:prstGeom prst="roundRect">
              <a:avLst/>
            </a:prstGeom>
            <a:solidFill>
              <a:srgbClr val="000000">
                <a:alpha val="0"/>
              </a:srgbClr>
            </a:solidFill>
            <a:ln w="9000">
              <a:solidFill>
                <a:srgbClr val="0F6B75"/>
              </a:solidFill>
            </a:ln>
          </p:spPr>
          <p:txBody>
            <a:bodyPr wrap="square" lIns="73152" tIns="73152" rIns="73152" bIns="73152" anchor="ctr">
              <a:norm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54" name="Text"/>
            <p:cNvSpPr txBox="1"/>
            <p:nvPr/>
          </p:nvSpPr>
          <p:spPr>
            <a:xfrm>
              <a:off x="11040" y="6730"/>
              <a:ext cx="4657" cy="648"/>
            </a:xfrm>
            <a:prstGeom prst="roundRect">
              <a:avLst/>
            </a:prstGeom>
            <a:solidFill>
              <a:srgbClr val="000000">
                <a:alpha val="0"/>
              </a:srgbClr>
            </a:solidFill>
            <a:ln w="9000">
              <a:solidFill>
                <a:srgbClr val="D9DEE5"/>
              </a:solidFill>
            </a:ln>
          </p:spPr>
          <p:txBody>
            <a:bodyPr wrap="square" lIns="18288" tIns="18288" rIns="18288" bIns="18288" anchor="ctr"/>
            <a:lstStyle/>
            <a:p>
              <a:pPr algn="ctr"/>
              <a:r>
                <a:rPr lang="zh-CN" altLang="en-US" sz="2000" b="1" dirty="0" smtClean="0">
                  <a:solidFill>
                    <a:srgbClr val="17718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6 个代表性边界工况</a:t>
              </a:r>
              <a:endParaRPr lang="zh-CN" altLang="en-US" sz="2000" b="1" dirty="0" smtClean="0">
                <a:solidFill>
                  <a:srgbClr val="17718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5" name="Text"/>
            <p:cNvSpPr txBox="1"/>
            <p:nvPr/>
          </p:nvSpPr>
          <p:spPr>
            <a:xfrm>
              <a:off x="11040" y="7565"/>
              <a:ext cx="4886" cy="648"/>
            </a:xfrm>
            <a:prstGeom prst="roundRect">
              <a:avLst/>
            </a:prstGeom>
            <a:solidFill>
              <a:srgbClr val="000000">
                <a:alpha val="0"/>
              </a:srgbClr>
            </a:solidFill>
            <a:ln w="9000">
              <a:solidFill>
                <a:srgbClr val="D9DEE5"/>
              </a:solidFill>
            </a:ln>
          </p:spPr>
          <p:txBody>
            <a:bodyPr wrap="square" lIns="18288" tIns="18288" rIns="18288" bIns="18288" anchor="ctr"/>
            <a:lstStyle/>
            <a:p>
              <a:r>
                <a:rPr lang="zh-CN" altLang="en-US" sz="2000" b="1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速度</a:t>
              </a:r>
              <a:r>
                <a:rPr lang="zh-CN" altLang="en-US" sz="20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：20 / 80 / 120 km/h</a:t>
              </a:r>
              <a:endParaRPr lang="zh-CN" altLang="en-US" sz="2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6" name="Text"/>
            <p:cNvSpPr txBox="1"/>
            <p:nvPr/>
          </p:nvSpPr>
          <p:spPr>
            <a:xfrm>
              <a:off x="11040" y="8400"/>
              <a:ext cx="4657" cy="648"/>
            </a:xfrm>
            <a:prstGeom prst="roundRect">
              <a:avLst/>
            </a:prstGeom>
            <a:solidFill>
              <a:srgbClr val="000000">
                <a:alpha val="0"/>
              </a:srgbClr>
            </a:solidFill>
            <a:ln w="9000">
              <a:solidFill>
                <a:srgbClr val="D9DEE5"/>
              </a:solidFill>
            </a:ln>
          </p:spPr>
          <p:txBody>
            <a:bodyPr wrap="square" lIns="18288" tIns="18288" rIns="18288" bIns="18288" anchor="ctr"/>
            <a:lstStyle/>
            <a:p>
              <a:r>
                <a:rPr lang="zh-CN" altLang="en-US" sz="2000" b="1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附着</a:t>
              </a:r>
              <a:r>
                <a:rPr lang="zh-CN" altLang="en-US" sz="20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：0.2 和 0.8</a:t>
              </a:r>
              <a:endParaRPr lang="zh-CN" altLang="en-US" sz="2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ctr" anchorCtr="0">
            <a:normAutofit/>
          </a:bodyPr>
          <a:lstStyle/>
          <a:p>
            <a:pPr algn="ctr">
              <a:buClrTx/>
              <a:buSzTx/>
              <a:buFontTx/>
            </a:pPr>
            <a:r>
              <a:rPr sz="2800" dirty="0">
                <a:latin typeface="微软雅黑" panose="020B0503020204020204" charset="-122"/>
                <a:ea typeface="微软雅黑" panose="020B0503020204020204" charset="-122"/>
                <a:cs typeface="+mn-ea"/>
              </a:rPr>
              <a:t>CarSim数据完整覆盖</a:t>
            </a:r>
            <a:endParaRPr sz="2800" dirty="0"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823B-8CA8-4514-B4CF-AB75C2ECDFC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"/>
          <p:cNvSpPr txBox="1"/>
          <p:nvPr/>
        </p:nvSpPr>
        <p:spPr>
          <a:xfrm>
            <a:off x="6253480" y="5901055"/>
            <a:ext cx="5104130" cy="87757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9DEE5"/>
            </a:solidFill>
          </a:ln>
        </p:spPr>
        <p:txBody>
          <a:bodyPr wrap="square" lIns="54864" tIns="54864" rIns="54864" bIns="54864" anchor="ctr"/>
          <a:lstStyle/>
          <a:p>
            <a:pPr algn="ctr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077CC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压力轨迹不是单一恒压</a:t>
            </a:r>
            <a:endParaRPr lang="zh-CN" altLang="en-US" sz="2000" dirty="0" smtClean="0">
              <a:solidFill>
                <a:srgbClr val="077CC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077CC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更接近规划器未来会生成的多样动作序列</a:t>
            </a:r>
            <a:endParaRPr lang="zh-CN" altLang="en-US" sz="2000" dirty="0" smtClean="0">
              <a:solidFill>
                <a:srgbClr val="077CC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pic>
        <p:nvPicPr>
          <p:cNvPr id="6" name="图片 5" descr="08_carsim_coverage_heatmap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914400"/>
            <a:ext cx="5568315" cy="3436620"/>
          </a:xfrm>
          <a:prstGeom prst="rect">
            <a:avLst/>
          </a:prstGeom>
        </p:spPr>
      </p:pic>
      <p:pic>
        <p:nvPicPr>
          <p:cNvPr id="8" name="图片 7" descr="12_carsim_pressure_profile_exampl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914400"/>
            <a:ext cx="5068570" cy="3885565"/>
          </a:xfrm>
          <a:prstGeom prst="rect">
            <a:avLst/>
          </a:prstGeom>
        </p:spPr>
      </p:pic>
      <p:grpSp>
        <p:nvGrpSpPr>
          <p:cNvPr id="15" name="组合 14"/>
          <p:cNvGrpSpPr/>
          <p:nvPr/>
        </p:nvGrpSpPr>
        <p:grpSpPr>
          <a:xfrm>
            <a:off x="529590" y="4953000"/>
            <a:ext cx="5069840" cy="1673225"/>
            <a:chOff x="834" y="7800"/>
            <a:chExt cx="7984" cy="2635"/>
          </a:xfrm>
        </p:grpSpPr>
        <p:sp>
          <p:nvSpPr>
            <p:cNvPr id="17" name="Text"/>
            <p:cNvSpPr txBox="1"/>
            <p:nvPr/>
          </p:nvSpPr>
          <p:spPr>
            <a:xfrm>
              <a:off x="834" y="7800"/>
              <a:ext cx="7984" cy="2635"/>
            </a:xfrm>
            <a:prstGeom prst="roundRect">
              <a:avLst/>
            </a:prstGeom>
            <a:solidFill>
              <a:srgbClr val="000000">
                <a:alpha val="0"/>
              </a:srgbClr>
            </a:solidFill>
            <a:ln w="9000">
              <a:solidFill>
                <a:srgbClr val="0F6B75"/>
              </a:solidFill>
            </a:ln>
          </p:spPr>
          <p:txBody>
            <a:bodyPr wrap="square" lIns="73152" tIns="73152" rIns="73152" bIns="73152" anchor="ctr">
              <a:norm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54" name="Text"/>
            <p:cNvSpPr txBox="1"/>
            <p:nvPr/>
          </p:nvSpPr>
          <p:spPr>
            <a:xfrm>
              <a:off x="1372" y="7810"/>
              <a:ext cx="6842" cy="648"/>
            </a:xfrm>
            <a:prstGeom prst="roundRect">
              <a:avLst/>
            </a:prstGeom>
            <a:solidFill>
              <a:srgbClr val="000000">
                <a:alpha val="0"/>
              </a:srgbClr>
            </a:solidFill>
            <a:ln w="9000">
              <a:solidFill>
                <a:srgbClr val="D9DEE5"/>
              </a:solidFill>
            </a:ln>
          </p:spPr>
          <p:txBody>
            <a:bodyPr wrap="square" lIns="18288" tIns="18288" rIns="18288" bIns="18288" anchor="ctr"/>
            <a:lstStyle/>
            <a:p>
              <a:pPr algn="ctr"/>
              <a:r>
                <a:rPr lang="en-US" altLang="zh-CN" sz="2000" b="1" dirty="0" smtClean="0">
                  <a:solidFill>
                    <a:srgbClr val="17718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120</a:t>
              </a:r>
              <a:r>
                <a:rPr lang="zh-CN" altLang="en-US" sz="2000" b="1" dirty="0" smtClean="0">
                  <a:solidFill>
                    <a:srgbClr val="17718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条轨迹，</a:t>
              </a:r>
              <a:r>
                <a:rPr lang="en-US" altLang="zh-CN" sz="2000" b="1" dirty="0" smtClean="0">
                  <a:solidFill>
                    <a:srgbClr val="17718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13070</a:t>
              </a:r>
              <a:r>
                <a:rPr lang="zh-CN" altLang="en-US" sz="2000" b="1" dirty="0" smtClean="0">
                  <a:solidFill>
                    <a:srgbClr val="17718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条状态转移</a:t>
              </a:r>
              <a:endParaRPr lang="zh-CN" altLang="en-US" sz="2000" b="1" dirty="0" smtClean="0">
                <a:solidFill>
                  <a:srgbClr val="17718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5" name="Text"/>
            <p:cNvSpPr txBox="1"/>
            <p:nvPr/>
          </p:nvSpPr>
          <p:spPr>
            <a:xfrm>
              <a:off x="1010" y="8405"/>
              <a:ext cx="7660" cy="648"/>
            </a:xfrm>
            <a:prstGeom prst="roundRect">
              <a:avLst/>
            </a:prstGeom>
            <a:solidFill>
              <a:srgbClr val="000000">
                <a:alpha val="0"/>
              </a:srgbClr>
            </a:solidFill>
            <a:ln w="9000">
              <a:solidFill>
                <a:srgbClr val="D9DEE5"/>
              </a:solidFill>
            </a:ln>
          </p:spPr>
          <p:txBody>
            <a:bodyPr wrap="square" lIns="18288" tIns="18288" rIns="18288" bIns="18288" anchor="ctr"/>
            <a:lstStyle/>
            <a:p>
              <a:r>
                <a:rPr lang="zh-CN" altLang="en-US" sz="2000" b="1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速度</a:t>
              </a:r>
              <a:r>
                <a:rPr lang="en-US" altLang="zh-CN" sz="2000" b="1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x6</a:t>
              </a:r>
              <a:r>
                <a:rPr lang="zh-CN" altLang="en-US" sz="20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：20</a:t>
              </a:r>
              <a:r>
                <a:rPr lang="en-US" altLang="zh-CN" sz="20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/ 40</a:t>
              </a:r>
              <a:r>
                <a:rPr lang="zh-CN" altLang="en-US" sz="20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/</a:t>
              </a:r>
              <a:r>
                <a:rPr lang="en-US" altLang="zh-CN" sz="20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60 /</a:t>
              </a:r>
              <a:r>
                <a:rPr lang="zh-CN" altLang="en-US" sz="20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80</a:t>
              </a:r>
              <a:r>
                <a:rPr lang="en-US" altLang="zh-CN" sz="20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/ 100</a:t>
              </a:r>
              <a:r>
                <a:rPr lang="zh-CN" altLang="en-US" sz="20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/ 120 km/h</a:t>
              </a:r>
              <a:endParaRPr lang="zh-CN" altLang="en-US" sz="2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6" name="Text"/>
            <p:cNvSpPr txBox="1"/>
            <p:nvPr/>
          </p:nvSpPr>
          <p:spPr>
            <a:xfrm>
              <a:off x="1010" y="9000"/>
              <a:ext cx="6842" cy="648"/>
            </a:xfrm>
            <a:prstGeom prst="roundRect">
              <a:avLst/>
            </a:prstGeom>
            <a:solidFill>
              <a:srgbClr val="000000">
                <a:alpha val="0"/>
              </a:srgbClr>
            </a:solidFill>
            <a:ln w="9000">
              <a:solidFill>
                <a:srgbClr val="D9DEE5"/>
              </a:solidFill>
            </a:ln>
          </p:spPr>
          <p:txBody>
            <a:bodyPr wrap="square" lIns="18288" tIns="18288" rIns="18288" bIns="18288" anchor="ctr"/>
            <a:lstStyle/>
            <a:p>
              <a:r>
                <a:rPr lang="zh-CN" altLang="en-US" sz="2000" b="1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附着</a:t>
              </a:r>
              <a:r>
                <a:rPr lang="en-US" altLang="zh-CN" sz="2000" b="1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x4</a:t>
              </a:r>
              <a:r>
                <a:rPr lang="zh-CN" altLang="en-US" sz="20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：0.2 </a:t>
              </a:r>
              <a:r>
                <a:rPr lang="en-US" altLang="zh-CN" sz="20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/ 0.4 / 0.6 /</a:t>
              </a:r>
              <a:r>
                <a:rPr lang="zh-CN" altLang="en-US" sz="20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 0.8</a:t>
              </a:r>
              <a:endParaRPr lang="zh-CN" altLang="en-US" sz="2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Text"/>
            <p:cNvSpPr txBox="1"/>
            <p:nvPr/>
          </p:nvSpPr>
          <p:spPr>
            <a:xfrm>
              <a:off x="1010" y="9600"/>
              <a:ext cx="6842" cy="648"/>
            </a:xfrm>
            <a:prstGeom prst="roundRect">
              <a:avLst/>
            </a:prstGeom>
            <a:solidFill>
              <a:srgbClr val="000000">
                <a:alpha val="0"/>
              </a:srgbClr>
            </a:solidFill>
            <a:ln w="9000">
              <a:solidFill>
                <a:srgbClr val="D9DEE5"/>
              </a:solidFill>
            </a:ln>
          </p:spPr>
          <p:txBody>
            <a:bodyPr wrap="square" lIns="18288" tIns="18288" rIns="18288" bIns="18288" anchor="ctr"/>
            <a:lstStyle/>
            <a:p>
              <a:r>
                <a:rPr lang="zh-CN" altLang="en-US" sz="2000" b="1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压力</a:t>
              </a:r>
              <a:r>
                <a:rPr lang="en-US" altLang="zh-CN" sz="2000" b="1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x5</a:t>
              </a:r>
              <a:r>
                <a:rPr lang="zh-CN" altLang="en-US" sz="20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：</a:t>
              </a:r>
              <a:r>
                <a:rPr lang="en-US" altLang="zh-CN" sz="20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pressure seed</a:t>
              </a:r>
              <a:r>
                <a:rPr lang="zh-CN" altLang="en-US" sz="20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随机但可复现</a:t>
              </a:r>
              <a:endParaRPr lang="en-US" altLang="en-US" sz="2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5791200" y="4572000"/>
            <a:ext cx="6096000" cy="1014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随机生成目标压力并保持一段时间</a:t>
            </a:r>
            <a:endParaRPr lang="zh-CN" altLang="en-US" sz="2000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平滑过渡至下一目标压力</a:t>
            </a:r>
            <a:endParaRPr lang="zh-CN" altLang="en-US" sz="2000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文本框 17"/>
              <p:cNvSpPr txBox="1"/>
              <p:nvPr/>
            </p:nvSpPr>
            <p:spPr>
              <a:xfrm>
                <a:off x="6705854" y="5605399"/>
                <a:ext cx="4180840" cy="356235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brk/>
                            </m:r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m:rPr>
                              <m:brk/>
                            </m:r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 = 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0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.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86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 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brk/>
                            </m:r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m:rPr>
                              <m:brk/>
                            </m:r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𝑘</m:t>
                          </m:r>
                          <m:r>
                            <m:rPr>
                              <m:brk/>
                            </m:r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brk/>
                            </m:r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 + 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0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.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14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 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brk/>
                            </m:r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m:rPr>
                              <m:brk/>
                            </m:rP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𝑎𝑟𝑔𝑒𝑡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 + 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cs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zh-CN" altLang="en-US" i="1"/>
              </a:p>
            </p:txBody>
          </p:sp>
        </mc:Choice>
        <mc:Fallback>
          <p:sp>
            <p:nvSpPr>
              <p:cNvPr id="18" name="文本框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5854" y="5605399"/>
                <a:ext cx="4180840" cy="356235"/>
              </a:xfrm>
              <a:prstGeom prst="rect">
                <a:avLst/>
              </a:prstGeom>
              <a:blipFill rotWithShape="1">
                <a:blip r:embed="rId3"/>
                <a:stretch>
                  <a:fillRect l="-6" t="-71" r="6" b="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ctr" anchorCtr="0">
            <a:normAutofit/>
          </a:bodyPr>
          <a:lstStyle/>
          <a:p>
            <a:pPr algn="ctr">
              <a:buClrTx/>
              <a:buSzTx/>
              <a:buFontTx/>
            </a:pPr>
            <a:r>
              <a:rPr sz="2800" dirty="0">
                <a:latin typeface="微软雅黑" panose="020B0503020204020204" charset="-122"/>
                <a:ea typeface="微软雅黑" panose="020B0503020204020204" charset="-122"/>
                <a:cs typeface="+mn-ea"/>
              </a:rPr>
              <a:t>CarSim物理响应</a:t>
            </a:r>
            <a:endParaRPr sz="2800" dirty="0"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823B-8CA8-4514-B4CF-AB75C2ECDFC9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15" name="组合 14"/>
          <p:cNvGrpSpPr/>
          <p:nvPr/>
        </p:nvGrpSpPr>
        <p:grpSpPr>
          <a:xfrm>
            <a:off x="7203440" y="3044825"/>
            <a:ext cx="4746625" cy="1880870"/>
            <a:chOff x="834" y="7800"/>
            <a:chExt cx="7984" cy="2635"/>
          </a:xfrm>
        </p:grpSpPr>
        <p:sp>
          <p:nvSpPr>
            <p:cNvPr id="17" name="Text"/>
            <p:cNvSpPr txBox="1"/>
            <p:nvPr/>
          </p:nvSpPr>
          <p:spPr>
            <a:xfrm>
              <a:off x="834" y="7800"/>
              <a:ext cx="7984" cy="2635"/>
            </a:xfrm>
            <a:prstGeom prst="roundRect">
              <a:avLst/>
            </a:prstGeom>
            <a:solidFill>
              <a:srgbClr val="000000">
                <a:alpha val="0"/>
              </a:srgbClr>
            </a:solidFill>
            <a:ln w="9000">
              <a:solidFill>
                <a:srgbClr val="0F6B75"/>
              </a:solidFill>
            </a:ln>
          </p:spPr>
          <p:txBody>
            <a:bodyPr wrap="square" lIns="73152" tIns="73152" rIns="73152" bIns="73152" anchor="ctr">
              <a:norm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54" name="Text"/>
            <p:cNvSpPr txBox="1"/>
            <p:nvPr/>
          </p:nvSpPr>
          <p:spPr>
            <a:xfrm>
              <a:off x="1372" y="7917"/>
              <a:ext cx="6842" cy="648"/>
            </a:xfrm>
            <a:prstGeom prst="roundRect">
              <a:avLst/>
            </a:prstGeom>
            <a:solidFill>
              <a:srgbClr val="000000">
                <a:alpha val="0"/>
              </a:srgbClr>
            </a:solidFill>
            <a:ln w="9000">
              <a:solidFill>
                <a:srgbClr val="D9DEE5"/>
              </a:solidFill>
            </a:ln>
          </p:spPr>
          <p:txBody>
            <a:bodyPr wrap="square" lIns="18288" tIns="18288" rIns="18288" bIns="18288" anchor="ctr"/>
            <a:lstStyle/>
            <a:p>
              <a:pPr algn="ctr"/>
              <a:r>
                <a:rPr lang="en-US" altLang="en-US" sz="2000" b="1" dirty="0" smtClean="0">
                  <a:solidFill>
                    <a:srgbClr val="17718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CarSim</a:t>
              </a:r>
              <a:r>
                <a:rPr lang="zh-CN" altLang="en-US" sz="2000" b="1" dirty="0" smtClean="0">
                  <a:solidFill>
                    <a:srgbClr val="17718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响应符合附着限制分层</a:t>
              </a:r>
              <a:endParaRPr lang="zh-CN" altLang="en-US" sz="2000" b="1" dirty="0" smtClean="0">
                <a:solidFill>
                  <a:srgbClr val="17718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5" name="Text"/>
                <p:cNvSpPr txBox="1"/>
                <p:nvPr/>
              </p:nvSpPr>
              <p:spPr>
                <a:xfrm>
                  <a:off x="1010" y="8645"/>
                  <a:ext cx="7660" cy="648"/>
                </a:xfrm>
                <a:prstGeom prst="roundRect">
                  <a:avLst/>
                </a:prstGeom>
                <a:solidFill>
                  <a:srgbClr val="000000">
                    <a:alpha val="0"/>
                  </a:srgbClr>
                </a:solidFill>
                <a:ln w="9000">
                  <a:solidFill>
                    <a:srgbClr val="D9DEE5"/>
                  </a:solidFill>
                </a:ln>
              </p:spPr>
              <p:txBody>
                <a:bodyPr wrap="square" lIns="18288" tIns="18288" rIns="18288" bIns="18288" anchor="ctr"/>
                <a:lstStyle/>
                <a:p>
                  <a:pPr algn="l"/>
                  <a14:m>
                    <m:oMath xmlns:m="http://schemas.openxmlformats.org/officeDocument/2006/math"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𝜇</m:t>
                      </m:r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 = </m:t>
                      </m:r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0</m:t>
                      </m:r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.</m:t>
                      </m:r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2</m:t>
                      </m:r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：</m:t>
                      </m:r>
                    </m:oMath>
                  </a14:m>
                  <a:r>
                    <a:rPr lang="zh-CN" altLang="en-US" sz="2000" b="0" i="0" dirty="0">
                      <a:solidFill>
                        <a:srgbClr val="20242A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Cambria Math" panose="02040503050406030204"/>
                    </a:rPr>
                    <a:t>峰值减速度约</a:t>
                  </a:r>
                  <a14:m>
                    <m:oMath xmlns:m="http://schemas.openxmlformats.org/officeDocument/2006/math">
                      <m:r>
                        <m:rPr>
                          <m:brk/>
                        </m:rP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 </m:t>
                      </m:r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2</m:t>
                      </m:r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 </m:t>
                      </m:r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𝑚</m:t>
                      </m:r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/</m:t>
                      </m:r>
                      <m:sSup>
                        <m:sSupPr>
                          <m:ctrlPr>
                            <a:rPr sz="2000"/>
                          </m:ctrlPr>
                        </m:sSupPr>
                        <m:e>
                          <m:r>
                            <a:rPr lang="en-US" sz="200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𝑠</m:t>
                          </m:r>
                        </m:e>
                        <m:sup>
                          <m:r>
                            <a:rPr lang="en-US" sz="200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2</m:t>
                          </m:r>
                        </m:sup>
                      </m:sSup>
                    </m:oMath>
                  </a14:m>
                  <a:endParaRPr lang="zh-CN" altLang="en-US" sz="2000" dirty="0" smtClean="0">
                    <a:solidFill>
                      <a:srgbClr val="20242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endParaRPr>
                </a:p>
              </p:txBody>
            </p:sp>
          </mc:Choice>
          <mc:Fallback>
            <p:sp>
              <p:nvSpPr>
                <p:cNvPr id="55" name="Text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0" y="8645"/>
                  <a:ext cx="7660" cy="648"/>
                </a:xfrm>
                <a:prstGeom prst="roundRect">
                  <a:avLst/>
                </a:prstGeom>
                <a:blipFill rotWithShape="1">
                  <a:blip r:embed="rId1"/>
                </a:blipFill>
                <a:ln w="9000">
                  <a:solidFill>
                    <a:srgbClr val="D9DEE5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6" name="Text"/>
                <p:cNvSpPr txBox="1"/>
                <p:nvPr/>
              </p:nvSpPr>
              <p:spPr>
                <a:xfrm>
                  <a:off x="1010" y="9600"/>
                  <a:ext cx="6842" cy="648"/>
                </a:xfrm>
                <a:prstGeom prst="roundRect">
                  <a:avLst/>
                </a:prstGeom>
                <a:solidFill>
                  <a:srgbClr val="000000">
                    <a:alpha val="0"/>
                  </a:srgbClr>
                </a:solidFill>
                <a:ln w="9000">
                  <a:solidFill>
                    <a:srgbClr val="D9DEE5"/>
                  </a:solidFill>
                </a:ln>
              </p:spPr>
              <p:txBody>
                <a:bodyPr wrap="square" lIns="18288" tIns="18288" rIns="18288" bIns="18288" anchor="ctr"/>
                <a:lstStyle/>
                <a:p>
                  <a14:m>
                    <m:oMath xmlns:m="http://schemas.openxmlformats.org/officeDocument/2006/math"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𝜇</m:t>
                      </m:r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 = </m:t>
                      </m:r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0</m:t>
                      </m:r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.</m:t>
                      </m:r>
                      <m:r>
                        <m:rPr>
                          <m:brk/>
                        </m:rP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8</m:t>
                      </m:r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：</m:t>
                      </m:r>
                    </m:oMath>
                  </a14:m>
                  <a:r>
                    <a:rPr lang="zh-CN" altLang="en-US" sz="2000" b="0" i="0" dirty="0">
                      <a:solidFill>
                        <a:srgbClr val="20242A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Cambria Math" panose="02040503050406030204"/>
                      <a:sym typeface="+mn-ea"/>
                    </a:rPr>
                    <a:t>峰值减速度超过</a:t>
                  </a:r>
                  <a14:m>
                    <m:oMath xmlns:m="http://schemas.openxmlformats.org/officeDocument/2006/math">
                      <m:r>
                        <m:rPr>
                          <m:brk/>
                        </m:rP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 </m:t>
                      </m:r>
                      <m:r>
                        <m:rPr>
                          <m:brk/>
                        </m:rP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7</m:t>
                      </m:r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 </m:t>
                      </m:r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𝑚</m:t>
                      </m:r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/</m:t>
                      </m:r>
                      <m:sSup>
                        <m:sSupPr>
                          <m:ctrlPr>
                            <a:rPr sz="2000"/>
                          </m:ctrlPr>
                        </m:sSupPr>
                        <m:e>
                          <m:r>
                            <a:rPr lang="en-US" sz="200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𝑠</m:t>
                          </m:r>
                        </m:e>
                        <m:sup>
                          <m:r>
                            <a:rPr lang="en-US" sz="200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2</m:t>
                          </m:r>
                        </m:sup>
                      </m:sSup>
                    </m:oMath>
                  </a14:m>
                  <a:endParaRPr lang="zh-CN" altLang="en-US" sz="2000" dirty="0" smtClean="0">
                    <a:solidFill>
                      <a:srgbClr val="20242A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endParaRPr>
                </a:p>
              </p:txBody>
            </p:sp>
          </mc:Choice>
          <mc:Fallback>
            <p:sp>
              <p:nvSpPr>
                <p:cNvPr id="56" name="Text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0" y="9600"/>
                  <a:ext cx="6842" cy="648"/>
                </a:xfrm>
                <a:prstGeom prst="roundRect">
                  <a:avLst/>
                </a:prstGeom>
                <a:blipFill rotWithShape="1">
                  <a:blip r:embed="rId2"/>
                </a:blipFill>
                <a:ln w="9000">
                  <a:solidFill>
                    <a:srgbClr val="D9DEE5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3" name="图片 2" descr="09_carsim_peak_decel_by_mu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1219200"/>
            <a:ext cx="6939280" cy="4627880"/>
          </a:xfrm>
          <a:prstGeom prst="rect">
            <a:avLst/>
          </a:prstGeom>
        </p:spPr>
      </p:pic>
      <p:sp>
        <p:nvSpPr>
          <p:cNvPr id="5" name="Text"/>
          <p:cNvSpPr txBox="1"/>
          <p:nvPr/>
        </p:nvSpPr>
        <p:spPr>
          <a:xfrm>
            <a:off x="7239000" y="5181600"/>
            <a:ext cx="4711065" cy="921385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9DEE5"/>
            </a:solidFill>
          </a:ln>
        </p:spPr>
        <p:txBody>
          <a:bodyPr wrap="square" lIns="54864" tIns="54864" rIns="54864" bIns="54864" anchor="ctr"/>
          <a:lstStyle/>
          <a:p>
            <a:pPr algn="ctr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077CC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高保真数据保留了关键物理规律</a:t>
            </a:r>
            <a:endParaRPr lang="zh-CN" altLang="en-US" sz="2000" dirty="0" smtClean="0">
              <a:solidFill>
                <a:srgbClr val="077CC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ctr" anchorCtr="0">
            <a:normAutofit/>
          </a:bodyPr>
          <a:lstStyle/>
          <a:p>
            <a:pPr algn="ctr">
              <a:buClrTx/>
              <a:buSzTx/>
              <a:buFontTx/>
            </a:pP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+mn-ea"/>
              </a:rPr>
              <a:t>为什么选择</a:t>
            </a:r>
            <a:r>
              <a:rPr sz="2800" dirty="0">
                <a:latin typeface="微软雅黑" panose="020B0503020204020204" charset="-122"/>
                <a:ea typeface="微软雅黑" panose="020B0503020204020204" charset="-122"/>
                <a:cs typeface="+mn-ea"/>
              </a:rPr>
              <a:t> GRU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+mn-ea"/>
              </a:rPr>
              <a:t>，而不是只用</a:t>
            </a:r>
            <a:r>
              <a:rPr sz="2800" dirty="0">
                <a:latin typeface="微软雅黑" panose="020B0503020204020204" charset="-122"/>
                <a:ea typeface="微软雅黑" panose="020B0503020204020204" charset="-122"/>
                <a:cs typeface="+mn-ea"/>
              </a:rPr>
              <a:t> LSTM</a:t>
            </a:r>
            <a:endParaRPr sz="2800" dirty="0"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823B-8CA8-4514-B4CF-AB75C2ECDFC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Text"/>
          <p:cNvSpPr txBox="1"/>
          <p:nvPr/>
        </p:nvSpPr>
        <p:spPr>
          <a:xfrm>
            <a:off x="1066800" y="5531485"/>
            <a:ext cx="9682480" cy="921385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9DEE5"/>
            </a:solidFill>
          </a:ln>
        </p:spPr>
        <p:txBody>
          <a:bodyPr wrap="square" lIns="54864" tIns="54864" rIns="54864" bIns="54864" anchor="ctr"/>
          <a:lstStyle/>
          <a:p>
            <a:pPr algn="ctr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077CC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规划器每一步会多次调用模型，因此轻量、稳定、足够准比单纯更大更重要</a:t>
            </a:r>
            <a:endParaRPr lang="zh-CN" altLang="en-US" sz="2000" dirty="0" smtClean="0">
              <a:solidFill>
                <a:srgbClr val="077CC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914400" y="1410335"/>
            <a:ext cx="10332720" cy="3967480"/>
            <a:chOff x="1440" y="1944"/>
            <a:chExt cx="16272" cy="5112"/>
          </a:xfrm>
        </p:grpSpPr>
        <p:sp>
          <p:nvSpPr>
            <p:cNvPr id="6" name="TableCell"/>
            <p:cNvSpPr txBox="1"/>
            <p:nvPr/>
          </p:nvSpPr>
          <p:spPr>
            <a:xfrm>
              <a:off x="1440" y="1944"/>
              <a:ext cx="5424" cy="1278"/>
            </a:xfrm>
            <a:prstGeom prst="rect">
              <a:avLst/>
            </a:prstGeom>
            <a:solidFill>
              <a:srgbClr val="9E1B32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2000" b="1" dirty="0" smtClean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维度</a:t>
              </a:r>
              <a:endParaRPr lang="zh-CN" altLang="en-US" sz="200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TableCell"/>
            <p:cNvSpPr txBox="1"/>
            <p:nvPr/>
          </p:nvSpPr>
          <p:spPr>
            <a:xfrm>
              <a:off x="6864" y="1944"/>
              <a:ext cx="5424" cy="1278"/>
            </a:xfrm>
            <a:prstGeom prst="rect">
              <a:avLst/>
            </a:prstGeom>
            <a:solidFill>
              <a:srgbClr val="9E1B32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2000" b="1" dirty="0" smtClean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LSTM</a:t>
              </a:r>
              <a:endParaRPr lang="zh-CN" altLang="en-US" sz="200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TableCell"/>
            <p:cNvSpPr txBox="1"/>
            <p:nvPr/>
          </p:nvSpPr>
          <p:spPr>
            <a:xfrm>
              <a:off x="12288" y="1944"/>
              <a:ext cx="5424" cy="1278"/>
            </a:xfrm>
            <a:prstGeom prst="rect">
              <a:avLst/>
            </a:prstGeom>
            <a:solidFill>
              <a:srgbClr val="9E1B32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2000" b="1" dirty="0" smtClean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GRU</a:t>
              </a:r>
              <a:endParaRPr lang="zh-CN" altLang="en-US" sz="200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TableCell"/>
            <p:cNvSpPr txBox="1"/>
            <p:nvPr/>
          </p:nvSpPr>
          <p:spPr>
            <a:xfrm>
              <a:off x="1440" y="3222"/>
              <a:ext cx="5424" cy="1278"/>
            </a:xfrm>
            <a:prstGeom prst="rect">
              <a:avLst/>
            </a:prstGeom>
            <a:solidFill>
              <a:srgbClr val="FFFFFF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20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门结构</a:t>
              </a:r>
              <a:endParaRPr lang="zh-CN" altLang="en-US" sz="2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TableCell"/>
            <p:cNvSpPr txBox="1"/>
            <p:nvPr/>
          </p:nvSpPr>
          <p:spPr>
            <a:xfrm>
              <a:off x="6864" y="3222"/>
              <a:ext cx="5424" cy="1278"/>
            </a:xfrm>
            <a:prstGeom prst="rect">
              <a:avLst/>
            </a:prstGeom>
            <a:solidFill>
              <a:srgbClr val="FFFFFF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20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输入/遗忘/输出门</a:t>
              </a:r>
              <a:endParaRPr lang="zh-CN" altLang="en-US" sz="2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TableCell"/>
            <p:cNvSpPr txBox="1"/>
            <p:nvPr/>
          </p:nvSpPr>
          <p:spPr>
            <a:xfrm>
              <a:off x="12288" y="3222"/>
              <a:ext cx="5424" cy="1278"/>
            </a:xfrm>
            <a:prstGeom prst="rect">
              <a:avLst/>
            </a:prstGeom>
            <a:solidFill>
              <a:srgbClr val="FFFFFF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20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重置/更新门</a:t>
              </a:r>
              <a:endParaRPr lang="zh-CN" altLang="en-US" sz="2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TableCell"/>
            <p:cNvSpPr txBox="1"/>
            <p:nvPr/>
          </p:nvSpPr>
          <p:spPr>
            <a:xfrm>
              <a:off x="1440" y="4500"/>
              <a:ext cx="5424" cy="1278"/>
            </a:xfrm>
            <a:prstGeom prst="rect">
              <a:avLst/>
            </a:prstGeom>
            <a:solidFill>
              <a:srgbClr val="F4F6F8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20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参数规模</a:t>
              </a:r>
              <a:endParaRPr lang="zh-CN" altLang="en-US" sz="2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4" name="TableCell"/>
            <p:cNvSpPr txBox="1"/>
            <p:nvPr/>
          </p:nvSpPr>
          <p:spPr>
            <a:xfrm>
              <a:off x="6864" y="4500"/>
              <a:ext cx="5424" cy="1278"/>
            </a:xfrm>
            <a:prstGeom prst="rect">
              <a:avLst/>
            </a:prstGeom>
            <a:solidFill>
              <a:srgbClr val="F4F6F8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20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相对更高</a:t>
              </a:r>
              <a:endParaRPr lang="zh-CN" altLang="en-US" sz="2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TableCell"/>
            <p:cNvSpPr txBox="1"/>
            <p:nvPr/>
          </p:nvSpPr>
          <p:spPr>
            <a:xfrm>
              <a:off x="12288" y="4500"/>
              <a:ext cx="5424" cy="1278"/>
            </a:xfrm>
            <a:prstGeom prst="rect">
              <a:avLst/>
            </a:prstGeom>
            <a:solidFill>
              <a:srgbClr val="F4F6F8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20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相对更低</a:t>
              </a:r>
              <a:endParaRPr lang="zh-CN" altLang="en-US" sz="2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6" name="TableCell"/>
            <p:cNvSpPr txBox="1"/>
            <p:nvPr/>
          </p:nvSpPr>
          <p:spPr>
            <a:xfrm>
              <a:off x="1440" y="5778"/>
              <a:ext cx="5424" cy="1278"/>
            </a:xfrm>
            <a:prstGeom prst="rect">
              <a:avLst/>
            </a:prstGeom>
            <a:solidFill>
              <a:srgbClr val="FFFFFF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20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规划调用</a:t>
              </a:r>
              <a:endParaRPr lang="zh-CN" altLang="en-US" sz="2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7" name="TableCell"/>
            <p:cNvSpPr txBox="1"/>
            <p:nvPr/>
          </p:nvSpPr>
          <p:spPr>
            <a:xfrm>
              <a:off x="6864" y="5778"/>
              <a:ext cx="5424" cy="1278"/>
            </a:xfrm>
            <a:prstGeom prst="rect">
              <a:avLst/>
            </a:prstGeom>
            <a:solidFill>
              <a:srgbClr val="FFFFFF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20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精度强但更重</a:t>
              </a:r>
              <a:endParaRPr lang="zh-CN" altLang="en-US" sz="2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8" name="TableCell"/>
            <p:cNvSpPr txBox="1"/>
            <p:nvPr/>
          </p:nvSpPr>
          <p:spPr>
            <a:xfrm>
              <a:off x="12288" y="5778"/>
              <a:ext cx="5424" cy="1278"/>
            </a:xfrm>
            <a:prstGeom prst="rect">
              <a:avLst/>
            </a:prstGeom>
            <a:solidFill>
              <a:srgbClr val="FFFFFF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20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当前工程折中</a:t>
              </a:r>
              <a:endParaRPr lang="zh-CN" altLang="en-US" sz="2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ctr" anchorCtr="0">
            <a:normAutofit/>
          </a:bodyPr>
          <a:lstStyle/>
          <a:p>
            <a:pPr algn="ctr"/>
            <a:r>
              <a:rPr sz="2800" dirty="0">
                <a:latin typeface="微软雅黑" panose="020B0503020204020204" charset="-122"/>
                <a:ea typeface="微软雅黑" panose="020B0503020204020204" charset="-122"/>
                <a:cs typeface="+mn-ea"/>
              </a:rPr>
              <a:t>LSTM/GRU 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+mn-ea"/>
              </a:rPr>
              <a:t>消融实验设计</a:t>
            </a:r>
            <a:endParaRPr lang="zh-CN" altLang="en-US" sz="3600" dirty="0">
              <a:ea typeface="宋体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823B-8CA8-4514-B4CF-AB75C2ECDFC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Text"/>
          <p:cNvSpPr txBox="1"/>
          <p:nvPr/>
        </p:nvSpPr>
        <p:spPr>
          <a:xfrm>
            <a:off x="1066800" y="5683885"/>
            <a:ext cx="9682480" cy="921385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9DEE5"/>
            </a:solidFill>
          </a:ln>
        </p:spPr>
        <p:txBody>
          <a:bodyPr wrap="square" lIns="54864" tIns="54864" rIns="54864" bIns="54864" anchor="ctr"/>
          <a:lstStyle/>
          <a:p>
            <a:pPr algn="ctr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077CC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差异主要来自结构本身，而不是训练设置变化</a:t>
            </a:r>
            <a:endParaRPr lang="zh-CN" altLang="en-US" sz="2000" dirty="0" smtClean="0">
              <a:solidFill>
                <a:srgbClr val="077CC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960120" y="1554480"/>
            <a:ext cx="10241280" cy="3977640"/>
            <a:chOff x="1512" y="1728"/>
            <a:chExt cx="16128" cy="6264"/>
          </a:xfrm>
        </p:grpSpPr>
        <p:sp>
          <p:nvSpPr>
            <p:cNvPr id="17" name="TableCell"/>
            <p:cNvSpPr txBox="1"/>
            <p:nvPr/>
          </p:nvSpPr>
          <p:spPr>
            <a:xfrm>
              <a:off x="1512" y="1728"/>
              <a:ext cx="5376" cy="1253"/>
            </a:xfrm>
            <a:prstGeom prst="rect">
              <a:avLst/>
            </a:prstGeom>
            <a:solidFill>
              <a:srgbClr val="9E1B32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2000" b="1" dirty="0" smtClean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变量</a:t>
              </a:r>
              <a:endParaRPr lang="zh-CN" altLang="en-US" sz="200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" name="TableCell"/>
            <p:cNvSpPr txBox="1"/>
            <p:nvPr/>
          </p:nvSpPr>
          <p:spPr>
            <a:xfrm>
              <a:off x="6888" y="1728"/>
              <a:ext cx="5376" cy="1253"/>
            </a:xfrm>
            <a:prstGeom prst="rect">
              <a:avLst/>
            </a:prstGeom>
            <a:solidFill>
              <a:srgbClr val="9E1B32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2000" b="1" dirty="0" smtClean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配置 A</a:t>
              </a:r>
              <a:endParaRPr lang="zh-CN" altLang="en-US" sz="200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" name="TableCell"/>
            <p:cNvSpPr txBox="1"/>
            <p:nvPr/>
          </p:nvSpPr>
          <p:spPr>
            <a:xfrm>
              <a:off x="12264" y="1728"/>
              <a:ext cx="5376" cy="1253"/>
            </a:xfrm>
            <a:prstGeom prst="rect">
              <a:avLst/>
            </a:prstGeom>
            <a:solidFill>
              <a:srgbClr val="9E1B32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2000" b="1" dirty="0" smtClean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配置 B</a:t>
              </a:r>
              <a:endParaRPr lang="zh-CN" altLang="en-US" sz="2000" b="1" dirty="0" smtClean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TableCell"/>
            <p:cNvSpPr txBox="1"/>
            <p:nvPr/>
          </p:nvSpPr>
          <p:spPr>
            <a:xfrm>
              <a:off x="1512" y="2981"/>
              <a:ext cx="5376" cy="1253"/>
            </a:xfrm>
            <a:prstGeom prst="rect">
              <a:avLst/>
            </a:prstGeom>
            <a:solidFill>
              <a:srgbClr val="FFFFFF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20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循环单元</a:t>
              </a:r>
              <a:endParaRPr lang="zh-CN" altLang="en-US" sz="2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" name="TableCell"/>
            <p:cNvSpPr txBox="1"/>
            <p:nvPr/>
          </p:nvSpPr>
          <p:spPr>
            <a:xfrm>
              <a:off x="6888" y="2981"/>
              <a:ext cx="5376" cy="1253"/>
            </a:xfrm>
            <a:prstGeom prst="rect">
              <a:avLst/>
            </a:prstGeom>
            <a:solidFill>
              <a:srgbClr val="FFFFFF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20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LSTM</a:t>
              </a:r>
              <a:endParaRPr lang="zh-CN" altLang="en-US" sz="2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TableCell"/>
            <p:cNvSpPr txBox="1"/>
            <p:nvPr/>
          </p:nvSpPr>
          <p:spPr>
            <a:xfrm>
              <a:off x="12264" y="2981"/>
              <a:ext cx="5376" cy="1253"/>
            </a:xfrm>
            <a:prstGeom prst="rect">
              <a:avLst/>
            </a:prstGeom>
            <a:solidFill>
              <a:srgbClr val="FFFFFF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20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GRU</a:t>
              </a:r>
              <a:endParaRPr lang="zh-CN" altLang="en-US" sz="2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TableCell"/>
            <p:cNvSpPr txBox="1"/>
            <p:nvPr/>
          </p:nvSpPr>
          <p:spPr>
            <a:xfrm>
              <a:off x="1512" y="4234"/>
              <a:ext cx="5376" cy="1253"/>
            </a:xfrm>
            <a:prstGeom prst="rect">
              <a:avLst/>
            </a:prstGeom>
            <a:solidFill>
              <a:srgbClr val="F4F6F8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20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序列长度</a:t>
              </a:r>
              <a:endParaRPr lang="zh-CN" altLang="en-US" sz="2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ableCell"/>
            <p:cNvSpPr txBox="1"/>
            <p:nvPr/>
          </p:nvSpPr>
          <p:spPr>
            <a:xfrm>
              <a:off x="6888" y="4234"/>
              <a:ext cx="5376" cy="1253"/>
            </a:xfrm>
            <a:prstGeom prst="rect">
              <a:avLst/>
            </a:prstGeom>
            <a:solidFill>
              <a:srgbClr val="F4F6F8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20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5</a:t>
              </a:r>
              <a:endParaRPr lang="zh-CN" altLang="en-US" sz="2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TableCell"/>
            <p:cNvSpPr txBox="1"/>
            <p:nvPr/>
          </p:nvSpPr>
          <p:spPr>
            <a:xfrm>
              <a:off x="12264" y="4234"/>
              <a:ext cx="5376" cy="1253"/>
            </a:xfrm>
            <a:prstGeom prst="rect">
              <a:avLst/>
            </a:prstGeom>
            <a:solidFill>
              <a:srgbClr val="F4F6F8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20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50</a:t>
              </a:r>
              <a:endParaRPr lang="zh-CN" altLang="en-US" sz="2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TableCell"/>
            <p:cNvSpPr txBox="1"/>
            <p:nvPr/>
          </p:nvSpPr>
          <p:spPr>
            <a:xfrm>
              <a:off x="1512" y="5486"/>
              <a:ext cx="5376" cy="1253"/>
            </a:xfrm>
            <a:prstGeom prst="rect">
              <a:avLst/>
            </a:prstGeom>
            <a:solidFill>
              <a:srgbClr val="FFFFFF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20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隐藏层</a:t>
              </a:r>
              <a:endParaRPr lang="zh-CN" altLang="en-US" sz="2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TableCell"/>
            <p:cNvSpPr txBox="1"/>
            <p:nvPr/>
          </p:nvSpPr>
          <p:spPr>
            <a:xfrm>
              <a:off x="6888" y="5486"/>
              <a:ext cx="5376" cy="1253"/>
            </a:xfrm>
            <a:prstGeom prst="rect">
              <a:avLst/>
            </a:prstGeom>
            <a:solidFill>
              <a:srgbClr val="FFFFFF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20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64×1</a:t>
              </a:r>
              <a:endParaRPr lang="zh-CN" altLang="en-US" sz="2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9" name="TableCell"/>
            <p:cNvSpPr txBox="1"/>
            <p:nvPr/>
          </p:nvSpPr>
          <p:spPr>
            <a:xfrm>
              <a:off x="12264" y="5486"/>
              <a:ext cx="5376" cy="1253"/>
            </a:xfrm>
            <a:prstGeom prst="rect">
              <a:avLst/>
            </a:prstGeom>
            <a:solidFill>
              <a:srgbClr val="FFFFFF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20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128×2</a:t>
              </a:r>
              <a:endParaRPr lang="zh-CN" altLang="en-US" sz="2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0" name="TableCell"/>
            <p:cNvSpPr txBox="1"/>
            <p:nvPr/>
          </p:nvSpPr>
          <p:spPr>
            <a:xfrm>
              <a:off x="1512" y="6739"/>
              <a:ext cx="5376" cy="1253"/>
            </a:xfrm>
            <a:prstGeom prst="rect">
              <a:avLst/>
            </a:prstGeom>
            <a:solidFill>
              <a:srgbClr val="F4F6F8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20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控制项</a:t>
              </a:r>
              <a:endParaRPr lang="zh-CN" altLang="en-US" sz="2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1" name="TableCell"/>
            <p:cNvSpPr txBox="1"/>
            <p:nvPr/>
          </p:nvSpPr>
          <p:spPr>
            <a:xfrm>
              <a:off x="6888" y="6739"/>
              <a:ext cx="10576" cy="1253"/>
            </a:xfrm>
            <a:prstGeom prst="rect">
              <a:avLst/>
            </a:prstGeom>
            <a:solidFill>
              <a:srgbClr val="F4F6F8"/>
            </a:solidFill>
            <a:ln w="9000">
              <a:solidFill>
                <a:srgbClr val="CDD4DA"/>
              </a:solidFill>
            </a:ln>
          </p:spPr>
          <p:txBody>
            <a:bodyPr wrap="square" lIns="22860" tIns="22860" rIns="22860" bIns="22860" anchor="ctr"/>
            <a:lstStyle/>
            <a:p>
              <a:pPr algn="ctr"/>
              <a:r>
                <a:rPr lang="zh-CN" altLang="en-US" sz="2000" dirty="0" smtClean="0">
                  <a:solidFill>
                    <a:srgbClr val="20242A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随机种子 / 划分 / epoch / PINN 权重固定</a:t>
              </a:r>
              <a:endParaRPr lang="zh-CN" altLang="en-US" sz="2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ctr" anchorCtr="0">
            <a:normAutofit/>
          </a:bodyPr>
          <a:lstStyle/>
          <a:p>
            <a:pPr algn="ctr">
              <a:buClrTx/>
              <a:buSzTx/>
              <a:buFontTx/>
            </a:pPr>
            <a:r>
              <a:rPr sz="2800" dirty="0">
                <a:latin typeface="微软雅黑" panose="020B0503020204020204" charset="-122"/>
                <a:ea typeface="微软雅黑" panose="020B0503020204020204" charset="-122"/>
                <a:cs typeface="+mn-ea"/>
              </a:rPr>
              <a:t>LSTM/GRU 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+mn-ea"/>
              </a:rPr>
              <a:t>消融实验结果</a:t>
            </a:r>
            <a:endParaRPr lang="zh-CN" altLang="en-US" sz="2800" dirty="0"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823B-8CA8-4514-B4CF-AB75C2ECDFC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Text"/>
          <p:cNvSpPr txBox="1"/>
          <p:nvPr/>
        </p:nvSpPr>
        <p:spPr>
          <a:xfrm>
            <a:off x="1066800" y="5844540"/>
            <a:ext cx="9682480" cy="921385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9DEE5"/>
            </a:solidFill>
          </a:ln>
        </p:spPr>
        <p:txBody>
          <a:bodyPr wrap="square" lIns="54864" tIns="54864" rIns="54864" bIns="54864" anchor="ctr"/>
          <a:lstStyle/>
          <a:p>
            <a:pPr algn="ctr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077CC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并非模型越深、序列越长，效果就越好</a:t>
            </a:r>
            <a:endParaRPr lang="zh-CN" altLang="en-US" sz="2000" dirty="0" smtClean="0">
              <a:solidFill>
                <a:srgbClr val="077CC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pic>
        <p:nvPicPr>
          <p:cNvPr id="6" name="图片 5" descr="06_recurrent_ablation_rmse_param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0365" y="1524000"/>
            <a:ext cx="7744460" cy="4345305"/>
          </a:xfrm>
          <a:prstGeom prst="rect">
            <a:avLst/>
          </a:prstGeom>
        </p:spPr>
      </p:pic>
      <p:sp>
        <p:nvSpPr>
          <p:cNvPr id="18" name="Text"/>
          <p:cNvSpPr txBox="1"/>
          <p:nvPr/>
        </p:nvSpPr>
        <p:spPr>
          <a:xfrm>
            <a:off x="8152765" y="2197100"/>
            <a:ext cx="3703320" cy="774700"/>
          </a:xfrm>
          <a:prstGeom prst="roundRect">
            <a:avLst/>
          </a:prstGeom>
          <a:solidFill>
            <a:srgbClr val="FDF4F2"/>
          </a:solidFill>
          <a:ln w="38100">
            <a:solidFill>
              <a:srgbClr val="E6C2BC"/>
            </a:solidFill>
          </a:ln>
        </p:spPr>
        <p:txBody>
          <a:bodyPr wrap="square" lIns="54864" tIns="54864" rIns="54864" bIns="54864" anchor="ctr"/>
          <a:lstStyle/>
          <a:p>
            <a:pPr algn="ctr"/>
            <a:r>
              <a:rPr lang="zh-CN" altLang="en-US" sz="2000" b="1" dirty="0" smtClean="0">
                <a:solidFill>
                  <a:srgbClr val="9E1B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推荐配置：GRU S5 H64 L1</a:t>
            </a:r>
            <a:endParaRPr lang="zh-CN" altLang="en-US" sz="2000" b="1" dirty="0" smtClean="0">
              <a:solidFill>
                <a:srgbClr val="9E1B3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3" name="Text"/>
          <p:cNvSpPr txBox="1"/>
          <p:nvPr/>
        </p:nvSpPr>
        <p:spPr>
          <a:xfrm>
            <a:off x="8152765" y="3761486"/>
            <a:ext cx="3703320" cy="530352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9DEE5"/>
            </a:solidFill>
          </a:ln>
        </p:spPr>
        <p:txBody>
          <a:bodyPr wrap="square" lIns="54864" tIns="54864" rIns="54864" bIns="54864" anchor="ctr"/>
          <a:lstStyle/>
          <a:p>
            <a:r>
              <a:rPr lang="zh-CN" altLang="en-US" sz="18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参数量：17,730</a:t>
            </a:r>
            <a:endParaRPr lang="zh-CN" altLang="en-US" sz="1800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"/>
              <p:cNvSpPr txBox="1"/>
              <p:nvPr/>
            </p:nvSpPr>
            <p:spPr>
              <a:xfrm>
                <a:off x="8152765" y="4547870"/>
                <a:ext cx="3703320" cy="530352"/>
              </a:xfrm>
              <a:prstGeom prst="roundRect">
                <a:avLst/>
              </a:prstGeom>
              <a:solidFill>
                <a:srgbClr val="FFFFFF"/>
              </a:solidFill>
              <a:ln w="9000">
                <a:solidFill>
                  <a:srgbClr val="D9DEE5"/>
                </a:solidFill>
              </a:ln>
            </p:spPr>
            <p:txBody>
              <a:bodyPr wrap="square" lIns="36576" tIns="36576" rIns="36576" bIns="36576" anchor="ctr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速度 </m:t>
                      </m:r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𝑅𝑀𝑆𝐸</m:t>
                      </m:r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：</m:t>
                      </m:r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0</m:t>
                      </m:r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.</m:t>
                      </m:r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0648</m:t>
                      </m:r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 </m:t>
                      </m:r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𝑚</m:t>
                      </m:r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/</m:t>
                      </m:r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𝑠</m:t>
                      </m:r>
                    </m:oMath>
                  </m:oMathPara>
                </a14:m>
                <a:endParaRPr lang="en-US" sz="2000" dirty="0">
                  <a:solidFill>
                    <a:srgbClr val="20242A"/>
                  </a:solidFill>
                  <a:latin typeface="Cambria Math" panose="02040503050406030204"/>
                  <a:ea typeface="Cambria Math" panose="02040503050406030204"/>
                  <a:cs typeface="Cambria Math" panose="02040503050406030204"/>
                </a:endParaRPr>
              </a:p>
            </p:txBody>
          </p:sp>
        </mc:Choice>
        <mc:Fallback>
          <p:sp>
            <p:nvSpPr>
              <p:cNvPr id="24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2765" y="4547870"/>
                <a:ext cx="3703320" cy="530352"/>
              </a:xfrm>
              <a:prstGeom prst="roundRect">
                <a:avLst/>
              </a:prstGeom>
              <a:blipFill rotWithShape="1">
                <a:blip r:embed="rId2"/>
                <a:stretch>
                  <a:fillRect l="-137" t="-958" r="-120" b="-814"/>
                </a:stretch>
              </a:blipFill>
              <a:ln w="9000">
                <a:solidFill>
                  <a:srgbClr val="D9DEE5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"/>
              <p:cNvSpPr txBox="1"/>
              <p:nvPr/>
            </p:nvSpPr>
            <p:spPr>
              <a:xfrm>
                <a:off x="8152765" y="5334254"/>
                <a:ext cx="3703320" cy="530352"/>
              </a:xfrm>
              <a:prstGeom prst="roundRect">
                <a:avLst/>
              </a:prstGeom>
              <a:solidFill>
                <a:srgbClr val="FFFFFF"/>
              </a:solidFill>
              <a:ln w="9000">
                <a:solidFill>
                  <a:srgbClr val="D9DEE5"/>
                </a:solidFill>
              </a:ln>
            </p:spPr>
            <p:txBody>
              <a:bodyPr wrap="square" lIns="36576" tIns="36576" rIns="36576" bIns="36576" anchor="ctr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加速度 </m:t>
                      </m:r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𝑅𝑀𝑆𝐸</m:t>
                      </m:r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：</m:t>
                      </m:r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0</m:t>
                      </m:r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.</m:t>
                      </m:r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0431</m:t>
                      </m:r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 </m:t>
                      </m:r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𝑚</m:t>
                      </m:r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/</m:t>
                      </m:r>
                      <m:sSup>
                        <m:sSupPr>
                          <m:ctrlPr>
                            <a:rPr sz="2800"/>
                          </m:ctrlPr>
                        </m:sSupPr>
                        <m:e>
                          <m:r>
                            <a:rPr lang="en-US" sz="200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𝑠</m:t>
                          </m:r>
                        </m:e>
                        <m:sup>
                          <m:r>
                            <a:rPr lang="en-US" sz="180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000" dirty="0">
                  <a:solidFill>
                    <a:srgbClr val="20242A"/>
                  </a:solidFill>
                  <a:latin typeface="Cambria Math" panose="02040503050406030204"/>
                  <a:ea typeface="Cambria Math" panose="02040503050406030204"/>
                  <a:cs typeface="Cambria Math" panose="02040503050406030204"/>
                </a:endParaRPr>
              </a:p>
            </p:txBody>
          </p:sp>
        </mc:Choice>
        <mc:Fallback>
          <p:sp>
            <p:nvSpPr>
              <p:cNvPr id="25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2765" y="5334254"/>
                <a:ext cx="3703320" cy="530352"/>
              </a:xfrm>
              <a:prstGeom prst="roundRect">
                <a:avLst/>
              </a:prstGeom>
              <a:blipFill rotWithShape="1">
                <a:blip r:embed="rId3"/>
                <a:stretch>
                  <a:fillRect l="-137" t="-1006" r="-120" b="-886"/>
                </a:stretch>
              </a:blipFill>
              <a:ln w="9000">
                <a:solidFill>
                  <a:srgbClr val="D9DEE5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ctr" anchorCtr="0">
            <a:normAutofit/>
          </a:bodyPr>
          <a:lstStyle/>
          <a:p>
            <a:pPr algn="ctr">
              <a:buClrTx/>
              <a:buSzTx/>
              <a:buFontTx/>
            </a:pPr>
            <a:r>
              <a:rPr sz="2800" dirty="0">
                <a:latin typeface="微软雅黑" panose="020B0503020204020204" charset="-122"/>
                <a:ea typeface="微软雅黑" panose="020B0503020204020204" charset="-122"/>
                <a:cs typeface="+mn-ea"/>
              </a:rPr>
              <a:t>模型规模与误差权衡</a:t>
            </a:r>
            <a:endParaRPr sz="2800" dirty="0"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823B-8CA8-4514-B4CF-AB75C2ECDFC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Text"/>
          <p:cNvSpPr txBox="1"/>
          <p:nvPr/>
        </p:nvSpPr>
        <p:spPr>
          <a:xfrm>
            <a:off x="1066800" y="5844540"/>
            <a:ext cx="9682480" cy="921385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9DEE5"/>
            </a:solidFill>
          </a:ln>
        </p:spPr>
        <p:txBody>
          <a:bodyPr wrap="square" lIns="54864" tIns="54864" rIns="54864" bIns="54864" anchor="ctr"/>
          <a:lstStyle/>
          <a:p>
            <a:pPr algn="ctr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077CC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并非模型越深、序列越长，效果就越好</a:t>
            </a:r>
            <a:endParaRPr lang="zh-CN" altLang="en-US" sz="2000" dirty="0" smtClean="0">
              <a:solidFill>
                <a:srgbClr val="077CC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8" name="Text"/>
          <p:cNvSpPr txBox="1"/>
          <p:nvPr/>
        </p:nvSpPr>
        <p:spPr>
          <a:xfrm>
            <a:off x="8152765" y="2197100"/>
            <a:ext cx="3703320" cy="774700"/>
          </a:xfrm>
          <a:prstGeom prst="roundRect">
            <a:avLst/>
          </a:prstGeom>
          <a:solidFill>
            <a:srgbClr val="FDF4F2"/>
          </a:solidFill>
          <a:ln w="38100">
            <a:solidFill>
              <a:srgbClr val="E6C2BC"/>
            </a:solidFill>
          </a:ln>
        </p:spPr>
        <p:txBody>
          <a:bodyPr wrap="square" lIns="54864" tIns="54864" rIns="54864" bIns="54864" anchor="ctr"/>
          <a:lstStyle/>
          <a:p>
            <a:pPr algn="ctr"/>
            <a:r>
              <a:rPr lang="zh-CN" altLang="en-US" sz="2000" b="1" dirty="0" smtClean="0">
                <a:solidFill>
                  <a:srgbClr val="9E1B3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更大的模型不保证更低的误差</a:t>
            </a:r>
            <a:endParaRPr lang="zh-CN" altLang="en-US" sz="2000" b="1" dirty="0" smtClean="0">
              <a:solidFill>
                <a:srgbClr val="9E1B32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3" name="Text"/>
          <p:cNvSpPr txBox="1"/>
          <p:nvPr/>
        </p:nvSpPr>
        <p:spPr>
          <a:xfrm>
            <a:off x="8152765" y="3277235"/>
            <a:ext cx="3703320" cy="1016635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9DEE5"/>
            </a:solidFill>
          </a:ln>
        </p:spPr>
        <p:txBody>
          <a:bodyPr wrap="square" lIns="54864" tIns="54864" rIns="54864" bIns="54864" anchor="ctr"/>
          <a:lstStyle/>
          <a:p>
            <a:pPr>
              <a:lnSpc>
                <a:spcPct val="150000"/>
              </a:lnSpc>
            </a:pPr>
            <a:r>
              <a:rPr lang="zh-CN" altLang="en-US" sz="18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长序列对部分速度指标有帮助，</a:t>
            </a:r>
            <a:endParaRPr lang="zh-CN" altLang="en-US" sz="1800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但会影响减速度的表现</a:t>
            </a:r>
            <a:endParaRPr lang="zh-CN" altLang="en-US" sz="1800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" name="Text"/>
          <p:cNvSpPr txBox="1"/>
          <p:nvPr/>
        </p:nvSpPr>
        <p:spPr>
          <a:xfrm>
            <a:off x="8152765" y="4495800"/>
            <a:ext cx="4038600" cy="1016635"/>
          </a:xfrm>
          <a:prstGeom prst="roundRect">
            <a:avLst/>
          </a:prstGeom>
          <a:solidFill>
            <a:srgbClr val="000000">
              <a:alpha val="0"/>
            </a:srgbClr>
          </a:solidFill>
          <a:ln w="9000">
            <a:solidFill>
              <a:srgbClr val="D9DEE5"/>
            </a:solidFill>
          </a:ln>
        </p:spPr>
        <p:txBody>
          <a:bodyPr wrap="square" lIns="54864" tIns="54864" rIns="54864" bIns="54864" anchor="ctr"/>
          <a:lstStyle/>
          <a:p>
            <a:pPr>
              <a:lnSpc>
                <a:spcPct val="150000"/>
              </a:lnSpc>
            </a:pPr>
            <a:r>
              <a:rPr lang="zh-CN" altLang="en-US" sz="18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短序列</a:t>
            </a:r>
            <a:r>
              <a:rPr lang="en-US" altLang="zh-CN" sz="18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GRU</a:t>
            </a:r>
            <a:r>
              <a:rPr lang="zh-CN" altLang="en-US" sz="18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是当前最合适的工程折中</a:t>
            </a:r>
            <a:endParaRPr lang="zh-CN" altLang="en-US" sz="1800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pic>
        <p:nvPicPr>
          <p:cNvPr id="7" name="图片 6" descr="07_recurrent_tradeoff_scatte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7965" y="1216660"/>
            <a:ext cx="7282815" cy="469582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CarSim-GRU </a:t>
            </a:r>
            <a:r>
              <a:rPr lang="zh-CN" altLang="en-US" dirty="0"/>
              <a:t>训练设置与验证</a:t>
            </a:r>
            <a:r>
              <a:rPr lang="zh-CN" altLang="en-US" dirty="0"/>
              <a:t>指标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823B-8CA8-4514-B4CF-AB75C2ECDFC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35263" y="940565"/>
            <a:ext cx="5797883" cy="472415"/>
          </a:xfrm>
        </p:spPr>
        <p:txBody>
          <a:bodyPr vert="horz" lIns="89995" tIns="45717" rIns="91435" bIns="45717" rtlCol="0">
            <a:noAutofit/>
          </a:bodyPr>
          <a:lstStyle/>
          <a:p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GRU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训练设置 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767368" y="1556890"/>
                <a:ext cx="8640510" cy="3987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Ø"/>
                </a:pPr>
                <a:r>
                  <a:rPr lang="zh-CN" altLang="en-US" sz="2000" dirty="0">
                    <a:latin typeface="Cambria Math" panose="02040503050406030204" pitchFamily="18" charset="0"/>
                    <a:ea typeface="微软雅黑" panose="020B0503020204020204" charset="-122"/>
                    <a:cs typeface="Cambria Math" panose="02040503050406030204" pitchFamily="18" charset="0"/>
                  </a:rPr>
                  <a:t>模型参数：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dirty="0">
                        <a:latin typeface="Cambria Math" panose="02040503050406030204" pitchFamily="18" charset="0"/>
                        <a:ea typeface="微软雅黑" panose="020B0503020204020204" charset="-122"/>
                        <a:cs typeface="Cambria Math" panose="02040503050406030204" pitchFamily="18" charset="0"/>
                      </a:rPr>
                      <m:t>S</m:t>
                    </m:r>
                    <m:r>
                      <a:rPr lang="en-US" altLang="zh-CN" sz="2000" dirty="0">
                        <a:latin typeface="Cambria Math" panose="02040503050406030204" pitchFamily="18" charset="0"/>
                        <a:ea typeface="微软雅黑" panose="020B0503020204020204" charset="-122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altLang="zh-CN" sz="2000" dirty="0">
                        <a:latin typeface="Cambria Math" panose="02040503050406030204" pitchFamily="18" charset="0"/>
                        <a:ea typeface="微软雅黑" panose="020B0503020204020204" charset="-122"/>
                        <a:cs typeface="Cambria Math" panose="02040503050406030204" pitchFamily="18" charset="0"/>
                      </a:rPr>
                      <m:t>5</m:t>
                    </m:r>
                    <m:r>
                      <a:rPr lang="en-US" altLang="zh-CN" sz="2000" dirty="0">
                        <a:latin typeface="Cambria Math" panose="02040503050406030204" pitchFamily="18" charset="0"/>
                        <a:ea typeface="微软雅黑" panose="020B0503020204020204" charset="-122"/>
                        <a:cs typeface="Cambria Math" panose="02040503050406030204" pitchFamily="18" charset="0"/>
                      </a:rPr>
                      <m:t>，</m:t>
                    </m:r>
                    <m:r>
                      <m:rPr>
                        <m:sty m:val="p"/>
                      </m:rPr>
                      <a:rPr lang="en-US" altLang="zh-CN" sz="2000" dirty="0">
                        <a:latin typeface="Cambria Math" panose="02040503050406030204" pitchFamily="18" charset="0"/>
                        <a:ea typeface="微软雅黑" panose="020B0503020204020204" charset="-122"/>
                        <a:cs typeface="Cambria Math" panose="02040503050406030204" pitchFamily="18" charset="0"/>
                      </a:rPr>
                      <m:t>H</m:t>
                    </m:r>
                    <m:r>
                      <a:rPr lang="en-US" altLang="zh-CN" sz="2000" dirty="0">
                        <a:latin typeface="Cambria Math" panose="02040503050406030204" pitchFamily="18" charset="0"/>
                        <a:ea typeface="微软雅黑" panose="020B0503020204020204" charset="-122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altLang="zh-CN" sz="2000" dirty="0">
                        <a:latin typeface="Cambria Math" panose="02040503050406030204" pitchFamily="18" charset="0"/>
                        <a:ea typeface="微软雅黑" panose="020B0503020204020204" charset="-122"/>
                        <a:cs typeface="Cambria Math" panose="02040503050406030204" pitchFamily="18" charset="0"/>
                      </a:rPr>
                      <m:t>64</m:t>
                    </m:r>
                    <m:r>
                      <a:rPr lang="en-US" altLang="zh-CN" sz="2000" dirty="0">
                        <a:latin typeface="Cambria Math" panose="02040503050406030204" pitchFamily="18" charset="0"/>
                        <a:ea typeface="微软雅黑" panose="020B0503020204020204" charset="-122"/>
                        <a:cs typeface="Cambria Math" panose="02040503050406030204" pitchFamily="18" charset="0"/>
                      </a:rPr>
                      <m:t>，</m:t>
                    </m:r>
                    <m:r>
                      <m:rPr>
                        <m:sty m:val="p"/>
                      </m:rPr>
                      <a:rPr lang="en-US" altLang="zh-CN" sz="2000" dirty="0">
                        <a:latin typeface="Cambria Math" panose="02040503050406030204" pitchFamily="18" charset="0"/>
                        <a:ea typeface="微软雅黑" panose="020B0503020204020204" charset="-122"/>
                        <a:cs typeface="Cambria Math" panose="02040503050406030204" pitchFamily="18" charset="0"/>
                      </a:rPr>
                      <m:t>L</m:t>
                    </m:r>
                    <m:r>
                      <a:rPr lang="en-US" altLang="zh-CN" sz="2000" dirty="0">
                        <a:latin typeface="Cambria Math" panose="02040503050406030204" pitchFamily="18" charset="0"/>
                        <a:ea typeface="微软雅黑" panose="020B0503020204020204" charset="-122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altLang="zh-CN" sz="2000" dirty="0">
                        <a:latin typeface="Cambria Math" panose="02040503050406030204" pitchFamily="18" charset="0"/>
                        <a:ea typeface="微软雅黑" panose="020B0503020204020204" charset="-122"/>
                        <a:cs typeface="Cambria Math" panose="02040503050406030204" pitchFamily="18" charset="0"/>
                      </a:rPr>
                      <m:t>1</m:t>
                    </m:r>
                  </m:oMath>
                </a14:m>
                <a:endParaRPr lang="en-US" altLang="zh-CN" sz="2000" dirty="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368" y="1556890"/>
                <a:ext cx="8640510" cy="398780"/>
              </a:xfrm>
              <a:prstGeom prst="rect">
                <a:avLst/>
              </a:prstGeom>
              <a:blipFill rotWithShape="1">
                <a:blip r:embed="rId1"/>
                <a:stretch>
                  <a:fillRect l="-3" t="-127" r="4" b="1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文本框 16"/>
          <p:cNvSpPr txBox="1"/>
          <p:nvPr/>
        </p:nvSpPr>
        <p:spPr>
          <a:xfrm>
            <a:off x="767368" y="1988915"/>
            <a:ext cx="6095683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数据：训练轨迹 96 条，验证轨迹 24 条</a:t>
            </a:r>
            <a:endParaRPr lang="en-US" altLang="zh-CN" sz="2000" i="0" dirty="0">
              <a:solidFill>
                <a:schemeClr val="tx1"/>
              </a:solidFill>
              <a:latin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45293" y="2569381"/>
            <a:ext cx="6095683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1219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2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训练：40 epochs，CUDA，17.2 s</a:t>
            </a:r>
            <a:endParaRPr kumimoji="0" lang="zh-CN" altLang="en-US" sz="200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5" name="results/carsim_gru_training_loss.png" descr="results/carsim_gru_training_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88" y="3069192"/>
            <a:ext cx="6309031" cy="3605161"/>
          </a:xfrm>
          <a:prstGeom prst="rect">
            <a:avLst/>
          </a:prstGeom>
        </p:spPr>
      </p:pic>
      <p:sp>
        <p:nvSpPr>
          <p:cNvPr id="7" name="内容占位符 2"/>
          <p:cNvSpPr>
            <a:spLocks noGrp="1"/>
          </p:cNvSpPr>
          <p:nvPr/>
        </p:nvSpPr>
        <p:spPr>
          <a:xfrm>
            <a:off x="6356019" y="940565"/>
            <a:ext cx="4960997" cy="472415"/>
          </a:xfrm>
          <a:prstGeom prst="rect">
            <a:avLst/>
          </a:prstGeom>
        </p:spPr>
        <p:txBody>
          <a:bodyPr vert="horz" lIns="89995" tIns="45717" rIns="91435" bIns="45717" rtlCol="0">
            <a:noAutofit/>
          </a:bodyPr>
          <a:lstStyle>
            <a:lvl1pPr marL="257175" indent="-257175" algn="l" defTabSz="685800" rtl="0" eaLnBrk="1" latinLnBrk="0" hangingPunct="1">
              <a:lnSpc>
                <a:spcPct val="11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q"/>
              <a:defRPr sz="2200" b="1" kern="1200" baseline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1pPr>
            <a:lvl2pPr marL="538480" indent="-250825" algn="l" defTabSz="685800" rtl="0" eaLnBrk="1" latinLnBrk="0" hangingPunct="1">
              <a:lnSpc>
                <a:spcPct val="110000"/>
              </a:lnSpc>
              <a:spcBef>
                <a:spcPts val="900"/>
              </a:spcBef>
              <a:buClrTx/>
              <a:buSzPct val="90000"/>
              <a:buFont typeface="Wingdings" panose="05000000000000000000" pitchFamily="2" charset="2"/>
              <a:buChar char="Ø"/>
              <a:defRPr lang="en-US" altLang="zh-CN" sz="2000" b="1" kern="1200" baseline="0" dirty="0" smtClean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2pPr>
            <a:lvl3pPr marL="808355" indent="-250825" algn="l" defTabSz="685800" rtl="0" eaLnBrk="1" latinLnBrk="0" hangingPunct="1">
              <a:lnSpc>
                <a:spcPct val="110000"/>
              </a:lnSpc>
              <a:spcBef>
                <a:spcPts val="300"/>
              </a:spcBef>
              <a:buClrTx/>
              <a:buSzPct val="80000"/>
              <a:buFont typeface="Arial" panose="020B0604020202020204" pitchFamily="34" charset="0"/>
              <a:buChar char="•"/>
              <a:defRPr lang="en-US" altLang="zh-CN" sz="2000" b="0" kern="1200" baseline="0" dirty="0" smtClean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500" kern="1200" baseline="0">
                <a:solidFill>
                  <a:schemeClr val="tx1"/>
                </a:solidFill>
                <a:latin typeface="Arial Unicode MS" panose="020B0604020202020204" pitchFamily="34" charset="-122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500" kern="1200" baseline="0">
                <a:solidFill>
                  <a:schemeClr val="tx1"/>
                </a:solidFill>
                <a:latin typeface="Arial Unicode MS" panose="020B0604020202020204" pitchFamily="34" charset="-122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kumimoji="0" 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GRU</a:t>
            </a:r>
            <a:r>
              <a:rPr lang="zh-CN" altLang="en-US" sz="2400" dirty="0" smtClean="0">
                <a:solidFill>
                  <a:srgbClr val="20242A"/>
                </a:solidFill>
                <a:latin typeface="Arial" panose="020B0604020202020204"/>
                <a:cs typeface="Arial" panose="020B0604020202020204"/>
                <a:sym typeface="+mn-ea"/>
              </a:rPr>
              <a:t>验证指标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8" name="图片 7" descr="13_carsim_gru_metric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8715" y="3117866"/>
            <a:ext cx="5619457" cy="322563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表格 9"/>
              <p:cNvGraphicFramePr/>
              <p:nvPr>
                <p:custDataLst>
                  <p:tags r:id="rId4"/>
                </p:custDataLst>
              </p:nvPr>
            </p:nvGraphicFramePr>
            <p:xfrm>
              <a:off x="6356019" y="1488541"/>
              <a:ext cx="5622925" cy="156083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24585"/>
                    <a:gridCol w="1124585"/>
                    <a:gridCol w="1124585"/>
                    <a:gridCol w="1124585"/>
                    <a:gridCol w="1124585"/>
                  </a:tblGrid>
                  <a:tr h="517525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 sz="1800" dirty="0" smtClean="0">
                              <a:solidFill>
                                <a:srgbClr val="FFFFFF"/>
                              </a:solidFill>
                              <a:latin typeface="Arial" panose="020B0604020202020204"/>
                              <a:ea typeface="微软雅黑" panose="020B0503020204020204" charset="-122"/>
                              <a:cs typeface="Arial" panose="020B0604020202020204"/>
                              <a:sym typeface="+mn-ea"/>
                            </a:rPr>
                            <a:t>output</a:t>
                          </a:r>
                          <a:endParaRPr lang="zh-CN" altLang="en-US" sz="1800" dirty="0" smtClean="0">
                            <a:solidFill>
                              <a:srgbClr val="FFFFFF"/>
                            </a:solidFill>
                            <a:latin typeface="Arial" panose="020B0604020202020204"/>
                            <a:ea typeface="微软雅黑" panose="020B0503020204020204" charset="-122"/>
                            <a:cs typeface="Arial" panose="020B0604020202020204"/>
                            <a:sym typeface="+mn-ea"/>
                          </a:endParaRPr>
                        </a:p>
                      </a:txBody>
                      <a:tcPr marL="91435" marR="91435" marT="45717" marB="45717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 sz="1800" dirty="0" smtClean="0">
                              <a:solidFill>
                                <a:srgbClr val="FFFFFF"/>
                              </a:solidFill>
                              <a:latin typeface="Arial" panose="020B0604020202020204"/>
                              <a:ea typeface="微软雅黑" panose="020B0503020204020204" charset="-122"/>
                              <a:cs typeface="Arial" panose="020B0604020202020204"/>
                              <a:sym typeface="+mn-ea"/>
                            </a:rPr>
                            <a:t>mse</a:t>
                          </a:r>
                          <a:endParaRPr lang="zh-CN" altLang="en-US" sz="1800" dirty="0" smtClean="0">
                            <a:solidFill>
                              <a:srgbClr val="FFFFFF"/>
                            </a:solidFill>
                            <a:latin typeface="Arial" panose="020B0604020202020204"/>
                            <a:ea typeface="微软雅黑" panose="020B0503020204020204" charset="-122"/>
                            <a:cs typeface="Arial" panose="020B0604020202020204"/>
                            <a:sym typeface="+mn-ea"/>
                          </a:endParaRPr>
                        </a:p>
                      </a:txBody>
                      <a:tcPr marL="91435" marR="91435" marT="45717" marB="45717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 sz="1800" dirty="0" smtClean="0">
                              <a:solidFill>
                                <a:srgbClr val="FFFFFF"/>
                              </a:solidFill>
                              <a:latin typeface="Arial" panose="020B0604020202020204"/>
                              <a:ea typeface="微软雅黑" panose="020B0503020204020204" charset="-122"/>
                              <a:cs typeface="Arial" panose="020B0604020202020204"/>
                              <a:sym typeface="+mn-ea"/>
                            </a:rPr>
                            <a:t>rmse</a:t>
                          </a:r>
                          <a:endParaRPr lang="zh-CN" altLang="en-US" sz="1800" dirty="0" smtClean="0">
                            <a:solidFill>
                              <a:srgbClr val="FFFFFF"/>
                            </a:solidFill>
                            <a:latin typeface="Arial" panose="020B0604020202020204"/>
                            <a:ea typeface="微软雅黑" panose="020B0503020204020204" charset="-122"/>
                            <a:cs typeface="Arial" panose="020B0604020202020204"/>
                            <a:sym typeface="+mn-ea"/>
                          </a:endParaRPr>
                        </a:p>
                      </a:txBody>
                      <a:tcPr marL="91435" marR="91435" marT="45717" marB="45717"/>
                    </a:tc>
                    <a:tc>
                      <a:txBody>
                        <a:bodyPr/>
                        <a:p>
                          <a:pPr algn="ctr"/>
                          <a:r>
                            <a:rPr lang="zh-CN" altLang="en-US" sz="1800" dirty="0" smtClean="0">
                              <a:solidFill>
                                <a:srgbClr val="FFFFFF"/>
                              </a:solidFill>
                              <a:latin typeface="Arial" panose="020B0604020202020204"/>
                              <a:ea typeface="微软雅黑" panose="020B0503020204020204" charset="-122"/>
                              <a:cs typeface="Arial" panose="020B0604020202020204"/>
                              <a:sym typeface="+mn-ea"/>
                            </a:rPr>
                            <a:t>mae</a:t>
                          </a:r>
                          <a:endParaRPr lang="zh-CN" altLang="en-US" sz="1800" dirty="0" smtClean="0">
                            <a:solidFill>
                              <a:srgbClr val="FFFFFF"/>
                            </a:solidFill>
                            <a:latin typeface="Arial" panose="020B0604020202020204"/>
                            <a:ea typeface="微软雅黑" panose="020B0503020204020204" charset="-122"/>
                            <a:cs typeface="Arial" panose="020B0604020202020204"/>
                            <a:sym typeface="+mn-ea"/>
                          </a:endParaRPr>
                        </a:p>
                      </a:txBody>
                      <a:tcPr marL="91435" marR="91435" marT="45717" marB="45717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 sz="1800" dirty="0" smtClean="0">
                              <a:solidFill>
                                <a:srgbClr val="FFFFFF"/>
                              </a:solidFill>
                              <a:latin typeface="Arial" panose="020B0604020202020204"/>
                              <a:ea typeface="微软雅黑" panose="020B0503020204020204" charset="-122"/>
                              <a:cs typeface="Arial" panose="020B0604020202020204"/>
                              <a:sym typeface="+mn-ea"/>
                            </a:rPr>
                            <a:t>r2</a:t>
                          </a:r>
                          <a:endParaRPr lang="zh-CN" altLang="en-US" sz="1800" dirty="0" smtClean="0">
                            <a:solidFill>
                              <a:srgbClr val="FFFFFF"/>
                            </a:solidFill>
                            <a:latin typeface="Arial" panose="020B0604020202020204"/>
                            <a:ea typeface="微软雅黑" panose="020B0503020204020204" charset="-122"/>
                            <a:cs typeface="Arial" panose="020B0604020202020204"/>
                            <a:sym typeface="+mn-ea"/>
                          </a:endParaRPr>
                        </a:p>
                      </a:txBody>
                      <a:tcPr marL="91435" marR="91435" marT="45717" marB="45717"/>
                    </a:tc>
                  </a:tr>
                  <a:tr h="516890">
                    <a:tc>
                      <a:txBody>
                        <a:bodyPr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 dirty="0" smtClean="0">
                                        <a:solidFill>
                                          <a:srgbClr val="20242A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charset="-122"/>
                                        <a:cs typeface="Cambria Math" panose="02040503050406030204" pitchFamily="18" charset="0"/>
                                        <a:sym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i="1" dirty="0" smtClean="0">
                                        <a:solidFill>
                                          <a:srgbClr val="20242A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charset="-122"/>
                                        <a:cs typeface="Cambria Math" panose="02040503050406030204" pitchFamily="18" charset="0"/>
                                        <a:sym typeface="+mn-ea"/>
                                      </a:rPr>
                                      <m:t>𝑣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altLang="zh-CN" sz="1800" i="1" dirty="0" smtClean="0">
                                            <a:solidFill>
                                              <a:srgbClr val="20242A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charset="-122"/>
                                            <a:cs typeface="Cambria Math" panose="02040503050406030204" pitchFamily="18" charset="0"/>
                                            <a:sym typeface="+mn-ea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 sz="1800" dirty="0" smtClean="0">
                                            <a:solidFill>
                                              <a:srgbClr val="20242A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charset="-122"/>
                                            <a:cs typeface="Cambria Math" panose="02040503050406030204" pitchFamily="18" charset="0"/>
                                            <a:sym typeface="+mn-ea"/>
                                          </a:rPr>
                                          <m:t>next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 sz="1800" dirty="0" smtClean="0">
                                            <a:solidFill>
                                              <a:srgbClr val="20242A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charset="-122"/>
                                            <a:cs typeface="Cambria Math" panose="02040503050406030204" pitchFamily="18" charset="0"/>
                                            <a:sym typeface="+mn-ea"/>
                                          </a:rPr>
                                          <m:t>mps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en-US" altLang="zh-CN" sz="1800" dirty="0" smtClean="0">
                            <a:solidFill>
                              <a:srgbClr val="20242A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  <a:sym typeface="+mn-ea"/>
                          </a:endParaRPr>
                        </a:p>
                      </a:txBody>
                      <a:tcPr marL="91435" marR="91435" marT="45717" marB="45717"/>
                    </a:tc>
                    <a:tc>
                      <a:txBody>
                        <a:bodyPr/>
                        <a:p>
                          <a:pPr algn="ctr"/>
                          <a:r>
                            <a:rPr lang="zh-CN" altLang="en-US" sz="1800" dirty="0" smtClean="0">
                              <a:solidFill>
                                <a:srgbClr val="20242A"/>
                              </a:solidFill>
                              <a:latin typeface="Arial" panose="020B0604020202020204"/>
                              <a:ea typeface="微软雅黑" panose="020B0503020204020204" charset="-122"/>
                              <a:cs typeface="Arial" panose="020B0604020202020204"/>
                              <a:sym typeface="+mn-ea"/>
                            </a:rPr>
                            <a:t>0.01376</a:t>
                          </a:r>
                          <a:endParaRPr lang="zh-CN" altLang="en-US" sz="1800" dirty="0" smtClean="0">
                            <a:solidFill>
                              <a:srgbClr val="20242A"/>
                            </a:solidFill>
                            <a:latin typeface="Arial" panose="020B0604020202020204"/>
                            <a:ea typeface="微软雅黑" panose="020B0503020204020204" charset="-122"/>
                            <a:cs typeface="Arial" panose="020B0604020202020204"/>
                            <a:sym typeface="+mn-ea"/>
                          </a:endParaRPr>
                        </a:p>
                      </a:txBody>
                      <a:tcPr marL="91435" marR="91435" marT="45717" marB="45717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 sz="1800" dirty="0" smtClean="0">
                              <a:solidFill>
                                <a:srgbClr val="20242A"/>
                              </a:solidFill>
                              <a:latin typeface="Arial" panose="020B0604020202020204"/>
                              <a:ea typeface="微软雅黑" panose="020B0503020204020204" charset="-122"/>
                              <a:cs typeface="Arial" panose="020B0604020202020204"/>
                              <a:sym typeface="+mn-ea"/>
                            </a:rPr>
                            <a:t>0.117320</a:t>
                          </a:r>
                          <a:endParaRPr lang="zh-CN" altLang="en-US" sz="1800" dirty="0" smtClean="0">
                            <a:solidFill>
                              <a:srgbClr val="20242A"/>
                            </a:solidFill>
                            <a:latin typeface="Arial" panose="020B0604020202020204"/>
                            <a:ea typeface="微软雅黑" panose="020B0503020204020204" charset="-122"/>
                            <a:cs typeface="Arial" panose="020B0604020202020204"/>
                            <a:sym typeface="+mn-ea"/>
                          </a:endParaRPr>
                        </a:p>
                      </a:txBody>
                      <a:tcPr marL="91435" marR="91435" marT="45717" marB="45717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 sz="1800" dirty="0" smtClean="0">
                              <a:solidFill>
                                <a:srgbClr val="20242A"/>
                              </a:solidFill>
                              <a:latin typeface="Arial" panose="020B0604020202020204"/>
                              <a:ea typeface="微软雅黑" panose="020B0503020204020204" charset="-122"/>
                              <a:cs typeface="Arial" panose="020B0604020202020204"/>
                              <a:sym typeface="+mn-ea"/>
                            </a:rPr>
                            <a:t>0.0918</a:t>
                          </a:r>
                          <a:endParaRPr lang="zh-CN" altLang="en-US" sz="1800" dirty="0" smtClean="0">
                            <a:solidFill>
                              <a:srgbClr val="20242A"/>
                            </a:solidFill>
                            <a:latin typeface="Arial" panose="020B0604020202020204"/>
                            <a:ea typeface="微软雅黑" panose="020B0503020204020204" charset="-122"/>
                            <a:cs typeface="Arial" panose="020B0604020202020204"/>
                            <a:sym typeface="+mn-ea"/>
                          </a:endParaRPr>
                        </a:p>
                      </a:txBody>
                      <a:tcPr marL="91435" marR="91435" marT="45717" marB="45717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 sz="1800" dirty="0" smtClean="0">
                              <a:solidFill>
                                <a:srgbClr val="20242A"/>
                              </a:solidFill>
                              <a:latin typeface="Arial" panose="020B0604020202020204"/>
                              <a:ea typeface="微软雅黑" panose="020B0503020204020204" charset="-122"/>
                              <a:cs typeface="Arial" panose="020B0604020202020204"/>
                              <a:sym typeface="+mn-ea"/>
                            </a:rPr>
                            <a:t>0.9998</a:t>
                          </a:r>
                          <a:endParaRPr lang="zh-CN" altLang="en-US" sz="1800" dirty="0" smtClean="0">
                            <a:solidFill>
                              <a:srgbClr val="20242A"/>
                            </a:solidFill>
                            <a:latin typeface="Arial" panose="020B0604020202020204"/>
                            <a:ea typeface="微软雅黑" panose="020B0503020204020204" charset="-122"/>
                            <a:cs typeface="Arial" panose="020B0604020202020204"/>
                            <a:sym typeface="+mn-ea"/>
                          </a:endParaRPr>
                        </a:p>
                      </a:txBody>
                      <a:tcPr marL="91435" marR="91435" marT="45717" marB="45717"/>
                    </a:tc>
                  </a:tr>
                  <a:tr h="526415">
                    <a:tc>
                      <a:txBody>
                        <a:bodyPr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800" i="1" dirty="0" smtClean="0">
                                        <a:solidFill>
                                          <a:srgbClr val="20242A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charset="-122"/>
                                        <a:cs typeface="Cambria Math" panose="02040503050406030204" pitchFamily="18" charset="0"/>
                                        <a:sym typeface="+mn-e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800" i="1" dirty="0" smtClean="0">
                                        <a:solidFill>
                                          <a:srgbClr val="20242A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charset="-122"/>
                                        <a:cs typeface="Cambria Math" panose="02040503050406030204" pitchFamily="18" charset="0"/>
                                        <a:sym typeface="+mn-ea"/>
                                      </a:rPr>
                                      <m:t>𝑎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altLang="zh-CN" sz="1800" i="1" dirty="0" smtClean="0">
                                            <a:solidFill>
                                              <a:srgbClr val="20242A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charset="-122"/>
                                            <a:cs typeface="Cambria Math" panose="02040503050406030204" pitchFamily="18" charset="0"/>
                                            <a:sym typeface="+mn-ea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 sz="1800" dirty="0" smtClean="0">
                                            <a:solidFill>
                                              <a:srgbClr val="20242A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charset="-122"/>
                                            <a:cs typeface="Cambria Math" panose="02040503050406030204" pitchFamily="18" charset="0"/>
                                            <a:sym typeface="+mn-ea"/>
                                          </a:rPr>
                                          <m:t>next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zh-CN" sz="1800" dirty="0" smtClean="0">
                                            <a:solidFill>
                                              <a:srgbClr val="20242A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charset="-122"/>
                                            <a:cs typeface="Cambria Math" panose="02040503050406030204" pitchFamily="18" charset="0"/>
                                            <a:sym typeface="+mn-ea"/>
                                          </a:rPr>
                                          <m:t>mps</m:t>
                                        </m:r>
                                        <m:r>
                                          <a:rPr lang="en-US" altLang="zh-CN" sz="1800" dirty="0" smtClean="0">
                                            <a:solidFill>
                                              <a:srgbClr val="20242A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charset="-122"/>
                                            <a:cs typeface="Cambria Math" panose="02040503050406030204" pitchFamily="18" charset="0"/>
                                            <a:sym typeface="+mn-ea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sub>
                                </m:sSub>
                              </m:oMath>
                            </m:oMathPara>
                          </a14:m>
                          <a:endParaRPr lang="en-US" altLang="zh-CN" sz="1800" dirty="0" smtClean="0">
                            <a:solidFill>
                              <a:srgbClr val="20242A"/>
                            </a:solidFill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  <a:sym typeface="+mn-ea"/>
                          </a:endParaRPr>
                        </a:p>
                      </a:txBody>
                      <a:tcPr marL="91435" marR="91435" marT="45717" marB="45717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 sz="1800" dirty="0" smtClean="0">
                              <a:solidFill>
                                <a:srgbClr val="20242A"/>
                              </a:solidFill>
                              <a:latin typeface="Arial" panose="020B0604020202020204"/>
                              <a:ea typeface="微软雅黑" panose="020B0503020204020204" charset="-122"/>
                              <a:cs typeface="Arial" panose="020B0604020202020204"/>
                              <a:sym typeface="+mn-ea"/>
                            </a:rPr>
                            <a:t>0.2018</a:t>
                          </a:r>
                          <a:r>
                            <a:rPr lang="en-US" altLang="zh-CN" sz="1800" dirty="0" smtClean="0">
                              <a:solidFill>
                                <a:srgbClr val="20242A"/>
                              </a:solidFill>
                              <a:latin typeface="Arial" panose="020B0604020202020204"/>
                              <a:ea typeface="微软雅黑" panose="020B0503020204020204" charset="-122"/>
                              <a:cs typeface="Arial" panose="020B0604020202020204"/>
                              <a:sym typeface="+mn-ea"/>
                            </a:rPr>
                            <a:t>9</a:t>
                          </a:r>
                          <a:endParaRPr lang="en-US" altLang="zh-CN" sz="1800" dirty="0" smtClean="0">
                            <a:solidFill>
                              <a:srgbClr val="20242A"/>
                            </a:solidFill>
                            <a:latin typeface="Arial" panose="020B0604020202020204"/>
                            <a:ea typeface="微软雅黑" panose="020B0503020204020204" charset="-122"/>
                            <a:cs typeface="Arial" panose="020B0604020202020204"/>
                            <a:sym typeface="+mn-ea"/>
                          </a:endParaRPr>
                        </a:p>
                      </a:txBody>
                      <a:tcPr marL="91435" marR="91435" marT="45717" marB="45717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 sz="1800" dirty="0" smtClean="0">
                              <a:solidFill>
                                <a:srgbClr val="20242A"/>
                              </a:solidFill>
                              <a:latin typeface="Arial" panose="020B0604020202020204"/>
                              <a:ea typeface="微软雅黑" panose="020B0503020204020204" charset="-122"/>
                              <a:cs typeface="Arial" panose="020B0604020202020204"/>
                              <a:sym typeface="+mn-ea"/>
                            </a:rPr>
                            <a:t>0.44932</a:t>
                          </a:r>
                          <a:endParaRPr lang="zh-CN" altLang="en-US" sz="1800" dirty="0" smtClean="0">
                            <a:solidFill>
                              <a:srgbClr val="20242A"/>
                            </a:solidFill>
                            <a:latin typeface="Arial" panose="020B0604020202020204"/>
                            <a:ea typeface="微软雅黑" panose="020B0503020204020204" charset="-122"/>
                            <a:cs typeface="Arial" panose="020B0604020202020204"/>
                            <a:sym typeface="+mn-ea"/>
                          </a:endParaRPr>
                        </a:p>
                      </a:txBody>
                      <a:tcPr marL="91435" marR="91435" marT="45717" marB="45717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 sz="1800" dirty="0" smtClean="0">
                              <a:solidFill>
                                <a:srgbClr val="20242A"/>
                              </a:solidFill>
                              <a:latin typeface="Arial" panose="020B0604020202020204"/>
                              <a:ea typeface="微软雅黑" panose="020B0503020204020204" charset="-122"/>
                              <a:cs typeface="Arial" panose="020B0604020202020204"/>
                              <a:sym typeface="+mn-ea"/>
                            </a:rPr>
                            <a:t>0.2016</a:t>
                          </a:r>
                          <a:r>
                            <a:rPr lang="en-US" altLang="zh-CN" sz="1800" dirty="0" smtClean="0">
                              <a:solidFill>
                                <a:srgbClr val="20242A"/>
                              </a:solidFill>
                              <a:latin typeface="Arial" panose="020B0604020202020204"/>
                              <a:ea typeface="微软雅黑" panose="020B0503020204020204" charset="-122"/>
                              <a:cs typeface="Arial" panose="020B0604020202020204"/>
                              <a:sym typeface="+mn-ea"/>
                            </a:rPr>
                            <a:t>1</a:t>
                          </a:r>
                          <a:endParaRPr lang="en-US" altLang="zh-CN" sz="1800" dirty="0" smtClean="0">
                            <a:solidFill>
                              <a:srgbClr val="20242A"/>
                            </a:solidFill>
                            <a:latin typeface="Arial" panose="020B0604020202020204"/>
                            <a:ea typeface="微软雅黑" panose="020B0503020204020204" charset="-122"/>
                            <a:cs typeface="Arial" panose="020B0604020202020204"/>
                            <a:sym typeface="+mn-ea"/>
                          </a:endParaRPr>
                        </a:p>
                      </a:txBody>
                      <a:tcPr marL="91435" marR="91435" marT="45717" marB="45717"/>
                    </a:tc>
                    <a:tc>
                      <a:txBody>
                        <a:bodyPr/>
                        <a:p>
                          <a:pPr algn="ctr"/>
                          <a:r>
                            <a:rPr lang="zh-CN" altLang="en-US" sz="1800" dirty="0" smtClean="0">
                              <a:solidFill>
                                <a:srgbClr val="20242A"/>
                              </a:solidFill>
                              <a:latin typeface="Arial" panose="020B0604020202020204"/>
                              <a:ea typeface="微软雅黑" panose="020B0503020204020204" charset="-122"/>
                              <a:cs typeface="Arial" panose="020B0604020202020204"/>
                              <a:sym typeface="+mn-ea"/>
                            </a:rPr>
                            <a:t>0.92929</a:t>
                          </a:r>
                          <a:endParaRPr lang="zh-CN" altLang="en-US" sz="1800" dirty="0" smtClean="0">
                            <a:solidFill>
                              <a:srgbClr val="20242A"/>
                            </a:solidFill>
                            <a:latin typeface="Arial" panose="020B0604020202020204"/>
                            <a:ea typeface="微软雅黑" panose="020B0503020204020204" charset="-122"/>
                            <a:cs typeface="Arial" panose="020B0604020202020204"/>
                            <a:sym typeface="+mn-ea"/>
                          </a:endParaRPr>
                        </a:p>
                      </a:txBody>
                      <a:tcPr marL="91435" marR="91435" marT="45717" marB="45717"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表格 9"/>
              <p:cNvGraphicFramePr/>
              <p:nvPr>
                <p:custDataLst>
                  <p:tags r:id="rId5"/>
                </p:custDataLst>
              </p:nvPr>
            </p:nvGraphicFramePr>
            <p:xfrm>
              <a:off x="6356019" y="1488541"/>
              <a:ext cx="5622925" cy="156083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24585"/>
                    <a:gridCol w="1124585"/>
                    <a:gridCol w="1124585"/>
                    <a:gridCol w="1124585"/>
                    <a:gridCol w="1124585"/>
                  </a:tblGrid>
                  <a:tr h="517525"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 sz="1800" dirty="0" smtClean="0">
                              <a:solidFill>
                                <a:srgbClr val="FFFFFF"/>
                              </a:solidFill>
                              <a:latin typeface="Arial" panose="020B0604020202020204"/>
                              <a:ea typeface="微软雅黑" panose="020B0503020204020204" charset="-122"/>
                              <a:cs typeface="Arial" panose="020B0604020202020204"/>
                              <a:sym typeface="+mn-ea"/>
                            </a:rPr>
                            <a:t>output</a:t>
                          </a:r>
                          <a:endParaRPr lang="zh-CN" altLang="en-US" sz="1800" dirty="0" smtClean="0">
                            <a:solidFill>
                              <a:srgbClr val="FFFFFF"/>
                            </a:solidFill>
                            <a:latin typeface="Arial" panose="020B0604020202020204"/>
                            <a:ea typeface="微软雅黑" panose="020B0503020204020204" charset="-122"/>
                            <a:cs typeface="Arial" panose="020B0604020202020204"/>
                            <a:sym typeface="+mn-ea"/>
                          </a:endParaRPr>
                        </a:p>
                      </a:txBody>
                      <a:tcPr marL="91435" marR="91435" marT="45717" marB="45717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 sz="1800" dirty="0" smtClean="0">
                              <a:solidFill>
                                <a:srgbClr val="FFFFFF"/>
                              </a:solidFill>
                              <a:latin typeface="Arial" panose="020B0604020202020204"/>
                              <a:ea typeface="微软雅黑" panose="020B0503020204020204" charset="-122"/>
                              <a:cs typeface="Arial" panose="020B0604020202020204"/>
                              <a:sym typeface="+mn-ea"/>
                            </a:rPr>
                            <a:t>mse</a:t>
                          </a:r>
                          <a:endParaRPr lang="zh-CN" altLang="en-US" sz="1800" dirty="0" smtClean="0">
                            <a:solidFill>
                              <a:srgbClr val="FFFFFF"/>
                            </a:solidFill>
                            <a:latin typeface="Arial" panose="020B0604020202020204"/>
                            <a:ea typeface="微软雅黑" panose="020B0503020204020204" charset="-122"/>
                            <a:cs typeface="Arial" panose="020B0604020202020204"/>
                            <a:sym typeface="+mn-ea"/>
                          </a:endParaRPr>
                        </a:p>
                      </a:txBody>
                      <a:tcPr marL="91435" marR="91435" marT="45717" marB="45717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 sz="1800" dirty="0" smtClean="0">
                              <a:solidFill>
                                <a:srgbClr val="FFFFFF"/>
                              </a:solidFill>
                              <a:latin typeface="Arial" panose="020B0604020202020204"/>
                              <a:ea typeface="微软雅黑" panose="020B0503020204020204" charset="-122"/>
                              <a:cs typeface="Arial" panose="020B0604020202020204"/>
                              <a:sym typeface="+mn-ea"/>
                            </a:rPr>
                            <a:t>rmse</a:t>
                          </a:r>
                          <a:endParaRPr lang="zh-CN" altLang="en-US" sz="1800" dirty="0" smtClean="0">
                            <a:solidFill>
                              <a:srgbClr val="FFFFFF"/>
                            </a:solidFill>
                            <a:latin typeface="Arial" panose="020B0604020202020204"/>
                            <a:ea typeface="微软雅黑" panose="020B0503020204020204" charset="-122"/>
                            <a:cs typeface="Arial" panose="020B0604020202020204"/>
                            <a:sym typeface="+mn-ea"/>
                          </a:endParaRPr>
                        </a:p>
                      </a:txBody>
                      <a:tcPr marL="91435" marR="91435" marT="45717" marB="45717"/>
                    </a:tc>
                    <a:tc>
                      <a:txBody>
                        <a:bodyPr/>
                        <a:p>
                          <a:pPr algn="ctr"/>
                          <a:r>
                            <a:rPr lang="zh-CN" altLang="en-US" sz="1800" dirty="0" smtClean="0">
                              <a:solidFill>
                                <a:srgbClr val="FFFFFF"/>
                              </a:solidFill>
                              <a:latin typeface="Arial" panose="020B0604020202020204"/>
                              <a:ea typeface="微软雅黑" panose="020B0503020204020204" charset="-122"/>
                              <a:cs typeface="Arial" panose="020B0604020202020204"/>
                              <a:sym typeface="+mn-ea"/>
                            </a:rPr>
                            <a:t>mae</a:t>
                          </a:r>
                          <a:endParaRPr lang="zh-CN" altLang="en-US" sz="1800" dirty="0" smtClean="0">
                            <a:solidFill>
                              <a:srgbClr val="FFFFFF"/>
                            </a:solidFill>
                            <a:latin typeface="Arial" panose="020B0604020202020204"/>
                            <a:ea typeface="微软雅黑" panose="020B0503020204020204" charset="-122"/>
                            <a:cs typeface="Arial" panose="020B0604020202020204"/>
                            <a:sym typeface="+mn-ea"/>
                          </a:endParaRPr>
                        </a:p>
                      </a:txBody>
                      <a:tcPr marL="91435" marR="91435" marT="45717" marB="45717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 sz="1800" dirty="0" smtClean="0">
                              <a:solidFill>
                                <a:srgbClr val="FFFFFF"/>
                              </a:solidFill>
                              <a:latin typeface="Arial" panose="020B0604020202020204"/>
                              <a:ea typeface="微软雅黑" panose="020B0503020204020204" charset="-122"/>
                              <a:cs typeface="Arial" panose="020B0604020202020204"/>
                              <a:sym typeface="+mn-ea"/>
                            </a:rPr>
                            <a:t>r2</a:t>
                          </a:r>
                          <a:endParaRPr lang="zh-CN" altLang="en-US" sz="1800" dirty="0" smtClean="0">
                            <a:solidFill>
                              <a:srgbClr val="FFFFFF"/>
                            </a:solidFill>
                            <a:latin typeface="Arial" panose="020B0604020202020204"/>
                            <a:ea typeface="微软雅黑" panose="020B0503020204020204" charset="-122"/>
                            <a:cs typeface="Arial" panose="020B0604020202020204"/>
                            <a:sym typeface="+mn-ea"/>
                          </a:endParaRPr>
                        </a:p>
                      </a:txBody>
                      <a:tcPr marL="91435" marR="91435" marT="45717" marB="45717"/>
                    </a:tc>
                  </a:tr>
                  <a:tr h="51689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1435" marR="91435" marT="45717" marB="45717">
                        <a:blipFill>
                          <a:blip r:embed="rId6"/>
                        </a:blipFill>
                      </a:tcPr>
                    </a:tc>
                    <a:tc>
                      <a:txBody>
                        <a:bodyPr/>
                        <a:p>
                          <a:pPr algn="ctr"/>
                          <a:r>
                            <a:rPr lang="zh-CN" altLang="en-US" sz="1800" dirty="0" smtClean="0">
                              <a:solidFill>
                                <a:srgbClr val="20242A"/>
                              </a:solidFill>
                              <a:latin typeface="Arial" panose="020B0604020202020204"/>
                              <a:ea typeface="微软雅黑" panose="020B0503020204020204" charset="-122"/>
                              <a:cs typeface="Arial" panose="020B0604020202020204"/>
                              <a:sym typeface="+mn-ea"/>
                            </a:rPr>
                            <a:t>0.01376</a:t>
                          </a:r>
                          <a:endParaRPr lang="zh-CN" altLang="en-US" sz="1800" dirty="0" smtClean="0">
                            <a:solidFill>
                              <a:srgbClr val="20242A"/>
                            </a:solidFill>
                            <a:latin typeface="Arial" panose="020B0604020202020204"/>
                            <a:ea typeface="微软雅黑" panose="020B0503020204020204" charset="-122"/>
                            <a:cs typeface="Arial" panose="020B0604020202020204"/>
                            <a:sym typeface="+mn-ea"/>
                          </a:endParaRPr>
                        </a:p>
                      </a:txBody>
                      <a:tcPr marL="91435" marR="91435" marT="45717" marB="45717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 sz="1800" dirty="0" smtClean="0">
                              <a:solidFill>
                                <a:srgbClr val="20242A"/>
                              </a:solidFill>
                              <a:latin typeface="Arial" panose="020B0604020202020204"/>
                              <a:ea typeface="微软雅黑" panose="020B0503020204020204" charset="-122"/>
                              <a:cs typeface="Arial" panose="020B0604020202020204"/>
                              <a:sym typeface="+mn-ea"/>
                            </a:rPr>
                            <a:t>0.117320</a:t>
                          </a:r>
                          <a:endParaRPr lang="zh-CN" altLang="en-US" sz="1800" dirty="0" smtClean="0">
                            <a:solidFill>
                              <a:srgbClr val="20242A"/>
                            </a:solidFill>
                            <a:latin typeface="Arial" panose="020B0604020202020204"/>
                            <a:ea typeface="微软雅黑" panose="020B0503020204020204" charset="-122"/>
                            <a:cs typeface="Arial" panose="020B0604020202020204"/>
                            <a:sym typeface="+mn-ea"/>
                          </a:endParaRPr>
                        </a:p>
                      </a:txBody>
                      <a:tcPr marL="91435" marR="91435" marT="45717" marB="45717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 sz="1800" dirty="0" smtClean="0">
                              <a:solidFill>
                                <a:srgbClr val="20242A"/>
                              </a:solidFill>
                              <a:latin typeface="Arial" panose="020B0604020202020204"/>
                              <a:ea typeface="微软雅黑" panose="020B0503020204020204" charset="-122"/>
                              <a:cs typeface="Arial" panose="020B0604020202020204"/>
                              <a:sym typeface="+mn-ea"/>
                            </a:rPr>
                            <a:t>0.0918</a:t>
                          </a:r>
                          <a:endParaRPr lang="zh-CN" altLang="en-US" sz="1800" dirty="0" smtClean="0">
                            <a:solidFill>
                              <a:srgbClr val="20242A"/>
                            </a:solidFill>
                            <a:latin typeface="Arial" panose="020B0604020202020204"/>
                            <a:ea typeface="微软雅黑" panose="020B0503020204020204" charset="-122"/>
                            <a:cs typeface="Arial" panose="020B0604020202020204"/>
                            <a:sym typeface="+mn-ea"/>
                          </a:endParaRPr>
                        </a:p>
                      </a:txBody>
                      <a:tcPr marL="91435" marR="91435" marT="45717" marB="45717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 sz="1800" dirty="0" smtClean="0">
                              <a:solidFill>
                                <a:srgbClr val="20242A"/>
                              </a:solidFill>
                              <a:latin typeface="Arial" panose="020B0604020202020204"/>
                              <a:ea typeface="微软雅黑" panose="020B0503020204020204" charset="-122"/>
                              <a:cs typeface="Arial" panose="020B0604020202020204"/>
                              <a:sym typeface="+mn-ea"/>
                            </a:rPr>
                            <a:t>0.9998</a:t>
                          </a:r>
                          <a:endParaRPr lang="zh-CN" altLang="en-US" sz="1800" dirty="0" smtClean="0">
                            <a:solidFill>
                              <a:srgbClr val="20242A"/>
                            </a:solidFill>
                            <a:latin typeface="Arial" panose="020B0604020202020204"/>
                            <a:ea typeface="微软雅黑" panose="020B0503020204020204" charset="-122"/>
                            <a:cs typeface="Arial" panose="020B0604020202020204"/>
                            <a:sym typeface="+mn-ea"/>
                          </a:endParaRPr>
                        </a:p>
                      </a:txBody>
                      <a:tcPr marL="91435" marR="91435" marT="45717" marB="45717"/>
                    </a:tc>
                  </a:tr>
                  <a:tr h="526415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91435" marR="91435" marT="45717" marB="45717">
                        <a:blipFill>
                          <a:blip r:embed="rId6"/>
                        </a:blipFill>
                      </a:tcPr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 sz="1800" dirty="0" smtClean="0">
                              <a:solidFill>
                                <a:srgbClr val="20242A"/>
                              </a:solidFill>
                              <a:latin typeface="Arial" panose="020B0604020202020204"/>
                              <a:ea typeface="微软雅黑" panose="020B0503020204020204" charset="-122"/>
                              <a:cs typeface="Arial" panose="020B0604020202020204"/>
                              <a:sym typeface="+mn-ea"/>
                            </a:rPr>
                            <a:t>0.2018</a:t>
                          </a:r>
                          <a:r>
                            <a:rPr lang="en-US" altLang="zh-CN" sz="1800" dirty="0" smtClean="0">
                              <a:solidFill>
                                <a:srgbClr val="20242A"/>
                              </a:solidFill>
                              <a:latin typeface="Arial" panose="020B0604020202020204"/>
                              <a:ea typeface="微软雅黑" panose="020B0503020204020204" charset="-122"/>
                              <a:cs typeface="Arial" panose="020B0604020202020204"/>
                              <a:sym typeface="+mn-ea"/>
                            </a:rPr>
                            <a:t>9</a:t>
                          </a:r>
                          <a:endParaRPr lang="en-US" altLang="zh-CN" sz="1800" dirty="0" smtClean="0">
                            <a:solidFill>
                              <a:srgbClr val="20242A"/>
                            </a:solidFill>
                            <a:latin typeface="Arial" panose="020B0604020202020204"/>
                            <a:ea typeface="微软雅黑" panose="020B0503020204020204" charset="-122"/>
                            <a:cs typeface="Arial" panose="020B0604020202020204"/>
                            <a:sym typeface="+mn-ea"/>
                          </a:endParaRPr>
                        </a:p>
                      </a:txBody>
                      <a:tcPr marL="91435" marR="91435" marT="45717" marB="45717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 sz="1800" dirty="0" smtClean="0">
                              <a:solidFill>
                                <a:srgbClr val="20242A"/>
                              </a:solidFill>
                              <a:latin typeface="Arial" panose="020B0604020202020204"/>
                              <a:ea typeface="微软雅黑" panose="020B0503020204020204" charset="-122"/>
                              <a:cs typeface="Arial" panose="020B0604020202020204"/>
                              <a:sym typeface="+mn-ea"/>
                            </a:rPr>
                            <a:t>0.44932</a:t>
                          </a:r>
                          <a:endParaRPr lang="zh-CN" altLang="en-US" sz="1800" dirty="0" smtClean="0">
                            <a:solidFill>
                              <a:srgbClr val="20242A"/>
                            </a:solidFill>
                            <a:latin typeface="Arial" panose="020B0604020202020204"/>
                            <a:ea typeface="微软雅黑" panose="020B0503020204020204" charset="-122"/>
                            <a:cs typeface="Arial" panose="020B0604020202020204"/>
                            <a:sym typeface="+mn-ea"/>
                          </a:endParaRPr>
                        </a:p>
                      </a:txBody>
                      <a:tcPr marL="91435" marR="91435" marT="45717" marB="45717"/>
                    </a:tc>
                    <a:tc>
                      <a:txBody>
                        <a:bodyPr/>
                        <a:p>
                          <a:pPr algn="ctr">
                            <a:buNone/>
                          </a:pPr>
                          <a:r>
                            <a:rPr lang="zh-CN" altLang="en-US" sz="1800" dirty="0" smtClean="0">
                              <a:solidFill>
                                <a:srgbClr val="20242A"/>
                              </a:solidFill>
                              <a:latin typeface="Arial" panose="020B0604020202020204"/>
                              <a:ea typeface="微软雅黑" panose="020B0503020204020204" charset="-122"/>
                              <a:cs typeface="Arial" panose="020B0604020202020204"/>
                              <a:sym typeface="+mn-ea"/>
                            </a:rPr>
                            <a:t>0.2016</a:t>
                          </a:r>
                          <a:r>
                            <a:rPr lang="en-US" altLang="zh-CN" sz="1800" dirty="0" smtClean="0">
                              <a:solidFill>
                                <a:srgbClr val="20242A"/>
                              </a:solidFill>
                              <a:latin typeface="Arial" panose="020B0604020202020204"/>
                              <a:ea typeface="微软雅黑" panose="020B0503020204020204" charset="-122"/>
                              <a:cs typeface="Arial" panose="020B0604020202020204"/>
                              <a:sym typeface="+mn-ea"/>
                            </a:rPr>
                            <a:t>1</a:t>
                          </a:r>
                          <a:endParaRPr lang="en-US" altLang="zh-CN" sz="1800" dirty="0" smtClean="0">
                            <a:solidFill>
                              <a:srgbClr val="20242A"/>
                            </a:solidFill>
                            <a:latin typeface="Arial" panose="020B0604020202020204"/>
                            <a:ea typeface="微软雅黑" panose="020B0503020204020204" charset="-122"/>
                            <a:cs typeface="Arial" panose="020B0604020202020204"/>
                            <a:sym typeface="+mn-ea"/>
                          </a:endParaRPr>
                        </a:p>
                      </a:txBody>
                      <a:tcPr marL="91435" marR="91435" marT="45717" marB="45717"/>
                    </a:tc>
                    <a:tc>
                      <a:txBody>
                        <a:bodyPr/>
                        <a:p>
                          <a:pPr algn="ctr"/>
                          <a:r>
                            <a:rPr lang="zh-CN" altLang="en-US" sz="1800" dirty="0" smtClean="0">
                              <a:solidFill>
                                <a:srgbClr val="20242A"/>
                              </a:solidFill>
                              <a:latin typeface="Arial" panose="020B0604020202020204"/>
                              <a:ea typeface="微软雅黑" panose="020B0503020204020204" charset="-122"/>
                              <a:cs typeface="Arial" panose="020B0604020202020204"/>
                              <a:sym typeface="+mn-ea"/>
                            </a:rPr>
                            <a:t>0.92929</a:t>
                          </a:r>
                          <a:endParaRPr lang="zh-CN" altLang="en-US" sz="1800" dirty="0" smtClean="0">
                            <a:solidFill>
                              <a:srgbClr val="20242A"/>
                            </a:solidFill>
                            <a:latin typeface="Arial" panose="020B0604020202020204"/>
                            <a:ea typeface="微软雅黑" panose="020B0503020204020204" charset="-122"/>
                            <a:cs typeface="Arial" panose="020B0604020202020204"/>
                            <a:sym typeface="+mn-ea"/>
                          </a:endParaRPr>
                        </a:p>
                      </a:txBody>
                      <a:tcPr marL="91435" marR="91435" marT="45717" marB="45717"/>
                    </a:tc>
                  </a:tr>
                </a:tbl>
              </a:graphicData>
            </a:graphic>
          </p:graphicFrame>
        </mc:Fallback>
      </mc:AlternateContent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机理数据与 </a:t>
            </a:r>
            <a:r>
              <a:rPr lang="en-US" altLang="zh-CN" dirty="0"/>
              <a:t>CarSim </a:t>
            </a:r>
            <a:r>
              <a:rPr lang="zh-CN" altLang="en-US" dirty="0"/>
              <a:t>数据对比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823B-8CA8-4514-B4CF-AB75C2ECDFC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5" name="文本框 34"/>
          <p:cNvSpPr txBox="1"/>
          <p:nvPr/>
        </p:nvSpPr>
        <p:spPr>
          <a:xfrm>
            <a:off x="8183454" y="1734908"/>
            <a:ext cx="3800277" cy="398251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机理数据更平滑，因此更容易拟合，误差更低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CarSim 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速度仍然较容易预测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CarSim 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加速度误差明显更高，暴露了高保真动力学难点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 descr="05_model_metrics_rmse_summary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263" y="1229475"/>
            <a:ext cx="7715483" cy="4829558"/>
          </a:xfrm>
          <a:prstGeom prst="rect">
            <a:avLst/>
          </a:prstGeom>
        </p:spPr>
      </p:pic>
      <p:sp>
        <p:nvSpPr>
          <p:cNvPr id="28" name="Text"/>
          <p:cNvSpPr txBox="1"/>
          <p:nvPr/>
        </p:nvSpPr>
        <p:spPr>
          <a:xfrm>
            <a:off x="8255840" y="4220804"/>
            <a:ext cx="3466919" cy="1545510"/>
          </a:xfrm>
          <a:prstGeom prst="roundRect">
            <a:avLst/>
          </a:prstGeom>
          <a:noFill/>
          <a:ln w="19050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067BCE"/>
                </a:solidFill>
              </a14:hiddenFill>
            </a:ext>
          </a:extLst>
        </p:spPr>
        <p:txBody>
          <a:bodyPr wrap="square" lIns="73148" tIns="73148" rIns="73148" bIns="73148" anchor="ctr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更真实的物理复杂性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更合理的评价指标</a:t>
            </a:r>
            <a:endParaRPr lang="zh-CN" altLang="en-US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11474637" y="6343656"/>
            <a:ext cx="691768" cy="422214"/>
          </a:xfrm>
        </p:spPr>
        <p:txBody>
          <a:bodyPr/>
          <a:lstStyle/>
          <a:p>
            <a:fld id="{ECC5823B-8CA8-4514-B4CF-AB75C2ECDFC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Contents</a:t>
            </a:r>
            <a:endParaRPr lang="en-US" dirty="0"/>
          </a:p>
        </p:txBody>
      </p:sp>
      <p:grpSp>
        <p:nvGrpSpPr>
          <p:cNvPr id="4" name="组合 3"/>
          <p:cNvGrpSpPr/>
          <p:nvPr>
            <p:custDataLst>
              <p:tags r:id="rId1"/>
            </p:custDataLst>
          </p:nvPr>
        </p:nvGrpSpPr>
        <p:grpSpPr>
          <a:xfrm>
            <a:off x="2855491" y="2060921"/>
            <a:ext cx="6237287" cy="683968"/>
            <a:chOff x="1350356" y="1945292"/>
            <a:chExt cx="6868074" cy="582961"/>
          </a:xfrm>
        </p:grpSpPr>
        <p:sp>
          <p:nvSpPr>
            <p:cNvPr id="5" name="MH_Number_1"/>
            <p:cNvSpPr/>
            <p:nvPr>
              <p:custDataLst>
                <p:tags r:id="rId2"/>
              </p:custDataLst>
            </p:nvPr>
          </p:nvSpPr>
          <p:spPr>
            <a:xfrm>
              <a:off x="1350356" y="1945295"/>
              <a:ext cx="859292" cy="582958"/>
            </a:xfrm>
            <a:prstGeom prst="roundRect">
              <a:avLst>
                <a:gd name="adj" fmla="val 7615"/>
              </a:avLst>
            </a:prstGeom>
            <a:solidFill>
              <a:srgbClr val="0070C0"/>
            </a:solid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500" b="1" kern="0" dirty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一</a:t>
              </a:r>
              <a:endParaRPr lang="zh-CN" altLang="en-US" sz="2500" b="1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6" name="MH_Entry_1"/>
            <p:cNvSpPr/>
            <p:nvPr>
              <p:custDataLst>
                <p:tags r:id="rId3"/>
              </p:custDataLst>
            </p:nvPr>
          </p:nvSpPr>
          <p:spPr>
            <a:xfrm>
              <a:off x="2478265" y="1945292"/>
              <a:ext cx="5740165" cy="582958"/>
            </a:xfrm>
            <a:prstGeom prst="roundRect">
              <a:avLst>
                <a:gd name="adj" fmla="val 9124"/>
              </a:avLst>
            </a:prstGeom>
            <a:solidFill>
              <a:srgbClr val="0070C0">
                <a:alpha val="14902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>
              <a:normAutofit/>
            </a:bodyPr>
            <a:lstStyle/>
            <a:p>
              <a:pPr algn="ctr" defTabSz="914400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sz="2500" b="1" dirty="0">
                  <a:solidFill>
                    <a:srgbClr val="0070C0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  <a:sym typeface="+mn-ea"/>
                </a:rPr>
                <a:t>问题定义与机理基线</a:t>
              </a:r>
              <a:endParaRPr lang="zh-CN" altLang="en-US" sz="25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</p:grpSp>
      <p:sp>
        <p:nvSpPr>
          <p:cNvPr id="12" name="MH_Entry_1"/>
          <p:cNvSpPr/>
          <p:nvPr>
            <p:custDataLst>
              <p:tags r:id="rId4"/>
            </p:custDataLst>
          </p:nvPr>
        </p:nvSpPr>
        <p:spPr>
          <a:xfrm>
            <a:off x="3903142" y="3160409"/>
            <a:ext cx="5189585" cy="683859"/>
          </a:xfrm>
          <a:prstGeom prst="roundRect">
            <a:avLst>
              <a:gd name="adj" fmla="val 9124"/>
            </a:avLst>
          </a:prstGeom>
          <a:solidFill>
            <a:srgbClr val="0070C0">
              <a:alpha val="14902"/>
            </a:srgbClr>
          </a:solidFill>
          <a:ln w="25400" cap="flat" cmpd="sng" algn="ctr">
            <a:noFill/>
            <a:prstDash val="solid"/>
          </a:ln>
          <a:effectLst/>
        </p:spPr>
        <p:txBody>
          <a:bodyPr wrap="square" rtlCol="0" anchor="ctr">
            <a:normAutofit/>
          </a:bodyPr>
          <a:lstStyle/>
          <a:p>
            <a:pPr algn="ctr"/>
            <a:r>
              <a:rPr lang="en-US" altLang="zh-CN" sz="25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CarSim </a:t>
            </a:r>
            <a:r>
              <a:rPr lang="zh-CN" altLang="en-US" sz="25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数据与时序世界模型</a:t>
            </a:r>
            <a:endParaRPr lang="zh-CN" altLang="en-US" sz="2500" b="1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5" name="MH_Entry_1"/>
          <p:cNvSpPr/>
          <p:nvPr>
            <p:custDataLst>
              <p:tags r:id="rId5"/>
            </p:custDataLst>
          </p:nvPr>
        </p:nvSpPr>
        <p:spPr>
          <a:xfrm>
            <a:off x="3903142" y="4291920"/>
            <a:ext cx="5189585" cy="683859"/>
          </a:xfrm>
          <a:prstGeom prst="roundRect">
            <a:avLst>
              <a:gd name="adj" fmla="val 9124"/>
            </a:avLst>
          </a:prstGeom>
          <a:solidFill>
            <a:srgbClr val="0070C0">
              <a:alpha val="14902"/>
            </a:srgbClr>
          </a:solidFill>
          <a:ln w="25400" cap="flat" cmpd="sng" algn="ctr">
            <a:noFill/>
            <a:prstDash val="solid"/>
          </a:ln>
          <a:effectLst/>
        </p:spPr>
        <p:txBody>
          <a:bodyPr wrap="square" lIns="91435" tIns="45717" rIns="91435" bIns="45717" rtlCol="0" anchor="ctr">
            <a:norm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2500" b="1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闭环规划与工程交付</a:t>
            </a:r>
            <a:endParaRPr lang="zh-CN" altLang="en-US" sz="2500" b="1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7" name="MH_Number_1"/>
          <p:cNvSpPr/>
          <p:nvPr>
            <p:custDataLst>
              <p:tags r:id="rId6"/>
            </p:custDataLst>
          </p:nvPr>
        </p:nvSpPr>
        <p:spPr>
          <a:xfrm>
            <a:off x="2855491" y="4291860"/>
            <a:ext cx="798350" cy="683964"/>
          </a:xfrm>
          <a:prstGeom prst="roundRect">
            <a:avLst>
              <a:gd name="adj" fmla="val 7615"/>
            </a:avLst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500" b="1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三</a:t>
            </a:r>
            <a:endParaRPr lang="zh-CN" altLang="en-US" sz="2500" b="1" kern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8" name="MH_Number_1"/>
          <p:cNvSpPr/>
          <p:nvPr>
            <p:custDataLst>
              <p:tags r:id="rId7"/>
            </p:custDataLst>
          </p:nvPr>
        </p:nvSpPr>
        <p:spPr>
          <a:xfrm>
            <a:off x="2855491" y="3176562"/>
            <a:ext cx="780371" cy="683964"/>
          </a:xfrm>
          <a:prstGeom prst="roundRect">
            <a:avLst>
              <a:gd name="adj" fmla="val 7615"/>
            </a:avLst>
          </a:prstGeom>
          <a:solidFill>
            <a:srgbClr val="0070C0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500" b="1" kern="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二</a:t>
            </a:r>
            <a:endParaRPr lang="zh-CN" altLang="en-US" sz="2500" b="1" kern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规划问题建模及</a:t>
            </a:r>
            <a:r>
              <a:rPr lang="zh-CN" altLang="en-US" dirty="0"/>
              <a:t>算法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823B-8CA8-4514-B4CF-AB75C2ECDFC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335263" y="940565"/>
            <a:ext cx="5780739" cy="472415"/>
          </a:xfrm>
        </p:spPr>
        <p:txBody>
          <a:bodyPr vert="horz" lIns="89995" tIns="45717" rIns="91435" bIns="45717" rtlCol="0">
            <a:noAutofit/>
          </a:bodyPr>
          <a:lstStyle/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cs typeface="Arial" panose="020B0604020202020204"/>
                <a:sym typeface="+mn-ea"/>
              </a:rPr>
              <a:t>采样式 MPC 算法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文本框 34"/>
              <p:cNvSpPr txBox="1"/>
              <p:nvPr/>
            </p:nvSpPr>
            <p:spPr>
              <a:xfrm>
                <a:off x="6095048" y="1745703"/>
                <a:ext cx="5197839" cy="702273"/>
              </a:xfrm>
              <a:prstGeom prst="rect">
                <a:avLst/>
              </a:prstGeom>
              <a:noFill/>
            </p:spPr>
            <p:txBody>
              <a:bodyPr wrap="square">
                <a:noAutofit/>
              </a:bodyPr>
              <a:lstStyle/>
              <a:p>
                <a:pPr indent="0">
                  <a:lnSpc>
                    <a:spcPct val="150000"/>
                  </a:lnSpc>
                  <a:buFont typeface="Wingdings" panose="05000000000000000000" charset="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𝐽</m:t>
                      </m:r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 = </m:t>
                      </m:r>
                      <m:sSub>
                        <m:sSubPr>
                          <m:ctrlPr>
                            <a:rPr sz="2000"/>
                          </m:ctrlPr>
                        </m:sSubPr>
                        <m:e>
                          <m:r>
                            <a:rPr lang="en-US" sz="200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𝑤</m:t>
                          </m:r>
                        </m:e>
                        <m:sub>
                          <m:r>
                            <a:rPr lang="en-US" sz="200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𝑑</m:t>
                          </m:r>
                        </m:sub>
                      </m:sSub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(</m:t>
                      </m:r>
                      <m:sSub>
                        <m:sSubPr>
                          <m:ctrlPr>
                            <a:rPr sz="2000"/>
                          </m:ctrlPr>
                        </m:sSubPr>
                        <m:e>
                          <m:r>
                            <a:rPr lang="en-US" sz="200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𝑑</m:t>
                          </m:r>
                        </m:e>
                        <m:sub>
                          <m:r>
                            <a:rPr lang="en-US" sz="200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𝑁</m:t>
                          </m:r>
                        </m:sub>
                      </m:sSub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−</m:t>
                      </m:r>
                      <m:sSub>
                        <m:sSubPr>
                          <m:ctrlPr>
                            <a:rPr sz="2000"/>
                          </m:ctrlPr>
                        </m:sSubPr>
                        <m:e>
                          <m:r>
                            <a:rPr lang="en-US" sz="200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𝑑</m:t>
                          </m:r>
                        </m:e>
                        <m:sub>
                          <m:r>
                            <a:rPr lang="en-US" sz="200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𝑠𝑎𝑓𝑒</m:t>
                          </m:r>
                        </m:sub>
                      </m:sSub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)² + </m:t>
                      </m:r>
                      <m:sSub>
                        <m:sSubPr>
                          <m:ctrlPr>
                            <a:rPr sz="2000"/>
                          </m:ctrlPr>
                        </m:sSubPr>
                        <m:e>
                          <m:r>
                            <a:rPr lang="en-US" sz="200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𝑤</m:t>
                          </m:r>
                        </m:e>
                        <m:sub>
                          <m:r>
                            <a:rPr lang="en-US" sz="200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𝑎</m:t>
                          </m:r>
                        </m:sub>
                      </m:sSub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∑</m:t>
                      </m:r>
                      <m:sSub>
                        <m:sSubPr>
                          <m:ctrlPr>
                            <a:rPr sz="2000"/>
                          </m:ctrlPr>
                        </m:sSubPr>
                        <m:e>
                          <m:r>
                            <a:rPr lang="en-US" sz="200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𝑎</m:t>
                          </m:r>
                        </m:e>
                        <m:sub>
                          <m:r>
                            <a:rPr lang="en-US" sz="200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𝑡</m:t>
                          </m:r>
                        </m:sub>
                      </m:sSub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² + </m:t>
                      </m:r>
                      <m:sSub>
                        <m:sSubPr>
                          <m:ctrlPr>
                            <a:rPr sz="2000"/>
                          </m:ctrlPr>
                        </m:sSubPr>
                        <m:e>
                          <m:r>
                            <a:rPr lang="en-US" sz="200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𝑤</m:t>
                          </m:r>
                        </m:e>
                        <m:sub>
                          <m:r>
                            <a:rPr lang="en-US" sz="200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𝑢</m:t>
                          </m:r>
                        </m:sub>
                      </m:sSub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∑</m:t>
                      </m:r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𝛥</m:t>
                      </m:r>
                      <m:sSub>
                        <m:sSubPr>
                          <m:ctrlPr>
                            <a:rPr sz="2000"/>
                          </m:ctrlPr>
                        </m:sSubPr>
                        <m:e>
                          <m:r>
                            <a:rPr lang="en-US" sz="200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𝑢</m:t>
                          </m:r>
                        </m:e>
                        <m:sub>
                          <m:r>
                            <a:rPr lang="en-US" sz="2000" dirty="0">
                              <a:solidFill>
                                <a:srgbClr val="20242A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𝑡</m:t>
                          </m:r>
                        </m:sub>
                      </m:sSub>
                      <m:r>
                        <a:rPr lang="en-US" sz="2000" dirty="0">
                          <a:solidFill>
                            <a:srgbClr val="20242A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²</m:t>
                      </m:r>
                    </m:oMath>
                  </m:oMathPara>
                </a14:m>
                <a:endParaRPr lang="en-US" sz="2000"/>
              </a:p>
              <a:p>
                <a:pPr marL="342900" indent="-342900">
                  <a:lnSpc>
                    <a:spcPct val="150000"/>
                  </a:lnSpc>
                  <a:buFont typeface="Wingdings" panose="05000000000000000000" charset="0"/>
                  <a:buChar char="Ø"/>
                </a:pPr>
                <a:endParaRPr lang="zh-CN" altLang="en-US" sz="2000" dirty="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mc:Choice>
        <mc:Fallback>
          <p:sp>
            <p:nvSpPr>
              <p:cNvPr id="35" name="文本框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048" y="1745703"/>
                <a:ext cx="5197839" cy="702273"/>
              </a:xfrm>
              <a:prstGeom prst="rect">
                <a:avLst/>
              </a:prstGeom>
              <a:blipFill rotWithShape="1">
                <a:blip r:embed="rId1"/>
                <a:stretch>
                  <a:fillRect l="-6" t="-13" r="1" b="-415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表格 5"/>
          <p:cNvGraphicFramePr/>
          <p:nvPr>
            <p:custDataLst>
              <p:tags r:id="rId2"/>
            </p:custDataLst>
          </p:nvPr>
        </p:nvGraphicFramePr>
        <p:xfrm>
          <a:off x="335263" y="1556483"/>
          <a:ext cx="5327650" cy="20427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3180"/>
                <a:gridCol w="4014470"/>
              </a:tblGrid>
              <a:tr h="36576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 dirty="0" smtClean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模块</a:t>
                      </a:r>
                      <a:endParaRPr lang="zh-CN" altLang="en-US" sz="1800" dirty="0" smtClean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91435" marR="91435" marT="45717" marB="45717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800" dirty="0" smtClean="0">
                          <a:solidFill>
                            <a:srgbClr val="FFFFFF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定义</a:t>
                      </a:r>
                      <a:endParaRPr lang="zh-CN" altLang="en-US" sz="1800" dirty="0" smtClean="0">
                        <a:solidFill>
                          <a:srgbClr val="FFFFFF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91435" marR="91435" marT="45717" marB="45717"/>
                </a:tc>
              </a:tr>
              <a:tr h="3962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0" dirty="0" smtClean="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状态</a:t>
                      </a:r>
                      <a:endParaRPr lang="zh-CN" altLang="en-US" sz="2000" b="0" dirty="0" smtClean="0">
                        <a:solidFill>
                          <a:schemeClr val="tx1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91435" marR="91435" marT="45717" marB="45717"/>
                </a:tc>
                <a:tc>
                  <a:txBody>
                    <a:bodyPr/>
                    <a:p>
                      <a:pPr algn="ctr"/>
                      <a:r>
                        <a:rPr lang="zh-CN" altLang="en-US" sz="2000" b="0" dirty="0" smtClean="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  <a:sym typeface="+mn-ea"/>
                        </a:rPr>
                        <a:t>速度、障碍物距离、附着系数</a:t>
                      </a:r>
                      <a:endParaRPr lang="zh-CN" altLang="en-US" sz="2000" b="0" dirty="0" smtClean="0">
                        <a:solidFill>
                          <a:schemeClr val="tx1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  <a:sym typeface="+mn-ea"/>
                      </a:endParaRPr>
                    </a:p>
                  </a:txBody>
                  <a:tcPr marL="91435" marR="91435" marT="45717" marB="45717"/>
                </a:tc>
              </a:tr>
              <a:tr h="3962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0" dirty="0" smtClean="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动作</a:t>
                      </a:r>
                      <a:endParaRPr lang="zh-CN" altLang="en-US" sz="2000" b="0" dirty="0" smtClean="0">
                        <a:solidFill>
                          <a:schemeClr val="tx1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91435" marR="91435" marT="45717" marB="45717"/>
                </a:tc>
                <a:tc>
                  <a:txBody>
                    <a:bodyPr/>
                    <a:p>
                      <a:pPr algn="ctr"/>
                      <a:r>
                        <a:rPr lang="zh-CN" altLang="en-US" sz="2000" b="0" dirty="0" smtClean="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  <a:sym typeface="+mn-ea"/>
                        </a:rPr>
                        <a:t>制动主缸压力</a:t>
                      </a:r>
                      <a:endParaRPr lang="zh-CN" altLang="en-US" sz="2000" b="0" dirty="0" smtClean="0">
                        <a:solidFill>
                          <a:schemeClr val="tx1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  <a:sym typeface="+mn-ea"/>
                      </a:endParaRPr>
                    </a:p>
                  </a:txBody>
                  <a:tcPr marL="91435" marR="91435" marT="45717" marB="45717"/>
                </a:tc>
              </a:tr>
              <a:tr h="3962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0" dirty="0" smtClean="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预测时域</a:t>
                      </a:r>
                      <a:endParaRPr lang="zh-CN" altLang="en-US" sz="2000" b="0" dirty="0" smtClean="0">
                        <a:solidFill>
                          <a:schemeClr val="tx1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91435" marR="91435" marT="45717" marB="45717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0" dirty="0" smtClean="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  <a:sym typeface="+mn-ea"/>
                        </a:rPr>
                        <a:t>候选压力序列</a:t>
                      </a:r>
                      <a:endParaRPr lang="zh-CN" altLang="en-US" sz="2000" b="0" dirty="0" smtClean="0">
                        <a:solidFill>
                          <a:schemeClr val="tx1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  <a:sym typeface="+mn-ea"/>
                      </a:endParaRPr>
                    </a:p>
                  </a:txBody>
                  <a:tcPr marL="91435" marR="91435" marT="45717" marB="45717"/>
                </a:tc>
              </a:tr>
              <a:tr h="48831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0" dirty="0" smtClean="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</a:rPr>
                        <a:t>代价</a:t>
                      </a:r>
                      <a:endParaRPr lang="zh-CN" altLang="en-US" sz="2000" b="0" dirty="0" smtClean="0">
                        <a:solidFill>
                          <a:schemeClr val="tx1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</a:endParaRPr>
                    </a:p>
                  </a:txBody>
                  <a:tcPr marL="91435" marR="91435" marT="45717" marB="45717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0" dirty="0" smtClean="0">
                          <a:solidFill>
                            <a:schemeClr val="tx1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  <a:sym typeface="+mn-ea"/>
                        </a:rPr>
                        <a:t>距离、舒适度、平滑性、安全惩罚</a:t>
                      </a:r>
                      <a:endParaRPr lang="zh-CN" altLang="en-US" sz="2000" b="0" dirty="0" smtClean="0">
                        <a:solidFill>
                          <a:schemeClr val="tx1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  <a:sym typeface="+mn-ea"/>
                      </a:endParaRPr>
                    </a:p>
                  </a:txBody>
                  <a:tcPr marL="91435" marR="91435" marT="45717" marB="45717"/>
                </a:tc>
              </a:tr>
            </a:tbl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6023296" y="1268843"/>
            <a:ext cx="1769653" cy="63052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代价函数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"/>
              <p:cNvSpPr txBox="1"/>
              <p:nvPr/>
            </p:nvSpPr>
            <p:spPr>
              <a:xfrm>
                <a:off x="6095048" y="2447976"/>
                <a:ext cx="3132292" cy="1088968"/>
              </a:xfrm>
              <a:prstGeom prst="roundRect">
                <a:avLst/>
              </a:prstGeom>
              <a:noFill/>
              <a:ln w="19050">
                <a:solidFill>
                  <a:schemeClr val="accent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67BCE"/>
                    </a:solidFill>
                  </a14:hiddenFill>
                </a:ext>
              </a:extLst>
            </p:spPr>
            <p:txBody>
              <a:bodyPr wrap="square" lIns="73148" tIns="73148" rIns="73148" bIns="73148" anchor="ctr">
                <a:norm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dirty="0">
                          <a:solidFill>
                            <a:schemeClr val="tx1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𝑐𝑜𝑙𝑙𝑖𝑠𝑖𝑜𝑛</m:t>
                      </m:r>
                      <m:r>
                        <a:rPr lang="en-US" sz="1800" dirty="0">
                          <a:solidFill>
                            <a:schemeClr val="tx1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 → </m:t>
                      </m:r>
                      <m:r>
                        <a:rPr lang="en-US" sz="1800" dirty="0">
                          <a:solidFill>
                            <a:schemeClr val="tx1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𝑙𝑎𝑟𝑔𝑒</m:t>
                      </m:r>
                      <m:r>
                        <a:rPr lang="en-US" sz="1800" dirty="0">
                          <a:solidFill>
                            <a:schemeClr val="tx1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 </m:t>
                      </m:r>
                      <m:r>
                        <a:rPr lang="en-US" sz="1800" dirty="0">
                          <a:solidFill>
                            <a:schemeClr val="tx1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𝑝𝑒𝑛𝑎𝑙𝑡𝑦</m:t>
                      </m:r>
                    </m:oMath>
                  </m:oMathPara>
                </a14:m>
                <a:endParaRPr lang="en-US" sz="1800">
                  <a:solidFill>
                    <a:schemeClr val="tx1"/>
                  </a:solidFill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100">
                              <a:solidFill>
                                <a:schemeClr val="tx1"/>
                              </a:solidFill>
                            </a:rPr>
                          </m:ctrlPr>
                        </m:sSubPr>
                        <m:e>
                          <m:r>
                            <a:rPr lang="en-US" sz="1800" dirty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𝑣</m:t>
                          </m:r>
                        </m:e>
                        <m:sub>
                          <m:r>
                            <a:rPr lang="en-US" sz="1225" dirty="0">
                              <a:solidFill>
                                <a:schemeClr val="tx1"/>
                              </a:solidFill>
                              <a:latin typeface="Cambria Math" panose="02040503050406030204"/>
                              <a:ea typeface="Cambria Math" panose="02040503050406030204"/>
                              <a:cs typeface="Cambria Math" panose="02040503050406030204"/>
                            </a:rPr>
                            <m:t>𝑁</m:t>
                          </m:r>
                        </m:sub>
                      </m:sSub>
                      <m:r>
                        <a:rPr lang="en-US" sz="1800" dirty="0">
                          <a:solidFill>
                            <a:schemeClr val="tx1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 &gt; </m:t>
                      </m:r>
                      <m:r>
                        <a:rPr lang="en-US" sz="1800" dirty="0">
                          <a:solidFill>
                            <a:schemeClr val="tx1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0</m:t>
                      </m:r>
                      <m:r>
                        <a:rPr lang="en-US" sz="1800" dirty="0">
                          <a:solidFill>
                            <a:schemeClr val="tx1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 → </m:t>
                      </m:r>
                      <m:r>
                        <a:rPr lang="en-US" sz="1800" dirty="0">
                          <a:solidFill>
                            <a:schemeClr val="tx1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𝑠𝑡𝑜𝑝</m:t>
                      </m:r>
                      <m:r>
                        <a:rPr lang="en-US" sz="1800" dirty="0">
                          <a:solidFill>
                            <a:schemeClr val="tx1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 </m:t>
                      </m:r>
                      <m:r>
                        <a:rPr lang="en-US" sz="1800" dirty="0">
                          <a:solidFill>
                            <a:schemeClr val="tx1"/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m:t>𝑝𝑒𝑛𝑎𝑙𝑡𝑦</m:t>
                      </m:r>
                    </m:oMath>
                  </m:oMathPara>
                </a14:m>
                <a:endParaRPr lang="en-US" sz="1800" dirty="0">
                  <a:solidFill>
                    <a:schemeClr val="tx1"/>
                  </a:solidFill>
                  <a:latin typeface="Cambria Math" panose="02040503050406030204"/>
                  <a:ea typeface="Cambria Math" panose="02040503050406030204"/>
                  <a:cs typeface="Cambria Math" panose="02040503050406030204"/>
                </a:endParaRPr>
              </a:p>
            </p:txBody>
          </p:sp>
        </mc:Choice>
        <mc:Fallback>
          <p:sp>
            <p:nvSpPr>
              <p:cNvPr id="28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048" y="2447976"/>
                <a:ext cx="3132292" cy="1088968"/>
              </a:xfrm>
              <a:prstGeom prst="roundRect">
                <a:avLst/>
              </a:prstGeom>
              <a:blipFill rotWithShape="1">
                <a:blip r:embed="rId3"/>
                <a:stretch>
                  <a:fillRect l="-314" t="-879" r="-299" b="-817"/>
                </a:stretch>
              </a:blipFill>
              <a:ln w="19050">
                <a:solidFill>
                  <a:schemeClr val="accent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067BCE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Shape 269"/>
          <p:cNvSpPr/>
          <p:nvPr>
            <p:custDataLst>
              <p:tags r:id="rId4"/>
            </p:custDataLst>
          </p:nvPr>
        </p:nvSpPr>
        <p:spPr>
          <a:xfrm>
            <a:off x="380218" y="3919194"/>
            <a:ext cx="2331599" cy="187442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sp>
        <p:nvSpPr>
          <p:cNvPr id="10" name="Shape 270"/>
          <p:cNvSpPr/>
          <p:nvPr>
            <p:custDataLst>
              <p:tags r:id="rId5"/>
            </p:custDataLst>
          </p:nvPr>
        </p:nvSpPr>
        <p:spPr>
          <a:xfrm>
            <a:off x="544802" y="4120352"/>
            <a:ext cx="493750" cy="493750"/>
          </a:xfrm>
          <a:prstGeom prst="ellipse">
            <a:avLst/>
          </a:prstGeom>
          <a:solidFill>
            <a:srgbClr val="0E8A92"/>
          </a:solidFill>
          <a:ln>
            <a:noFill/>
          </a:ln>
        </p:spPr>
      </p:sp>
      <p:sp>
        <p:nvSpPr>
          <p:cNvPr id="11" name="Text 271"/>
          <p:cNvSpPr txBox="1"/>
          <p:nvPr>
            <p:custDataLst>
              <p:tags r:id="rId6"/>
            </p:custDataLst>
          </p:nvPr>
        </p:nvSpPr>
        <p:spPr>
          <a:xfrm>
            <a:off x="551151" y="4149052"/>
            <a:ext cx="457176" cy="423523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/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2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zh-CN" sz="2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 272"/>
          <p:cNvSpPr txBox="1"/>
          <p:nvPr>
            <p:custDataLst>
              <p:tags r:id="rId7"/>
            </p:custDataLst>
          </p:nvPr>
        </p:nvSpPr>
        <p:spPr>
          <a:xfrm>
            <a:off x="1166434" y="4120479"/>
            <a:ext cx="1209612" cy="620363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/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2000" b="1" i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</a:rPr>
              <a:t>采样压力序列</a:t>
            </a:r>
            <a:endParaRPr lang="zh-CN" sz="2000" b="1" i="0">
              <a:solidFill>
                <a:srgbClr val="0B1F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 273"/>
          <p:cNvSpPr txBox="1"/>
          <p:nvPr>
            <p:custDataLst>
              <p:tags r:id="rId8"/>
            </p:custDataLst>
          </p:nvPr>
        </p:nvSpPr>
        <p:spPr>
          <a:xfrm>
            <a:off x="636237" y="4796592"/>
            <a:ext cx="1828705" cy="694908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500" b="0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生成约 256 条
平滑压力序列</a:t>
            </a:r>
            <a:endParaRPr lang="zh-CN" sz="1500"/>
          </a:p>
        </p:txBody>
      </p:sp>
      <p:sp>
        <p:nvSpPr>
          <p:cNvPr id="14" name="Line 274"/>
          <p:cNvSpPr/>
          <p:nvPr>
            <p:custDataLst>
              <p:tags r:id="rId9"/>
            </p:custDataLst>
          </p:nvPr>
        </p:nvSpPr>
        <p:spPr>
          <a:xfrm>
            <a:off x="2730104" y="4860977"/>
            <a:ext cx="429746" cy="914"/>
          </a:xfrm>
          <a:prstGeom prst="line">
            <a:avLst/>
          </a:prstGeom>
          <a:ln w="31750">
            <a:solidFill>
              <a:srgbClr val="F2A93B"/>
            </a:solidFill>
            <a:tailEnd type="triangle"/>
          </a:ln>
        </p:spPr>
      </p:sp>
      <p:sp>
        <p:nvSpPr>
          <p:cNvPr id="15" name="Shape 275"/>
          <p:cNvSpPr/>
          <p:nvPr>
            <p:custDataLst>
              <p:tags r:id="rId10"/>
            </p:custDataLst>
          </p:nvPr>
        </p:nvSpPr>
        <p:spPr>
          <a:xfrm>
            <a:off x="3232998" y="3919194"/>
            <a:ext cx="2331599" cy="187442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sp>
        <p:nvSpPr>
          <p:cNvPr id="16" name="Shape 276"/>
          <p:cNvSpPr/>
          <p:nvPr>
            <p:custDataLst>
              <p:tags r:id="rId11"/>
            </p:custDataLst>
          </p:nvPr>
        </p:nvSpPr>
        <p:spPr>
          <a:xfrm>
            <a:off x="3397581" y="4120352"/>
            <a:ext cx="493750" cy="493750"/>
          </a:xfrm>
          <a:prstGeom prst="ellipse">
            <a:avLst/>
          </a:prstGeom>
          <a:solidFill>
            <a:srgbClr val="0E8A92"/>
          </a:solidFill>
          <a:ln>
            <a:noFill/>
          </a:ln>
        </p:spPr>
      </p:sp>
      <p:sp>
        <p:nvSpPr>
          <p:cNvPr id="18" name="Text 278"/>
          <p:cNvSpPr txBox="1"/>
          <p:nvPr>
            <p:custDataLst>
              <p:tags r:id="rId12"/>
            </p:custDataLst>
          </p:nvPr>
        </p:nvSpPr>
        <p:spPr>
          <a:xfrm>
            <a:off x="4019341" y="4120352"/>
            <a:ext cx="1298380" cy="320023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/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2000" b="1" i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</a:rPr>
              <a:t>脑内演化</a:t>
            </a:r>
            <a:endParaRPr lang="zh-CN" sz="2000" b="1" i="0">
              <a:solidFill>
                <a:srgbClr val="0B1F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 279"/>
          <p:cNvSpPr txBox="1"/>
          <p:nvPr>
            <p:custDataLst>
              <p:tags r:id="rId13"/>
            </p:custDataLst>
          </p:nvPr>
        </p:nvSpPr>
        <p:spPr>
          <a:xfrm>
            <a:off x="3479492" y="4796592"/>
            <a:ext cx="1828705" cy="694908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500" b="0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世界模型滚动
预测 N 步</a:t>
            </a:r>
            <a:endParaRPr lang="zh-CN" sz="1500"/>
          </a:p>
        </p:txBody>
      </p:sp>
      <p:sp>
        <p:nvSpPr>
          <p:cNvPr id="20" name="Line 280"/>
          <p:cNvSpPr/>
          <p:nvPr>
            <p:custDataLst>
              <p:tags r:id="rId14"/>
            </p:custDataLst>
          </p:nvPr>
        </p:nvSpPr>
        <p:spPr>
          <a:xfrm>
            <a:off x="5582883" y="4860977"/>
            <a:ext cx="429746" cy="914"/>
          </a:xfrm>
          <a:prstGeom prst="line">
            <a:avLst/>
          </a:prstGeom>
          <a:ln w="31750">
            <a:solidFill>
              <a:srgbClr val="F2A93B"/>
            </a:solidFill>
            <a:tailEnd type="triangle"/>
          </a:ln>
        </p:spPr>
      </p:sp>
      <p:sp>
        <p:nvSpPr>
          <p:cNvPr id="21" name="Shape 281"/>
          <p:cNvSpPr/>
          <p:nvPr>
            <p:custDataLst>
              <p:tags r:id="rId15"/>
            </p:custDataLst>
          </p:nvPr>
        </p:nvSpPr>
        <p:spPr>
          <a:xfrm>
            <a:off x="6085777" y="3919194"/>
            <a:ext cx="2331599" cy="187442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sp>
        <p:nvSpPr>
          <p:cNvPr id="22" name="Shape 282"/>
          <p:cNvSpPr/>
          <p:nvPr>
            <p:custDataLst>
              <p:tags r:id="rId16"/>
            </p:custDataLst>
          </p:nvPr>
        </p:nvSpPr>
        <p:spPr>
          <a:xfrm>
            <a:off x="6250360" y="4120352"/>
            <a:ext cx="493750" cy="493750"/>
          </a:xfrm>
          <a:prstGeom prst="ellipse">
            <a:avLst/>
          </a:prstGeom>
          <a:solidFill>
            <a:srgbClr val="0E8A92"/>
          </a:solidFill>
          <a:ln>
            <a:noFill/>
          </a:ln>
        </p:spPr>
      </p:sp>
      <p:sp>
        <p:nvSpPr>
          <p:cNvPr id="24" name="Text 284"/>
          <p:cNvSpPr txBox="1"/>
          <p:nvPr>
            <p:custDataLst>
              <p:tags r:id="rId17"/>
            </p:custDataLst>
          </p:nvPr>
        </p:nvSpPr>
        <p:spPr>
          <a:xfrm>
            <a:off x="6872120" y="4120352"/>
            <a:ext cx="1298380" cy="320023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/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2000" b="1" i="0">
                <a:solidFill>
                  <a:srgbClr val="0B1F33"/>
                </a:solidFill>
                <a:latin typeface="微软雅黑" panose="020B0503020204020204" charset="-122"/>
                <a:ea typeface="微软雅黑" panose="020B0503020204020204" charset="-122"/>
              </a:rPr>
              <a:t>计算代价</a:t>
            </a:r>
            <a:endParaRPr lang="zh-CN" sz="2000" b="1" i="0">
              <a:solidFill>
                <a:srgbClr val="0B1F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 285"/>
          <p:cNvSpPr txBox="1"/>
          <p:nvPr>
            <p:custDataLst>
              <p:tags r:id="rId18"/>
            </p:custDataLst>
          </p:nvPr>
        </p:nvSpPr>
        <p:spPr>
          <a:xfrm>
            <a:off x="6337351" y="4796592"/>
            <a:ext cx="1828705" cy="694908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500" b="0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安全、精准
舒适、平滑</a:t>
            </a:r>
            <a:endParaRPr lang="zh-CN" sz="1500"/>
          </a:p>
        </p:txBody>
      </p:sp>
      <p:sp>
        <p:nvSpPr>
          <p:cNvPr id="26" name="Line 286"/>
          <p:cNvSpPr/>
          <p:nvPr>
            <p:custDataLst>
              <p:tags r:id="rId19"/>
            </p:custDataLst>
          </p:nvPr>
        </p:nvSpPr>
        <p:spPr>
          <a:xfrm>
            <a:off x="8435663" y="4860977"/>
            <a:ext cx="429746" cy="914"/>
          </a:xfrm>
          <a:prstGeom prst="line">
            <a:avLst/>
          </a:prstGeom>
          <a:ln w="31750">
            <a:solidFill>
              <a:srgbClr val="F2A93B"/>
            </a:solidFill>
            <a:tailEnd type="triangle"/>
          </a:ln>
        </p:spPr>
      </p:sp>
      <p:sp>
        <p:nvSpPr>
          <p:cNvPr id="27" name="Shape 287"/>
          <p:cNvSpPr/>
          <p:nvPr>
            <p:custDataLst>
              <p:tags r:id="rId20"/>
            </p:custDataLst>
          </p:nvPr>
        </p:nvSpPr>
        <p:spPr>
          <a:xfrm>
            <a:off x="8938556" y="3919194"/>
            <a:ext cx="2331599" cy="187442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64D4D"/>
            </a:solidFill>
          </a:ln>
        </p:spPr>
      </p:sp>
      <p:sp>
        <p:nvSpPr>
          <p:cNvPr id="29" name="Shape 288"/>
          <p:cNvSpPr/>
          <p:nvPr>
            <p:custDataLst>
              <p:tags r:id="rId21"/>
            </p:custDataLst>
          </p:nvPr>
        </p:nvSpPr>
        <p:spPr>
          <a:xfrm>
            <a:off x="9103140" y="4120352"/>
            <a:ext cx="493750" cy="493750"/>
          </a:xfrm>
          <a:prstGeom prst="ellipse">
            <a:avLst/>
          </a:prstGeom>
          <a:solidFill>
            <a:srgbClr val="D64D4D"/>
          </a:solidFill>
          <a:ln>
            <a:noFill/>
          </a:ln>
        </p:spPr>
      </p:sp>
      <p:sp>
        <p:nvSpPr>
          <p:cNvPr id="31" name="Text 290"/>
          <p:cNvSpPr txBox="1"/>
          <p:nvPr>
            <p:custDataLst>
              <p:tags r:id="rId22"/>
            </p:custDataLst>
          </p:nvPr>
        </p:nvSpPr>
        <p:spPr>
          <a:xfrm>
            <a:off x="9724899" y="4120352"/>
            <a:ext cx="1298380" cy="320023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/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2000" b="1" i="0">
                <a:solidFill>
                  <a:srgbClr val="D64D4D"/>
                </a:solidFill>
                <a:latin typeface="微软雅黑" panose="020B0503020204020204" charset="-122"/>
                <a:ea typeface="微软雅黑" panose="020B0503020204020204" charset="-122"/>
              </a:rPr>
              <a:t>执行首步</a:t>
            </a:r>
            <a:endParaRPr lang="zh-CN" sz="2000" b="1" i="0">
              <a:solidFill>
                <a:srgbClr val="D64D4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Text 291"/>
          <p:cNvSpPr txBox="1"/>
          <p:nvPr>
            <p:custDataLst>
              <p:tags r:id="rId23"/>
            </p:custDataLst>
          </p:nvPr>
        </p:nvSpPr>
        <p:spPr>
          <a:xfrm>
            <a:off x="9194575" y="4796592"/>
            <a:ext cx="1828705" cy="694908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>
            <a:norm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500" b="0" i="0">
                <a:solidFill>
                  <a:srgbClr val="607080"/>
                </a:solidFill>
                <a:latin typeface="微软雅黑" panose="020B0503020204020204" charset="-122"/>
                <a:ea typeface="微软雅黑" panose="020B0503020204020204" charset="-122"/>
              </a:rPr>
              <a:t>输出最优 Pₜ
下一时刻重规划</a:t>
            </a:r>
            <a:endParaRPr lang="zh-CN" sz="1500"/>
          </a:p>
        </p:txBody>
      </p:sp>
      <p:sp>
        <p:nvSpPr>
          <p:cNvPr id="33" name="Text 271"/>
          <p:cNvSpPr txBox="1"/>
          <p:nvPr>
            <p:custDataLst>
              <p:tags r:id="rId24"/>
            </p:custDataLst>
          </p:nvPr>
        </p:nvSpPr>
        <p:spPr>
          <a:xfrm>
            <a:off x="3416122" y="4149052"/>
            <a:ext cx="457176" cy="423523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/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en-US" altLang="zh-CN" sz="2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2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Text 271"/>
          <p:cNvSpPr txBox="1"/>
          <p:nvPr>
            <p:custDataLst>
              <p:tags r:id="rId25"/>
            </p:custDataLst>
          </p:nvPr>
        </p:nvSpPr>
        <p:spPr>
          <a:xfrm>
            <a:off x="6250614" y="4149052"/>
            <a:ext cx="457176" cy="423523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/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en-US" altLang="zh-CN" sz="2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 sz="2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Text 271"/>
          <p:cNvSpPr txBox="1"/>
          <p:nvPr>
            <p:custDataLst>
              <p:tags r:id="rId26"/>
            </p:custDataLst>
          </p:nvPr>
        </p:nvSpPr>
        <p:spPr>
          <a:xfrm>
            <a:off x="9103521" y="4149052"/>
            <a:ext cx="457176" cy="423523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/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en-US" altLang="zh-CN" sz="2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zh-CN" sz="2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一步安全屏障基线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823B-8CA8-4514-B4CF-AB75C2ECDFC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5" name="文本框 34"/>
          <p:cNvSpPr txBox="1"/>
          <p:nvPr/>
        </p:nvSpPr>
        <p:spPr>
          <a:xfrm>
            <a:off x="6239185" y="1268843"/>
            <a:ext cx="5557231" cy="291767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动作安全：压力必须在物理范围内，0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10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MPa。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车辆响应安全：下一步预测减速度不能过大，不能超过附着能力或舒适性限制。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空间安全：执行这一小步后不能撞上障碍物，即距离不能变成负数。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8" name="results/safety_planning_scenario.png" descr="results/safety_planning_scenari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7146" y="1079114"/>
            <a:ext cx="5976046" cy="4480327"/>
          </a:xfrm>
          <a:prstGeom prst="rect">
            <a:avLst/>
          </a:prstGeom>
        </p:spPr>
      </p:pic>
      <p:sp>
        <p:nvSpPr>
          <p:cNvPr id="20" name="Text"/>
          <p:cNvSpPr txBox="1"/>
          <p:nvPr/>
        </p:nvSpPr>
        <p:spPr>
          <a:xfrm>
            <a:off x="6671598" y="4186516"/>
            <a:ext cx="3642805" cy="1139131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54861" tIns="54861" rIns="54861" bIns="54861" anchor="ctr"/>
          <a:lstStyle/>
          <a:p>
            <a:pPr algn="ctr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根据安全约束选择压力</a:t>
            </a:r>
            <a:endParaRPr lang="zh-CN" altLang="en-US" sz="2000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用于调试距离更新和刹停逻辑</a:t>
            </a:r>
            <a:endParaRPr lang="zh-CN" altLang="en-US" sz="2000" dirty="0" smtClean="0">
              <a:solidFill>
                <a:srgbClr val="20242A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MPC </a:t>
            </a:r>
            <a:r>
              <a:rPr lang="zh-CN" altLang="en-US" dirty="0"/>
              <a:t>闭环</a:t>
            </a:r>
            <a:r>
              <a:rPr lang="zh-CN" altLang="en-US" dirty="0"/>
              <a:t>结果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823B-8CA8-4514-B4CF-AB75C2ECDFC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5" name="文本框 34"/>
          <p:cNvSpPr txBox="1"/>
          <p:nvPr/>
        </p:nvSpPr>
        <p:spPr>
          <a:xfrm>
            <a:off x="6312206" y="1482826"/>
            <a:ext cx="3800277" cy="230493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初速度：80 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</a:rPr>
              <a:t>km/h</a:t>
            </a: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初始距离：65 m</a:t>
            </a:r>
            <a:endParaRPr lang="zh-CN" altLang="en-US" sz="2000"/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附着系数：0.6</a:t>
            </a:r>
            <a:endParaRPr lang="zh-CN" altLang="en-US" sz="2000"/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目标安全距离：2 m</a:t>
            </a:r>
            <a:endParaRPr lang="zh-CN" altLang="en-US" sz="2000"/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000" dirty="0" smtClean="0">
                <a:solidFill>
                  <a:srgbClr val="20242A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  <a:sym typeface="+mn-ea"/>
              </a:rPr>
              <a:t>最终距离：1.844 m</a:t>
            </a:r>
            <a:endParaRPr lang="zh-CN" altLang="en-US" sz="2000"/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Ø"/>
            </a:pPr>
            <a:endParaRPr lang="en-US" altLang="zh-CN" sz="2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图片 4" descr="14_mpc_stop_resul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263" y="1052954"/>
            <a:ext cx="5761055" cy="5718512"/>
          </a:xfrm>
          <a:prstGeom prst="rect">
            <a:avLst/>
          </a:prstGeom>
        </p:spPr>
      </p:pic>
      <p:graphicFrame>
        <p:nvGraphicFramePr>
          <p:cNvPr id="7" name="表格 6"/>
          <p:cNvGraphicFramePr/>
          <p:nvPr/>
        </p:nvGraphicFramePr>
        <p:xfrm>
          <a:off x="6295697" y="4004915"/>
          <a:ext cx="5687695" cy="249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5050"/>
                <a:gridCol w="3382645"/>
              </a:tblGrid>
              <a:tr h="3962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/>
                        <a:t>已完成</a:t>
                      </a:r>
                      <a:endParaRPr lang="zh-CN" altLang="en-US" sz="2000"/>
                    </a:p>
                  </a:txBody>
                  <a:tcPr marL="91435" marR="91435" marT="45717" marB="45717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/>
                        <a:t>进一步工作</a:t>
                      </a:r>
                      <a:endParaRPr lang="zh-CN" altLang="en-US" sz="2000"/>
                    </a:p>
                  </a:txBody>
                  <a:tcPr marL="91435" marR="91435" marT="45717" marB="45717"/>
                </a:tc>
              </a:tr>
              <a:tr h="701040">
                <a:tc>
                  <a:txBody>
                    <a:bodyPr/>
                    <a:p>
                      <a:pPr algn="ctr"/>
                      <a:r>
                        <a:rPr lang="zh-CN" altLang="en-US" sz="2000" dirty="0" smtClean="0">
                          <a:solidFill>
                            <a:srgbClr val="20242A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  <a:sym typeface="+mn-ea"/>
                        </a:rPr>
                        <a:t>CarSim 数据集与 CarSim-GRU 训练</a:t>
                      </a:r>
                      <a:endParaRPr lang="zh-CN" altLang="en-US" sz="2000" dirty="0" smtClean="0">
                        <a:solidFill>
                          <a:srgbClr val="20242A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  <a:sym typeface="+mn-ea"/>
                      </a:endParaRPr>
                    </a:p>
                  </a:txBody>
                  <a:tcPr marL="91435" marR="91435" marT="45717" marB="45717"/>
                </a:tc>
                <a:tc>
                  <a:txBody>
                    <a:bodyPr/>
                    <a:p>
                      <a:pPr algn="ctr"/>
                      <a:r>
                        <a:rPr lang="zh-CN" altLang="en-US" sz="2000" dirty="0" smtClean="0">
                          <a:solidFill>
                            <a:srgbClr val="20242A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  <a:sym typeface="+mn-ea"/>
                        </a:rPr>
                        <a:t>CarSim 在线闭环 MPC</a:t>
                      </a:r>
                      <a:endParaRPr lang="zh-CN" altLang="en-US" sz="2000" dirty="0" smtClean="0">
                        <a:solidFill>
                          <a:srgbClr val="20242A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  <a:sym typeface="+mn-ea"/>
                      </a:endParaRPr>
                    </a:p>
                  </a:txBody>
                  <a:tcPr marL="91435" marR="91435" marT="45717" marB="45717"/>
                </a:tc>
              </a:tr>
              <a:tr h="701040">
                <a:tc>
                  <a:txBody>
                    <a:bodyPr/>
                    <a:p>
                      <a:pPr algn="ctr"/>
                      <a:r>
                        <a:rPr lang="zh-CN" altLang="en-US" sz="2000" dirty="0" smtClean="0">
                          <a:solidFill>
                            <a:srgbClr val="20242A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  <a:sym typeface="+mn-ea"/>
                        </a:rPr>
                        <a:t>机理执行环境下的 MPC 闭环</a:t>
                      </a:r>
                      <a:endParaRPr lang="zh-CN" altLang="en-US" sz="2000" dirty="0" smtClean="0">
                        <a:solidFill>
                          <a:srgbClr val="20242A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  <a:sym typeface="+mn-ea"/>
                      </a:endParaRPr>
                    </a:p>
                  </a:txBody>
                  <a:tcPr marL="91435" marR="91435" marT="45717" marB="45717"/>
                </a:tc>
                <a:tc>
                  <a:txBody>
                    <a:bodyPr/>
                    <a:p>
                      <a:pPr algn="ctr"/>
                      <a:r>
                        <a:rPr lang="zh-CN" altLang="en-US" sz="2000" dirty="0" smtClean="0">
                          <a:solidFill>
                            <a:srgbClr val="20242A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  <a:sym typeface="+mn-ea"/>
                        </a:rPr>
                        <a:t>每次 MPC 动作发送给 CarSim</a:t>
                      </a:r>
                      <a:endParaRPr lang="zh-CN" altLang="en-US" sz="2000" dirty="0" smtClean="0">
                        <a:solidFill>
                          <a:srgbClr val="20242A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  <a:sym typeface="+mn-ea"/>
                      </a:endParaRPr>
                    </a:p>
                  </a:txBody>
                  <a:tcPr marL="91435" marR="91435" marT="45717" marB="45717"/>
                </a:tc>
              </a:tr>
              <a:tr h="701040">
                <a:tc>
                  <a:txBody>
                    <a:bodyPr/>
                    <a:p>
                      <a:pPr algn="ctr"/>
                      <a:r>
                        <a:rPr lang="zh-CN" altLang="en-US" sz="2000" dirty="0" smtClean="0">
                          <a:solidFill>
                            <a:srgbClr val="20242A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  <a:sym typeface="+mn-ea"/>
                        </a:rPr>
                        <a:t>工程数据/模型/规划链路</a:t>
                      </a:r>
                      <a:endParaRPr lang="zh-CN" altLang="en-US" sz="2000" dirty="0" smtClean="0">
                        <a:solidFill>
                          <a:srgbClr val="20242A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  <a:sym typeface="+mn-ea"/>
                      </a:endParaRPr>
                    </a:p>
                  </a:txBody>
                  <a:tcPr marL="91435" marR="91435" marT="45717" marB="45717"/>
                </a:tc>
                <a:tc>
                  <a:txBody>
                    <a:bodyPr/>
                    <a:p>
                      <a:pPr algn="ctr"/>
                      <a:r>
                        <a:rPr lang="zh-CN" altLang="en-US" sz="2000" dirty="0" smtClean="0">
                          <a:solidFill>
                            <a:srgbClr val="20242A"/>
                          </a:solidFill>
                          <a:latin typeface="Arial" panose="020B0604020202020204"/>
                          <a:ea typeface="微软雅黑" panose="020B0503020204020204" charset="-122"/>
                          <a:cs typeface="Arial" panose="020B0604020202020204"/>
                          <a:sym typeface="+mn-ea"/>
                        </a:rPr>
                        <a:t>CarSim 反馈后实时重规划</a:t>
                      </a:r>
                      <a:endParaRPr lang="zh-CN" altLang="en-US" sz="2000" dirty="0" smtClean="0">
                        <a:solidFill>
                          <a:srgbClr val="20242A"/>
                        </a:solidFill>
                        <a:latin typeface="Arial" panose="020B0604020202020204"/>
                        <a:ea typeface="微软雅黑" panose="020B0503020204020204" charset="-122"/>
                        <a:cs typeface="Arial" panose="020B0604020202020204"/>
                        <a:sym typeface="+mn-ea"/>
                      </a:endParaRPr>
                    </a:p>
                  </a:txBody>
                  <a:tcPr marL="91435" marR="91435" marT="45717" marB="45717"/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总结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823B-8CA8-4514-B4CF-AB75C2ECDFC9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39" name="Shape 339"/>
          <p:cNvSpPr/>
          <p:nvPr/>
        </p:nvSpPr>
        <p:spPr>
          <a:xfrm>
            <a:off x="546834" y="1510130"/>
            <a:ext cx="3428821" cy="196585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sp>
        <p:nvSpPr>
          <p:cNvPr id="340" name="Shape 340"/>
          <p:cNvSpPr/>
          <p:nvPr/>
        </p:nvSpPr>
        <p:spPr>
          <a:xfrm>
            <a:off x="546834" y="1510130"/>
            <a:ext cx="73148" cy="1965858"/>
          </a:xfrm>
          <a:prstGeom prst="rect">
            <a:avLst/>
          </a:prstGeom>
          <a:solidFill>
            <a:srgbClr val="0E8A92"/>
          </a:solidFill>
          <a:ln>
            <a:noFill/>
          </a:ln>
        </p:spPr>
      </p:sp>
      <p:sp>
        <p:nvSpPr>
          <p:cNvPr id="341" name="Text 341"/>
          <p:cNvSpPr txBox="1"/>
          <p:nvPr/>
        </p:nvSpPr>
        <p:spPr>
          <a:xfrm>
            <a:off x="767675" y="1623154"/>
            <a:ext cx="3063080" cy="417173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/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2000" b="1" i="0">
                <a:solidFill>
                  <a:srgbClr val="0E8A92"/>
                </a:solidFill>
                <a:latin typeface="微软雅黑" panose="020B0503020204020204" charset="-122"/>
                <a:ea typeface="微软雅黑" panose="020B0503020204020204" charset="-122"/>
              </a:rPr>
              <a:t>① 数据闭环</a:t>
            </a:r>
            <a:endParaRPr lang="zh-CN" sz="2000" b="1" i="0">
              <a:solidFill>
                <a:srgbClr val="0E8A9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2" name="Text 342"/>
          <p:cNvSpPr txBox="1"/>
          <p:nvPr/>
        </p:nvSpPr>
        <p:spPr>
          <a:xfrm>
            <a:off x="766405" y="2040327"/>
            <a:ext cx="3044666" cy="1436295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>
            <a:no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20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Simulink 机制模型
30,000 单步 +</a:t>
            </a:r>
            <a:endParaRPr lang="zh-CN" sz="2000" b="0" i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20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16,000 时序数据
统一 CarSim 接口</a:t>
            </a:r>
            <a:endParaRPr lang="zh-CN" sz="2000" b="0" i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3" name="Shape 343"/>
          <p:cNvSpPr/>
          <p:nvPr/>
        </p:nvSpPr>
        <p:spPr>
          <a:xfrm>
            <a:off x="4295678" y="1510130"/>
            <a:ext cx="3428821" cy="196585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sp>
        <p:nvSpPr>
          <p:cNvPr id="344" name="Shape 344"/>
          <p:cNvSpPr/>
          <p:nvPr/>
        </p:nvSpPr>
        <p:spPr>
          <a:xfrm>
            <a:off x="4295678" y="1510130"/>
            <a:ext cx="73148" cy="1965858"/>
          </a:xfrm>
          <a:prstGeom prst="rect">
            <a:avLst/>
          </a:prstGeom>
          <a:solidFill>
            <a:srgbClr val="F2A93B"/>
          </a:solidFill>
          <a:ln>
            <a:noFill/>
          </a:ln>
        </p:spPr>
      </p:sp>
      <p:sp>
        <p:nvSpPr>
          <p:cNvPr id="345" name="Text 345"/>
          <p:cNvSpPr txBox="1"/>
          <p:nvPr/>
        </p:nvSpPr>
        <p:spPr>
          <a:xfrm>
            <a:off x="4515885" y="1623789"/>
            <a:ext cx="3063080" cy="416538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/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2000" b="1" i="0">
                <a:solidFill>
                  <a:srgbClr val="F2A93B"/>
                </a:solidFill>
                <a:latin typeface="微软雅黑" panose="020B0503020204020204" charset="-122"/>
                <a:ea typeface="微软雅黑" panose="020B0503020204020204" charset="-122"/>
              </a:rPr>
              <a:t>② 模型底座</a:t>
            </a:r>
            <a:endParaRPr lang="zh-CN" sz="2000" b="1" i="0">
              <a:solidFill>
                <a:srgbClr val="F2A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6" name="Text 346"/>
          <p:cNvSpPr txBox="1"/>
          <p:nvPr/>
        </p:nvSpPr>
        <p:spPr>
          <a:xfrm>
            <a:off x="4515123" y="2040454"/>
            <a:ext cx="3044793" cy="1307524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20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MLP 验证单步辨识
LSTM 建模历史依赖
PINN 加入物理一致性</a:t>
            </a:r>
            <a:endParaRPr lang="zh-CN" sz="2000" b="0" i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7" name="Shape 347"/>
          <p:cNvSpPr/>
          <p:nvPr/>
        </p:nvSpPr>
        <p:spPr>
          <a:xfrm>
            <a:off x="8044523" y="1510130"/>
            <a:ext cx="3428821" cy="196585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5"/>
            </a:solidFill>
          </a:ln>
        </p:spPr>
      </p:sp>
      <p:sp>
        <p:nvSpPr>
          <p:cNvPr id="348" name="Shape 348"/>
          <p:cNvSpPr/>
          <p:nvPr/>
        </p:nvSpPr>
        <p:spPr>
          <a:xfrm>
            <a:off x="8044523" y="1510130"/>
            <a:ext cx="73148" cy="1965858"/>
          </a:xfrm>
          <a:prstGeom prst="rect">
            <a:avLst/>
          </a:prstGeom>
          <a:solidFill>
            <a:srgbClr val="D64D4D"/>
          </a:solidFill>
          <a:ln>
            <a:noFill/>
          </a:ln>
        </p:spPr>
      </p:sp>
      <p:sp>
        <p:nvSpPr>
          <p:cNvPr id="349" name="Text 349"/>
          <p:cNvSpPr txBox="1"/>
          <p:nvPr/>
        </p:nvSpPr>
        <p:spPr>
          <a:xfrm>
            <a:off x="8264095" y="1623154"/>
            <a:ext cx="3063080" cy="417808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/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2000" b="1" i="0">
                <a:solidFill>
                  <a:srgbClr val="D64D4D"/>
                </a:solidFill>
                <a:latin typeface="微软雅黑" panose="020B0503020204020204" charset="-122"/>
                <a:ea typeface="微软雅黑" panose="020B0503020204020204" charset="-122"/>
              </a:rPr>
              <a:t>③ 决策规划</a:t>
            </a:r>
            <a:endParaRPr lang="zh-CN" sz="2000" b="1" i="0">
              <a:solidFill>
                <a:srgbClr val="D64D4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0" name="Text 350"/>
          <p:cNvSpPr txBox="1"/>
          <p:nvPr/>
        </p:nvSpPr>
        <p:spPr>
          <a:xfrm>
            <a:off x="8263968" y="2040454"/>
            <a:ext cx="3044793" cy="1307524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>
            <a:norm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 sz="20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采样式 MPC 滚动优化
80 km/h 工况安全刹停
最终距离误差 0.156 m</a:t>
            </a:r>
            <a:endParaRPr lang="zh-CN" sz="2000" b="0" i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2" name="Shape 352"/>
          <p:cNvSpPr/>
          <p:nvPr/>
        </p:nvSpPr>
        <p:spPr>
          <a:xfrm>
            <a:off x="685764" y="4290650"/>
            <a:ext cx="2331599" cy="987501"/>
          </a:xfrm>
          <a:prstGeom prst="roundRect">
            <a:avLst/>
          </a:prstGeom>
          <a:solidFill>
            <a:srgbClr val="E9F4F5"/>
          </a:solidFill>
          <a:ln w="12700">
            <a:solidFill>
              <a:srgbClr val="0E8A92"/>
            </a:solidFill>
          </a:ln>
        </p:spPr>
      </p:sp>
      <p:sp>
        <p:nvSpPr>
          <p:cNvPr id="353" name="Text 353"/>
          <p:cNvSpPr txBox="1"/>
          <p:nvPr/>
        </p:nvSpPr>
        <p:spPr>
          <a:xfrm>
            <a:off x="795487" y="4383482"/>
            <a:ext cx="2103010" cy="256019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/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2000" b="1" i="0">
                <a:solidFill>
                  <a:srgbClr val="0E8A92"/>
                </a:solidFill>
                <a:latin typeface="微软雅黑" panose="020B0503020204020204" charset="-122"/>
                <a:ea typeface="微软雅黑" panose="020B0503020204020204" charset="-122"/>
              </a:rPr>
              <a:t>CarSim 联调</a:t>
            </a:r>
            <a:endParaRPr lang="zh-CN" sz="2000" b="1" i="0">
              <a:solidFill>
                <a:srgbClr val="0E8A9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4" name="Text 354"/>
          <p:cNvSpPr txBox="1"/>
          <p:nvPr/>
        </p:nvSpPr>
        <p:spPr>
          <a:xfrm>
            <a:off x="795487" y="4802687"/>
            <a:ext cx="2103010" cy="256019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/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4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高保真时序数据</a:t>
            </a:r>
            <a:endParaRPr lang="zh-CN" sz="1400" b="0" i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5" name="Line 355"/>
          <p:cNvSpPr/>
          <p:nvPr/>
        </p:nvSpPr>
        <p:spPr>
          <a:xfrm>
            <a:off x="3044793" y="4784400"/>
            <a:ext cx="338310" cy="914"/>
          </a:xfrm>
          <a:prstGeom prst="line">
            <a:avLst/>
          </a:prstGeom>
          <a:ln w="25400">
            <a:solidFill>
              <a:srgbClr val="607080"/>
            </a:solidFill>
            <a:tailEnd type="triangle"/>
          </a:ln>
        </p:spPr>
      </p:sp>
      <p:sp>
        <p:nvSpPr>
          <p:cNvPr id="356" name="Shape 356"/>
          <p:cNvSpPr/>
          <p:nvPr/>
        </p:nvSpPr>
        <p:spPr>
          <a:xfrm>
            <a:off x="3447108" y="4290650"/>
            <a:ext cx="2331599" cy="987501"/>
          </a:xfrm>
          <a:prstGeom prst="roundRect">
            <a:avLst/>
          </a:prstGeom>
          <a:solidFill>
            <a:srgbClr val="FFF7EA"/>
          </a:solidFill>
          <a:ln w="12700">
            <a:solidFill>
              <a:srgbClr val="F2A93B"/>
            </a:solidFill>
          </a:ln>
        </p:spPr>
      </p:sp>
      <p:sp>
        <p:nvSpPr>
          <p:cNvPr id="357" name="Text 357"/>
          <p:cNvSpPr txBox="1"/>
          <p:nvPr/>
        </p:nvSpPr>
        <p:spPr>
          <a:xfrm>
            <a:off x="3556831" y="4383482"/>
            <a:ext cx="2103010" cy="256019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/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2000" b="1" i="0">
                <a:solidFill>
                  <a:srgbClr val="F2A93B"/>
                </a:solidFill>
                <a:latin typeface="微软雅黑" panose="020B0503020204020204" charset="-122"/>
                <a:ea typeface="微软雅黑" panose="020B0503020204020204" charset="-122"/>
              </a:rPr>
              <a:t>模型对比</a:t>
            </a:r>
            <a:endParaRPr lang="zh-CN" sz="2000" b="1" i="0">
              <a:solidFill>
                <a:srgbClr val="F2A93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8" name="Text 358"/>
          <p:cNvSpPr txBox="1"/>
          <p:nvPr/>
        </p:nvSpPr>
        <p:spPr>
          <a:xfrm>
            <a:off x="3556831" y="4802687"/>
            <a:ext cx="2103010" cy="256019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/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4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MLP / LSTM / PINN</a:t>
            </a:r>
            <a:endParaRPr lang="zh-CN" sz="1400" b="0" i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9" name="Line 359"/>
          <p:cNvSpPr/>
          <p:nvPr/>
        </p:nvSpPr>
        <p:spPr>
          <a:xfrm>
            <a:off x="5806138" y="4784400"/>
            <a:ext cx="338310" cy="914"/>
          </a:xfrm>
          <a:prstGeom prst="line">
            <a:avLst/>
          </a:prstGeom>
          <a:ln w="25400">
            <a:solidFill>
              <a:srgbClr val="607080"/>
            </a:solidFill>
            <a:tailEnd type="triangle"/>
          </a:ln>
        </p:spPr>
      </p:sp>
      <p:sp>
        <p:nvSpPr>
          <p:cNvPr id="360" name="Shape 360"/>
          <p:cNvSpPr/>
          <p:nvPr/>
        </p:nvSpPr>
        <p:spPr>
          <a:xfrm>
            <a:off x="6208453" y="4290650"/>
            <a:ext cx="2331599" cy="987501"/>
          </a:xfrm>
          <a:prstGeom prst="roundRect">
            <a:avLst/>
          </a:prstGeom>
          <a:solidFill>
            <a:srgbClr val="FDEEEE"/>
          </a:solidFill>
          <a:ln w="12700">
            <a:solidFill>
              <a:srgbClr val="D64D4D"/>
            </a:solidFill>
          </a:ln>
        </p:spPr>
      </p:sp>
      <p:sp>
        <p:nvSpPr>
          <p:cNvPr id="361" name="Text 361"/>
          <p:cNvSpPr txBox="1"/>
          <p:nvPr/>
        </p:nvSpPr>
        <p:spPr>
          <a:xfrm>
            <a:off x="6318175" y="4383482"/>
            <a:ext cx="2103010" cy="256019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/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2000" b="1" i="0">
                <a:solidFill>
                  <a:srgbClr val="D64D4D"/>
                </a:solidFill>
                <a:latin typeface="微软雅黑" panose="020B0503020204020204" charset="-122"/>
                <a:ea typeface="微软雅黑" panose="020B0503020204020204" charset="-122"/>
              </a:rPr>
              <a:t>场景扩展</a:t>
            </a:r>
            <a:endParaRPr lang="zh-CN" sz="2000" b="1" i="0">
              <a:solidFill>
                <a:srgbClr val="D64D4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2" name="Text 362"/>
          <p:cNvSpPr txBox="1"/>
          <p:nvPr/>
        </p:nvSpPr>
        <p:spPr>
          <a:xfrm>
            <a:off x="6318175" y="4802687"/>
            <a:ext cx="2103010" cy="256019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/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4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μ 突变与噪声</a:t>
            </a:r>
            <a:endParaRPr lang="zh-CN" sz="1400" b="0" i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3" name="Line 363"/>
          <p:cNvSpPr/>
          <p:nvPr/>
        </p:nvSpPr>
        <p:spPr>
          <a:xfrm>
            <a:off x="8567482" y="4784400"/>
            <a:ext cx="338310" cy="914"/>
          </a:xfrm>
          <a:prstGeom prst="line">
            <a:avLst/>
          </a:prstGeom>
          <a:ln w="25400">
            <a:solidFill>
              <a:srgbClr val="607080"/>
            </a:solidFill>
            <a:tailEnd type="triangle"/>
          </a:ln>
        </p:spPr>
      </p:sp>
      <p:sp>
        <p:nvSpPr>
          <p:cNvPr id="364" name="Shape 364"/>
          <p:cNvSpPr/>
          <p:nvPr/>
        </p:nvSpPr>
        <p:spPr>
          <a:xfrm>
            <a:off x="8969797" y="4290650"/>
            <a:ext cx="2331599" cy="987501"/>
          </a:xfrm>
          <a:prstGeom prst="roundRect">
            <a:avLst/>
          </a:prstGeom>
          <a:solidFill>
            <a:srgbClr val="EDF4EF"/>
          </a:solidFill>
          <a:ln w="12700">
            <a:solidFill>
              <a:srgbClr val="2F9E73"/>
            </a:solidFill>
          </a:ln>
        </p:spPr>
      </p:sp>
      <p:sp>
        <p:nvSpPr>
          <p:cNvPr id="365" name="Text 365"/>
          <p:cNvSpPr txBox="1"/>
          <p:nvPr/>
        </p:nvSpPr>
        <p:spPr>
          <a:xfrm>
            <a:off x="9079519" y="4383482"/>
            <a:ext cx="2103010" cy="256019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/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2000" b="1" i="0">
                <a:solidFill>
                  <a:srgbClr val="2F9E73"/>
                </a:solidFill>
                <a:latin typeface="微软雅黑" panose="020B0503020204020204" charset="-122"/>
                <a:ea typeface="微软雅黑" panose="020B0503020204020204" charset="-122"/>
              </a:rPr>
              <a:t>控制优化</a:t>
            </a:r>
            <a:endParaRPr lang="zh-CN" sz="2000" b="1" i="0">
              <a:solidFill>
                <a:srgbClr val="2F9E7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6" name="Text 366"/>
          <p:cNvSpPr txBox="1"/>
          <p:nvPr/>
        </p:nvSpPr>
        <p:spPr>
          <a:xfrm>
            <a:off x="9079519" y="4802687"/>
            <a:ext cx="2103010" cy="256019"/>
          </a:xfrm>
          <a:prstGeom prst="rect">
            <a:avLst/>
          </a:prstGeom>
          <a:noFill/>
          <a:ln>
            <a:noFill/>
          </a:ln>
        </p:spPr>
        <p:txBody>
          <a:bodyPr wrap="square" lIns="73148" tIns="36574" rIns="73148" bIns="36574" anchor="t"/>
          <a:lstStyle/>
          <a:p>
            <a:pPr algn="ctr">
              <a:lnSpc>
                <a:spcPct val="108000"/>
              </a:lnSpc>
              <a:spcAft>
                <a:spcPts val="500"/>
              </a:spcAft>
            </a:pPr>
            <a:r>
              <a:rPr lang="zh-CN" sz="1400" b="0" i="0">
                <a:solidFill>
                  <a:srgbClr val="17212B"/>
                </a:solidFill>
                <a:latin typeface="微软雅黑" panose="020B0503020204020204" charset="-122"/>
                <a:ea typeface="微软雅黑" panose="020B0503020204020204" charset="-122"/>
              </a:rPr>
              <a:t>舒适度与实时性</a:t>
            </a:r>
            <a:endParaRPr lang="zh-CN" sz="1400" b="0" i="0">
              <a:solidFill>
                <a:srgbClr val="17212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335263" y="940565"/>
            <a:ext cx="5780739" cy="472415"/>
          </a:xfrm>
        </p:spPr>
        <p:txBody>
          <a:bodyPr vert="horz" lIns="89995" tIns="45717" rIns="91435" bIns="45717" rtlCol="0">
            <a:noAutofit/>
          </a:bodyPr>
          <a:lstStyle/>
          <a:p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cs typeface="Arial" panose="020B0604020202020204"/>
                <a:sym typeface="+mn-ea"/>
              </a:rPr>
              <a:t>当前</a:t>
            </a:r>
            <a:r>
              <a:rPr lang="zh-CN" altLang="en-US" dirty="0" smtClean="0">
                <a:solidFill>
                  <a:srgbClr val="20242A"/>
                </a:solidFill>
                <a:latin typeface="Arial" panose="020B0604020202020204"/>
                <a:cs typeface="Arial" panose="020B0604020202020204"/>
                <a:sym typeface="+mn-ea"/>
              </a:rPr>
              <a:t>工作</a:t>
            </a:r>
            <a:endParaRPr lang="zh-CN" altLang="en-US" dirty="0" smtClean="0">
              <a:solidFill>
                <a:srgbClr val="20242A"/>
              </a:solidFill>
              <a:latin typeface="Arial" panose="020B0604020202020204"/>
              <a:cs typeface="Arial" panose="020B0604020202020204"/>
              <a:sym typeface="+mn-ea"/>
            </a:endParaRPr>
          </a:p>
        </p:txBody>
      </p:sp>
      <p:sp>
        <p:nvSpPr>
          <p:cNvPr id="6" name="内容占位符 2"/>
          <p:cNvSpPr>
            <a:spLocks noGrp="1"/>
          </p:cNvSpPr>
          <p:nvPr/>
        </p:nvSpPr>
        <p:spPr>
          <a:xfrm>
            <a:off x="335263" y="3647429"/>
            <a:ext cx="5780739" cy="472415"/>
          </a:xfrm>
          <a:prstGeom prst="rect">
            <a:avLst/>
          </a:prstGeom>
        </p:spPr>
        <p:txBody>
          <a:bodyPr vert="horz" lIns="89995" tIns="45717" rIns="91435" bIns="45717" rtlCol="0">
            <a:noAutofit/>
          </a:bodyPr>
          <a:lstStyle>
            <a:lvl1pPr marL="257175" indent="-257175" algn="l" defTabSz="685800" rtl="0" eaLnBrk="1" latinLnBrk="0" hangingPunct="1">
              <a:lnSpc>
                <a:spcPct val="11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q"/>
              <a:defRPr sz="2200" b="1" kern="1200" baseline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1pPr>
            <a:lvl2pPr marL="538480" indent="-250825" algn="l" defTabSz="685800" rtl="0" eaLnBrk="1" latinLnBrk="0" hangingPunct="1">
              <a:lnSpc>
                <a:spcPct val="110000"/>
              </a:lnSpc>
              <a:spcBef>
                <a:spcPts val="900"/>
              </a:spcBef>
              <a:buClrTx/>
              <a:buSzPct val="90000"/>
              <a:buFont typeface="Wingdings" panose="05000000000000000000" pitchFamily="2" charset="2"/>
              <a:buChar char="Ø"/>
              <a:defRPr lang="en-US" altLang="zh-CN" sz="2000" b="1" kern="1200" baseline="0" dirty="0" smtClean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2pPr>
            <a:lvl3pPr marL="808355" indent="-250825" algn="l" defTabSz="685800" rtl="0" eaLnBrk="1" latinLnBrk="0" hangingPunct="1">
              <a:lnSpc>
                <a:spcPct val="110000"/>
              </a:lnSpc>
              <a:spcBef>
                <a:spcPts val="300"/>
              </a:spcBef>
              <a:buClrTx/>
              <a:buSzPct val="80000"/>
              <a:buFont typeface="Arial" panose="020B0604020202020204" pitchFamily="34" charset="0"/>
              <a:buChar char="•"/>
              <a:defRPr lang="en-US" altLang="zh-CN" sz="2000" b="0" kern="1200" baseline="0" dirty="0" smtClean="0">
                <a:solidFill>
                  <a:sysClr val="windowText" lastClr="00000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500" kern="1200" baseline="0">
                <a:solidFill>
                  <a:schemeClr val="tx1"/>
                </a:solidFill>
                <a:latin typeface="Arial Unicode MS" panose="020B0604020202020204" pitchFamily="34" charset="-122"/>
                <a:ea typeface="黑体" panose="02010609060101010101" pitchFamily="49" charset="-122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500" kern="1200" baseline="0">
                <a:solidFill>
                  <a:schemeClr val="tx1"/>
                </a:solidFill>
                <a:latin typeface="Arial Unicode MS" panose="020B0604020202020204" pitchFamily="34" charset="-122"/>
                <a:ea typeface="黑体" panose="02010609060101010101" pitchFamily="49" charset="-122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lang="zh-CN">
                <a:solidFill>
                  <a:srgbClr val="0B1F33"/>
                </a:solidFill>
                <a:latin typeface="微软雅黑" panose="020B0503020204020204" charset="-122"/>
                <a:sym typeface="+mn-ea"/>
              </a:rPr>
              <a:t>下一阶段路线</a:t>
            </a:r>
            <a:endParaRPr lang="zh-CN" altLang="en-US" dirty="0" smtClean="0">
              <a:solidFill>
                <a:srgbClr val="20242A"/>
              </a:solidFill>
              <a:latin typeface="Arial" panose="020B0604020202020204"/>
              <a:cs typeface="Arial" panose="020B0604020202020204"/>
              <a:sym typeface="+mn-ea"/>
            </a:endParaRPr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/>
          </p:nvPr>
        </p:nvSpPr>
        <p:spPr>
          <a:xfrm>
            <a:off x="914352" y="2060919"/>
            <a:ext cx="10362660" cy="1437724"/>
          </a:xfrm>
        </p:spPr>
        <p:txBody>
          <a:bodyPr/>
          <a:lstStyle/>
          <a:p>
            <a:r>
              <a:rPr lang="zh-CN" altLang="en-US" dirty="0"/>
              <a:t>谢 谢！</a:t>
            </a:r>
            <a:endParaRPr lang="en-US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29.52755905511808,&quot;left&quot;:224.8535433070866,&quot;top&quot;:162.27165354330708,&quot;width&quot;:491.1505511811024}"/>
</p:tagLst>
</file>

<file path=ppt/tags/tag2.xml><?xml version="1.0" encoding="utf-8"?>
<p:tagLst xmlns:p="http://schemas.openxmlformats.org/presentationml/2006/main">
  <p:tag name="MH" val="20170702121646"/>
  <p:tag name="MH_LIBRARY" val="CONTENTS"/>
  <p:tag name="MH_TYPE" val="NUMBER"/>
  <p:tag name="ID" val="547117"/>
  <p:tag name="MH_ORDER" val="1"/>
  <p:tag name="KSO_WM_DIAGRAM_VIRTUALLY_FRAME" val="{&quot;height&quot;:229.52755905511808,&quot;left&quot;:224.8535433070866,&quot;top&quot;:162.27165354330708,&quot;width&quot;:491.1505511811024}"/>
</p:tagLst>
</file>

<file path=ppt/tags/tag3.xml><?xml version="1.0" encoding="utf-8"?>
<p:tagLst xmlns:p="http://schemas.openxmlformats.org/presentationml/2006/main">
  <p:tag name="MH" val="20170702121646"/>
  <p:tag name="MH_LIBRARY" val="CONTENTS"/>
  <p:tag name="MH_TYPE" val="ENTRY"/>
  <p:tag name="ID" val="547117"/>
  <p:tag name="MH_ORDER" val="1"/>
  <p:tag name="KSO_WM_DIAGRAM_VIRTUALLY_FRAME" val="{&quot;height&quot;:229.52755905511808,&quot;left&quot;:224.8535433070866,&quot;top&quot;:162.27165354330708,&quot;width&quot;:491.1505511811024}"/>
</p:tagLst>
</file>

<file path=ppt/tags/tag4.xml><?xml version="1.0" encoding="utf-8"?>
<p:tagLst xmlns:p="http://schemas.openxmlformats.org/presentationml/2006/main">
  <p:tag name="KSO_WM_DIAGRAM_VIRTUALLY_FRAME" val="{&quot;height&quot;:229.52755905511808,&quot;left&quot;:224.8535433070866,&quot;top&quot;:162.27165354330708,&quot;width&quot;:491.1505511811024}"/>
</p:tagLst>
</file>

<file path=ppt/tags/tag5.xml><?xml version="1.0" encoding="utf-8"?>
<p:tagLst xmlns:p="http://schemas.openxmlformats.org/presentationml/2006/main">
  <p:tag name="MH" val="20170702121646"/>
  <p:tag name="MH_LIBRARY" val="CONTENTS"/>
  <p:tag name="MH_TYPE" val="NUMBER"/>
  <p:tag name="ID" val="547117"/>
  <p:tag name="MH_ORDER" val="1"/>
  <p:tag name="KSO_WM_DIAGRAM_VIRTUALLY_FRAME" val="{&quot;height&quot;:229.52755905511808,&quot;left&quot;:224.8535433070866,&quot;top&quot;:162.27165354330708,&quot;width&quot;:491.1505511811024}"/>
</p:tagLst>
</file>

<file path=ppt/tags/tag6.xml><?xml version="1.0" encoding="utf-8"?>
<p:tagLst xmlns:p="http://schemas.openxmlformats.org/presentationml/2006/main">
  <p:tag name="MH" val="20170702121646"/>
  <p:tag name="MH_LIBRARY" val="CONTENTS"/>
  <p:tag name="MH_TYPE" val="ENTRY"/>
  <p:tag name="ID" val="547117"/>
  <p:tag name="MH_ORDER" val="1"/>
  <p:tag name="KSO_WM_DIAGRAM_VIRTUALLY_FRAME" val="{&quot;height&quot;:229.52755905511808,&quot;left&quot;:224.8535433070866,&quot;top&quot;:162.27165354330708,&quot;width&quot;:491.1505511811024}"/>
</p:tagLst>
</file>

<file path=ppt/tags/tag7.xml><?xml version="1.0" encoding="utf-8"?>
<p:tagLst xmlns:p="http://schemas.openxmlformats.org/presentationml/2006/main">
  <p:tag name="KSO_WM_DIAGRAM_VIRTUALLY_FRAME" val="{&quot;height&quot;:229.52755905511808,&quot;left&quot;:224.8535433070866,&quot;top&quot;:162.27165354330708,&quot;width&quot;:491.1505511811024}"/>
</p:tagLst>
</file>

<file path=ppt/tags/tag8.xml><?xml version="1.0" encoding="utf-8"?>
<p:tagLst xmlns:p="http://schemas.openxmlformats.org/presentationml/2006/main">
  <p:tag name="MH" val="20170702121646"/>
  <p:tag name="MH_LIBRARY" val="CONTENTS"/>
  <p:tag name="MH_TYPE" val="NUMBER"/>
  <p:tag name="ID" val="547117"/>
  <p:tag name="MH_ORDER" val="1"/>
  <p:tag name="KSO_WM_DIAGRAM_VIRTUALLY_FRAME" val="{&quot;height&quot;:229.52755905511808,&quot;left&quot;:224.8535433070866,&quot;top&quot;:162.27165354330708,&quot;width&quot;:491.1505511811024}"/>
</p:tagLst>
</file>

<file path=ppt/tags/tag9.xml><?xml version="1.0" encoding="utf-8"?>
<p:tagLst xmlns:p="http://schemas.openxmlformats.org/presentationml/2006/main">
  <p:tag name="MH" val="20170702121646"/>
  <p:tag name="MH_LIBRARY" val="CONTENTS"/>
  <p:tag name="MH_TYPE" val="ENTRY"/>
  <p:tag name="ID" val="547117"/>
  <p:tag name="MH_ORDER" val="1"/>
  <p:tag name="KSO_WM_DIAGRAM_VIRTUALLY_FRAME" val="{&quot;height&quot;:229.52755905511808,&quot;left&quot;:224.8535433070866,&quot;top&quot;:162.27165354330708,&quot;width&quot;:491.1505511811024}"/>
</p:tagLst>
</file>

<file path=ppt/tags/tag10.xml><?xml version="1.0" encoding="utf-8"?>
<p:tagLst xmlns:p="http://schemas.openxmlformats.org/presentationml/2006/main">
  <p:tag name="KSO_WM_DIAGRAM_VIRTUALLY_FRAME" val="{&quot;height&quot;:341.7565600184142,&quot;left&quot;:20.746737253999296,&quot;top&quot;:113.25,&quot;width&quot;:623.8532627460011}"/>
</p:tagLst>
</file>

<file path=ppt/tags/tag11.xml><?xml version="1.0" encoding="utf-8"?>
<p:tagLst xmlns:p="http://schemas.openxmlformats.org/presentationml/2006/main">
  <p:tag name="KSO_WM_DIAGRAM_VIRTUALLY_FRAME" val="{&quot;height&quot;:341.7565600184142,&quot;left&quot;:20.746737253999296,&quot;top&quot;:113.25,&quot;width&quot;:623.8532627460011}"/>
</p:tagLst>
</file>

<file path=ppt/tags/tag12.xml><?xml version="1.0" encoding="utf-8"?>
<p:tagLst xmlns:p="http://schemas.openxmlformats.org/presentationml/2006/main">
  <p:tag name="KSO_WM_DIAGRAM_VIRTUALLY_FRAME" val="{&quot;height&quot;:341.7565600184142,&quot;left&quot;:20.746737253999296,&quot;top&quot;:113.25,&quot;width&quot;:623.8532627460011}"/>
</p:tagLst>
</file>

<file path=ppt/tags/tag13.xml><?xml version="1.0" encoding="utf-8"?>
<p:tagLst xmlns:p="http://schemas.openxmlformats.org/presentationml/2006/main">
  <p:tag name="KSO_WM_DIAGRAM_VIRTUALLY_FRAME" val="{&quot;height&quot;:341.7565600184142,&quot;left&quot;:20.746737253999296,&quot;top&quot;:113.25,&quot;width&quot;:623.8532627460011}"/>
</p:tagLst>
</file>

<file path=ppt/tags/tag14.xml><?xml version="1.0" encoding="utf-8"?>
<p:tagLst xmlns:p="http://schemas.openxmlformats.org/presentationml/2006/main">
  <p:tag name="KSO_WM_DIAGRAM_VIRTUALLY_FRAME" val="{&quot;height&quot;:341.7565600184142,&quot;left&quot;:20.746737253999296,&quot;top&quot;:113.25,&quot;width&quot;:623.8532627460011}"/>
</p:tagLst>
</file>

<file path=ppt/tags/tag15.xml><?xml version="1.0" encoding="utf-8"?>
<p:tagLst xmlns:p="http://schemas.openxmlformats.org/presentationml/2006/main">
  <p:tag name="KSO_WM_DIAGRAM_VIRTUALLY_FRAME" val="{&quot;height&quot;:341.7565600184142,&quot;left&quot;:20.746737253999296,&quot;top&quot;:113.25,&quot;width&quot;:623.8532627460011}"/>
</p:tagLst>
</file>

<file path=ppt/tags/tag16.xml><?xml version="1.0" encoding="utf-8"?>
<p:tagLst xmlns:p="http://schemas.openxmlformats.org/presentationml/2006/main">
  <p:tag name="KSO_WM_DIAGRAM_VIRTUALLY_FRAME" val="{&quot;height&quot;:341.7565600184142,&quot;left&quot;:20.746737253999296,&quot;top&quot;:113.25,&quot;width&quot;:623.8532627460011}"/>
</p:tagLst>
</file>

<file path=ppt/tags/tag17.xml><?xml version="1.0" encoding="utf-8"?>
<p:tagLst xmlns:p="http://schemas.openxmlformats.org/presentationml/2006/main">
  <p:tag name="KSO_WM_DIAGRAM_VIRTUALLY_FRAME" val="{&quot;height&quot;:341.7565600184142,&quot;left&quot;:20.746737253999296,&quot;top&quot;:113.25,&quot;width&quot;:623.8532627460011}"/>
</p:tagLst>
</file>

<file path=ppt/tags/tag18.xml><?xml version="1.0" encoding="utf-8"?>
<p:tagLst xmlns:p="http://schemas.openxmlformats.org/presentationml/2006/main">
  <p:tag name="KSO_WM_DIAGRAM_VIRTUALLY_FRAME" val="{&quot;height&quot;:341.7565600184142,&quot;left&quot;:20.746737253999296,&quot;top&quot;:113.25,&quot;width&quot;:623.8532627460011}"/>
</p:tagLst>
</file>

<file path=ppt/tags/tag19.xml><?xml version="1.0" encoding="utf-8"?>
<p:tagLst xmlns:p="http://schemas.openxmlformats.org/presentationml/2006/main">
  <p:tag name="KSO_WM_DIAGRAM_VIRTUALLY_FRAME" val="{&quot;height&quot;:341.7565600184142,&quot;left&quot;:20.746737253999296,&quot;top&quot;:113.25,&quot;width&quot;:623.8532627460011}"/>
</p:tagLst>
</file>

<file path=ppt/tags/tag20.xml><?xml version="1.0" encoding="utf-8"?>
<p:tagLst xmlns:p="http://schemas.openxmlformats.org/presentationml/2006/main">
  <p:tag name="KSO_WM_DIAGRAM_VIRTUALLY_FRAME" val="{&quot;height&quot;:341.7565600184142,&quot;left&quot;:20.746737253999296,&quot;top&quot;:113.25,&quot;width&quot;:623.8532627460011}"/>
</p:tagLst>
</file>

<file path=ppt/tags/tag21.xml><?xml version="1.0" encoding="utf-8"?>
<p:tagLst xmlns:p="http://schemas.openxmlformats.org/presentationml/2006/main">
  <p:tag name="KSO_WM_DIAGRAM_VIRTUALLY_FRAME" val="{&quot;height&quot;:341.7565600184142,&quot;left&quot;:20.746737253999296,&quot;top&quot;:113.25,&quot;width&quot;:623.8532627460011}"/>
</p:tagLst>
</file>

<file path=ppt/tags/tag22.xml><?xml version="1.0" encoding="utf-8"?>
<p:tagLst xmlns:p="http://schemas.openxmlformats.org/presentationml/2006/main">
  <p:tag name="KSO_WM_DIAGRAM_VIRTUALLY_FRAME" val="{&quot;height&quot;:289.3,&quot;left&quot;:26.4,&quot;top&quot;:145.25,&quot;width&quot;:598.4}"/>
</p:tagLst>
</file>

<file path=ppt/tags/tag23.xml><?xml version="1.0" encoding="utf-8"?>
<p:tagLst xmlns:p="http://schemas.openxmlformats.org/presentationml/2006/main">
  <p:tag name="KSO_WM_DIAGRAM_VIRTUALLY_FRAME" val="{&quot;height&quot;:289.3,&quot;left&quot;:26.4,&quot;top&quot;:145.25,&quot;width&quot;:598.4}"/>
</p:tagLst>
</file>

<file path=ppt/tags/tag24.xml><?xml version="1.0" encoding="utf-8"?>
<p:tagLst xmlns:p="http://schemas.openxmlformats.org/presentationml/2006/main">
  <p:tag name="KSO_WM_DIAGRAM_VIRTUALLY_FRAME" val="{&quot;height&quot;:289.3,&quot;left&quot;:26.4,&quot;top&quot;:145.25,&quot;width&quot;:598.4}"/>
</p:tagLst>
</file>

<file path=ppt/tags/tag25.xml><?xml version="1.0" encoding="utf-8"?>
<p:tagLst xmlns:p="http://schemas.openxmlformats.org/presentationml/2006/main">
  <p:tag name="KSO_WM_DIAGRAM_VIRTUALLY_FRAME" val="{&quot;height&quot;:289.3,&quot;left&quot;:26.4,&quot;top&quot;:145.25,&quot;width&quot;:598.4}"/>
</p:tagLst>
</file>

<file path=ppt/tags/tag26.xml><?xml version="1.0" encoding="utf-8"?>
<p:tagLst xmlns:p="http://schemas.openxmlformats.org/presentationml/2006/main">
  <p:tag name="KSO_WM_DIAGRAM_VIRTUALLY_FRAME" val="{&quot;height&quot;:289.3,&quot;left&quot;:26.4,&quot;top&quot;:145.25,&quot;width&quot;:598.4}"/>
</p:tagLst>
</file>

<file path=ppt/tags/tag27.xml><?xml version="1.0" encoding="utf-8"?>
<p:tagLst xmlns:p="http://schemas.openxmlformats.org/presentationml/2006/main">
  <p:tag name="KSO_WM_DIAGRAM_VIRTUALLY_FRAME" val="{&quot;height&quot;:289.3,&quot;left&quot;:26.4,&quot;top&quot;:145.25,&quot;width&quot;:598.4}"/>
</p:tagLst>
</file>

<file path=ppt/tags/tag28.xml><?xml version="1.0" encoding="utf-8"?>
<p:tagLst xmlns:p="http://schemas.openxmlformats.org/presentationml/2006/main">
  <p:tag name="KSO_WM_DIAGRAM_VIRTUALLY_FRAME" val="{&quot;height&quot;:289.3,&quot;left&quot;:26.4,&quot;top&quot;:145.25,&quot;width&quot;:598.4}"/>
</p:tagLst>
</file>

<file path=ppt/tags/tag29.xml><?xml version="1.0" encoding="utf-8"?>
<p:tagLst xmlns:p="http://schemas.openxmlformats.org/presentationml/2006/main">
  <p:tag name="KSO_WM_DIAGRAM_VIRTUALLY_FRAME" val="{&quot;height&quot;:289.3,&quot;left&quot;:26.4,&quot;top&quot;:145.25,&quot;width&quot;:598.4}"/>
</p:tagLst>
</file>

<file path=ppt/tags/tag30.xml><?xml version="1.0" encoding="utf-8"?>
<p:tagLst xmlns:p="http://schemas.openxmlformats.org/presentationml/2006/main">
  <p:tag name="KSO_WM_DIAGRAM_VIRTUALLY_FRAME" val="{&quot;height&quot;:289.3,&quot;left&quot;:26.4,&quot;top&quot;:145.25,&quot;width&quot;:598.4}"/>
</p:tagLst>
</file>

<file path=ppt/tags/tag31.xml><?xml version="1.0" encoding="utf-8"?>
<p:tagLst xmlns:p="http://schemas.openxmlformats.org/presentationml/2006/main">
  <p:tag name="KSO_WM_DIAGRAM_VIRTUALLY_FRAME" val="{&quot;height&quot;:289.3,&quot;left&quot;:26.4,&quot;top&quot;:145.25,&quot;width&quot;:598.4}"/>
</p:tagLst>
</file>

<file path=ppt/tags/tag32.xml><?xml version="1.0" encoding="utf-8"?>
<p:tagLst xmlns:p="http://schemas.openxmlformats.org/presentationml/2006/main">
  <p:tag name="KSO_WM_DIAGRAM_VIRTUALLY_FRAME" val="{&quot;height&quot;:289.3,&quot;left&quot;:26.4,&quot;top&quot;:145.25,&quot;width&quot;:598.4}"/>
</p:tagLst>
</file>

<file path=ppt/tags/tag33.xml><?xml version="1.0" encoding="utf-8"?>
<p:tagLst xmlns:p="http://schemas.openxmlformats.org/presentationml/2006/main">
  <p:tag name="KSO_WM_DIAGRAM_VIRTUALLY_FRAME" val="{&quot;height&quot;:289.3,&quot;left&quot;:26.4,&quot;top&quot;:145.25,&quot;width&quot;:598.4}"/>
</p:tagLst>
</file>

<file path=ppt/tags/tag34.xml><?xml version="1.0" encoding="utf-8"?>
<p:tagLst xmlns:p="http://schemas.openxmlformats.org/presentationml/2006/main">
  <p:tag name="KSO_WM_DIAGRAM_VIRTUALLY_FRAME" val="{&quot;height&quot;:289.3,&quot;left&quot;:26.4,&quot;top&quot;:145.25,&quot;width&quot;:598.4}"/>
</p:tagLst>
</file>

<file path=ppt/tags/tag35.xml><?xml version="1.0" encoding="utf-8"?>
<p:tagLst xmlns:p="http://schemas.openxmlformats.org/presentationml/2006/main">
  <p:tag name="KSO_WM_DIAGRAM_VIRTUALLY_FRAME" val="{&quot;height&quot;:289.3,&quot;left&quot;:26.4,&quot;top&quot;:145.25,&quot;width&quot;:598.4}"/>
</p:tagLst>
</file>

<file path=ppt/tags/tag36.xml><?xml version="1.0" encoding="utf-8"?>
<p:tagLst xmlns:p="http://schemas.openxmlformats.org/presentationml/2006/main">
  <p:tag name="KSO_WM_DIAGRAM_VIRTUALLY_FRAME" val="{&quot;height&quot;:289.3,&quot;left&quot;:26.4,&quot;top&quot;:145.25,&quot;width&quot;:598.4}"/>
</p:tagLst>
</file>

<file path=ppt/tags/tag37.xml><?xml version="1.0" encoding="utf-8"?>
<p:tagLst xmlns:p="http://schemas.openxmlformats.org/presentationml/2006/main">
  <p:tag name="KSO_WM_DIAGRAM_VIRTUALLY_FRAME" val="{&quot;height&quot;:289.3,&quot;left&quot;:26.4,&quot;top&quot;:145.25,&quot;width&quot;:598.4}"/>
</p:tagLst>
</file>

<file path=ppt/tags/tag38.xml><?xml version="1.0" encoding="utf-8"?>
<p:tagLst xmlns:p="http://schemas.openxmlformats.org/presentationml/2006/main">
  <p:tag name="KSO_WM_DIAGRAM_VIRTUALLY_FRAME" val="{&quot;height&quot;:289.3,&quot;left&quot;:26.4,&quot;top&quot;:145.25,&quot;width&quot;:598.4}"/>
</p:tagLst>
</file>

<file path=ppt/tags/tag39.xml><?xml version="1.0" encoding="utf-8"?>
<p:tagLst xmlns:p="http://schemas.openxmlformats.org/presentationml/2006/main">
  <p:tag name="KSO_WM_DIAGRAM_VIRTUALLY_FRAME" val="{&quot;height&quot;:289.3,&quot;left&quot;:26.4,&quot;top&quot;:145.25,&quot;width&quot;:598.4}"/>
</p:tagLst>
</file>

<file path=ppt/tags/tag40.xml><?xml version="1.0" encoding="utf-8"?>
<p:tagLst xmlns:p="http://schemas.openxmlformats.org/presentationml/2006/main">
  <p:tag name="KSO_WM_DIAGRAM_VIRTUALLY_FRAME" val="{&quot;height&quot;:198.1,&quot;left&quot;:45.65,&quot;top&quot;:185.1,&quot;width&quot;:172.15}"/>
</p:tagLst>
</file>

<file path=ppt/tags/tag41.xml><?xml version="1.0" encoding="utf-8"?>
<p:tagLst xmlns:p="http://schemas.openxmlformats.org/presentationml/2006/main">
  <p:tag name="KSO_WM_DIAGRAM_VIRTUALLY_FRAME" val="{&quot;height&quot;:198.1,&quot;left&quot;:45.65,&quot;top&quot;:185.1,&quot;width&quot;:172.15}"/>
</p:tagLst>
</file>

<file path=ppt/tags/tag42.xml><?xml version="1.0" encoding="utf-8"?>
<p:tagLst xmlns:p="http://schemas.openxmlformats.org/presentationml/2006/main">
  <p:tag name="KSO_WM_DIAGRAM_VIRTUALLY_FRAME" val="{&quot;height&quot;:198.1,&quot;left&quot;:45.65,&quot;top&quot;:185.1,&quot;width&quot;:172.15}"/>
</p:tagLst>
</file>

<file path=ppt/tags/tag43.xml><?xml version="1.0" encoding="utf-8"?>
<p:tagLst xmlns:p="http://schemas.openxmlformats.org/presentationml/2006/main">
  <p:tag name="KSO_WM_DIAGRAM_VIRTUALLY_FRAME" val="{&quot;height&quot;:198.1,&quot;left&quot;:45.65,&quot;top&quot;:185.1,&quot;width&quot;:172.15}"/>
</p:tagLst>
</file>

<file path=ppt/tags/tag44.xml><?xml version="1.0" encoding="utf-8"?>
<p:tagLst xmlns:p="http://schemas.openxmlformats.org/presentationml/2006/main">
  <p:tag name="KSO_WM_DIAGRAM_VIRTUALLY_FRAME" val="{&quot;height&quot;:198.1,&quot;left&quot;:45.65,&quot;top&quot;:185.1,&quot;width&quot;:172.15}"/>
</p:tagLst>
</file>

<file path=ppt/tags/tag45.xml><?xml version="1.0" encoding="utf-8"?>
<p:tagLst xmlns:p="http://schemas.openxmlformats.org/presentationml/2006/main">
  <p:tag name="KSO_WM_DIAGRAM_VIRTUALLY_FRAME" val="{&quot;height&quot;:198.1,&quot;left&quot;:45.65,&quot;top&quot;:185.1,&quot;width&quot;:172.15}"/>
</p:tagLst>
</file>

<file path=ppt/tags/tag46.xml><?xml version="1.0" encoding="utf-8"?>
<p:tagLst xmlns:p="http://schemas.openxmlformats.org/presentationml/2006/main">
  <p:tag name="KSO_WM_DIAGRAM_VIRTUALLY_FRAME" val="{&quot;height&quot;:198.1,&quot;left&quot;:45.65,&quot;top&quot;:185.1,&quot;width&quot;:172.15}"/>
</p:tagLst>
</file>

<file path=ppt/tags/tag47.xml><?xml version="1.0" encoding="utf-8"?>
<p:tagLst xmlns:p="http://schemas.openxmlformats.org/presentationml/2006/main">
  <p:tag name="KSO_WM_DIAGRAM_VIRTUALLY_FRAME" val="{&quot;height&quot;:198.1,&quot;left&quot;:45.65,&quot;top&quot;:185.1,&quot;width&quot;:172.15}"/>
</p:tagLst>
</file>

<file path=ppt/tags/tag48.xml><?xml version="1.0" encoding="utf-8"?>
<p:tagLst xmlns:p="http://schemas.openxmlformats.org/presentationml/2006/main">
  <p:tag name="KSO_WM_DIAGRAM_VIRTUALLY_FRAME" val="{&quot;height&quot;:198.1,&quot;left&quot;:45.65,&quot;top&quot;:185.1,&quot;width&quot;:172.15}"/>
</p:tagLst>
</file>

<file path=ppt/tags/tag49.xml><?xml version="1.0" encoding="utf-8"?>
<p:tagLst xmlns:p="http://schemas.openxmlformats.org/presentationml/2006/main">
  <p:tag name="KSO_WM_DIAGRAM_VIRTUALLY_FRAME" val="{&quot;height&quot;:198.1,&quot;left&quot;:45.65,&quot;top&quot;:185.1,&quot;width&quot;:172.15}"/>
</p:tagLst>
</file>

<file path=ppt/tags/tag50.xml><?xml version="1.0" encoding="utf-8"?>
<p:tagLst xmlns:p="http://schemas.openxmlformats.org/presentationml/2006/main">
  <p:tag name="KSO_WM_DIAGRAM_VIRTUALLY_FRAME" val="{&quot;height&quot;:198.1,&quot;left&quot;:45.65,&quot;top&quot;:185.1,&quot;width&quot;:172.15}"/>
</p:tagLst>
</file>

<file path=ppt/tags/tag51.xml><?xml version="1.0" encoding="utf-8"?>
<p:tagLst xmlns:p="http://schemas.openxmlformats.org/presentationml/2006/main">
  <p:tag name="KSO_WM_DIAGRAM_VIRTUALLY_FRAME" val="{&quot;height&quot;:229.5318897637795,&quot;left&quot;:224.84181102362203,&quot;top&quot;:162.27165354330708,&quot;width&quot;:491.162283464567}"/>
</p:tagLst>
</file>

<file path=ppt/tags/tag52.xml><?xml version="1.0" encoding="utf-8"?>
<p:tagLst xmlns:p="http://schemas.openxmlformats.org/presentationml/2006/main">
  <p:tag name="MH" val="20170702121646"/>
  <p:tag name="MH_LIBRARY" val="CONTENTS"/>
  <p:tag name="MH_TYPE" val="NUMBER"/>
  <p:tag name="ID" val="547117"/>
  <p:tag name="MH_ORDER" val="1"/>
  <p:tag name="KSO_WM_DIAGRAM_VIRTUALLY_FRAME" val="{&quot;height&quot;:229.5318897637795,&quot;left&quot;:224.84181102362203,&quot;top&quot;:162.27165354330708,&quot;width&quot;:491.162283464567}"/>
</p:tagLst>
</file>

<file path=ppt/tags/tag53.xml><?xml version="1.0" encoding="utf-8"?>
<p:tagLst xmlns:p="http://schemas.openxmlformats.org/presentationml/2006/main">
  <p:tag name="MH" val="20170702121646"/>
  <p:tag name="MH_LIBRARY" val="CONTENTS"/>
  <p:tag name="MH_TYPE" val="ENTRY"/>
  <p:tag name="ID" val="547117"/>
  <p:tag name="MH_ORDER" val="1"/>
  <p:tag name="KSO_WM_DIAGRAM_VIRTUALLY_FRAME" val="{&quot;height&quot;:229.5318897637795,&quot;left&quot;:224.84181102362203,&quot;top&quot;:162.27165354330708,&quot;width&quot;:491.162283464567}"/>
</p:tagLst>
</file>

<file path=ppt/tags/tag54.xml><?xml version="1.0" encoding="utf-8"?>
<p:tagLst xmlns:p="http://schemas.openxmlformats.org/presentationml/2006/main">
  <p:tag name="MH" val="20170702121646"/>
  <p:tag name="MH_LIBRARY" val="CONTENTS"/>
  <p:tag name="MH_TYPE" val="ENTRY"/>
  <p:tag name="ID" val="547117"/>
  <p:tag name="MH_ORDER" val="1"/>
  <p:tag name="KSO_WM_DIAGRAM_VIRTUALLY_FRAME" val="{&quot;height&quot;:229.5318897637795,&quot;left&quot;:224.84181102362203,&quot;top&quot;:162.27165354330708,&quot;width&quot;:491.162283464567}"/>
</p:tagLst>
</file>

<file path=ppt/tags/tag55.xml><?xml version="1.0" encoding="utf-8"?>
<p:tagLst xmlns:p="http://schemas.openxmlformats.org/presentationml/2006/main">
  <p:tag name="MH" val="20170702121646"/>
  <p:tag name="MH_LIBRARY" val="CONTENTS"/>
  <p:tag name="MH_TYPE" val="ENTRY"/>
  <p:tag name="ID" val="547117"/>
  <p:tag name="MH_ORDER" val="1"/>
  <p:tag name="KSO_WM_DIAGRAM_VIRTUALLY_FRAME" val="{&quot;height&quot;:229.5318897637795,&quot;left&quot;:224.84181102362203,&quot;top&quot;:162.27165354330708,&quot;width&quot;:491.162283464567}"/>
</p:tagLst>
</file>

<file path=ppt/tags/tag56.xml><?xml version="1.0" encoding="utf-8"?>
<p:tagLst xmlns:p="http://schemas.openxmlformats.org/presentationml/2006/main">
  <p:tag name="MH" val="20170702121646"/>
  <p:tag name="MH_LIBRARY" val="CONTENTS"/>
  <p:tag name="MH_TYPE" val="NUMBER"/>
  <p:tag name="ID" val="547117"/>
  <p:tag name="MH_ORDER" val="1"/>
  <p:tag name="KSO_WM_DIAGRAM_VIRTUALLY_FRAME" val="{&quot;height&quot;:229.5318897637795,&quot;left&quot;:224.84181102362203,&quot;top&quot;:162.27165354330708,&quot;width&quot;:491.162283464567}"/>
</p:tagLst>
</file>

<file path=ppt/tags/tag57.xml><?xml version="1.0" encoding="utf-8"?>
<p:tagLst xmlns:p="http://schemas.openxmlformats.org/presentationml/2006/main">
  <p:tag name="MH" val="20170702121646"/>
  <p:tag name="MH_LIBRARY" val="CONTENTS"/>
  <p:tag name="MH_TYPE" val="NUMBER"/>
  <p:tag name="ID" val="547117"/>
  <p:tag name="MH_ORDER" val="1"/>
  <p:tag name="KSO_WM_DIAGRAM_VIRTUALLY_FRAME" val="{&quot;height&quot;:229.5318897637795,&quot;left&quot;:224.84181102362203,&quot;top&quot;:162.27165354330708,&quot;width&quot;:491.162283464567}"/>
</p:tagLst>
</file>

<file path=ppt/tags/tag58.xml><?xml version="1.0" encoding="utf-8"?>
<p:tagLst xmlns:p="http://schemas.openxmlformats.org/presentationml/2006/main">
  <p:tag name="TABLE_ENDDRAG_ORIGIN_RECT" val="442*122"/>
  <p:tag name="TABLE_ENDDRAG_RECT" val="500*111*442*122"/>
</p:tagLst>
</file>

<file path=ppt/tags/tag59.xml><?xml version="1.0" encoding="utf-8"?>
<p:tagLst xmlns:p="http://schemas.openxmlformats.org/presentationml/2006/main">
  <p:tag name="TABLE_ENDDRAG_ORIGIN_RECT" val="442*122"/>
  <p:tag name="TABLE_ENDDRAG_RECT" val="500*111*442*122"/>
</p:tagLst>
</file>

<file path=ppt/tags/tag60.xml><?xml version="1.0" encoding="utf-8"?>
<p:tagLst xmlns:p="http://schemas.openxmlformats.org/presentationml/2006/main">
  <p:tag name="KSO_WM_DIAGRAM_VIRTUALLY_FRAME" val="{&quot;height&quot;:229.5318897637795,&quot;left&quot;:224.8535433070866,&quot;top&quot;:162.27165354330708,&quot;width&quot;:491.1505511811024}"/>
</p:tagLst>
</file>

<file path=ppt/tags/tag61.xml><?xml version="1.0" encoding="utf-8"?>
<p:tagLst xmlns:p="http://schemas.openxmlformats.org/presentationml/2006/main">
  <p:tag name="MH" val="20170702121646"/>
  <p:tag name="MH_LIBRARY" val="CONTENTS"/>
  <p:tag name="MH_TYPE" val="NUMBER"/>
  <p:tag name="ID" val="547117"/>
  <p:tag name="MH_ORDER" val="1"/>
  <p:tag name="KSO_WM_DIAGRAM_VIRTUALLY_FRAME" val="{&quot;height&quot;:229.5318897637795,&quot;left&quot;:224.8535433070866,&quot;top&quot;:162.27165354330708,&quot;width&quot;:491.1505511811024}"/>
</p:tagLst>
</file>

<file path=ppt/tags/tag62.xml><?xml version="1.0" encoding="utf-8"?>
<p:tagLst xmlns:p="http://schemas.openxmlformats.org/presentationml/2006/main">
  <p:tag name="MH" val="20170702121646"/>
  <p:tag name="MH_LIBRARY" val="CONTENTS"/>
  <p:tag name="MH_TYPE" val="ENTRY"/>
  <p:tag name="ID" val="547117"/>
  <p:tag name="MH_ORDER" val="1"/>
  <p:tag name="KSO_WM_DIAGRAM_VIRTUALLY_FRAME" val="{&quot;height&quot;:229.5318897637795,&quot;left&quot;:224.8535433070866,&quot;top&quot;:162.27165354330708,&quot;width&quot;:491.1505511811024}"/>
</p:tagLst>
</file>

<file path=ppt/tags/tag63.xml><?xml version="1.0" encoding="utf-8"?>
<p:tagLst xmlns:p="http://schemas.openxmlformats.org/presentationml/2006/main">
  <p:tag name="MH" val="20170702121646"/>
  <p:tag name="MH_LIBRARY" val="CONTENTS"/>
  <p:tag name="MH_TYPE" val="ENTRY"/>
  <p:tag name="ID" val="547117"/>
  <p:tag name="MH_ORDER" val="1"/>
  <p:tag name="KSO_WM_DIAGRAM_VIRTUALLY_FRAME" val="{&quot;height&quot;:229.5318897637795,&quot;left&quot;:224.8535433070866,&quot;top&quot;:162.27165354330708,&quot;width&quot;:491.1505511811024}"/>
</p:tagLst>
</file>

<file path=ppt/tags/tag64.xml><?xml version="1.0" encoding="utf-8"?>
<p:tagLst xmlns:p="http://schemas.openxmlformats.org/presentationml/2006/main">
  <p:tag name="MH" val="20170702121646"/>
  <p:tag name="MH_LIBRARY" val="CONTENTS"/>
  <p:tag name="MH_TYPE" val="ENTRY"/>
  <p:tag name="ID" val="547117"/>
  <p:tag name="MH_ORDER" val="1"/>
  <p:tag name="KSO_WM_DIAGRAM_VIRTUALLY_FRAME" val="{&quot;height&quot;:229.5318897637795,&quot;left&quot;:224.8535433070866,&quot;top&quot;:162.27165354330708,&quot;width&quot;:491.1505511811024}"/>
</p:tagLst>
</file>

<file path=ppt/tags/tag65.xml><?xml version="1.0" encoding="utf-8"?>
<p:tagLst xmlns:p="http://schemas.openxmlformats.org/presentationml/2006/main">
  <p:tag name="MH" val="20170702121646"/>
  <p:tag name="MH_LIBRARY" val="CONTENTS"/>
  <p:tag name="MH_TYPE" val="NUMBER"/>
  <p:tag name="ID" val="547117"/>
  <p:tag name="MH_ORDER" val="1"/>
  <p:tag name="KSO_WM_DIAGRAM_VIRTUALLY_FRAME" val="{&quot;height&quot;:229.5318897637795,&quot;left&quot;:224.8535433070866,&quot;top&quot;:162.27165354330708,&quot;width&quot;:491.1505511811024}"/>
</p:tagLst>
</file>

<file path=ppt/tags/tag66.xml><?xml version="1.0" encoding="utf-8"?>
<p:tagLst xmlns:p="http://schemas.openxmlformats.org/presentationml/2006/main">
  <p:tag name="MH" val="20170702121646"/>
  <p:tag name="MH_LIBRARY" val="CONTENTS"/>
  <p:tag name="MH_TYPE" val="NUMBER"/>
  <p:tag name="ID" val="547117"/>
  <p:tag name="MH_ORDER" val="1"/>
  <p:tag name="KSO_WM_DIAGRAM_VIRTUALLY_FRAME" val="{&quot;height&quot;:229.5318897637795,&quot;left&quot;:224.8535433070866,&quot;top&quot;:162.27165354330708,&quot;width&quot;:491.1505511811024}"/>
</p:tagLst>
</file>

<file path=ppt/tags/tag67.xml><?xml version="1.0" encoding="utf-8"?>
<p:tagLst xmlns:p="http://schemas.openxmlformats.org/presentationml/2006/main">
  <p:tag name="TABLE_ENDDRAG_ORIGIN_RECT" val="419*142"/>
  <p:tag name="TABLE_ENDDRAG_RECT" val="9*80*419*142"/>
</p:tagLst>
</file>

<file path=ppt/tags/tag68.xml><?xml version="1.0" encoding="utf-8"?>
<p:tagLst xmlns:p="http://schemas.openxmlformats.org/presentationml/2006/main">
  <p:tag name="KSO_WM_DIAGRAM_VIRTUALLY_FRAME" val="{&quot;height&quot;:147.6,&quot;left&quot;:29.94000000000001,&quot;top&quot;:308.6,&quot;width&quot;:857.5199999999999}"/>
</p:tagLst>
</file>

<file path=ppt/tags/tag69.xml><?xml version="1.0" encoding="utf-8"?>
<p:tagLst xmlns:p="http://schemas.openxmlformats.org/presentationml/2006/main">
  <p:tag name="KSO_WM_DIAGRAM_VIRTUALLY_FRAME" val="{&quot;height&quot;:147.6,&quot;left&quot;:29.94000000000001,&quot;top&quot;:308.6,&quot;width&quot;:857.5199999999999}"/>
</p:tagLst>
</file>

<file path=ppt/tags/tag70.xml><?xml version="1.0" encoding="utf-8"?>
<p:tagLst xmlns:p="http://schemas.openxmlformats.org/presentationml/2006/main">
  <p:tag name="KSO_WM_DIAGRAM_VIRTUALLY_FRAME" val="{&quot;height&quot;:147.6,&quot;left&quot;:29.94000000000001,&quot;top&quot;:308.6,&quot;width&quot;:857.5199999999999}"/>
</p:tagLst>
</file>

<file path=ppt/tags/tag71.xml><?xml version="1.0" encoding="utf-8"?>
<p:tagLst xmlns:p="http://schemas.openxmlformats.org/presentationml/2006/main">
  <p:tag name="KSO_WM_DIAGRAM_VIRTUALLY_FRAME" val="{&quot;height&quot;:147.6,&quot;left&quot;:29.94000000000001,&quot;top&quot;:308.6,&quot;width&quot;:857.5199999999999}"/>
</p:tagLst>
</file>

<file path=ppt/tags/tag72.xml><?xml version="1.0" encoding="utf-8"?>
<p:tagLst xmlns:p="http://schemas.openxmlformats.org/presentationml/2006/main">
  <p:tag name="KSO_WM_DIAGRAM_VIRTUALLY_FRAME" val="{&quot;height&quot;:147.6,&quot;left&quot;:29.94000000000001,&quot;top&quot;:308.6,&quot;width&quot;:857.5199999999999}"/>
</p:tagLst>
</file>

<file path=ppt/tags/tag73.xml><?xml version="1.0" encoding="utf-8"?>
<p:tagLst xmlns:p="http://schemas.openxmlformats.org/presentationml/2006/main">
  <p:tag name="KSO_WM_DIAGRAM_VIRTUALLY_FRAME" val="{&quot;height&quot;:147.6,&quot;left&quot;:29.94000000000001,&quot;top&quot;:308.6,&quot;width&quot;:857.5199999999999}"/>
</p:tagLst>
</file>

<file path=ppt/tags/tag74.xml><?xml version="1.0" encoding="utf-8"?>
<p:tagLst xmlns:p="http://schemas.openxmlformats.org/presentationml/2006/main">
  <p:tag name="KSO_WM_DIAGRAM_VIRTUALLY_FRAME" val="{&quot;height&quot;:147.6,&quot;left&quot;:29.94000000000001,&quot;top&quot;:308.6,&quot;width&quot;:857.5199999999999}"/>
</p:tagLst>
</file>

<file path=ppt/tags/tag75.xml><?xml version="1.0" encoding="utf-8"?>
<p:tagLst xmlns:p="http://schemas.openxmlformats.org/presentationml/2006/main">
  <p:tag name="KSO_WM_DIAGRAM_VIRTUALLY_FRAME" val="{&quot;height&quot;:147.6,&quot;left&quot;:29.94000000000001,&quot;top&quot;:308.6,&quot;width&quot;:857.5199999999999}"/>
</p:tagLst>
</file>

<file path=ppt/tags/tag76.xml><?xml version="1.0" encoding="utf-8"?>
<p:tagLst xmlns:p="http://schemas.openxmlformats.org/presentationml/2006/main">
  <p:tag name="KSO_WM_DIAGRAM_VIRTUALLY_FRAME" val="{&quot;height&quot;:147.6,&quot;left&quot;:29.94000000000001,&quot;top&quot;:308.6,&quot;width&quot;:857.5199999999999}"/>
</p:tagLst>
</file>

<file path=ppt/tags/tag77.xml><?xml version="1.0" encoding="utf-8"?>
<p:tagLst xmlns:p="http://schemas.openxmlformats.org/presentationml/2006/main">
  <p:tag name="KSO_WM_DIAGRAM_VIRTUALLY_FRAME" val="{&quot;height&quot;:147.6,&quot;left&quot;:29.94000000000001,&quot;top&quot;:308.6,&quot;width&quot;:857.5199999999999}"/>
</p:tagLst>
</file>

<file path=ppt/tags/tag78.xml><?xml version="1.0" encoding="utf-8"?>
<p:tagLst xmlns:p="http://schemas.openxmlformats.org/presentationml/2006/main">
  <p:tag name="KSO_WM_DIAGRAM_VIRTUALLY_FRAME" val="{&quot;height&quot;:147.6,&quot;left&quot;:29.94000000000001,&quot;top&quot;:308.6,&quot;width&quot;:857.5199999999999}"/>
</p:tagLst>
</file>

<file path=ppt/tags/tag79.xml><?xml version="1.0" encoding="utf-8"?>
<p:tagLst xmlns:p="http://schemas.openxmlformats.org/presentationml/2006/main">
  <p:tag name="KSO_WM_DIAGRAM_VIRTUALLY_FRAME" val="{&quot;height&quot;:147.6,&quot;left&quot;:29.94000000000001,&quot;top&quot;:308.6,&quot;width&quot;:857.5199999999999}"/>
</p:tagLst>
</file>

<file path=ppt/tags/tag80.xml><?xml version="1.0" encoding="utf-8"?>
<p:tagLst xmlns:p="http://schemas.openxmlformats.org/presentationml/2006/main">
  <p:tag name="KSO_WM_DIAGRAM_VIRTUALLY_FRAME" val="{&quot;height&quot;:147.6,&quot;left&quot;:29.94000000000001,&quot;top&quot;:308.6,&quot;width&quot;:857.5199999999999}"/>
</p:tagLst>
</file>

<file path=ppt/tags/tag81.xml><?xml version="1.0" encoding="utf-8"?>
<p:tagLst xmlns:p="http://schemas.openxmlformats.org/presentationml/2006/main">
  <p:tag name="KSO_WM_DIAGRAM_VIRTUALLY_FRAME" val="{&quot;height&quot;:147.6,&quot;left&quot;:29.94000000000001,&quot;top&quot;:308.6,&quot;width&quot;:857.5199999999999}"/>
</p:tagLst>
</file>

<file path=ppt/tags/tag82.xml><?xml version="1.0" encoding="utf-8"?>
<p:tagLst xmlns:p="http://schemas.openxmlformats.org/presentationml/2006/main">
  <p:tag name="KSO_WM_DIAGRAM_VIRTUALLY_FRAME" val="{&quot;height&quot;:147.6,&quot;left&quot;:29.94000000000001,&quot;top&quot;:308.6,&quot;width&quot;:857.5199999999999}"/>
</p:tagLst>
</file>

<file path=ppt/tags/tag83.xml><?xml version="1.0" encoding="utf-8"?>
<p:tagLst xmlns:p="http://schemas.openxmlformats.org/presentationml/2006/main">
  <p:tag name="KSO_WM_DIAGRAM_VIRTUALLY_FRAME" val="{&quot;height&quot;:147.6,&quot;left&quot;:29.94000000000001,&quot;top&quot;:308.6,&quot;width&quot;:857.5199999999999}"/>
</p:tagLst>
</file>

<file path=ppt/tags/tag84.xml><?xml version="1.0" encoding="utf-8"?>
<p:tagLst xmlns:p="http://schemas.openxmlformats.org/presentationml/2006/main">
  <p:tag name="KSO_WM_DIAGRAM_VIRTUALLY_FRAME" val="{&quot;height&quot;:147.6,&quot;left&quot;:29.94000000000001,&quot;top&quot;:308.6,&quot;width&quot;:857.5199999999999}"/>
</p:tagLst>
</file>

<file path=ppt/tags/tag85.xml><?xml version="1.0" encoding="utf-8"?>
<p:tagLst xmlns:p="http://schemas.openxmlformats.org/presentationml/2006/main">
  <p:tag name="KSO_WM_DIAGRAM_VIRTUALLY_FRAME" val="{&quot;height&quot;:147.6,&quot;left&quot;:29.94000000000001,&quot;top&quot;:308.6,&quot;width&quot;:857.5199999999999}"/>
</p:tagLst>
</file>

<file path=ppt/tags/tag86.xml><?xml version="1.0" encoding="utf-8"?>
<p:tagLst xmlns:p="http://schemas.openxmlformats.org/presentationml/2006/main">
  <p:tag name="KSO_WM_DIAGRAM_VIRTUALLY_FRAME" val="{&quot;height&quot;:147.6,&quot;left&quot;:29.94000000000001,&quot;top&quot;:308.6,&quot;width&quot;:857.5199999999999}"/>
</p:tagLst>
</file>

<file path=ppt/tags/tag87.xml><?xml version="1.0" encoding="utf-8"?>
<p:tagLst xmlns:p="http://schemas.openxmlformats.org/presentationml/2006/main">
  <p:tag name="KSO_WM_DIAGRAM_VIRTUALLY_FRAME" val="{&quot;height&quot;:147.6,&quot;left&quot;:29.94000000000001,&quot;top&quot;:308.6,&quot;width&quot;:857.5199999999999}"/>
</p:tagLst>
</file>

<file path=ppt/tags/tag88.xml><?xml version="1.0" encoding="utf-8"?>
<p:tagLst xmlns:p="http://schemas.openxmlformats.org/presentationml/2006/main">
  <p:tag name="KSO_WM_DIAGRAM_VIRTUALLY_FRAME" val="{&quot;height&quot;:147.6,&quot;left&quot;:29.94000000000001,&quot;top&quot;:308.6,&quot;width&quot;:857.5199999999999}"/>
</p:tagLst>
</file>

<file path=ppt/tags/tag89.xml><?xml version="1.0" encoding="utf-8"?>
<p:tagLst xmlns:p="http://schemas.openxmlformats.org/presentationml/2006/main">
  <p:tag name="KSO_WM_DIAGRAM_VIRTUALLY_FRAME" val="{&quot;height&quot;:147.6,&quot;left&quot;:29.94000000000001,&quot;top&quot;:308.6,&quot;width&quot;:857.5199999999999}"/>
</p:tagLst>
</file>

<file path=ppt/tags/tag90.xml><?xml version="1.0" encoding="utf-8"?>
<p:tagLst xmlns:p="http://schemas.openxmlformats.org/presentationml/2006/main">
  <p:tag name="KSO_WM_DIAGRAM_VIRTUALLY_FRAME" val="{&quot;height&quot;:147.6,&quot;left&quot;:29.94000000000001,&quot;top&quot;:308.6,&quot;width&quot;:857.5199999999999}"/>
</p:tagLst>
</file>

<file path=ppt/theme/theme1.xml><?xml version="1.0" encoding="utf-8"?>
<a:theme xmlns:a="http://schemas.openxmlformats.org/drawingml/2006/main" name="Brake World Model Theme">
  <a:themeElements>
    <a:clrScheme name="Brake">
      <a:dk1>
        <a:srgbClr val="0B1F33"/>
      </a:dk1>
      <a:lt1>
        <a:srgbClr val="FFFFFF"/>
      </a:lt1>
      <a:dk2>
        <a:srgbClr val="17212B"/>
      </a:dk2>
      <a:lt2>
        <a:srgbClr val="F4F7F8"/>
      </a:lt2>
      <a:accent1>
        <a:srgbClr val="0E8A92"/>
      </a:accent1>
      <a:accent2>
        <a:srgbClr val="F2A93B"/>
      </a:accent2>
      <a:accent3>
        <a:srgbClr val="D64D4D"/>
      </a:accent3>
      <a:accent4>
        <a:srgbClr val="36B5C2"/>
      </a:accent4>
      <a:accent5>
        <a:srgbClr val="2F9E73"/>
      </a:accent5>
      <a:accent6>
        <a:srgbClr val="607080"/>
      </a:accent6>
      <a:hlink>
        <a:srgbClr val="0563C1"/>
      </a:hlink>
      <a:folHlink>
        <a:srgbClr val="954F72"/>
      </a:folHlink>
    </a:clrScheme>
    <a:fontScheme name="Brake Fonts">
      <a:majorFont>
        <a:latin typeface="Microsoft YaHei"/>
        <a:ea typeface="Microsoft YaHei"/>
        <a:cs typeface="Arial"/>
      </a:majorFont>
      <a:minorFont>
        <a:latin typeface="Microsoft YaHei"/>
        <a:ea typeface="Microsoft YaHei"/>
        <a:cs typeface="Arial"/>
      </a:minorFont>
    </a:fontScheme>
    <a:fmtScheme name="Brake Format">
      <a:fillStyleLst>
        <a:solidFill>
          <a:srgbClr val="FFFFFF"/>
        </a:solidFill>
        <a:solidFill>
          <a:srgbClr val="F4F7F8"/>
        </a:solidFill>
        <a:solidFill>
          <a:srgbClr val="0E8A92"/>
        </a:solidFill>
      </a:fillStyleLst>
      <a:lnStyleLst>
        <a:ln w="12700">
          <a:solidFill>
            <a:srgbClr val="D9E1E5"/>
          </a:solidFill>
        </a:ln>
        <a:ln w="19050">
          <a:solidFill>
            <a:srgbClr val="0E8A92"/>
          </a:solidFill>
        </a:ln>
        <a:ln w="25400">
          <a:solidFill>
            <a:srgbClr val="D64D4D"/>
          </a:solidFill>
        </a:ln>
      </a:lnStyleLst>
      <a:effectStyleLst/>
      <a:bgFillStyleLst>
        <a:solidFill>
          <a:srgbClr val="FFFFFF"/>
        </a:solidFill>
        <a:solidFill>
          <a:srgbClr val="F4F7F8"/>
        </a:solidFill>
        <a:solidFill>
          <a:srgbClr val="0B1F33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Safety-Nie 201909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  <a:ln>
          <a:noFill/>
        </a:ln>
      </a:spPr>
      <a:bodyPr wrap="square" lIns="73152" tIns="36576" rIns="73152" bIns="36576" anchor="t">
        <a:normAutofit fontScale="30000"/>
      </a:bodyPr>
      <a:lstStyle>
        <a:defPPr algn="l">
          <a:lnSpc>
            <a:spcPct val="108000"/>
          </a:lnSpc>
          <a:spcAft>
            <a:spcPts val="500"/>
          </a:spcAft>
          <a:defRPr lang="zh-CN" sz="1400" b="1" i="0">
            <a:solidFill>
              <a:srgbClr val="F2A93B"/>
            </a:solidFill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Brake World Model Theme">
  <a:themeElements>
    <a:clrScheme name="Brake">
      <a:dk1>
        <a:srgbClr val="0B1F33"/>
      </a:dk1>
      <a:lt1>
        <a:srgbClr val="FFFFFF"/>
      </a:lt1>
      <a:dk2>
        <a:srgbClr val="17212B"/>
      </a:dk2>
      <a:lt2>
        <a:srgbClr val="F4F7F8"/>
      </a:lt2>
      <a:accent1>
        <a:srgbClr val="0E8A92"/>
      </a:accent1>
      <a:accent2>
        <a:srgbClr val="F2A93B"/>
      </a:accent2>
      <a:accent3>
        <a:srgbClr val="D64D4D"/>
      </a:accent3>
      <a:accent4>
        <a:srgbClr val="36B5C2"/>
      </a:accent4>
      <a:accent5>
        <a:srgbClr val="2F9E73"/>
      </a:accent5>
      <a:accent6>
        <a:srgbClr val="607080"/>
      </a:accent6>
      <a:hlink>
        <a:srgbClr val="0563C1"/>
      </a:hlink>
      <a:folHlink>
        <a:srgbClr val="954F72"/>
      </a:folHlink>
    </a:clrScheme>
    <a:fontScheme name="Brake Fonts">
      <a:majorFont>
        <a:latin typeface="Microsoft YaHei"/>
        <a:ea typeface="Microsoft YaHei"/>
        <a:cs typeface="Arial"/>
      </a:majorFont>
      <a:minorFont>
        <a:latin typeface="Microsoft YaHei"/>
        <a:ea typeface="Microsoft YaHei"/>
        <a:cs typeface="Arial"/>
      </a:minorFont>
    </a:fontScheme>
    <a:fmtScheme name="Brake Format">
      <a:fillStyleLst>
        <a:solidFill>
          <a:srgbClr val="FFFFFF"/>
        </a:solidFill>
        <a:solidFill>
          <a:srgbClr val="F4F7F8"/>
        </a:solidFill>
        <a:solidFill>
          <a:srgbClr val="0E8A92"/>
        </a:solidFill>
      </a:fillStyleLst>
      <a:lnStyleLst>
        <a:ln w="12700">
          <a:solidFill>
            <a:srgbClr val="D9E1E5"/>
          </a:solidFill>
        </a:ln>
        <a:ln w="19050">
          <a:solidFill>
            <a:srgbClr val="0E8A92"/>
          </a:solidFill>
        </a:ln>
        <a:ln w="25400">
          <a:solidFill>
            <a:srgbClr val="D64D4D"/>
          </a:solidFill>
        </a:ln>
      </a:lnStyleLst>
      <a:effectStyleLst/>
      <a:bgFillStyleLst>
        <a:solidFill>
          <a:srgbClr val="FFFFFF"/>
        </a:solidFill>
        <a:solidFill>
          <a:srgbClr val="F4F7F8"/>
        </a:solidFill>
        <a:solidFill>
          <a:srgbClr val="0B1F33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5111</Words>
  <Application>WPS 演示</Application>
  <PresentationFormat>Widescreen</PresentationFormat>
  <Paragraphs>850</Paragraphs>
  <Slides>32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32</vt:i4>
      </vt:variant>
    </vt:vector>
  </HeadingPairs>
  <TitlesOfParts>
    <vt:vector size="48" baseType="lpstr">
      <vt:lpstr>Arial</vt:lpstr>
      <vt:lpstr>宋体</vt:lpstr>
      <vt:lpstr>Wingdings</vt:lpstr>
      <vt:lpstr>微软雅黑</vt:lpstr>
      <vt:lpstr>Arial Unicode MS</vt:lpstr>
      <vt:lpstr>黑体</vt:lpstr>
      <vt:lpstr>Arial</vt:lpstr>
      <vt:lpstr>Cambria Math</vt:lpstr>
      <vt:lpstr>Arial Unicode MS</vt:lpstr>
      <vt:lpstr>Cambria Math</vt:lpstr>
      <vt:lpstr>MS Mincho</vt:lpstr>
      <vt:lpstr>Wingdings</vt:lpstr>
      <vt:lpstr>Calibri</vt:lpstr>
      <vt:lpstr>Segoe Print</vt:lpstr>
      <vt:lpstr>Brake World Model Theme</vt:lpstr>
      <vt:lpstr>1_Safety-Nie 201909</vt:lpstr>
      <vt:lpstr>PowerPoint 演示文稿</vt:lpstr>
      <vt:lpstr>Contents</vt:lpstr>
      <vt:lpstr>问题定义与机理基线</vt:lpstr>
      <vt:lpstr>问题定义与机理基线</vt:lpstr>
      <vt:lpstr>问题定义与机理基线</vt:lpstr>
      <vt:lpstr>问题定义与机理基线</vt:lpstr>
      <vt:lpstr>问题定义与机理基线</vt:lpstr>
      <vt:lpstr>问题定义与机理基线</vt:lpstr>
      <vt:lpstr>问题定义与机理基线</vt:lpstr>
      <vt:lpstr>问题定义与机理基线</vt:lpstr>
      <vt:lpstr>PowerPoint 演示文稿</vt:lpstr>
      <vt:lpstr>PowerPoint 演示文稿</vt:lpstr>
      <vt:lpstr>模型总架构</vt:lpstr>
      <vt:lpstr>Contents</vt:lpstr>
      <vt:lpstr>时序建模数据：从单点到连续时间</vt:lpstr>
      <vt:lpstr>CarSim联合仿真接口</vt:lpstr>
      <vt:lpstr>CarSim单工况冒烟测试</vt:lpstr>
      <vt:lpstr>CarSim工况矩阵冒烟测试</vt:lpstr>
      <vt:lpstr>CarSim数据完整覆盖</vt:lpstr>
      <vt:lpstr>CarSim物理响应</vt:lpstr>
      <vt:lpstr>为什么选择 GRU，而不是只用 LSTM</vt:lpstr>
      <vt:lpstr>LSTM/GRU 消融实验设计</vt:lpstr>
      <vt:lpstr>LSTM/GRU 消融实验结果</vt:lpstr>
      <vt:lpstr>模型规模与误差权衡</vt:lpstr>
      <vt:lpstr>CarSim-GRU 训练设置与验证指标</vt:lpstr>
      <vt:lpstr>机理数据与 CarSim 数据对比</vt:lpstr>
      <vt:lpstr>Contents</vt:lpstr>
      <vt:lpstr>规划问题建模及算法</vt:lpstr>
      <vt:lpstr>一步安全屏障基线</vt:lpstr>
      <vt:lpstr>MPC 闭环结果</vt:lpstr>
      <vt:lpstr>总结</vt:lpstr>
      <vt:lpstr>谢 谢！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基于世界模型的一维纵向制动决策规划</dc:title>
  <dc:creator>World Model in Brake System Team</dc:creator>
  <dc:subject>三人12分钟课程项目汇报</dc:subject>
  <cp:lastModifiedBy>李子昂(2025210297)</cp:lastModifiedBy>
  <cp:revision>21</cp:revision>
  <dcterms:created xsi:type="dcterms:W3CDTF">2026-06-07T06:15:00Z</dcterms:created>
  <dcterms:modified xsi:type="dcterms:W3CDTF">2026-06-08T17:48:09Z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FC02B249F79145379751D11E8DFE0EE2_13</vt:lpwstr>
  </property>
  <property fmtid="{D5CDD505-2E9C-101B-9397-08002B2CF9AE}" pid="3" name="KSOProductBuildVer">
    <vt:lpwstr>2052-12.1.0.23542</vt:lpwstr>
  </property>
</Properties>
</file>