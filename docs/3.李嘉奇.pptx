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950" r:id="rId3"/>
    <p:sldId id="933" r:id="rId5"/>
    <p:sldId id="955" r:id="rId6"/>
    <p:sldId id="953" r:id="rId7"/>
    <p:sldId id="956" r:id="rId8"/>
    <p:sldId id="957" r:id="rId9"/>
    <p:sldId id="958" r:id="rId10"/>
    <p:sldId id="959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6EBBC38-3346-4717-A902-602E4156162A}">
          <p14:sldIdLst>
            <p14:sldId id="950"/>
            <p14:sldId id="933"/>
            <p14:sldId id="955"/>
            <p14:sldId id="953"/>
            <p14:sldId id="956"/>
            <p14:sldId id="957"/>
            <p14:sldId id="958"/>
            <p14:sldId id="9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ngbing Nie" initials="BN" lastIdx="6" clrIdx="0"/>
  <p:cmAuthor id="2" name="Admin" initials="A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7BCE"/>
    <a:srgbClr val="4F80BD"/>
    <a:srgbClr val="0070C0"/>
    <a:srgbClr val="730EB8"/>
    <a:srgbClr val="0000FF"/>
    <a:srgbClr val="EBF1DE"/>
    <a:srgbClr val="953735"/>
    <a:srgbClr val="77933C"/>
    <a:srgbClr val="215968"/>
    <a:srgbClr val="0D4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04" autoAdjust="0"/>
    <p:restoredTop sz="84366" autoAdjust="0"/>
  </p:normalViewPr>
  <p:slideViewPr>
    <p:cSldViewPr showGuides="1">
      <p:cViewPr varScale="1">
        <p:scale>
          <a:sx n="80" d="100"/>
          <a:sy n="80" d="100"/>
        </p:scale>
        <p:origin x="436" y="44"/>
      </p:cViewPr>
      <p:guideLst>
        <p:guide orient="horz" pos="2216"/>
        <p:guide pos="3840"/>
      </p:guideLst>
    </p:cSldViewPr>
  </p:slideViewPr>
  <p:outlineViewPr>
    <p:cViewPr>
      <p:scale>
        <a:sx n="33" d="100"/>
        <a:sy n="33" d="100"/>
      </p:scale>
      <p:origin x="0" y="-3583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5" d="100"/>
        <a:sy n="125" d="100"/>
      </p:scale>
      <p:origin x="0" y="-11092"/>
    </p:cViewPr>
  </p:sorterViewPr>
  <p:notesViewPr>
    <p:cSldViewPr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34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A0E95-367F-4A73-9C3B-3219D29F3B65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BE34D-6E21-4F00-AB43-928D22E18CE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11ABD-C8CA-45BD-AFCC-B3E5D2CB9C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372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【建议用时 30 秒｜同学 A】各位老师、同学好，我们汇报的题目是“基于世界模型的一维纵向制动决策规划”。项目从一个可解释的 Simulink 纵向制动机理模型出发，先生成伪真实数据，再训练 MLP 和 LSTM-PINN 世界模型，最后把预测模型嵌入采样式 MPC，完成面向前方障碍物的一维精准刹停。接下来我们三个人分别介绍数据闭环、模型升级和上层规划。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在选定结构后，我们把同一套 GRU-PINN 训练到 CarSim 数据上。训练采用轨迹级划分，而不是随机打散相邻时间点，避免数据泄漏。训练集九十六条轨迹，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验证集二十四条轨迹，训练四十轮，GPU 用时约十七点二秒。这说明模型训练成本很低，便于反复调参。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CarSim-GRU 是把前面选出的结构迁移到高保真数据。讲训练设置时强调轨迹级划分，避免同一轨迹同时出现在训练和验证中。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训练时间较短说明该结构后续适合集成到在线规划。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页面要点：数据来源：CarSim；GRU S=5，H=64，L=1；训练轨迹 96 条，验证轨迹 24 条；40 epochs，CUDA，17.2 s。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CarSim-GRU 在验证集上速度预测仍然非常准确，RMSE 为零点一一七三米每秒，R 方接近一。减速度预测的 RMSE 为零点四四九三米每二次方秒，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R 方为零点九二九二九。这个误差比机理数据高是合理的，因为 CarSim 包含更复杂的轮胎非线性、车身俯仰和停车附近动态。我们把它作为真实难度的体现，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而不是掩盖掉。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这一页要客观看指标：速度预测非常好，加速度预测也有较高 R²，但误差明显大于机理数据。不要把它说成完全解决真实车辆动力学，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而应说它暴露了高保真数据下的非线性难点。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页面要点：v_next RMSE：0.1173 m/s，R² = 0.99981；a_next RMSE：0.4493 m/s²，R² = 0.92929；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CarSim 加速度比机理数据更非线性。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这张图把不同数据源和模型的 RMSE 放在一起比较。简化机理数据更平滑，因此模型误差非常低；CarSim 速度仍然容易预测，但加速度误差明显更高。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这个对比有助于解释为什么要引入 CarSim：它让模型面对更真实的物理复杂性，也让评价指标更加诚实。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这页是模型难度总结。机理标签更平滑，CarSim 响应包含更多车辆动力学细节，所以速度容易、加速度难。这个结论解释了为什么后续闭环仍先在机理环境验证，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再推进 CarSim 在线闭环。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页面要点：机理标签更平滑，因此更容易拟合；CarSim 速度仍然较容易预测；CarSim 加速度暴露了高保真动力学难点。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接下来进入同学 C 的规划部分。规划器的状态包括当前速度、障碍物距离和附着系数，动作是主缸压力。每次规划不是只选一个压力点，而是采样一段未来压力序列。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代价函数综合终点距离误差、减速度舒适性、压力平滑、碰撞惩罚和未刹停惩罚。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规划建模页要把状态、动作和代价对应起来。状态描述当前处境，动作是压力，世界模型负责预测未来，代价函数负责定义“好”的刹停。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可以强调碰撞惩罚和未刹停惩罚是安全闭环的关键项。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页面要点：状态：速度、障碍物距离、附着系数；动作：制动主缸压力；预测时域：候选压力序列；代价：距离、舒适度、平滑性、碰撞、未刹停惩罚。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  <a:sym typeface="+mn-ea"/>
            </a:endParaRPr>
          </a:p>
          <a:p>
            <a:endParaRPr lang="en-US" altLang="zh-CN" dirty="0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我们采用的是采样式 MPC，而不是复杂的解析梯度优化。每个控制时刻生成多条平滑压力曲线，世界模型对每条曲线进行未来展开，然后用代价函数排序。选出最优序列后，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只执行第一步压力，下一时刻根据反馈重新规划。这个方法直观、可解释，也方便后续升级到 MPPI 或 CEM。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采样式 MPC 的讲法可以很直观：先随机或规则生成多条压力序列，再让世界模型逐条展开，计算代价后只执行第一步。下一时刻重新观测、重新采样、重新选择，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这就是 receding horizon 的核心。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页面要点：采样压力序列；用世界模型滚动预测未来轨迹；按总代价为每条序列打分；只执行最优序列的第一步压力。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在完整 MPC 之前，我们先实现了一个更简单的一步安全屏障，用于验证距离更新、速度更新和压力选择逻辑。它不是最终控制器，但对于工程调试非常重要。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先把简单闭环跑通，再升级到多步采样规划，可以降低开发风险。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一步安全屏障是早期基线，用来确保距离更新、制动动作和安全约束方向正确。它没有完整 MPC 的多步优化能力，但作为调试层很重要。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可以说它帮助我们在复杂规划器之前先验证最基本的安全逻辑。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页面要点：完整 MPC 之前的早期安全层；根据安全约束选择压力；用于调试距离更新和刹停逻辑。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这张图展示当前完整闭环刹停结果。初始速度八十公里每小时，障碍物距离六十五米，附着系数零点六，目标安全距离两米。规划器前段使用较温和的压力，后段提高压力，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最终车辆在约五点零五秒停止，剩余距离一点八四四米，与目标相差零点一五六米，没有碰撞。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结果页要先报场景，再报最终距离。80 km/h、65 米、附着 0.6 下，最终距离接近 2 米安全目标，误差约 0.156 米。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这里强调这是机理执行环境下的闭环结果，说明规划器链路已经可运行。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页面要点：初速度：80 km/h；初始距离：65 m；附着系数：0.6；目标安全距离：2 m。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这里需要明确项目口径。我们已经完成了 CarSim 数据采集、工况验证和 CarSim-GRU 训练；也完成了机制环境下的 MPC 闭环刹停。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但目前还不能说已经完成 CarSim 在线闭环 MPC，因为刹停演示的执行环境仍是简化机理模型。下一步要做的是把每个实际压力动作发送给 CarSim，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再用 CarSim 反馈滚动重规划。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这一页要诚实划边界。已完成 CarSim 数据和 CarSim-GRU，也完成机理环境 MPC 闭环；尚未声称的是 CarSim 在线闭环 MPC。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主动说明边界会增加可信度，也为下一步工作留下清晰方向。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页面要点：已完成：CarSim 数据集与 CarSim-GRU 训练；已完成：机理执行环境下的 MPC 闭环；尚未声称：CarSim 在线闭环 MPC；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下一步：把每次 MPC 动作发送给 CarSim，并用 CarSim 反馈重规划。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从工程交付角度看，仓库已经包含多个可复现模块。MATLAB 侧有机理模型、CarSim 联调脚本和数据采集脚本；Python 侧有时序数据生成、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GRU/LSTM 训练、消融实验和 MPC 规划器；文档侧有中英文 README、CarSim 配置指南、消融实验说明和 PPT 资产生成脚本。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这个项目可以继续扩展，而不是一次性脚本。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工程交付页建议按仓库结构讲，证明项目不是单张实验图。MATLAB、Simulink、CarSim、Python 训练、MPC 和文档资产都已组织好。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这样老师能看到复现路径和后续扩展入口。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页面要点：MATLAB 脚本与 Simulink 模型；CarSim 配置、验证和数据采集工具；Python GRU/LSTM 训练管线；MPC 规划器。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最后总结。我们已经把项目从简单的机理数据拟合，推进到 CarSim 高保真数据、GRU-PINN 世界模型和采样式 MPC 决策规划。最重要的结论是，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世界模型的价值不只是预测精度，而是能否进入规划闭环。下一阶段重点是实现 CarSim 在线执行闭环，引入附着系数突变、噪声和制动热衰退场景，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并把随机搜索升级为 MPPI 或 CEM，提高实时性和鲁棒性。谢谢大家。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总结时回到三条主线：数据、模型和规划。最后的下一步不要泛泛而谈，要点名 CarSim 在线 MPC、附着突变、MPPI/CEM 和鲁棒性评估。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结束语可以强调本项目已经完成从数据到闭环的最小闭环原型。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页面要点：数据：机理数据 + CarSim 高保真轨迹；模型：通过消融选择轻量 GRU-PINN；规划：采样式 MPC 实现安全刹停；下一步：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CarSim 在线 MPC、附着突变、MPPI/CEM、鲁棒性评估。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28800"/>
            <a:ext cx="1036320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645024"/>
            <a:ext cx="8534400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4000" y="3248992"/>
            <a:ext cx="12144000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479376" y="361219"/>
            <a:ext cx="1844598" cy="576000"/>
            <a:chOff x="1136323" y="419145"/>
            <a:chExt cx="1782423" cy="576000"/>
          </a:xfrm>
        </p:grpSpPr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329" y="332656"/>
            <a:ext cx="3472541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28800"/>
            <a:ext cx="1036320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645024"/>
            <a:ext cx="8534400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4000" y="3248992"/>
            <a:ext cx="12144000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60" y="940460"/>
            <a:ext cx="11305256" cy="3352636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</a:t>
            </a:r>
            <a:endParaRPr lang="en-US" altLang="zh-CN" dirty="0"/>
          </a:p>
          <a:p>
            <a:pPr lvl="1"/>
            <a:r>
              <a:rPr lang="en-US" altLang="zh-CN" dirty="0"/>
              <a:t>Second</a:t>
            </a:r>
            <a:endParaRPr lang="en-US" altLang="zh-CN" dirty="0"/>
          </a:p>
          <a:p>
            <a:pPr lvl="2"/>
            <a:r>
              <a:rPr lang="en-US" altLang="zh-CN" dirty="0"/>
              <a:t>Third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3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940460"/>
            <a:ext cx="11305256" cy="451640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557530" indent="0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None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3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常双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99179" y="940459"/>
            <a:ext cx="5664000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0" name="内容占位符 2"/>
          <p:cNvSpPr>
            <a:spLocks noGrp="1"/>
          </p:cNvSpPr>
          <p:nvPr>
            <p:ph idx="13"/>
          </p:nvPr>
        </p:nvSpPr>
        <p:spPr>
          <a:xfrm>
            <a:off x="335360" y="940459"/>
            <a:ext cx="5664000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335360" y="188640"/>
            <a:ext cx="115212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2"/>
          <p:cNvSpPr/>
          <p:nvPr userDrawn="1"/>
        </p:nvSpPr>
        <p:spPr>
          <a:xfrm rot="10800000" flipH="1">
            <a:off x="6069999" y="2348879"/>
            <a:ext cx="6122001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3" name="矩形 22"/>
          <p:cNvSpPr/>
          <p:nvPr userDrawn="1"/>
        </p:nvSpPr>
        <p:spPr>
          <a:xfrm rot="10800000">
            <a:off x="-3" y="2348879"/>
            <a:ext cx="6122001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400" y="2829890"/>
            <a:ext cx="10363200" cy="648072"/>
          </a:xfrm>
        </p:spPr>
        <p:txBody>
          <a:bodyPr anchor="t">
            <a:normAutofit/>
          </a:bodyPr>
          <a:lstStyle>
            <a:lvl1pPr algn="ctr">
              <a:defRPr sz="3600" b="1" cap="non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1126" y="73605"/>
            <a:ext cx="684000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6000" y="845423"/>
            <a:ext cx="115200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336000" y="188640"/>
            <a:ext cx="1152000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400" y="2204864"/>
            <a:ext cx="10363200" cy="936104"/>
          </a:xfrm>
        </p:spPr>
        <p:txBody>
          <a:bodyPr anchor="t"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 algn="ctr">
              <a:defRPr lang="zh-CN" altLang="en-US" sz="4000" b="1" kern="1200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23088" y="3166808"/>
            <a:ext cx="10080000" cy="141715"/>
            <a:chOff x="1419154" y="3501008"/>
            <a:chExt cx="6480000" cy="90000"/>
          </a:xfrm>
        </p:grpSpPr>
        <p:sp>
          <p:nvSpPr>
            <p:cNvPr id="13" name="矩形 12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矩形 13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6" name="组合 12"/>
          <p:cNvGrpSpPr/>
          <p:nvPr userDrawn="1"/>
        </p:nvGrpSpPr>
        <p:grpSpPr>
          <a:xfrm>
            <a:off x="479376" y="361219"/>
            <a:ext cx="1844598" cy="576000"/>
            <a:chOff x="1136323" y="419145"/>
            <a:chExt cx="1782423" cy="576000"/>
          </a:xfrm>
        </p:grpSpPr>
        <p:pic>
          <p:nvPicPr>
            <p:cNvPr id="7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8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9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329" y="332656"/>
            <a:ext cx="3472541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6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6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6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556895" indent="-213995" algn="l" defTabSz="6858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11.png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3.xml"/><Relationship Id="rId26" Type="http://schemas.openxmlformats.org/officeDocument/2006/relationships/tags" Target="../tags/tag33.xml"/><Relationship Id="rId25" Type="http://schemas.openxmlformats.org/officeDocument/2006/relationships/tags" Target="../tags/tag32.xml"/><Relationship Id="rId24" Type="http://schemas.openxmlformats.org/officeDocument/2006/relationships/tags" Target="../tags/tag3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tags" Target="../tags/tag10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94678" y="594360"/>
            <a:ext cx="109728" cy="5394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60438" y="777240"/>
            <a:ext cx="9966960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基于世界模型的</a:t>
            </a:r>
            <a:endParaRPr lang="zh-CN" sz="34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一维纵向制动决策规划</a:t>
            </a:r>
            <a:endParaRPr lang="zh-CN" sz="3400"/>
          </a:p>
        </p:txBody>
      </p:sp>
      <p:sp>
        <p:nvSpPr>
          <p:cNvPr id="5" name="Text 5"/>
          <p:cNvSpPr txBox="1"/>
          <p:nvPr/>
        </p:nvSpPr>
        <p:spPr>
          <a:xfrm>
            <a:off x="987870" y="2423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BFD6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Simulink 机理建模  ·  MLP / LSTM-PINN  ·  采样式 MPC</a:t>
            </a:r>
            <a:endParaRPr lang="zh-CN" sz="1800"/>
          </a:p>
        </p:txBody>
      </p:sp>
      <p:sp>
        <p:nvSpPr>
          <p:cNvPr id="6" name="Text 6"/>
          <p:cNvSpPr txBox="1"/>
          <p:nvPr/>
        </p:nvSpPr>
        <p:spPr>
          <a:xfrm>
            <a:off x="987870" y="309067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300" b="0" i="0">
                <a:solidFill>
                  <a:srgbClr val="8DA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三人课程项目汇报  |  约 12 分钟</a:t>
            </a:r>
            <a:endParaRPr lang="zh-CN" sz="1300"/>
          </a:p>
        </p:txBody>
      </p:sp>
      <p:sp>
        <p:nvSpPr>
          <p:cNvPr id="7" name="Line 7"/>
          <p:cNvSpPr/>
          <p:nvPr/>
        </p:nvSpPr>
        <p:spPr>
          <a:xfrm>
            <a:off x="1097598" y="5440680"/>
            <a:ext cx="9738360" cy="914"/>
          </a:xfrm>
          <a:prstGeom prst="line">
            <a:avLst/>
          </a:prstGeom>
          <a:ln w="25400">
            <a:solidFill>
              <a:srgbClr val="68838D"/>
            </a:solidFill>
          </a:ln>
        </p:spPr>
      </p:sp>
      <p:sp>
        <p:nvSpPr>
          <p:cNvPr id="8" name="Shape 8"/>
          <p:cNvSpPr/>
          <p:nvPr/>
        </p:nvSpPr>
        <p:spPr>
          <a:xfrm>
            <a:off x="1573086" y="5010912"/>
            <a:ext cx="1554480" cy="50292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847406" y="4800600"/>
            <a:ext cx="731520" cy="32004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83398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606358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2" name="Line 12"/>
          <p:cNvSpPr/>
          <p:nvPr/>
        </p:nvSpPr>
        <p:spPr>
          <a:xfrm>
            <a:off x="3657918" y="5257800"/>
            <a:ext cx="5440680" cy="914"/>
          </a:xfrm>
          <a:prstGeom prst="line">
            <a:avLst/>
          </a:prstGeom>
          <a:ln w="50800">
            <a:solidFill>
              <a:srgbClr val="F2A93B"/>
            </a:solidFill>
            <a:prstDash val="dash"/>
          </a:ln>
        </p:spPr>
      </p:sp>
      <p:sp>
        <p:nvSpPr>
          <p:cNvPr id="13" name="Shape 13"/>
          <p:cNvSpPr/>
          <p:nvPr/>
        </p:nvSpPr>
        <p:spPr>
          <a:xfrm>
            <a:off x="9601518" y="4526280"/>
            <a:ext cx="292608" cy="91440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9235758" y="5230368"/>
            <a:ext cx="1051560" cy="164592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4198" y="41605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300" b="1" i="0">
                <a:solidFill>
                  <a:srgbClr val="F2A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 · 规划 · 执行 · 反馈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87870" y="608076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8DA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汇报人：李子昂、王永鑫、</a:t>
            </a:r>
            <a:r>
              <a:rPr lang="zh-CN" sz="1100" b="0" i="0">
                <a:solidFill>
                  <a:srgbClr val="8DA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李嘉奇</a:t>
            </a:r>
            <a:endParaRPr lang="zh-CN" sz="1100" b="0" i="0">
              <a:solidFill>
                <a:srgbClr val="8DA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CarSim-GRU </a:t>
            </a:r>
            <a:r>
              <a:rPr lang="zh-CN" altLang="en-US" dirty="0"/>
              <a:t>训练设置与验证</a:t>
            </a:r>
            <a:r>
              <a:rPr lang="zh-CN" altLang="en-US" dirty="0"/>
              <a:t>指标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" y="940435"/>
            <a:ext cx="5798185" cy="472440"/>
          </a:xfrm>
        </p:spPr>
        <p:txBody>
          <a:bodyPr vert="horz" lIns="90000" tIns="45720" rIns="91440" bIns="45720" rtlCol="0">
            <a:no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GRU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训练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设置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67408" y="1556792"/>
                <a:ext cx="8640960" cy="398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  <a:cs typeface="Cambria Math" panose="02040503050406030204" pitchFamily="18" charset="0"/>
                  </a:rPr>
                  <a:t>模型参数：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H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64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L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1556792"/>
                <a:ext cx="8640960" cy="398780"/>
              </a:xfrm>
              <a:prstGeom prst="rect">
                <a:avLst/>
              </a:prstGeom>
              <a:blipFill rotWithShape="1">
                <a:blip r:embed="rId1"/>
                <a:stretch>
                  <a:fillRect l="-4" t="-102" r="2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767408" y="1988840"/>
            <a:ext cx="60960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数据：训练轨迹 96 条，验证轨迹 24 条</a:t>
            </a:r>
            <a:endParaRPr lang="en-US" altLang="zh-CN" sz="2000" i="0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5332" y="2569336"/>
            <a:ext cx="60960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训练</a:t>
            </a: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：40 epochs，CUDA，17.2 s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results/carsim_gru_training_loss.png" descr="results/carsim_gru_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" y="3069173"/>
            <a:ext cx="6309360" cy="3605349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6356350" y="940435"/>
            <a:ext cx="4961255" cy="472440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57175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GRU</a:t>
            </a:r>
            <a:r>
              <a:rPr lang="zh-CN" altLang="en-US" sz="2400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验证指标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图片 7" descr="13_carsim_gru_metr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045" y="3117850"/>
            <a:ext cx="5619750" cy="3225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/>
              <p:nvPr>
                <p:custDataLst>
                  <p:tags r:id="rId4"/>
                </p:custDataLst>
              </p:nvPr>
            </p:nvGraphicFramePr>
            <p:xfrm>
              <a:off x="6356350" y="1488440"/>
              <a:ext cx="5622925" cy="15614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4585"/>
                    <a:gridCol w="1124585"/>
                    <a:gridCol w="1124585"/>
                    <a:gridCol w="1124585"/>
                    <a:gridCol w="1124585"/>
                  </a:tblGrid>
                  <a:tr h="51752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output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rmse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mae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r2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</a:tr>
                  <a:tr h="517525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𝑣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800" i="1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next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mps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0.01376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0.117320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0.0918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0.9998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</a:tr>
                  <a:tr h="526415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800" i="1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next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mps</m:t>
                                        </m:r>
                                        <m: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0.2018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9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0.44932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0.2016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1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0.92929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/>
              <p:nvPr>
                <p:custDataLst>
                  <p:tags r:id="rId5"/>
                </p:custDataLst>
              </p:nvPr>
            </p:nvGraphicFramePr>
            <p:xfrm>
              <a:off x="6356350" y="1488440"/>
              <a:ext cx="5622925" cy="15614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4585"/>
                    <a:gridCol w="1124585"/>
                    <a:gridCol w="1124585"/>
                    <a:gridCol w="1124585"/>
                    <a:gridCol w="1124585"/>
                  </a:tblGrid>
                  <a:tr h="51752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output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rmse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mae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r2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</a:tr>
                  <a:tr h="5175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0.01376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0.117320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0.0918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0.9998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</a:tr>
                  <a:tr h="5264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0.2018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9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0.44932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0.2016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1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pitchFamily="34" charset="-122"/>
                              <a:cs typeface="Arial" panose="020B0604020202020204"/>
                              <a:sym typeface="+mn-ea"/>
                            </a:rPr>
                            <a:t>0.92929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pitchFamily="3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机理数据与 </a:t>
            </a:r>
            <a:r>
              <a:rPr lang="en-US" altLang="zh-CN" dirty="0"/>
              <a:t>CarSim </a:t>
            </a:r>
            <a:r>
              <a:rPr lang="zh-CN" altLang="en-US" dirty="0"/>
              <a:t>数据对比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8183880" y="1734820"/>
            <a:ext cx="3800475" cy="3982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机理数据更平滑，因此更容易拟合，误差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更低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CarSim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速度仍然较容易预测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CarSim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加速度误差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明显更高，暴露了高保真动力学难点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05_model_metrics_rmse_summ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229360"/>
            <a:ext cx="7715885" cy="4829810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8256270" y="4220845"/>
            <a:ext cx="3467100" cy="154559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67BCE"/>
                </a:solidFill>
              </a14:hiddenFill>
            </a:ext>
          </a:extLst>
        </p:spPr>
        <p:txBody>
          <a:bodyPr wrap="square" lIns="73152" tIns="73152" rIns="73152" bIns="73152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更真实的物理复杂性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更合理的评价指标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75235" y="6343808"/>
            <a:ext cx="691804" cy="422236"/>
          </a:xfrm>
        </p:spPr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en-US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855640" y="2060850"/>
            <a:ext cx="6237612" cy="684004"/>
            <a:chOff x="1350356" y="1945292"/>
            <a:chExt cx="6868074" cy="582961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一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2478265" y="1945292"/>
              <a:ext cx="574016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问题定义与机理基线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2" name="MH_Entry_1"/>
          <p:cNvSpPr/>
          <p:nvPr>
            <p:custDataLst>
              <p:tags r:id="rId4"/>
            </p:custDataLst>
          </p:nvPr>
        </p:nvSpPr>
        <p:spPr>
          <a:xfrm>
            <a:off x="3903345" y="3160395"/>
            <a:ext cx="5189855" cy="683895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CarSim </a:t>
            </a: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数据与时序世界模型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MH_Entry_1"/>
          <p:cNvSpPr/>
          <p:nvPr>
            <p:custDataLst>
              <p:tags r:id="rId5"/>
            </p:custDataLst>
          </p:nvPr>
        </p:nvSpPr>
        <p:spPr>
          <a:xfrm>
            <a:off x="3903345" y="4291965"/>
            <a:ext cx="5189855" cy="683895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闭环规划与工程交付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MH_Number_1"/>
          <p:cNvSpPr/>
          <p:nvPr>
            <p:custDataLst>
              <p:tags r:id="rId6"/>
            </p:custDataLst>
          </p:nvPr>
        </p:nvSpPr>
        <p:spPr>
          <a:xfrm>
            <a:off x="2855640" y="4291905"/>
            <a:ext cx="798392" cy="684000"/>
          </a:xfrm>
          <a:prstGeom prst="roundRect">
            <a:avLst>
              <a:gd name="adj" fmla="val 7615"/>
            </a:avLst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MH_Number_1"/>
          <p:cNvSpPr/>
          <p:nvPr>
            <p:custDataLst>
              <p:tags r:id="rId7"/>
            </p:custDataLst>
          </p:nvPr>
        </p:nvSpPr>
        <p:spPr>
          <a:xfrm>
            <a:off x="2855640" y="3176549"/>
            <a:ext cx="780412" cy="684000"/>
          </a:xfrm>
          <a:prstGeom prst="roundRect">
            <a:avLst>
              <a:gd name="adj" fmla="val 7615"/>
            </a:avLst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二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规划问题建模及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35280" y="940435"/>
            <a:ext cx="5781040" cy="472440"/>
          </a:xfrm>
        </p:spPr>
        <p:txBody>
          <a:bodyPr vert="horz" lIns="90000" tIns="45720" rIns="91440" bIns="45720" rtlCol="0">
            <a:noAutofit/>
          </a:bodyPr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采样式 MPC 算法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6095365" y="1745615"/>
                <a:ext cx="5198110" cy="70231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indent="0">
                  <a:lnSpc>
                    <a:spcPct val="150000"/>
                  </a:lnSpc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𝐽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𝑁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𝑠𝑎𝑓𝑒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)² +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∑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² +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∑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𝛥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²</m:t>
                      </m:r>
                    </m:oMath>
                  </m:oMathPara>
                </a14:m>
                <a:endParaRPr lang="en-US" sz="2000"/>
              </a:p>
              <a:p>
                <a:pPr marL="342900" indent="-342900">
                  <a:lnSpc>
                    <a:spcPct val="150000"/>
                  </a:lnSpc>
                  <a:buFont typeface="Wingdings" panose="05000000000000000000" charset="0"/>
                  <a:buChar char="Ø"/>
                </a:pP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365" y="1745615"/>
                <a:ext cx="5198110" cy="702310"/>
              </a:xfrm>
              <a:prstGeom prst="rect">
                <a:avLst/>
              </a:prstGeom>
              <a:blipFill rotWithShape="1">
                <a:blip r:embed="rId1"/>
                <a:stretch>
                  <a:fillRect b="-415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35280" y="1556385"/>
          <a:ext cx="5328285" cy="2042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180"/>
                <a:gridCol w="401510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dirty="0" smtClean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</a:rPr>
                        <a:t>模块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dirty="0" smtClean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</a:rPr>
                        <a:t>定义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</a:rPr>
                        <a:t>状态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速度、障碍物距离、附着系数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</a:rPr>
                        <a:t>动作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制动主缸压力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</a:rPr>
                        <a:t>预测时域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候选压力序列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</a:tr>
              <a:tr h="4883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</a:rPr>
                        <a:t>代价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距离、舒适度、平滑性、安全惩罚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023610" y="1268730"/>
            <a:ext cx="1769745" cy="6305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代价函数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"/>
              <p:cNvSpPr txBox="1"/>
              <p:nvPr/>
            </p:nvSpPr>
            <p:spPr>
              <a:xfrm>
                <a:off x="6095365" y="2447925"/>
                <a:ext cx="3132455" cy="1089025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67BCE"/>
                    </a:solidFill>
                  </a14:hiddenFill>
                </a:ext>
              </a:extLst>
            </p:spPr>
            <p:txBody>
              <a:bodyPr wrap="square" lIns="73152" tIns="73152" rIns="73152" bIns="73152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𝑐𝑜𝑙𝑙𝑖𝑠𝑖𝑜𝑛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𝑙𝑎𝑟𝑔𝑒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𝑝𝑒𝑛𝑎𝑙𝑡𝑦</m:t>
                      </m:r>
                    </m:oMath>
                  </m:oMathPara>
                </a14:m>
                <a:endParaRPr lang="en-US" sz="1800">
                  <a:solidFill>
                    <a:schemeClr val="tx1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>
                              <a:solidFill>
                                <a:schemeClr val="tx1"/>
                              </a:solidFill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𝑁</m:t>
                          </m:r>
                        </m:sub>
                      </m:sSub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&gt;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𝑠𝑡𝑜𝑝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𝑝𝑒𝑛𝑎𝑙𝑡𝑦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365" y="2447925"/>
                <a:ext cx="3132455" cy="1089025"/>
              </a:xfrm>
              <a:prstGeom prst="roundRect">
                <a:avLst/>
              </a:prstGeom>
              <a:blipFill rotWithShape="1">
                <a:blip r:embed="rId3"/>
                <a:stretch>
                  <a:fillRect l="-304" t="-875" r="-304" b="-875"/>
                </a:stretch>
              </a:blipFill>
              <a:ln w="19050"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67BCE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269"/>
          <p:cNvSpPr/>
          <p:nvPr>
            <p:custDataLst>
              <p:tags r:id="rId4"/>
            </p:custDataLst>
          </p:nvPr>
        </p:nvSpPr>
        <p:spPr>
          <a:xfrm>
            <a:off x="380238" y="391922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" name="Shape 270"/>
          <p:cNvSpPr/>
          <p:nvPr>
            <p:custDataLst>
              <p:tags r:id="rId5"/>
            </p:custDataLst>
          </p:nvPr>
        </p:nvSpPr>
        <p:spPr>
          <a:xfrm>
            <a:off x="544830" y="412038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1" name="Text 271"/>
          <p:cNvSpPr txBox="1"/>
          <p:nvPr>
            <p:custDataLst>
              <p:tags r:id="rId6"/>
            </p:custDataLst>
          </p:nvPr>
        </p:nvSpPr>
        <p:spPr>
          <a:xfrm>
            <a:off x="551180" y="4149090"/>
            <a:ext cx="457200" cy="42354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sz="2000" b="1" i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272"/>
          <p:cNvSpPr txBox="1"/>
          <p:nvPr>
            <p:custDataLst>
              <p:tags r:id="rId7"/>
            </p:custDataLst>
          </p:nvPr>
        </p:nvSpPr>
        <p:spPr>
          <a:xfrm>
            <a:off x="1166495" y="4120515"/>
            <a:ext cx="1209675" cy="62039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采样压力序列</a:t>
            </a:r>
            <a:endParaRPr lang="zh-CN" sz="20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273"/>
          <p:cNvSpPr txBox="1"/>
          <p:nvPr>
            <p:custDataLst>
              <p:tags r:id="rId8"/>
            </p:custDataLst>
          </p:nvPr>
        </p:nvSpPr>
        <p:spPr>
          <a:xfrm>
            <a:off x="636270" y="4796663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生成约 256 条
平滑压力序列</a:t>
            </a:r>
            <a:endParaRPr lang="zh-CN" sz="1500"/>
          </a:p>
        </p:txBody>
      </p:sp>
      <p:sp>
        <p:nvSpPr>
          <p:cNvPr id="14" name="Line 274"/>
          <p:cNvSpPr/>
          <p:nvPr>
            <p:custDataLst>
              <p:tags r:id="rId9"/>
            </p:custDataLst>
          </p:nvPr>
        </p:nvSpPr>
        <p:spPr>
          <a:xfrm>
            <a:off x="2730246" y="486105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15" name="Shape 275"/>
          <p:cNvSpPr/>
          <p:nvPr>
            <p:custDataLst>
              <p:tags r:id="rId10"/>
            </p:custDataLst>
          </p:nvPr>
        </p:nvSpPr>
        <p:spPr>
          <a:xfrm>
            <a:off x="3233166" y="391922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6" name="Shape 276"/>
          <p:cNvSpPr/>
          <p:nvPr>
            <p:custDataLst>
              <p:tags r:id="rId11"/>
            </p:custDataLst>
          </p:nvPr>
        </p:nvSpPr>
        <p:spPr>
          <a:xfrm>
            <a:off x="3397758" y="412038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8" name="Text 278"/>
          <p:cNvSpPr txBox="1"/>
          <p:nvPr>
            <p:custDataLst>
              <p:tags r:id="rId12"/>
            </p:custDataLst>
          </p:nvPr>
        </p:nvSpPr>
        <p:spPr>
          <a:xfrm>
            <a:off x="4019550" y="412038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脑内演化</a:t>
            </a:r>
            <a:endParaRPr lang="zh-CN" sz="20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279"/>
          <p:cNvSpPr txBox="1"/>
          <p:nvPr>
            <p:custDataLst>
              <p:tags r:id="rId13"/>
            </p:custDataLst>
          </p:nvPr>
        </p:nvSpPr>
        <p:spPr>
          <a:xfrm>
            <a:off x="3479673" y="4796663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世界模型滚动
预测 N 步</a:t>
            </a:r>
            <a:endParaRPr lang="zh-CN" sz="1500"/>
          </a:p>
        </p:txBody>
      </p:sp>
      <p:sp>
        <p:nvSpPr>
          <p:cNvPr id="20" name="Line 280"/>
          <p:cNvSpPr/>
          <p:nvPr>
            <p:custDataLst>
              <p:tags r:id="rId14"/>
            </p:custDataLst>
          </p:nvPr>
        </p:nvSpPr>
        <p:spPr>
          <a:xfrm>
            <a:off x="5583174" y="486105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1" name="Shape 281"/>
          <p:cNvSpPr/>
          <p:nvPr>
            <p:custDataLst>
              <p:tags r:id="rId15"/>
            </p:custDataLst>
          </p:nvPr>
        </p:nvSpPr>
        <p:spPr>
          <a:xfrm>
            <a:off x="6086094" y="3919220"/>
            <a:ext cx="2331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2" name="Shape 282"/>
          <p:cNvSpPr/>
          <p:nvPr>
            <p:custDataLst>
              <p:tags r:id="rId16"/>
            </p:custDataLst>
          </p:nvPr>
        </p:nvSpPr>
        <p:spPr>
          <a:xfrm>
            <a:off x="6250686" y="4120388"/>
            <a:ext cx="493776" cy="493776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4" name="Text 284"/>
          <p:cNvSpPr txBox="1"/>
          <p:nvPr>
            <p:custDataLst>
              <p:tags r:id="rId17"/>
            </p:custDataLst>
          </p:nvPr>
        </p:nvSpPr>
        <p:spPr>
          <a:xfrm>
            <a:off x="6872478" y="412038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计算代价</a:t>
            </a:r>
            <a:endParaRPr lang="zh-CN" sz="2000" b="1" i="0">
              <a:solidFill>
                <a:srgbClr val="0B1F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85"/>
          <p:cNvSpPr txBox="1"/>
          <p:nvPr>
            <p:custDataLst>
              <p:tags r:id="rId18"/>
            </p:custDataLst>
          </p:nvPr>
        </p:nvSpPr>
        <p:spPr>
          <a:xfrm>
            <a:off x="6337681" y="4796663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安全、精准
舒适、平滑</a:t>
            </a:r>
            <a:endParaRPr lang="zh-CN" sz="1500"/>
          </a:p>
        </p:txBody>
      </p:sp>
      <p:sp>
        <p:nvSpPr>
          <p:cNvPr id="26" name="Line 286"/>
          <p:cNvSpPr/>
          <p:nvPr>
            <p:custDataLst>
              <p:tags r:id="rId19"/>
            </p:custDataLst>
          </p:nvPr>
        </p:nvSpPr>
        <p:spPr>
          <a:xfrm>
            <a:off x="8436102" y="4861052"/>
            <a:ext cx="429768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7" name="Shape 287"/>
          <p:cNvSpPr/>
          <p:nvPr>
            <p:custDataLst>
              <p:tags r:id="rId20"/>
            </p:custDataLst>
          </p:nvPr>
        </p:nvSpPr>
        <p:spPr>
          <a:xfrm>
            <a:off x="8939022" y="3919220"/>
            <a:ext cx="233172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4D4D"/>
            </a:solidFill>
          </a:ln>
        </p:spPr>
      </p:sp>
      <p:sp>
        <p:nvSpPr>
          <p:cNvPr id="29" name="Shape 288"/>
          <p:cNvSpPr/>
          <p:nvPr>
            <p:custDataLst>
              <p:tags r:id="rId21"/>
            </p:custDataLst>
          </p:nvPr>
        </p:nvSpPr>
        <p:spPr>
          <a:xfrm>
            <a:off x="9103614" y="4120388"/>
            <a:ext cx="493776" cy="493776"/>
          </a:xfrm>
          <a:prstGeom prst="ellipse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1" name="Text 290"/>
          <p:cNvSpPr txBox="1"/>
          <p:nvPr>
            <p:custDataLst>
              <p:tags r:id="rId22"/>
            </p:custDataLst>
          </p:nvPr>
        </p:nvSpPr>
        <p:spPr>
          <a:xfrm>
            <a:off x="9725406" y="4120388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执行首步</a:t>
            </a:r>
            <a:endParaRPr lang="zh-CN" sz="2000" b="1" i="0">
              <a:solidFill>
                <a:srgbClr val="D6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291"/>
          <p:cNvSpPr txBox="1"/>
          <p:nvPr>
            <p:custDataLst>
              <p:tags r:id="rId23"/>
            </p:custDataLst>
          </p:nvPr>
        </p:nvSpPr>
        <p:spPr>
          <a:xfrm>
            <a:off x="9195054" y="4796663"/>
            <a:ext cx="18288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输出最优 Pₜ
下一时刻重规划</a:t>
            </a:r>
            <a:endParaRPr lang="zh-CN" sz="1500"/>
          </a:p>
        </p:txBody>
      </p:sp>
      <p:sp>
        <p:nvSpPr>
          <p:cNvPr id="33" name="Text 271"/>
          <p:cNvSpPr txBox="1"/>
          <p:nvPr>
            <p:custDataLst>
              <p:tags r:id="rId24"/>
            </p:custDataLst>
          </p:nvPr>
        </p:nvSpPr>
        <p:spPr>
          <a:xfrm>
            <a:off x="3416300" y="4149090"/>
            <a:ext cx="457200" cy="42354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271"/>
          <p:cNvSpPr txBox="1"/>
          <p:nvPr>
            <p:custDataLst>
              <p:tags r:id="rId25"/>
            </p:custDataLst>
          </p:nvPr>
        </p:nvSpPr>
        <p:spPr>
          <a:xfrm>
            <a:off x="6250940" y="4149090"/>
            <a:ext cx="457200" cy="42354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271"/>
          <p:cNvSpPr txBox="1"/>
          <p:nvPr>
            <p:custDataLst>
              <p:tags r:id="rId26"/>
            </p:custDataLst>
          </p:nvPr>
        </p:nvSpPr>
        <p:spPr>
          <a:xfrm>
            <a:off x="9103995" y="4149090"/>
            <a:ext cx="457200" cy="42354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一步安全屏障基线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6239510" y="1268730"/>
            <a:ext cx="5557520" cy="29178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动作安全：压力必须在物理范围内，0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MPa。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车辆响应安全：下一步预测减速度不能过大，不能超过附着能力或舒适性限制。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空间安全：执行这一小步后不能撞上障碍物，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即距离不能变成负数。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results/safety_planning_scenario.png" descr="results/safety_planning_scenar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67" y="1078992"/>
            <a:ext cx="5976357" cy="4480560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6671945" y="4186555"/>
            <a:ext cx="3642995" cy="113919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根据安全约束选择压力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用于调试距离更新和刹停逻辑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MPC </a:t>
            </a:r>
            <a:r>
              <a:rPr lang="zh-CN" altLang="en-US" dirty="0"/>
              <a:t>闭环</a:t>
            </a: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6312535" y="1482725"/>
            <a:ext cx="3800475" cy="23050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初速度：80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km/h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初始距离：65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附着系数：0.6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目标安全距离：2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  <a:sym typeface="+mn-ea"/>
              </a:rPr>
              <a:t>最终距离：1.844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14_mpc_stop_res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052830"/>
            <a:ext cx="5761355" cy="571881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6296025" y="4004945"/>
          <a:ext cx="568833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/>
                <a:gridCol w="3383280"/>
              </a:tblGrid>
              <a:tr h="391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已完成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进一步工作</a:t>
                      </a:r>
                      <a:endParaRPr lang="zh-CN" altLang="en-US" sz="20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CarSim 数据集与 CarSim-GRU 训练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CarSim 在线闭环 MPC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机理执行环境下的 MPC 闭环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每次 MPC 动作发送给 CarSim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工程数据/模型/规划链路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pitchFamily="34" charset="-122"/>
                          <a:cs typeface="Arial" panose="020B0604020202020204"/>
                          <a:sym typeface="+mn-ea"/>
                        </a:rPr>
                        <a:t>CarSim 反馈后实时重规划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pitchFamily="34" charset="-122"/>
                        <a:cs typeface="Arial" panose="020B0604020202020204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9" name="Shape 339"/>
          <p:cNvSpPr/>
          <p:nvPr/>
        </p:nvSpPr>
        <p:spPr>
          <a:xfrm>
            <a:off x="546862" y="151003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0" name="Shape 340"/>
          <p:cNvSpPr/>
          <p:nvPr/>
        </p:nvSpPr>
        <p:spPr>
          <a:xfrm>
            <a:off x="546862" y="1510030"/>
            <a:ext cx="73152" cy="1965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41" name="Text 341"/>
          <p:cNvSpPr txBox="1"/>
          <p:nvPr/>
        </p:nvSpPr>
        <p:spPr>
          <a:xfrm>
            <a:off x="767715" y="1623060"/>
            <a:ext cx="3063240" cy="417195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数据闭环</a:t>
            </a:r>
            <a:endParaRPr lang="zh-CN" sz="2000" b="1" i="0">
              <a:solidFill>
                <a:srgbClr val="0E8A9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2" name="Text 342"/>
          <p:cNvSpPr txBox="1"/>
          <p:nvPr/>
        </p:nvSpPr>
        <p:spPr>
          <a:xfrm>
            <a:off x="766445" y="2040255"/>
            <a:ext cx="3044825" cy="143637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Simulink 机制模型
30,000 单步 +</a:t>
            </a:r>
            <a:endParaRPr lang="zh-CN" sz="20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16,000 时序数据
统一 CarSim 接口</a:t>
            </a:r>
            <a:endParaRPr lang="zh-CN" sz="20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3" name="Shape 343"/>
          <p:cNvSpPr/>
          <p:nvPr/>
        </p:nvSpPr>
        <p:spPr>
          <a:xfrm>
            <a:off x="4295902" y="151003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4" name="Shape 344"/>
          <p:cNvSpPr/>
          <p:nvPr/>
        </p:nvSpPr>
        <p:spPr>
          <a:xfrm>
            <a:off x="4295902" y="1510030"/>
            <a:ext cx="73152" cy="1965960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45" name="Text 345"/>
          <p:cNvSpPr txBox="1"/>
          <p:nvPr/>
        </p:nvSpPr>
        <p:spPr>
          <a:xfrm>
            <a:off x="4516120" y="1623695"/>
            <a:ext cx="3063240" cy="4165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2A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模型底座</a:t>
            </a:r>
            <a:endParaRPr lang="zh-CN" sz="2000" b="1" i="0">
              <a:solidFill>
                <a:srgbClr val="F2A93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6" name="Text 346"/>
          <p:cNvSpPr txBox="1"/>
          <p:nvPr/>
        </p:nvSpPr>
        <p:spPr>
          <a:xfrm>
            <a:off x="4515358" y="2040382"/>
            <a:ext cx="3044952" cy="1307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验证单步辨识
LSTM 建模历史依赖
PINN 加入物理一致性</a:t>
            </a:r>
            <a:endParaRPr lang="zh-CN" sz="20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7" name="Shape 347"/>
          <p:cNvSpPr/>
          <p:nvPr/>
        </p:nvSpPr>
        <p:spPr>
          <a:xfrm>
            <a:off x="8044942" y="151003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8" name="Shape 348"/>
          <p:cNvSpPr/>
          <p:nvPr/>
        </p:nvSpPr>
        <p:spPr>
          <a:xfrm>
            <a:off x="8044942" y="1510030"/>
            <a:ext cx="73152" cy="196596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49" name="Text 349"/>
          <p:cNvSpPr txBox="1"/>
          <p:nvPr/>
        </p:nvSpPr>
        <p:spPr>
          <a:xfrm>
            <a:off x="8264525" y="1623060"/>
            <a:ext cx="3063240" cy="41783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决策规划</a:t>
            </a:r>
            <a:endParaRPr lang="zh-CN" sz="2000" b="1" i="0">
              <a:solidFill>
                <a:srgbClr val="D6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0" name="Text 350"/>
          <p:cNvSpPr txBox="1"/>
          <p:nvPr/>
        </p:nvSpPr>
        <p:spPr>
          <a:xfrm>
            <a:off x="8264398" y="2040382"/>
            <a:ext cx="3044952" cy="130759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采样式 MPC 滚动优化
80 km/h 工况安全刹停
最终距离误差 0.156 m</a:t>
            </a:r>
            <a:endParaRPr lang="zh-CN" sz="20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2" name="Shape 352"/>
          <p:cNvSpPr/>
          <p:nvPr/>
        </p:nvSpPr>
        <p:spPr>
          <a:xfrm>
            <a:off x="685800" y="4290695"/>
            <a:ext cx="2331720" cy="987552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0E8A92"/>
            </a:solidFill>
          </a:ln>
        </p:spPr>
      </p:sp>
      <p:sp>
        <p:nvSpPr>
          <p:cNvPr id="353" name="Text 353"/>
          <p:cNvSpPr txBox="1"/>
          <p:nvPr/>
        </p:nvSpPr>
        <p:spPr>
          <a:xfrm>
            <a:off x="795528" y="43835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CarSim 联调</a:t>
            </a:r>
            <a:endParaRPr lang="zh-CN" sz="2000" b="1" i="0">
              <a:solidFill>
                <a:srgbClr val="0E8A9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4" name="Text 354"/>
          <p:cNvSpPr txBox="1"/>
          <p:nvPr/>
        </p:nvSpPr>
        <p:spPr>
          <a:xfrm>
            <a:off x="795528" y="4802759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高保真时序数据</a:t>
            </a:r>
            <a:endParaRPr lang="zh-CN" sz="14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5" name="Line 355"/>
          <p:cNvSpPr/>
          <p:nvPr/>
        </p:nvSpPr>
        <p:spPr>
          <a:xfrm>
            <a:off x="3044952" y="4784471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56" name="Shape 356"/>
          <p:cNvSpPr/>
          <p:nvPr/>
        </p:nvSpPr>
        <p:spPr>
          <a:xfrm>
            <a:off x="3447288" y="4290695"/>
            <a:ext cx="2331720" cy="987552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F2A93B"/>
            </a:solidFill>
          </a:ln>
        </p:spPr>
      </p:sp>
      <p:sp>
        <p:nvSpPr>
          <p:cNvPr id="357" name="Text 357"/>
          <p:cNvSpPr txBox="1"/>
          <p:nvPr/>
        </p:nvSpPr>
        <p:spPr>
          <a:xfrm>
            <a:off x="3557016" y="43835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2A93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模型对比</a:t>
            </a:r>
            <a:endParaRPr lang="zh-CN" sz="2000" b="1" i="0">
              <a:solidFill>
                <a:srgbClr val="F2A93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" name="Text 358"/>
          <p:cNvSpPr txBox="1"/>
          <p:nvPr/>
        </p:nvSpPr>
        <p:spPr>
          <a:xfrm>
            <a:off x="3557016" y="4802759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/ LSTM / PINN</a:t>
            </a:r>
            <a:endParaRPr lang="zh-CN" sz="14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9" name="Line 359"/>
          <p:cNvSpPr/>
          <p:nvPr/>
        </p:nvSpPr>
        <p:spPr>
          <a:xfrm>
            <a:off x="5806440" y="4784471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0" name="Shape 360"/>
          <p:cNvSpPr/>
          <p:nvPr/>
        </p:nvSpPr>
        <p:spPr>
          <a:xfrm>
            <a:off x="6208776" y="4290695"/>
            <a:ext cx="2331720" cy="98755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64D4D"/>
            </a:solidFill>
          </a:ln>
        </p:spPr>
      </p:sp>
      <p:sp>
        <p:nvSpPr>
          <p:cNvPr id="361" name="Text 361"/>
          <p:cNvSpPr txBox="1"/>
          <p:nvPr/>
        </p:nvSpPr>
        <p:spPr>
          <a:xfrm>
            <a:off x="6318504" y="43835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场景扩展</a:t>
            </a:r>
            <a:endParaRPr lang="zh-CN" sz="2000" b="1" i="0">
              <a:solidFill>
                <a:srgbClr val="D6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2" name="Text 362"/>
          <p:cNvSpPr txBox="1"/>
          <p:nvPr/>
        </p:nvSpPr>
        <p:spPr>
          <a:xfrm>
            <a:off x="6318504" y="4802759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 突变与噪声</a:t>
            </a:r>
            <a:endParaRPr lang="zh-CN" sz="14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3" name="Line 363"/>
          <p:cNvSpPr/>
          <p:nvPr/>
        </p:nvSpPr>
        <p:spPr>
          <a:xfrm>
            <a:off x="8567928" y="4784471"/>
            <a:ext cx="338328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4" name="Shape 364"/>
          <p:cNvSpPr/>
          <p:nvPr/>
        </p:nvSpPr>
        <p:spPr>
          <a:xfrm>
            <a:off x="8970264" y="4290695"/>
            <a:ext cx="2331720" cy="987552"/>
          </a:xfrm>
          <a:prstGeom prst="roundRect">
            <a:avLst/>
          </a:prstGeom>
          <a:solidFill>
            <a:srgbClr val="EDF4EF"/>
          </a:solidFill>
          <a:ln w="12700">
            <a:solidFill>
              <a:srgbClr val="2F9E73"/>
            </a:solidFill>
          </a:ln>
        </p:spPr>
      </p:sp>
      <p:sp>
        <p:nvSpPr>
          <p:cNvPr id="365" name="Text 365"/>
          <p:cNvSpPr txBox="1"/>
          <p:nvPr/>
        </p:nvSpPr>
        <p:spPr>
          <a:xfrm>
            <a:off x="9079992" y="43835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2F9E7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控制优化</a:t>
            </a:r>
            <a:endParaRPr lang="zh-CN" sz="2000" b="1" i="0">
              <a:solidFill>
                <a:srgbClr val="2F9E7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6" name="Text 366"/>
          <p:cNvSpPr txBox="1"/>
          <p:nvPr/>
        </p:nvSpPr>
        <p:spPr>
          <a:xfrm>
            <a:off x="9079992" y="4802759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舒适度与实时性</a:t>
            </a:r>
            <a:endParaRPr lang="zh-CN" sz="1400" b="0" i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35280" y="940435"/>
            <a:ext cx="5781040" cy="472440"/>
          </a:xfrm>
        </p:spPr>
        <p:txBody>
          <a:bodyPr vert="horz" lIns="90000" tIns="45720" rIns="91440" bIns="45720" rtlCol="0">
            <a:noAutofit/>
          </a:bodyPr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当前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工作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335280" y="3647440"/>
            <a:ext cx="5781040" cy="472440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257175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>
                <a:solidFill>
                  <a:srgbClr val="0B1F33"/>
                </a:solidFill>
                <a:latin typeface="微软雅黑" panose="020B0503020204020204" pitchFamily="34" charset="-122"/>
                <a:sym typeface="+mn-ea"/>
              </a:rPr>
              <a:t>下一阶段路线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442*122"/>
  <p:tag name="TABLE_ENDDRAG_RECT" val="500*111*442*122"/>
</p:tagLst>
</file>

<file path=ppt/tags/tag2.xml><?xml version="1.0" encoding="utf-8"?>
<p:tagLst xmlns:p="http://schemas.openxmlformats.org/presentationml/2006/main">
  <p:tag name="TABLE_ENDDRAG_ORIGIN_RECT" val="442*122"/>
  <p:tag name="TABLE_ENDDRAG_RECT" val="500*111*442*122"/>
</p:tagLst>
</file>

<file path=ppt/tags/tag3.xml><?xml version="1.0" encoding="utf-8"?>
<p:tagLst xmlns:p="http://schemas.openxmlformats.org/presentationml/2006/main">
  <p:tag name="KSO_WM_DIAGRAM_VIRTUALLY_FRAME" val="{&quot;height&quot;:229.5318897637795,&quot;left&quot;:224.8535433070866,&quot;top&quot;:162.27165354330708,&quot;width&quot;:491.1505511811024}"/>
</p:tagLst>
</file>

<file path=ppt/tags/tag4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5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7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8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9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10.xml><?xml version="1.0" encoding="utf-8"?>
<p:tagLst xmlns:p="http://schemas.openxmlformats.org/presentationml/2006/main">
  <p:tag name="TABLE_ENDDRAG_ORIGIN_RECT" val="419*142"/>
  <p:tag name="TABLE_ENDDRAG_RECT" val="9*80*419*142"/>
</p:tagLst>
</file>

<file path=ppt/tags/tag11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12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13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14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15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16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17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18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19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0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1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2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3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4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5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6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7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8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29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30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31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32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33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34.xml><?xml version="1.0" encoding="utf-8"?>
<p:tagLst xmlns:p="http://schemas.openxmlformats.org/presentationml/2006/main">
  <p:tag name="KSO_WPP_MARK_KEY" val="dd8e9db9-b485-444a-8177-54e3c259d421"/>
  <p:tag name="COMMONDATA" val="eyJoZGlkIjoiNjk0NDY4NmIyNGM0YTRkMzQ0ZGRmNDQ3MGQ4MDJkZWEifQ=="/>
</p:tagLst>
</file>

<file path=ppt/theme/theme1.xml><?xml version="1.0" encoding="utf-8"?>
<a:theme xmlns:a="http://schemas.openxmlformats.org/drawingml/2006/main" name="1_Safety-Nie 20190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1284</Words>
  <Application>WPS 演示</Application>
  <PresentationFormat>Widescreen</PresentationFormat>
  <Paragraphs>217</Paragraphs>
  <Slides>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</vt:lpstr>
      <vt:lpstr>Arial Unicode MS</vt:lpstr>
      <vt:lpstr>黑体</vt:lpstr>
      <vt:lpstr>Cambria Math</vt:lpstr>
      <vt:lpstr>Wingdings</vt:lpstr>
      <vt:lpstr>Cambria Math</vt:lpstr>
      <vt:lpstr>Calibri</vt:lpstr>
      <vt:lpstr>Arial Unicode MS</vt:lpstr>
      <vt:lpstr>等线</vt:lpstr>
      <vt:lpstr>1_Safety-Nie 201909</vt:lpstr>
      <vt:lpstr>PowerPoint 演示文稿</vt:lpstr>
      <vt:lpstr>CarSim-GRU 训练设置与验证指标</vt:lpstr>
      <vt:lpstr>机理数据与 CarSim 数据对比</vt:lpstr>
      <vt:lpstr>Contents</vt:lpstr>
      <vt:lpstr>规划问题建模及算法</vt:lpstr>
      <vt:lpstr>一步安全屏障基线</vt:lpstr>
      <vt:lpstr>MPC 闭环结果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Bingbing Nie</dc:creator>
  <cp:lastModifiedBy>李子昂(2025210297)</cp:lastModifiedBy>
  <cp:revision>4691</cp:revision>
  <cp:lastPrinted>2021-03-03T03:15:00Z</cp:lastPrinted>
  <dcterms:created xsi:type="dcterms:W3CDTF">2015-08-10T08:02:00Z</dcterms:created>
  <dcterms:modified xsi:type="dcterms:W3CDTF">2026-06-08T15:58:25Z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A11307782F8D40D39DE436620A877F1A_13</vt:lpwstr>
  </property>
  <property fmtid="{D5CDD505-2E9C-101B-9397-08002B2CF9AE}" pid="3" name="KSOProductBuildVer">
    <vt:lpwstr>2052-12.1.0.23542</vt:lpwstr>
  </property>
</Properties>
</file>