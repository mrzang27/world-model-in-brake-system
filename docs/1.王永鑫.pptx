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950" r:id="rId3"/>
    <p:sldId id="925" r:id="rId5"/>
    <p:sldId id="702" r:id="rId6"/>
    <p:sldId id="951" r:id="rId7"/>
    <p:sldId id="955" r:id="rId8"/>
    <p:sldId id="968" r:id="rId9"/>
    <p:sldId id="966" r:id="rId10"/>
    <p:sldId id="967" r:id="rId11"/>
    <p:sldId id="970" r:id="rId12"/>
    <p:sldId id="969" r:id="rId13"/>
    <p:sldId id="962" r:id="rId14"/>
    <p:sldId id="963" r:id="rId15"/>
    <p:sldId id="582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6EBBC38-3346-4717-A902-602E4156162A}">
          <p14:sldIdLst>
            <p14:sldId id="950"/>
            <p14:sldId id="925"/>
            <p14:sldId id="702"/>
            <p14:sldId id="951"/>
            <p14:sldId id="955"/>
            <p14:sldId id="968"/>
            <p14:sldId id="966"/>
            <p14:sldId id="967"/>
            <p14:sldId id="970"/>
            <p14:sldId id="969"/>
            <p14:sldId id="962"/>
            <p14:sldId id="963"/>
            <p14:sldId id="5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ngbing Nie" initials="BN" lastIdx="6" clrIdx="0"/>
  <p:cmAuthor id="2" name="Admin" initials="A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730EB8"/>
    <a:srgbClr val="0000FF"/>
    <a:srgbClr val="EBF1DE"/>
    <a:srgbClr val="953735"/>
    <a:srgbClr val="77933C"/>
    <a:srgbClr val="215968"/>
    <a:srgbClr val="0D409B"/>
    <a:srgbClr val="8C1514"/>
    <a:srgbClr val="C46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04" autoAdjust="0"/>
    <p:restoredTop sz="84366" autoAdjust="0"/>
  </p:normalViewPr>
  <p:slideViewPr>
    <p:cSldViewPr showGuides="1">
      <p:cViewPr varScale="1">
        <p:scale>
          <a:sx n="80" d="100"/>
          <a:sy n="80" d="100"/>
        </p:scale>
        <p:origin x="436" y="44"/>
      </p:cViewPr>
      <p:guideLst>
        <p:guide orient="horz" pos="2091"/>
        <p:guide pos="3840"/>
      </p:guideLst>
    </p:cSldViewPr>
  </p:slideViewPr>
  <p:outlineViewPr>
    <p:cViewPr>
      <p:scale>
        <a:sx n="33" d="100"/>
        <a:sy n="33" d="100"/>
      </p:scale>
      <p:origin x="0" y="-3583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5" d="100"/>
        <a:sy n="125" d="100"/>
      </p:scale>
      <p:origin x="0" y="-11092"/>
    </p:cViewPr>
  </p:sorterViewPr>
  <p:notesViewPr>
    <p:cSldViewPr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40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A0E95-367F-4A73-9C3B-3219D29F3B65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BE34D-6E21-4F00-AB43-928D22E18CE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11ABD-C8CA-45BD-AFCC-B3E5D2CB9C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372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【建议用时 30 秒｜同学 A】各位老师、同学好，我们汇报的题目是“基于世界模型的一维纵向制动决策规划”。项目从一个可解释的 Simulink 纵向制动机理模型出发，先生成伪真实数据，再训练 MLP 和 LSTM-PINN 世界模型，最后把预测模型嵌入采样式 MPC，完成面向前方障碍物的一维精准刹停。接下来我们三个人分别介绍数据闭环、模型升级和上层规划。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汽车主动安全领域，正在经历一场关键的技术进化。行业对制动决策的要求，早已从简单的踩刹车，变成需要更早响应、更可靠的决策输出。</a:t>
            </a:r>
            <a:r>
              <a:rPr lang="en-US" altLang="zh-CN" dirty="0"/>
              <a:t>
</a:t>
            </a:r>
            <a:r>
              <a:rPr lang="zh-CN" altLang="en-US" dirty="0"/>
              <a:t>面对复杂多变的道路环境，传统响应式控制依赖固定规则，很难适配不同车速和路面附着条件的变化。风险出现才触发响应，往往错过最佳干预窗口，同时很难兼顾安全、停车精度和乘坐舒适性三个核心目标。</a:t>
            </a:r>
            <a:r>
              <a:rPr lang="en-US" altLang="zh-CN" dirty="0"/>
              <a:t>
</a:t>
            </a:r>
            <a:r>
              <a:rPr lang="zh-CN" altLang="en-US" dirty="0"/>
              <a:t>我们研究的预测式决策，完全换了一套思路。它会在线预测不同制动动作的最终结果，在执行前就比对所有候选制动轨迹，最终通过多目标代价函数选出最优的制动压力。汽车安全的核心，正在从</a:t>
            </a:r>
            <a:r>
              <a:rPr lang="en-US" altLang="zh-CN" dirty="0"/>
              <a:t>“</a:t>
            </a:r>
            <a:r>
              <a:rPr lang="zh-CN" altLang="en-US" dirty="0"/>
              <a:t>出事才制动</a:t>
            </a:r>
            <a:r>
              <a:rPr lang="en-US" altLang="zh-CN" dirty="0"/>
              <a:t>”</a:t>
            </a:r>
            <a:r>
              <a:rPr lang="zh-CN" altLang="en-US" dirty="0"/>
              <a:t>的及时制动，全面转向</a:t>
            </a:r>
            <a:r>
              <a:rPr lang="en-US" altLang="zh-CN" dirty="0"/>
              <a:t>“</a:t>
            </a:r>
            <a:r>
              <a:rPr lang="zh-CN" altLang="en-US" dirty="0"/>
              <a:t>防患未然</a:t>
            </a:r>
            <a:r>
              <a:rPr lang="en-US" altLang="zh-CN" dirty="0"/>
              <a:t>”</a:t>
            </a:r>
            <a:r>
              <a:rPr lang="zh-CN" altLang="en-US" dirty="0"/>
              <a:t>的提前制动与决策制动。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机理模型使用一个可解释的纵向制动近似。制动力与主缸压力线性相关，但实际制动力不能超过路面附着上限。之后通过牛顿第二定律计算减速度，再用离散积分更新速度。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车辆质量取一千八百千克，采样周期零点零五秒。这个模型虽然简化，但非常适合做基线、单元测试和规划器初始验证。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公式页要讲慢一点。先说压力映射到理论制动力，再说附着上限裁剪，接着由力得到减速度，最后离散更新速度。这里的重点不是公式复杂，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而是它给了后续神经网络一个可解释基线，也给规划器提供了最小可运行环境。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页面要点：F_brake = k * P；F_actual = min(F_brake, mu * m * g)；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a_next = -F_actual / m；v_next = max(v + a_next * dt, 0)。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第一版世界模型是 MLP，用来验证单步动力学是否可学习。从预测对比图可以看到，模型输出与机理标签高度重合。这个结果说明数据生成、归一化、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训练和推理链路是正确的。但 MLP 的限制也很清楚：它只看当前状态，无法表达压力建立、液压滞后和轮胎状态随时间变化的影响，所以它适合作为基线，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不适合作为最终时序底座。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这一页可以把 MLP 定位为工程基线。它证明数据生成、训练、归一化、推理和指标评估链路是通的，但它没有记忆历史压力和动态响应。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由此自然引出后面使用 LSTM/GRU 的必要性。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页面要点：单步动力学可以被准确学习；MLP 验证了数据生成、归一化和推理链路；局限：没有显式历史依赖。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9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为了让机理模型和 CarSim 数据都能进入同一套训练代码，我们设计了统一数据接口。核心字段包括当前速度、当前加速度、压力、附着系数，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以及下一时刻速度和加速度。CarSim 可以额外保留初速度、来源、参考风险等字段，但训练接口只依赖前九个核心字段。这个设计减少了后续工程切换成本。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统一字段是工程可维护性的核心。建议强调同一套训练接口可以接收机理数据和 CarSim 数据，差异字段保留在数据集里，但模型只依赖规范输入输出。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这样后续加入更多传感器或换仿真器时，接口不会混乱。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页面要点：trajectory_id、step、time_s；v_mps、a_mps2、pressure_MPa、mu；v_next_mps、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a_next_mps2；CarSim 附加字段保留，但训练接口不依赖。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0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28800"/>
            <a:ext cx="1036320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645024"/>
            <a:ext cx="8534400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4000" y="3248992"/>
            <a:ext cx="12144000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479376" y="361219"/>
            <a:ext cx="1844598" cy="576000"/>
            <a:chOff x="1136323" y="419145"/>
            <a:chExt cx="1782423" cy="576000"/>
          </a:xfrm>
        </p:grpSpPr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329" y="332656"/>
            <a:ext cx="3472541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28800"/>
            <a:ext cx="1036320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645024"/>
            <a:ext cx="8534400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4000" y="3248992"/>
            <a:ext cx="12144000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12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360" y="940460"/>
            <a:ext cx="11305256" cy="3352636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</a:t>
            </a:r>
            <a:endParaRPr lang="en-US" altLang="zh-CN" dirty="0"/>
          </a:p>
          <a:p>
            <a:pPr lvl="1"/>
            <a:r>
              <a:rPr lang="en-US" altLang="zh-CN" dirty="0"/>
              <a:t>Second</a:t>
            </a:r>
            <a:endParaRPr lang="en-US" altLang="zh-CN" dirty="0"/>
          </a:p>
          <a:p>
            <a:pPr lvl="2"/>
            <a:r>
              <a:rPr lang="en-US" altLang="zh-CN" dirty="0"/>
              <a:t>Third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1126" y="73605"/>
            <a:ext cx="684000" cy="684000"/>
          </a:xfrm>
          <a:prstGeom prst="rect">
            <a:avLst/>
          </a:prstGeom>
        </p:spPr>
      </p:pic>
      <p:sp>
        <p:nvSpPr>
          <p:cNvPr id="13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12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940460"/>
            <a:ext cx="11305256" cy="451640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57530" indent="0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None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3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正常双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99179" y="940459"/>
            <a:ext cx="5664000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0" name="内容占位符 2"/>
          <p:cNvSpPr>
            <a:spLocks noGrp="1"/>
          </p:cNvSpPr>
          <p:nvPr>
            <p:ph idx="13"/>
          </p:nvPr>
        </p:nvSpPr>
        <p:spPr>
          <a:xfrm>
            <a:off x="335360" y="940459"/>
            <a:ext cx="5664000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12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1126" y="73605"/>
            <a:ext cx="684000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2"/>
          <p:cNvSpPr/>
          <p:nvPr userDrawn="1"/>
        </p:nvSpPr>
        <p:spPr>
          <a:xfrm rot="10800000" flipH="1">
            <a:off x="6069999" y="2348879"/>
            <a:ext cx="6122001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3" name="矩形 22"/>
          <p:cNvSpPr/>
          <p:nvPr userDrawn="1"/>
        </p:nvSpPr>
        <p:spPr>
          <a:xfrm rot="10800000">
            <a:off x="-3" y="2348879"/>
            <a:ext cx="6122001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400" y="2829890"/>
            <a:ext cx="10363200" cy="648072"/>
          </a:xfrm>
        </p:spPr>
        <p:txBody>
          <a:bodyPr anchor="t">
            <a:normAutofit/>
          </a:bodyPr>
          <a:lstStyle>
            <a:lvl1pPr algn="ctr">
              <a:defRPr sz="3600" b="1" cap="none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1126" y="73605"/>
            <a:ext cx="684000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336000" y="188640"/>
            <a:ext cx="1152000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400" y="2204864"/>
            <a:ext cx="10363200" cy="936104"/>
          </a:xfrm>
        </p:spPr>
        <p:txBody>
          <a:bodyPr anchor="t"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 algn="ctr">
              <a:defRPr lang="zh-CN" altLang="en-US" sz="4000" b="1" kern="1200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23088" y="3166808"/>
            <a:ext cx="10080000" cy="141715"/>
            <a:chOff x="1419154" y="3501008"/>
            <a:chExt cx="6480000" cy="90000"/>
          </a:xfrm>
        </p:grpSpPr>
        <p:sp>
          <p:nvSpPr>
            <p:cNvPr id="13" name="矩形 12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矩形 13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6" name="组合 12"/>
          <p:cNvGrpSpPr/>
          <p:nvPr userDrawn="1"/>
        </p:nvGrpSpPr>
        <p:grpSpPr>
          <a:xfrm>
            <a:off x="479376" y="361219"/>
            <a:ext cx="1844598" cy="576000"/>
            <a:chOff x="1136323" y="419145"/>
            <a:chExt cx="1782423" cy="576000"/>
          </a:xfrm>
        </p:grpSpPr>
        <p:pic>
          <p:nvPicPr>
            <p:cNvPr id="7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8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9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329" y="332656"/>
            <a:ext cx="3472541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0"/>
    </mc:Choice>
    <mc:Fallback>
      <p:transition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6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6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6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556895" indent="-213995" algn="l" defTabSz="6858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webp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image" Target="../media/image9.png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image" Target="../media/image8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3.xml"/><Relationship Id="rId14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94678" y="594360"/>
            <a:ext cx="109728" cy="53949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60438" y="777240"/>
            <a:ext cx="9966960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基于世界模型的</a:t>
            </a:r>
            <a:endParaRPr lang="zh-CN" sz="3400"/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一维纵向制动决策规划</a:t>
            </a:r>
            <a:endParaRPr lang="zh-CN" sz="3400"/>
          </a:p>
        </p:txBody>
      </p:sp>
      <p:sp>
        <p:nvSpPr>
          <p:cNvPr id="5" name="Text 5"/>
          <p:cNvSpPr txBox="1"/>
          <p:nvPr/>
        </p:nvSpPr>
        <p:spPr>
          <a:xfrm>
            <a:off x="987870" y="2423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BFD6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Simulink   ·  </a:t>
            </a:r>
            <a:r>
              <a:rPr lang="en-US" altLang="zh-CN" sz="1800" b="0" i="0">
                <a:solidFill>
                  <a:srgbClr val="BFD6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Carsim</a:t>
            </a:r>
            <a:r>
              <a:rPr lang="zh-CN" sz="1800" b="0" i="0">
                <a:solidFill>
                  <a:srgbClr val="BFD6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·  </a:t>
            </a:r>
            <a:r>
              <a:rPr lang="zh-CN" sz="1800">
                <a:solidFill>
                  <a:srgbClr val="BFD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MLP / LSTM-PINN  ·  采样式 MPC</a:t>
            </a:r>
            <a:endParaRPr lang="zh-CN" sz="1800"/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lang="zh-CN" sz="1800"/>
          </a:p>
        </p:txBody>
      </p:sp>
      <p:sp>
        <p:nvSpPr>
          <p:cNvPr id="6" name="Text 6"/>
          <p:cNvSpPr txBox="1"/>
          <p:nvPr/>
        </p:nvSpPr>
        <p:spPr>
          <a:xfrm>
            <a:off x="988060" y="3090545"/>
            <a:ext cx="4459605" cy="38417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300" b="0" i="0">
                <a:solidFill>
                  <a:srgbClr val="8DA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《智能车辆决策规划》课程项目汇报  |  </a:t>
            </a:r>
            <a:r>
              <a:rPr lang="en-US" altLang="zh-CN" sz="1300" b="0" i="0">
                <a:solidFill>
                  <a:srgbClr val="8DA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2026.06.09</a:t>
            </a:r>
            <a:endParaRPr lang="en-US" altLang="zh-CN" sz="1300" b="0" i="0">
              <a:solidFill>
                <a:srgbClr val="8DA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7"/>
          <p:cNvSpPr/>
          <p:nvPr/>
        </p:nvSpPr>
        <p:spPr>
          <a:xfrm>
            <a:off x="1097598" y="5440680"/>
            <a:ext cx="9738360" cy="914"/>
          </a:xfrm>
          <a:prstGeom prst="line">
            <a:avLst/>
          </a:prstGeom>
          <a:ln w="25400">
            <a:solidFill>
              <a:srgbClr val="68838D"/>
            </a:solidFill>
          </a:ln>
        </p:spPr>
      </p:sp>
      <p:sp>
        <p:nvSpPr>
          <p:cNvPr id="8" name="Shape 8"/>
          <p:cNvSpPr/>
          <p:nvPr/>
        </p:nvSpPr>
        <p:spPr>
          <a:xfrm>
            <a:off x="1573086" y="5010912"/>
            <a:ext cx="1554480" cy="50292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847406" y="4800600"/>
            <a:ext cx="731520" cy="32004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783398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2606358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2" name="Line 12"/>
          <p:cNvSpPr/>
          <p:nvPr/>
        </p:nvSpPr>
        <p:spPr>
          <a:xfrm>
            <a:off x="3657918" y="5257800"/>
            <a:ext cx="5440680" cy="914"/>
          </a:xfrm>
          <a:prstGeom prst="line">
            <a:avLst/>
          </a:prstGeom>
          <a:ln w="50800">
            <a:solidFill>
              <a:srgbClr val="F2A93B"/>
            </a:solidFill>
            <a:prstDash val="dash"/>
          </a:ln>
        </p:spPr>
      </p:sp>
      <p:sp>
        <p:nvSpPr>
          <p:cNvPr id="13" name="Shape 13"/>
          <p:cNvSpPr/>
          <p:nvPr/>
        </p:nvSpPr>
        <p:spPr>
          <a:xfrm>
            <a:off x="9601518" y="4526280"/>
            <a:ext cx="292608" cy="91440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9235758" y="5230368"/>
            <a:ext cx="1051560" cy="164592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4198" y="41605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300" b="1" i="0">
                <a:solidFill>
                  <a:srgbClr val="F2A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 · 规划 · 执行 · 反馈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87870" y="608076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8DA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汇报人：王永鑫 /  李子昂  /  李嘉</a:t>
            </a:r>
            <a:r>
              <a:rPr lang="zh-CN" sz="1100" b="0" i="0">
                <a:solidFill>
                  <a:srgbClr val="8DA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琦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endParaRPr lang="en-US" dirty="0"/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855640" y="2060850"/>
            <a:ext cx="6237612" cy="684004"/>
            <a:chOff x="1350356" y="1945292"/>
            <a:chExt cx="6868074" cy="582961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一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2478265" y="1945292"/>
              <a:ext cx="574016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问题定义与机理基线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0" name="组合 3"/>
          <p:cNvGrpSpPr/>
          <p:nvPr>
            <p:custDataLst>
              <p:tags r:id="rId4"/>
            </p:custDataLst>
          </p:nvPr>
        </p:nvGrpSpPr>
        <p:grpSpPr>
          <a:xfrm>
            <a:off x="2855640" y="3160333"/>
            <a:ext cx="6237612" cy="684002"/>
            <a:chOff x="1350356" y="1945293"/>
            <a:chExt cx="6713404" cy="582960"/>
          </a:xfrm>
        </p:grpSpPr>
        <p:sp>
          <p:nvSpPr>
            <p:cNvPr id="11" name="MH_Number_1"/>
            <p:cNvSpPr/>
            <p:nvPr>
              <p:custDataLst>
                <p:tags r:id="rId5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二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" name="MH_Entry_1"/>
            <p:cNvSpPr/>
            <p:nvPr>
              <p:custDataLst>
                <p:tags r:id="rId6"/>
              </p:custDataLst>
            </p:nvPr>
          </p:nvSpPr>
          <p:spPr>
            <a:xfrm>
              <a:off x="2478265" y="1945293"/>
              <a:ext cx="558549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非完整系统理论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3" name="组合 3"/>
          <p:cNvGrpSpPr/>
          <p:nvPr>
            <p:custDataLst>
              <p:tags r:id="rId7"/>
            </p:custDataLst>
          </p:nvPr>
        </p:nvGrpSpPr>
        <p:grpSpPr>
          <a:xfrm>
            <a:off x="2855640" y="4291848"/>
            <a:ext cx="6237612" cy="684002"/>
            <a:chOff x="1350356" y="1945293"/>
            <a:chExt cx="6713404" cy="582960"/>
          </a:xfrm>
        </p:grpSpPr>
        <p:sp>
          <p:nvSpPr>
            <p:cNvPr id="14" name="MH_Number_1"/>
            <p:cNvSpPr/>
            <p:nvPr>
              <p:custDataLst>
                <p:tags r:id="rId8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三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5" name="MH_Entry_1"/>
            <p:cNvSpPr/>
            <p:nvPr>
              <p:custDataLst>
                <p:tags r:id="rId9"/>
              </p:custDataLst>
            </p:nvPr>
          </p:nvSpPr>
          <p:spPr>
            <a:xfrm>
              <a:off x="2478265" y="1945293"/>
              <a:ext cx="558549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考虑微分约束的规划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35915" y="981075"/>
            <a:ext cx="11520805" cy="499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65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+mn-ea"/>
              </a:rPr>
              <a:t>研究背景：主动安全需要更早、更可靠的制动决策</a:t>
            </a:r>
            <a:endParaRPr lang="zh-CN" altLang="en-US" sz="265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+mn-ea"/>
            </a:endParaRPr>
          </a:p>
        </p:txBody>
      </p:sp>
      <p:sp>
        <p:nvSpPr>
          <p:cNvPr id="11" name="TableCell"/>
          <p:cNvSpPr>
            <a:spLocks noGrp="1"/>
          </p:cNvSpPr>
          <p:nvPr/>
        </p:nvSpPr>
        <p:spPr>
          <a:xfrm>
            <a:off x="263525" y="1624330"/>
            <a:ext cx="2609850" cy="760730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安全挑战</a:t>
            </a:r>
            <a:endParaRPr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" name="TableCell"/>
          <p:cNvSpPr>
            <a:spLocks noGrp="1"/>
          </p:cNvSpPr>
          <p:nvPr/>
        </p:nvSpPr>
        <p:spPr>
          <a:xfrm>
            <a:off x="2865755" y="1624330"/>
            <a:ext cx="2609850" cy="760730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传统</a:t>
            </a:r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制动</a:t>
            </a:r>
            <a:r>
              <a: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控制</a:t>
            </a:r>
            <a:endParaRPr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TableCell"/>
          <p:cNvSpPr>
            <a:spLocks noGrp="1"/>
          </p:cNvSpPr>
          <p:nvPr/>
        </p:nvSpPr>
        <p:spPr>
          <a:xfrm>
            <a:off x="5467985" y="1624330"/>
            <a:ext cx="2609850" cy="760730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智能</a:t>
            </a: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制动控制</a:t>
            </a:r>
            <a:endParaRPr lang="zh-CN" altLang="en-US" sz="1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" name="TableCell"/>
          <p:cNvSpPr>
            <a:spLocks noGrp="1"/>
          </p:cNvSpPr>
          <p:nvPr/>
        </p:nvSpPr>
        <p:spPr>
          <a:xfrm>
            <a:off x="263525" y="3213735"/>
            <a:ext cx="2609850" cy="7607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道路环境</a:t>
            </a:r>
            <a:endParaRPr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" name="TableCell"/>
          <p:cNvSpPr>
            <a:spLocks noGrp="1"/>
          </p:cNvSpPr>
          <p:nvPr/>
        </p:nvSpPr>
        <p:spPr>
          <a:xfrm>
            <a:off x="2865755" y="3213735"/>
            <a:ext cx="2609850" cy="7607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固定规则难适应速度与附着变化</a:t>
            </a:r>
            <a:endParaRPr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" name="TableCell"/>
          <p:cNvSpPr>
            <a:spLocks noGrp="1"/>
          </p:cNvSpPr>
          <p:nvPr/>
        </p:nvSpPr>
        <p:spPr>
          <a:xfrm>
            <a:off x="5467985" y="3213735"/>
            <a:ext cx="2609850" cy="7607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在线预测不同制动动作的后果</a:t>
            </a:r>
            <a:endParaRPr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" name="TableCell"/>
          <p:cNvSpPr>
            <a:spLocks noGrp="1"/>
          </p:cNvSpPr>
          <p:nvPr/>
        </p:nvSpPr>
        <p:spPr>
          <a:xfrm>
            <a:off x="263525" y="4013835"/>
            <a:ext cx="2609850" cy="76073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风险窗口</a:t>
            </a:r>
            <a:endParaRPr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4" name="TableCell"/>
          <p:cNvSpPr>
            <a:spLocks noGrp="1"/>
          </p:cNvSpPr>
          <p:nvPr/>
        </p:nvSpPr>
        <p:spPr>
          <a:xfrm>
            <a:off x="2865755" y="4013835"/>
            <a:ext cx="2609850" cy="76073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风险出现后再响应</a:t>
            </a:r>
            <a:endParaRPr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" name="TableCell"/>
          <p:cNvSpPr>
            <a:spLocks noGrp="1"/>
          </p:cNvSpPr>
          <p:nvPr/>
        </p:nvSpPr>
        <p:spPr>
          <a:xfrm>
            <a:off x="5467985" y="4013835"/>
            <a:ext cx="2609850" cy="76073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执行前比较候选制动轨迹</a:t>
            </a:r>
            <a:endParaRPr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6" name="TableCell"/>
          <p:cNvSpPr>
            <a:spLocks noGrp="1"/>
          </p:cNvSpPr>
          <p:nvPr/>
        </p:nvSpPr>
        <p:spPr>
          <a:xfrm>
            <a:off x="263525" y="4813935"/>
            <a:ext cx="2609850" cy="7607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控制目标</a:t>
            </a:r>
            <a:endParaRPr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" name="TableCell"/>
          <p:cNvSpPr>
            <a:spLocks noGrp="1"/>
          </p:cNvSpPr>
          <p:nvPr/>
        </p:nvSpPr>
        <p:spPr>
          <a:xfrm>
            <a:off x="2865755" y="4813935"/>
            <a:ext cx="2609850" cy="7607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安全、精度与舒适性难兼顾</a:t>
            </a:r>
            <a:endParaRPr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" name="TableCell"/>
          <p:cNvSpPr>
            <a:spLocks noGrp="1"/>
          </p:cNvSpPr>
          <p:nvPr/>
        </p:nvSpPr>
        <p:spPr>
          <a:xfrm>
            <a:off x="5467985" y="4813935"/>
            <a:ext cx="2609850" cy="7607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多目标代价选择最优制动压力</a:t>
            </a:r>
            <a:endParaRPr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1016000" y="5851271"/>
            <a:ext cx="9921240" cy="658368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45720" tIns="45720" rIns="45720" bIns="4572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200">
              <a:lnSpc>
                <a:spcPct val="108000"/>
              </a:lnSpc>
              <a:spcAft>
                <a:spcPts val="50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汽车安全的关键正在从</a:t>
            </a:r>
            <a:r>
              <a:rPr 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“及时制动”</a:t>
            </a:r>
            <a:r>
              <a:rPr lang="zh-CN" sz="2000" b="1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，走向</a:t>
            </a:r>
            <a:r>
              <a:rPr 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“提前制动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决策制动</a:t>
            </a:r>
            <a:r>
              <a:rPr 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/>
          <p:nvPr/>
        </p:nvPicPr>
        <p:blipFill>
          <a:blip r:embed="rId1"/>
          <a:stretch>
            <a:fillRect/>
          </a:stretch>
        </p:blipFill>
        <p:spPr>
          <a:xfrm>
            <a:off x="8904605" y="2493010"/>
            <a:ext cx="2447290" cy="1636395"/>
          </a:xfrm>
          <a:prstGeom prst="rect">
            <a:avLst/>
          </a:prstGeom>
        </p:spPr>
      </p:pic>
      <p:sp>
        <p:nvSpPr>
          <p:cNvPr id="33" name="TableCell"/>
          <p:cNvSpPr>
            <a:spLocks noGrp="1"/>
          </p:cNvSpPr>
          <p:nvPr/>
        </p:nvSpPr>
        <p:spPr>
          <a:xfrm>
            <a:off x="263525" y="2413635"/>
            <a:ext cx="2609850" cy="7607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制动类型</a:t>
            </a:r>
            <a:endParaRPr lang="zh-CN"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5" name="TableCell"/>
          <p:cNvSpPr>
            <a:spLocks noGrp="1"/>
          </p:cNvSpPr>
          <p:nvPr/>
        </p:nvSpPr>
        <p:spPr>
          <a:xfrm>
            <a:off x="2865755" y="2413635"/>
            <a:ext cx="2609850" cy="7607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响应式</a:t>
            </a:r>
            <a:r>
              <a:rPr lang="zh-CN"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制动</a:t>
            </a:r>
            <a:endParaRPr lang="zh-CN"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6" name="TableCell"/>
          <p:cNvSpPr>
            <a:spLocks noGrp="1"/>
          </p:cNvSpPr>
          <p:nvPr/>
        </p:nvSpPr>
        <p:spPr>
          <a:xfrm>
            <a:off x="5467985" y="2413635"/>
            <a:ext cx="2609850" cy="7607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预测式</a:t>
            </a:r>
            <a:r>
              <a:rPr lang="zh-CN" sz="1400" b="1">
                <a:solidFill>
                  <a:srgbClr val="2024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制动</a:t>
            </a:r>
            <a:endParaRPr lang="zh-CN" sz="1400" b="1">
              <a:solidFill>
                <a:srgbClr val="2024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88" y="98120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问题定义：从“拟合动力学”走向“预测式决策”</a:t>
            </a:r>
            <a:endParaRPr lang="zh-CN" sz="2700"/>
          </a:p>
        </p:txBody>
      </p:sp>
      <p:sp>
        <p:nvSpPr>
          <p:cNvPr id="21" name="Text 21"/>
          <p:cNvSpPr txBox="1"/>
          <p:nvPr/>
        </p:nvSpPr>
        <p:spPr>
          <a:xfrm>
            <a:off x="426593" y="1549527"/>
            <a:ext cx="10972800" cy="530352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目标：给定当前状态，在线选择</a:t>
            </a:r>
            <a:r>
              <a:rPr lang="zh-CN" sz="2000" b="1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制动轨迹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，使车辆</a:t>
            </a:r>
            <a:r>
              <a:rPr lang="zh-CN" sz="2000" b="1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安全、精准、平顺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地停在障碍物前。</a:t>
            </a:r>
            <a:endParaRPr lang="zh-CN" sz="2000"/>
          </a:p>
        </p:txBody>
      </p:sp>
      <p:sp>
        <p:nvSpPr>
          <p:cNvPr id="35" name="TableCell"/>
          <p:cNvSpPr txBox="1"/>
          <p:nvPr/>
        </p:nvSpPr>
        <p:spPr>
          <a:xfrm>
            <a:off x="24765" y="2420620"/>
            <a:ext cx="1412240" cy="767715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维度</a:t>
            </a:r>
            <a:endParaRPr lang="zh-CN" altLang="en-US" sz="1600" b="1" dirty="0" smtClean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6" name="TableCell"/>
          <p:cNvSpPr txBox="1"/>
          <p:nvPr/>
        </p:nvSpPr>
        <p:spPr>
          <a:xfrm>
            <a:off x="1464310" y="2420620"/>
            <a:ext cx="1412240" cy="767715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系统辨识</a:t>
            </a:r>
            <a:endParaRPr lang="zh-CN" altLang="en-US" sz="1600" b="1" dirty="0" smtClean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7" name="TableCell"/>
          <p:cNvSpPr txBox="1"/>
          <p:nvPr/>
        </p:nvSpPr>
        <p:spPr>
          <a:xfrm>
            <a:off x="2903855" y="2420620"/>
            <a:ext cx="1412240" cy="767715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预测式规划</a:t>
            </a:r>
            <a:endParaRPr lang="zh-CN" altLang="en-US" sz="1600" b="1" dirty="0" smtClean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9" name="TableCell"/>
          <p:cNvSpPr txBox="1"/>
          <p:nvPr/>
        </p:nvSpPr>
        <p:spPr>
          <a:xfrm>
            <a:off x="24765" y="3220720"/>
            <a:ext cx="1412240" cy="76771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学习目标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0" name="TableCell"/>
          <p:cNvSpPr txBox="1"/>
          <p:nvPr/>
        </p:nvSpPr>
        <p:spPr>
          <a:xfrm>
            <a:off x="1464310" y="3220720"/>
            <a:ext cx="1412240" cy="76771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拟合状态转移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3" name="TableCell"/>
          <p:cNvSpPr txBox="1"/>
          <p:nvPr/>
        </p:nvSpPr>
        <p:spPr>
          <a:xfrm>
            <a:off x="2903855" y="3220720"/>
            <a:ext cx="1412240" cy="76771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选择当前动作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" name="TableCell"/>
          <p:cNvSpPr txBox="1"/>
          <p:nvPr/>
        </p:nvSpPr>
        <p:spPr>
          <a:xfrm>
            <a:off x="24765" y="4020820"/>
            <a:ext cx="1412240" cy="76771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使用方式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0" name="TableCell"/>
          <p:cNvSpPr txBox="1"/>
          <p:nvPr/>
        </p:nvSpPr>
        <p:spPr>
          <a:xfrm>
            <a:off x="1464310" y="4020820"/>
            <a:ext cx="1412240" cy="76771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离线预测评估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1" name="TableCell"/>
          <p:cNvSpPr txBox="1"/>
          <p:nvPr/>
        </p:nvSpPr>
        <p:spPr>
          <a:xfrm>
            <a:off x="2903855" y="4020820"/>
            <a:ext cx="1412240" cy="76771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在线反复推演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2" name="TableCell"/>
          <p:cNvSpPr txBox="1"/>
          <p:nvPr/>
        </p:nvSpPr>
        <p:spPr>
          <a:xfrm>
            <a:off x="24765" y="4820920"/>
            <a:ext cx="1412240" cy="76771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关键问题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3" name="TableCell"/>
          <p:cNvSpPr txBox="1"/>
          <p:nvPr/>
        </p:nvSpPr>
        <p:spPr>
          <a:xfrm>
            <a:off x="1464310" y="4820920"/>
            <a:ext cx="1412240" cy="76771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预测是否准确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4" name="TableCell"/>
          <p:cNvSpPr txBox="1"/>
          <p:nvPr/>
        </p:nvSpPr>
        <p:spPr>
          <a:xfrm>
            <a:off x="2903855" y="4820920"/>
            <a:ext cx="1412240" cy="76771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候选轨迹哪条代价最低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6" name="Text"/>
          <p:cNvSpPr txBox="1"/>
          <p:nvPr/>
        </p:nvSpPr>
        <p:spPr>
          <a:xfrm>
            <a:off x="1015365" y="5770880"/>
            <a:ext cx="9921240" cy="658368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zh-CN" altLang="en-US" sz="15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把</a:t>
            </a:r>
            <a:r>
              <a:rPr lang="zh-CN" altLang="en-US" sz="15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世界模型放入规划闭环，而不止停留在拟合</a:t>
            </a:r>
            <a:endParaRPr lang="zh-CN" altLang="en-US" sz="1550"/>
          </a:p>
        </p:txBody>
      </p:sp>
      <p:sp>
        <p:nvSpPr>
          <p:cNvPr id="71" name="Shape 22"/>
          <p:cNvSpPr/>
          <p:nvPr>
            <p:custDataLst>
              <p:tags r:id="rId1"/>
            </p:custDataLst>
          </p:nvPr>
        </p:nvSpPr>
        <p:spPr>
          <a:xfrm>
            <a:off x="4511675" y="2959735"/>
            <a:ext cx="2251075" cy="17989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73" name="Shape 23"/>
          <p:cNvSpPr/>
          <p:nvPr>
            <p:custDataLst>
              <p:tags r:id="rId2"/>
            </p:custDataLst>
          </p:nvPr>
        </p:nvSpPr>
        <p:spPr>
          <a:xfrm>
            <a:off x="4511675" y="2959735"/>
            <a:ext cx="76200" cy="179832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74" name="Text 24"/>
          <p:cNvSpPr txBox="1"/>
          <p:nvPr>
            <p:custDataLst>
              <p:tags r:id="rId3"/>
            </p:custDataLst>
          </p:nvPr>
        </p:nvSpPr>
        <p:spPr>
          <a:xfrm>
            <a:off x="4669155" y="3071495"/>
            <a:ext cx="2199640" cy="32131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 State</a:t>
            </a:r>
            <a:endParaRPr lang="zh-CN" sz="1400"/>
          </a:p>
        </p:txBody>
      </p:sp>
      <p:sp>
        <p:nvSpPr>
          <p:cNvPr id="75" name="Text 25"/>
          <p:cNvSpPr txBox="1"/>
          <p:nvPr>
            <p:custDataLst>
              <p:tags r:id="rId4"/>
            </p:custDataLst>
          </p:nvPr>
        </p:nvSpPr>
        <p:spPr>
          <a:xfrm>
            <a:off x="4669239" y="3340515"/>
            <a:ext cx="2186205" cy="16609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800" b="0" i="0" baseline="-2500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：当前车速
x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：障碍距离
a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：当前减速度
μ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：路面附着系数</a:t>
            </a:r>
            <a:endParaRPr lang="zh-CN" sz="1800"/>
          </a:p>
        </p:txBody>
      </p:sp>
      <p:sp>
        <p:nvSpPr>
          <p:cNvPr id="76" name="Shape 26"/>
          <p:cNvSpPr/>
          <p:nvPr>
            <p:custDataLst>
              <p:tags r:id="rId5"/>
            </p:custDataLst>
          </p:nvPr>
        </p:nvSpPr>
        <p:spPr>
          <a:xfrm>
            <a:off x="7042150" y="2996565"/>
            <a:ext cx="215773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78" name="Shape 27"/>
          <p:cNvSpPr/>
          <p:nvPr>
            <p:custDataLst>
              <p:tags r:id="rId6"/>
            </p:custDataLst>
          </p:nvPr>
        </p:nvSpPr>
        <p:spPr>
          <a:xfrm>
            <a:off x="7042150" y="2996565"/>
            <a:ext cx="76200" cy="1762125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9" name="Text 28"/>
          <p:cNvSpPr txBox="1"/>
          <p:nvPr>
            <p:custDataLst>
              <p:tags r:id="rId7"/>
            </p:custDataLst>
          </p:nvPr>
        </p:nvSpPr>
        <p:spPr>
          <a:xfrm>
            <a:off x="7254875" y="3108325"/>
            <a:ext cx="2199640" cy="162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 Action</a:t>
            </a:r>
            <a:endParaRPr lang="zh-CN" sz="1400"/>
          </a:p>
        </p:txBody>
      </p:sp>
      <p:sp>
        <p:nvSpPr>
          <p:cNvPr id="80" name="Text 29"/>
          <p:cNvSpPr txBox="1"/>
          <p:nvPr>
            <p:custDataLst>
              <p:tags r:id="rId8"/>
            </p:custDataLst>
          </p:nvPr>
        </p:nvSpPr>
        <p:spPr>
          <a:xfrm>
            <a:off x="7254875" y="3377565"/>
            <a:ext cx="2186305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800" b="0" i="0" baseline="-2500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：制动主缸压力
</a:t>
            </a:r>
            <a:r>
              <a:rPr lang="en-US" alt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：制动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轨迹</a:t>
            </a:r>
            <a:endParaRPr lang="zh-CN" sz="1800" b="0" i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Shape 30"/>
          <p:cNvSpPr/>
          <p:nvPr>
            <p:custDataLst>
              <p:tags r:id="rId9"/>
            </p:custDataLst>
          </p:nvPr>
        </p:nvSpPr>
        <p:spPr>
          <a:xfrm>
            <a:off x="9590405" y="2961005"/>
            <a:ext cx="2293620" cy="17976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82" name="Shape 31"/>
          <p:cNvSpPr/>
          <p:nvPr>
            <p:custDataLst>
              <p:tags r:id="rId10"/>
            </p:custDataLst>
          </p:nvPr>
        </p:nvSpPr>
        <p:spPr>
          <a:xfrm>
            <a:off x="9479280" y="2961005"/>
            <a:ext cx="76200" cy="1797685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83" name="Text 32"/>
          <p:cNvSpPr txBox="1"/>
          <p:nvPr>
            <p:custDataLst>
              <p:tags r:id="rId11"/>
            </p:custDataLst>
          </p:nvPr>
        </p:nvSpPr>
        <p:spPr>
          <a:xfrm>
            <a:off x="9747885" y="3072765"/>
            <a:ext cx="2199640" cy="16637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 Objective</a:t>
            </a:r>
            <a:endParaRPr lang="zh-CN" sz="1400"/>
          </a:p>
        </p:txBody>
      </p:sp>
      <p:sp>
        <p:nvSpPr>
          <p:cNvPr id="84" name="Text 33"/>
          <p:cNvSpPr txBox="1"/>
          <p:nvPr>
            <p:custDataLst>
              <p:tags r:id="rId12"/>
            </p:custDataLst>
          </p:nvPr>
        </p:nvSpPr>
        <p:spPr>
          <a:xfrm>
            <a:off x="9747885" y="3342005"/>
            <a:ext cx="2381885" cy="140017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安全：避免 </a:t>
            </a:r>
            <a:r>
              <a:rPr lang="zh-CN" sz="180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xₜ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 </a:t>
            </a:r>
            <a:r>
              <a:rPr lang="en-US" alt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
精准：x</a:t>
            </a:r>
            <a:r>
              <a:rPr lang="zh-CN" sz="1800" b="0" i="0" baseline="-2500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stop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≈ d</a:t>
            </a:r>
            <a:r>
              <a:rPr lang="zh-CN" sz="1800" b="0" i="0" baseline="-2500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safe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舒适：限制减速度与压力突变</a:t>
            </a:r>
            <a:endParaRPr lang="zh-CN" sz="1800"/>
          </a:p>
        </p:txBody>
      </p:sp>
      <p:sp>
        <p:nvSpPr>
          <p:cNvPr id="85" name="Text 19"/>
          <p:cNvSpPr txBox="1"/>
          <p:nvPr/>
        </p:nvSpPr>
        <p:spPr>
          <a:xfrm>
            <a:off x="1127125" y="2132330"/>
            <a:ext cx="2171065" cy="335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为什么不是系统辨识？</a:t>
            </a:r>
            <a:endParaRPr lang="zh-CN" sz="1600" b="1" i="0">
              <a:solidFill>
                <a:srgbClr val="0B1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88" y="98120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技术路线：</a:t>
            </a:r>
            <a:endParaRPr lang="zh-CN" sz="2700" b="1" i="0">
              <a:solidFill>
                <a:srgbClr val="0B1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731520" y="1828800"/>
            <a:ext cx="2240280" cy="1097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0F6B75"/>
            </a:solidFill>
          </a:ln>
        </p:spPr>
        <p:txBody>
          <a:bodyPr wrap="square" lIns="73152" tIns="73152" rIns="73152" bIns="73152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机理模型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可复现基线</a:t>
            </a:r>
            <a:endParaRPr lang="zh-CN" altLang="en-US" sz="980"/>
          </a:p>
        </p:txBody>
      </p:sp>
      <p:cxnSp>
        <p:nvCxnSpPr>
          <p:cNvPr id="18" name="Line"/>
          <p:cNvCxnSpPr/>
          <p:nvPr/>
        </p:nvCxnSpPr>
        <p:spPr>
          <a:xfrm>
            <a:off x="2971800" y="2377440"/>
            <a:ext cx="429768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3" name="Text"/>
          <p:cNvSpPr txBox="1"/>
          <p:nvPr/>
        </p:nvSpPr>
        <p:spPr>
          <a:xfrm>
            <a:off x="3520440" y="1828800"/>
            <a:ext cx="2240280" cy="1097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45C8A"/>
            </a:solidFill>
          </a:ln>
        </p:spPr>
        <p:txBody>
          <a:bodyPr wrap="square" lIns="73152" tIns="73152" rIns="73152" bIns="73152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高保真伪真实数据</a:t>
            </a:r>
            <a:endParaRPr lang="zh-CN" altLang="en-US" sz="980"/>
          </a:p>
        </p:txBody>
      </p:sp>
      <p:cxnSp>
        <p:nvCxnSpPr>
          <p:cNvPr id="20" name="Line"/>
          <p:cNvCxnSpPr/>
          <p:nvPr/>
        </p:nvCxnSpPr>
        <p:spPr>
          <a:xfrm>
            <a:off x="5760720" y="2377440"/>
            <a:ext cx="429768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5" name="Text"/>
          <p:cNvSpPr txBox="1"/>
          <p:nvPr/>
        </p:nvSpPr>
        <p:spPr>
          <a:xfrm>
            <a:off x="6309360" y="1828800"/>
            <a:ext cx="2240280" cy="1097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7D5C"/>
            </a:solidFill>
          </a:ln>
        </p:spPr>
        <p:txBody>
          <a:bodyPr wrap="square" lIns="73152" tIns="73152" rIns="73152" bIns="73152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F7D5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GRU-PINN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底盘世界模型</a:t>
            </a:r>
            <a:endParaRPr lang="zh-CN" altLang="en-US" sz="980"/>
          </a:p>
        </p:txBody>
      </p:sp>
      <p:cxnSp>
        <p:nvCxnSpPr>
          <p:cNvPr id="6" name="Line"/>
          <p:cNvCxnSpPr/>
          <p:nvPr/>
        </p:nvCxnSpPr>
        <p:spPr>
          <a:xfrm>
            <a:off x="8549640" y="2377440"/>
            <a:ext cx="429768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7" name="Text"/>
          <p:cNvSpPr txBox="1"/>
          <p:nvPr/>
        </p:nvSpPr>
        <p:spPr>
          <a:xfrm>
            <a:off x="9098280" y="1828800"/>
            <a:ext cx="2240280" cy="1097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9E1B32"/>
            </a:solidFill>
          </a:ln>
        </p:spPr>
        <p:txBody>
          <a:bodyPr wrap="square" lIns="73152" tIns="73152" rIns="73152" bIns="73152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采样式 MPC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上层决策规划器</a:t>
            </a:r>
            <a:endParaRPr lang="zh-CN" altLang="en-US" sz="980"/>
          </a:p>
        </p:txBody>
      </p:sp>
      <p:sp>
        <p:nvSpPr>
          <p:cNvPr id="24" name="Text"/>
          <p:cNvSpPr txBox="1"/>
          <p:nvPr/>
        </p:nvSpPr>
        <p:spPr>
          <a:xfrm>
            <a:off x="1199515" y="5876925"/>
            <a:ext cx="9875520" cy="77724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环境 → 数据集 → 世界模型 → 规划器：四层结构支撑后续替换与扩展</a:t>
            </a:r>
            <a:endParaRPr lang="zh-CN" altLang="en-US" sz="1500"/>
          </a:p>
        </p:txBody>
      </p:sp>
      <p:sp>
        <p:nvSpPr>
          <p:cNvPr id="42" name="Shape 42"/>
          <p:cNvSpPr/>
          <p:nvPr/>
        </p:nvSpPr>
        <p:spPr>
          <a:xfrm>
            <a:off x="953453" y="342646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63181" y="357276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机理环境</a:t>
            </a:r>
            <a:endParaRPr lang="zh-CN" sz="1700"/>
          </a:p>
        </p:txBody>
      </p:sp>
      <p:sp>
        <p:nvSpPr>
          <p:cNvPr id="44" name="Text 44"/>
          <p:cNvSpPr txBox="1"/>
          <p:nvPr/>
        </p:nvSpPr>
        <p:spPr>
          <a:xfrm>
            <a:off x="1081469" y="395681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Simulink / MATLAB
纵向制动方程</a:t>
            </a:r>
            <a:endParaRPr lang="zh-CN" sz="1200"/>
          </a:p>
        </p:txBody>
      </p:sp>
      <p:sp>
        <p:nvSpPr>
          <p:cNvPr id="45" name="Line 45"/>
          <p:cNvSpPr/>
          <p:nvPr/>
        </p:nvSpPr>
        <p:spPr>
          <a:xfrm>
            <a:off x="3212021" y="4203700"/>
            <a:ext cx="32004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46" name="Shape 46"/>
          <p:cNvSpPr/>
          <p:nvPr/>
        </p:nvSpPr>
        <p:spPr>
          <a:xfrm>
            <a:off x="3605213" y="342646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B5C2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3714941" y="357276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36B5C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数据集</a:t>
            </a:r>
            <a:endParaRPr lang="zh-CN" sz="1700"/>
          </a:p>
        </p:txBody>
      </p:sp>
      <p:sp>
        <p:nvSpPr>
          <p:cNvPr id="48" name="Text 48"/>
          <p:cNvSpPr txBox="1"/>
          <p:nvPr/>
        </p:nvSpPr>
        <p:spPr>
          <a:xfrm>
            <a:off x="3733229" y="395681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30,000 单步数据
16,000 时序数据</a:t>
            </a:r>
            <a:endParaRPr lang="zh-CN" sz="1200"/>
          </a:p>
        </p:txBody>
      </p:sp>
      <p:sp>
        <p:nvSpPr>
          <p:cNvPr id="49" name="Line 49"/>
          <p:cNvSpPr/>
          <p:nvPr/>
        </p:nvSpPr>
        <p:spPr>
          <a:xfrm>
            <a:off x="5863781" y="4203700"/>
            <a:ext cx="32004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0" name="Shape 50"/>
          <p:cNvSpPr/>
          <p:nvPr/>
        </p:nvSpPr>
        <p:spPr>
          <a:xfrm>
            <a:off x="6256973" y="342646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A93B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6366701" y="357276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F2A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世界模型</a:t>
            </a:r>
            <a:endParaRPr lang="zh-CN" sz="1700"/>
          </a:p>
        </p:txBody>
      </p:sp>
      <p:sp>
        <p:nvSpPr>
          <p:cNvPr id="52" name="Text 52"/>
          <p:cNvSpPr txBox="1"/>
          <p:nvPr/>
        </p:nvSpPr>
        <p:spPr>
          <a:xfrm>
            <a:off x="6384989" y="395681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基线
LSTM + PINN</a:t>
            </a:r>
            <a:endParaRPr lang="zh-CN" sz="1200"/>
          </a:p>
        </p:txBody>
      </p:sp>
      <p:sp>
        <p:nvSpPr>
          <p:cNvPr id="53" name="Line 53"/>
          <p:cNvSpPr/>
          <p:nvPr/>
        </p:nvSpPr>
        <p:spPr>
          <a:xfrm>
            <a:off x="8515541" y="4203700"/>
            <a:ext cx="32004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4" name="Shape 54"/>
          <p:cNvSpPr/>
          <p:nvPr/>
        </p:nvSpPr>
        <p:spPr>
          <a:xfrm>
            <a:off x="8908733" y="342646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9018461" y="357276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决策验证</a:t>
            </a:r>
            <a:endParaRPr lang="zh-CN" sz="1700"/>
          </a:p>
        </p:txBody>
      </p:sp>
      <p:sp>
        <p:nvSpPr>
          <p:cNvPr id="56" name="Text 56"/>
          <p:cNvSpPr txBox="1"/>
          <p:nvPr/>
        </p:nvSpPr>
        <p:spPr>
          <a:xfrm>
            <a:off x="9036749" y="395681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安全屏障
采样式 MPC</a:t>
            </a:r>
            <a:endParaRPr lang="zh-CN" sz="1200"/>
          </a:p>
        </p:txBody>
      </p:sp>
      <p:sp>
        <p:nvSpPr>
          <p:cNvPr id="57" name="Line 57"/>
          <p:cNvSpPr/>
          <p:nvPr/>
        </p:nvSpPr>
        <p:spPr>
          <a:xfrm flipH="1">
            <a:off x="2005013" y="5136388"/>
            <a:ext cx="8028432" cy="914"/>
          </a:xfrm>
          <a:prstGeom prst="line">
            <a:avLst/>
          </a:prstGeom>
          <a:ln w="25400">
            <a:solidFill>
              <a:srgbClr val="0E8A92"/>
            </a:solidFill>
            <a:prstDash val="dash"/>
            <a:tailEnd type="triangle"/>
          </a:ln>
        </p:spPr>
      </p:sp>
      <p:sp>
        <p:nvSpPr>
          <p:cNvPr id="58" name="Text 58"/>
          <p:cNvSpPr txBox="1"/>
          <p:nvPr/>
        </p:nvSpPr>
        <p:spPr>
          <a:xfrm>
            <a:off x="4364038" y="5173218"/>
            <a:ext cx="4023360" cy="32004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0E8A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结果反馈与数据迭代</a:t>
            </a:r>
            <a:endParaRPr lang="zh-CN" sz="12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4" name="Text"/>
          <p:cNvSpPr txBox="1"/>
          <p:nvPr/>
        </p:nvSpPr>
        <p:spPr>
          <a:xfrm>
            <a:off x="1199515" y="5876925"/>
            <a:ext cx="9875520" cy="77724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环境 → 数据集 → 世界模型 → 规划器：四层结构支撑后续替换与扩展</a:t>
            </a:r>
            <a:endParaRPr lang="zh-CN" altLang="en-US" sz="1500"/>
          </a:p>
        </p:txBody>
      </p:sp>
      <p:sp>
        <p:nvSpPr>
          <p:cNvPr id="59" name="Shape 59"/>
          <p:cNvSpPr/>
          <p:nvPr/>
        </p:nvSpPr>
        <p:spPr>
          <a:xfrm>
            <a:off x="749618" y="242062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0" name="Shape 60"/>
          <p:cNvSpPr/>
          <p:nvPr/>
        </p:nvSpPr>
        <p:spPr>
          <a:xfrm>
            <a:off x="749618" y="2420620"/>
            <a:ext cx="73152" cy="146304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61" name="Text 61"/>
          <p:cNvSpPr txBox="1"/>
          <p:nvPr/>
        </p:nvSpPr>
        <p:spPr>
          <a:xfrm>
            <a:off x="969074" y="257606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 产物</a:t>
            </a:r>
            <a:endParaRPr lang="zh-CN" sz="1400"/>
          </a:p>
        </p:txBody>
      </p:sp>
      <p:sp>
        <p:nvSpPr>
          <p:cNvPr id="62" name="Text 62"/>
          <p:cNvSpPr txBox="1"/>
          <p:nvPr/>
        </p:nvSpPr>
        <p:spPr>
          <a:xfrm>
            <a:off x="969074" y="2950972"/>
            <a:ext cx="304495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brake_mechanism_model.slx
world_model_mlp.mat</a:t>
            </a:r>
            <a:endParaRPr lang="zh-CN" sz="1400"/>
          </a:p>
        </p:txBody>
      </p:sp>
      <p:sp>
        <p:nvSpPr>
          <p:cNvPr id="63" name="Shape 63"/>
          <p:cNvSpPr/>
          <p:nvPr/>
        </p:nvSpPr>
        <p:spPr>
          <a:xfrm>
            <a:off x="4434650" y="242062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4" name="Shape 64"/>
          <p:cNvSpPr/>
          <p:nvPr/>
        </p:nvSpPr>
        <p:spPr>
          <a:xfrm>
            <a:off x="4434650" y="2420620"/>
            <a:ext cx="73152" cy="146304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65" name="Text 65"/>
          <p:cNvSpPr txBox="1"/>
          <p:nvPr/>
        </p:nvSpPr>
        <p:spPr>
          <a:xfrm>
            <a:off x="4654106" y="257606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 产物</a:t>
            </a:r>
            <a:endParaRPr lang="zh-CN" sz="1400"/>
          </a:p>
        </p:txBody>
      </p:sp>
      <p:sp>
        <p:nvSpPr>
          <p:cNvPr id="66" name="Text 66"/>
          <p:cNvSpPr txBox="1"/>
          <p:nvPr/>
        </p:nvSpPr>
        <p:spPr>
          <a:xfrm>
            <a:off x="4654106" y="2950972"/>
            <a:ext cx="304495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world_model_lstm.pt
训练与评估脚本</a:t>
            </a:r>
            <a:endParaRPr lang="zh-CN" sz="1400"/>
          </a:p>
        </p:txBody>
      </p:sp>
      <p:sp>
        <p:nvSpPr>
          <p:cNvPr id="67" name="Shape 67"/>
          <p:cNvSpPr/>
          <p:nvPr/>
        </p:nvSpPr>
        <p:spPr>
          <a:xfrm>
            <a:off x="8128826" y="242062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8" name="Shape 68"/>
          <p:cNvSpPr/>
          <p:nvPr/>
        </p:nvSpPr>
        <p:spPr>
          <a:xfrm>
            <a:off x="8128826" y="2420620"/>
            <a:ext cx="73152" cy="146304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69" name="Text 69"/>
          <p:cNvSpPr txBox="1"/>
          <p:nvPr/>
        </p:nvSpPr>
        <p:spPr>
          <a:xfrm>
            <a:off x="8348282" y="257606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验证产物</a:t>
            </a:r>
            <a:endParaRPr lang="zh-CN" sz="1400"/>
          </a:p>
        </p:txBody>
      </p:sp>
      <p:sp>
        <p:nvSpPr>
          <p:cNvPr id="70" name="Text 70"/>
          <p:cNvSpPr txBox="1"/>
          <p:nvPr/>
        </p:nvSpPr>
        <p:spPr>
          <a:xfrm>
            <a:off x="8348282" y="2950972"/>
            <a:ext cx="304495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 CSV · 训练曲线
安全场景 · MPC 刹停曲线</a:t>
            </a:r>
            <a:endParaRPr lang="zh-CN" sz="1400"/>
          </a:p>
        </p:txBody>
      </p:sp>
      <p:sp>
        <p:nvSpPr>
          <p:cNvPr id="71" name="Text 71"/>
          <p:cNvSpPr txBox="1"/>
          <p:nvPr/>
        </p:nvSpPr>
        <p:spPr>
          <a:xfrm>
            <a:off x="813626" y="4185412"/>
            <a:ext cx="10698480" cy="566928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1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统一数据接口：[vₜ, aₜ, Pₜ, μₜ]  →  [vₜ₊₁, aₜ₊₁]</a:t>
            </a:r>
            <a:endParaRPr lang="zh-CN" sz="2100"/>
          </a:p>
        </p:txBody>
      </p:sp>
      <p:sp>
        <p:nvSpPr>
          <p:cNvPr id="40" name="Text 40"/>
          <p:cNvSpPr txBox="1"/>
          <p:nvPr/>
        </p:nvSpPr>
        <p:spPr>
          <a:xfrm>
            <a:off x="335471" y="980567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当前工程闭环：机理数据 → 学习模型 → 安全验证</a:t>
            </a:r>
            <a:endParaRPr lang="zh-CN" sz="27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88" y="98120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项目数据与</a:t>
            </a:r>
            <a:r>
              <a:rPr lang="zh-CN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物理参数总览：</a:t>
            </a:r>
            <a:endParaRPr lang="zh-CN" sz="2700" b="1" i="0">
              <a:solidFill>
                <a:srgbClr val="0B1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"/>
          <p:cNvSpPr/>
          <p:nvPr/>
        </p:nvSpPr>
        <p:spPr>
          <a:xfrm>
            <a:off x="192405" y="170002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1_dataset_inventory.png" descr="01_dataset_inven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2231581"/>
            <a:ext cx="6309360" cy="3508882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745605" y="1124585"/>
            <a:ext cx="2247265" cy="530225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14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机理单步数据：30,000 </a:t>
            </a:r>
            <a:r>
              <a:rPr lang="zh-CN" altLang="en-US" sz="14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条</a:t>
            </a:r>
            <a:endParaRPr lang="zh-CN" altLang="en-US" sz="1400" b="1" dirty="0" smtClean="0">
              <a:solidFill>
                <a:srgbClr val="9E1B3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0" name="Text"/>
          <p:cNvSpPr txBox="1"/>
          <p:nvPr/>
        </p:nvSpPr>
        <p:spPr>
          <a:xfrm>
            <a:off x="6745605" y="1911350"/>
            <a:ext cx="2247265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机理时序数据：16,000 </a:t>
            </a:r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条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9124315" y="1124585"/>
            <a:ext cx="2883535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原始状态转移：13,070 </a:t>
            </a:r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条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9124315" y="1910715"/>
            <a:ext cx="2883535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训练数据：10,924 </a:t>
            </a:r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条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TableCell"/>
          <p:cNvSpPr txBox="1"/>
          <p:nvPr>
            <p:custDataLst>
              <p:tags r:id="rId2"/>
            </p:custDataLst>
          </p:nvPr>
        </p:nvSpPr>
        <p:spPr>
          <a:xfrm>
            <a:off x="7119620" y="2865755"/>
            <a:ext cx="2068830" cy="560705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参数</a:t>
            </a:r>
            <a:endParaRPr lang="zh-CN" altLang="en-US" sz="1400" b="1" dirty="0" smtClean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" name="TableCell"/>
          <p:cNvSpPr txBox="1"/>
          <p:nvPr>
            <p:custDataLst>
              <p:tags r:id="rId3"/>
            </p:custDataLst>
          </p:nvPr>
        </p:nvSpPr>
        <p:spPr>
          <a:xfrm>
            <a:off x="9153525" y="2865755"/>
            <a:ext cx="2068830" cy="560705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含义</a:t>
            </a:r>
            <a:endParaRPr lang="zh-CN" altLang="en-US" sz="1400" b="1" dirty="0" smtClean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" name="TableCell"/>
          <p:cNvSpPr txBox="1"/>
          <p:nvPr>
            <p:custDataLst>
              <p:tags r:id="rId4"/>
            </p:custDataLst>
          </p:nvPr>
        </p:nvSpPr>
        <p:spPr>
          <a:xfrm>
            <a:off x="7119620" y="3588385"/>
            <a:ext cx="2068830" cy="56070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P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4" name="TableCell"/>
          <p:cNvSpPr txBox="1"/>
          <p:nvPr>
            <p:custDataLst>
              <p:tags r:id="rId5"/>
            </p:custDataLst>
          </p:nvPr>
        </p:nvSpPr>
        <p:spPr>
          <a:xfrm>
            <a:off x="9153525" y="3588385"/>
            <a:ext cx="2068830" cy="56070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主缸压力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" name="TableCell"/>
          <p:cNvSpPr txBox="1"/>
          <p:nvPr>
            <p:custDataLst>
              <p:tags r:id="rId6"/>
            </p:custDataLst>
          </p:nvPr>
        </p:nvSpPr>
        <p:spPr>
          <a:xfrm>
            <a:off x="7119620" y="4310380"/>
            <a:ext cx="2068830" cy="56070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μ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6" name="TableCell"/>
          <p:cNvSpPr txBox="1"/>
          <p:nvPr>
            <p:custDataLst>
              <p:tags r:id="rId7"/>
            </p:custDataLst>
          </p:nvPr>
        </p:nvSpPr>
        <p:spPr>
          <a:xfrm>
            <a:off x="9153525" y="4310380"/>
            <a:ext cx="2068830" cy="56070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路面附着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" name="TableCell"/>
          <p:cNvSpPr txBox="1"/>
          <p:nvPr>
            <p:custDataLst>
              <p:tags r:id="rId8"/>
            </p:custDataLst>
          </p:nvPr>
        </p:nvSpPr>
        <p:spPr>
          <a:xfrm>
            <a:off x="7119620" y="5033010"/>
            <a:ext cx="2068830" cy="56070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" name="TableCell"/>
          <p:cNvSpPr txBox="1"/>
          <p:nvPr>
            <p:custDataLst>
              <p:tags r:id="rId9"/>
            </p:custDataLst>
          </p:nvPr>
        </p:nvSpPr>
        <p:spPr>
          <a:xfrm>
            <a:off x="9153525" y="5033010"/>
            <a:ext cx="2068830" cy="56070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整车质量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" name="TableCell"/>
          <p:cNvSpPr txBox="1"/>
          <p:nvPr>
            <p:custDataLst>
              <p:tags r:id="rId10"/>
            </p:custDataLst>
          </p:nvPr>
        </p:nvSpPr>
        <p:spPr>
          <a:xfrm>
            <a:off x="7119620" y="5755005"/>
            <a:ext cx="2068830" cy="56070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Δt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TableCell"/>
          <p:cNvSpPr txBox="1"/>
          <p:nvPr>
            <p:custDataLst>
              <p:tags r:id="rId11"/>
            </p:custDataLst>
          </p:nvPr>
        </p:nvSpPr>
        <p:spPr>
          <a:xfrm>
            <a:off x="9153525" y="5755005"/>
            <a:ext cx="2068830" cy="56070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采样周期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2" name="Text 82"/>
          <p:cNvSpPr txBox="1"/>
          <p:nvPr/>
        </p:nvSpPr>
        <p:spPr>
          <a:xfrm>
            <a:off x="3287078" y="950087"/>
            <a:ext cx="3246120" cy="749808"/>
          </a:xfrm>
          <a:prstGeom prst="roundRect">
            <a:avLst/>
          </a:prstGeom>
          <a:solidFill>
            <a:srgbClr val="F6F9FA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607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= 1800 kg   ·   Δt = 0.05 s
k = 3500 N/MPa</a:t>
            </a:r>
            <a:endParaRPr lang="zh-CN" sz="14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Road adhesion respon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665" y="2852420"/>
            <a:ext cx="3503295" cy="2626360"/>
          </a:xfrm>
          <a:prstGeom prst="rect">
            <a:avLst/>
          </a:prstGeom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88" y="98120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机理</a:t>
            </a:r>
            <a:r>
              <a:rPr lang="zh-CN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基线：</a:t>
            </a:r>
            <a:r>
              <a:rPr lang="zh-CN" altLang="en-US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伪真实数据？可解释机理模型覆盖不同路面</a:t>
            </a:r>
            <a:endParaRPr lang="zh-CN" altLang="en-US" sz="2700" b="1" i="0">
              <a:solidFill>
                <a:srgbClr val="0B1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35280" y="2171700"/>
                <a:ext cx="4206875" cy="658495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52" tIns="73152" rIns="73152" bIns="73152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𝑏𝑟𝑎𝑘𝑒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𝑘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𝑃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335280" y="2171700"/>
                <a:ext cx="4206875" cy="658495"/>
              </a:xfrm>
              <a:prstGeom prst="roundRect">
                <a:avLst/>
              </a:prstGeom>
              <a:blipFill rotWithShape="1">
                <a:blip r:embed="rId4"/>
                <a:stretch>
                  <a:fillRect l="-121" t="-771" r="-106" b="-675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5280" y="3067685"/>
                <a:ext cx="4206875" cy="658495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52" tIns="73152" rIns="73152" bIns="73152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𝑎𝑐𝑡𝑢𝑎𝑙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𝑚𝑖𝑛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𝑏𝑟𝑎𝑘𝑒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𝑔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335280" y="3067685"/>
                <a:ext cx="4206875" cy="658495"/>
              </a:xfrm>
              <a:prstGeom prst="roundRect">
                <a:avLst/>
              </a:prstGeom>
              <a:blipFill rotWithShape="1">
                <a:blip r:embed="rId7"/>
                <a:stretch>
                  <a:fillRect l="-121" t="-771" r="-106" b="-675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35280" y="3963670"/>
                <a:ext cx="4206875" cy="658495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52" tIns="73152" rIns="73152" bIns="73152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𝑎𝑐𝑡𝑢𝑎𝑙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/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335280" y="3963670"/>
                <a:ext cx="4206875" cy="658495"/>
              </a:xfrm>
              <a:prstGeom prst="roundRect">
                <a:avLst/>
              </a:prstGeom>
              <a:blipFill rotWithShape="1">
                <a:blip r:embed="rId10"/>
                <a:stretch>
                  <a:fillRect l="-121" t="-771" r="-106" b="-675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35280" y="4860290"/>
                <a:ext cx="4206875" cy="658495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52" tIns="73152" rIns="73152" bIns="73152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𝑚𝑎𝑥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𝑣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+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𝛥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𝑡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335280" y="4860290"/>
                <a:ext cx="4206875" cy="658495"/>
              </a:xfrm>
              <a:prstGeom prst="roundRect">
                <a:avLst/>
              </a:prstGeom>
              <a:blipFill rotWithShape="1">
                <a:blip r:embed="rId13"/>
                <a:stretch>
                  <a:fillRect l="-121" t="-771" r="-106" b="-675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"/>
          <p:cNvSpPr txBox="1"/>
          <p:nvPr/>
        </p:nvSpPr>
        <p:spPr>
          <a:xfrm>
            <a:off x="335280" y="6271895"/>
            <a:ext cx="10287000" cy="502920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lang="zh-CN" altLang="en-US" sz="13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机理基线提供可解释约束，也是规划器的最小可运行动力学环境。</a:t>
            </a:r>
            <a:endParaRPr lang="zh-CN" altLang="en-US" sz="1350"/>
          </a:p>
        </p:txBody>
      </p:sp>
      <p:sp>
        <p:nvSpPr>
          <p:cNvPr id="13" name="Title"/>
          <p:cNvSpPr txBox="1"/>
          <p:nvPr/>
        </p:nvSpPr>
        <p:spPr>
          <a:xfrm>
            <a:off x="1559560" y="1703070"/>
            <a:ext cx="1748790" cy="49911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r>
              <a:rPr lang="zh-CN" altLang="en-US" sz="20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纵向制动方程</a:t>
            </a:r>
            <a:endParaRPr lang="zh-CN" altLang="en-US" sz="2000" b="1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5" name="Text 85"/>
          <p:cNvSpPr txBox="1"/>
          <p:nvPr/>
        </p:nvSpPr>
        <p:spPr>
          <a:xfrm>
            <a:off x="263716" y="5612003"/>
            <a:ext cx="10881360" cy="566928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采样覆盖：20–120 km/h  ·  0–10 MPa  ·  μ = 0.2 / 0.4 / 0.6 / 0.8  ·  随机与平滑压力曲线</a:t>
            </a:r>
            <a:endParaRPr lang="zh-CN" sz="1500"/>
          </a:p>
        </p:txBody>
      </p:sp>
      <p:pic>
        <p:nvPicPr>
          <p:cNvPr id="11" name="02_mechanism_dataset_coverage.png" descr="02_mechanism_dataset_cover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9965" y="1582150"/>
            <a:ext cx="6309360" cy="290401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9624060" y="1052195"/>
            <a:ext cx="2084070" cy="530225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速度覆盖：约 20-120 km/h</a:t>
            </a:r>
            <a:endParaRPr lang="zh-CN" altLang="en-US" sz="1200"/>
          </a:p>
        </p:txBody>
      </p:sp>
      <p:sp>
        <p:nvSpPr>
          <p:cNvPr id="14" name="Text"/>
          <p:cNvSpPr txBox="1"/>
          <p:nvPr/>
        </p:nvSpPr>
        <p:spPr>
          <a:xfrm>
            <a:off x="9624060" y="1838960"/>
            <a:ext cx="208407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压力覆盖：0-10 MPa</a:t>
            </a:r>
            <a:endParaRPr lang="zh-CN" altLang="en-US" sz="1120"/>
          </a:p>
        </p:txBody>
      </p:sp>
      <p:sp>
        <p:nvSpPr>
          <p:cNvPr id="15" name="Text"/>
          <p:cNvSpPr txBox="1"/>
          <p:nvPr/>
        </p:nvSpPr>
        <p:spPr>
          <a:xfrm>
            <a:off x="9624060" y="2625090"/>
            <a:ext cx="208407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附着覆盖：0.2 / 0.4 / 0.6 / 0.8</a:t>
            </a:r>
            <a:endParaRPr lang="zh-CN" altLang="en-US" sz="112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Title"/>
          <p:cNvSpPr txBox="1"/>
          <p:nvPr/>
        </p:nvSpPr>
        <p:spPr>
          <a:xfrm>
            <a:off x="335153" y="98018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80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路面附着限制下的制动响应</a:t>
            </a:r>
            <a:endParaRPr lang="zh-CN" altLang="en-US" sz="2650"/>
          </a:p>
        </p:txBody>
      </p:sp>
      <p:sp>
        <p:nvSpPr>
          <p:cNvPr id="17" name="Shape"/>
          <p:cNvSpPr/>
          <p:nvPr/>
        </p:nvSpPr>
        <p:spPr>
          <a:xfrm>
            <a:off x="433705" y="165811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3_mechanism_pressure_mu_response.png" descr="03_mechanism_pressure_mu_respon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916433"/>
            <a:ext cx="6309360" cy="4055357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7108825" y="184099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压力增加只在未饱和前提升减速度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108825" y="262737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低附着路面更早达到制动上限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108825" y="341376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该规律为模型提供可解释物理先验</a:t>
            </a:r>
            <a:endParaRPr lang="zh-CN" altLang="en-US" sz="112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88" y="98120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7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altLang="zh-CN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</a:t>
            </a:r>
            <a:r>
              <a:rPr lang="zh-CN" altLang="en-US" sz="27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基线：先验证单步动力学可以被准确学习</a:t>
            </a:r>
            <a:endParaRPr lang="zh-CN" altLang="en-US" sz="2700" b="1" i="0">
              <a:solidFill>
                <a:srgbClr val="0B1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lang="zh-CN" altLang="en-US" sz="2700" b="1" i="0">
              <a:solidFill>
                <a:srgbClr val="0B1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Shape 93"/>
          <p:cNvSpPr/>
          <p:nvPr/>
        </p:nvSpPr>
        <p:spPr>
          <a:xfrm>
            <a:off x="406718" y="1438275"/>
            <a:ext cx="7406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94" name="MLP prediction 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140" y="1593723"/>
            <a:ext cx="6561796" cy="4919472"/>
          </a:xfrm>
          <a:prstGeom prst="rect">
            <a:avLst/>
          </a:prstGeom>
          <a:ln>
            <a:noFill/>
          </a:ln>
        </p:spPr>
      </p:pic>
      <p:sp>
        <p:nvSpPr>
          <p:cNvPr id="95" name="Shape 95"/>
          <p:cNvSpPr/>
          <p:nvPr/>
        </p:nvSpPr>
        <p:spPr>
          <a:xfrm>
            <a:off x="8087678" y="1529715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96" name="Shape 96"/>
          <p:cNvSpPr/>
          <p:nvPr/>
        </p:nvSpPr>
        <p:spPr>
          <a:xfrm>
            <a:off x="8087678" y="1529715"/>
            <a:ext cx="73152" cy="123444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7" name="Text 97"/>
          <p:cNvSpPr txBox="1"/>
          <p:nvPr/>
        </p:nvSpPr>
        <p:spPr>
          <a:xfrm>
            <a:off x="8307134" y="1685163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速度预测 vₜ₊₁</a:t>
            </a:r>
            <a:endParaRPr lang="zh-CN" sz="1400"/>
          </a:p>
        </p:txBody>
      </p:sp>
      <p:sp>
        <p:nvSpPr>
          <p:cNvPr id="98" name="Text 98"/>
          <p:cNvSpPr txBox="1"/>
          <p:nvPr/>
        </p:nvSpPr>
        <p:spPr>
          <a:xfrm>
            <a:off x="8307134" y="2060067"/>
            <a:ext cx="3017520" cy="576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  0.0185 m/s
R²     0.999994</a:t>
            </a:r>
            <a:endParaRPr lang="zh-CN" sz="1700"/>
          </a:p>
        </p:txBody>
      </p:sp>
      <p:sp>
        <p:nvSpPr>
          <p:cNvPr id="99" name="Shape 99"/>
          <p:cNvSpPr/>
          <p:nvPr/>
        </p:nvSpPr>
        <p:spPr>
          <a:xfrm>
            <a:off x="8087678" y="2974467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0" name="Shape 100"/>
          <p:cNvSpPr/>
          <p:nvPr/>
        </p:nvSpPr>
        <p:spPr>
          <a:xfrm>
            <a:off x="8087678" y="2974467"/>
            <a:ext cx="73152" cy="123444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1" name="Text 101"/>
          <p:cNvSpPr txBox="1"/>
          <p:nvPr/>
        </p:nvSpPr>
        <p:spPr>
          <a:xfrm>
            <a:off x="8307134" y="3129915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减速度预测 aₜ₊₁</a:t>
            </a:r>
            <a:endParaRPr lang="zh-CN" sz="1400"/>
          </a:p>
        </p:txBody>
      </p:sp>
      <p:sp>
        <p:nvSpPr>
          <p:cNvPr id="102" name="Text 102"/>
          <p:cNvSpPr txBox="1"/>
          <p:nvPr/>
        </p:nvSpPr>
        <p:spPr>
          <a:xfrm>
            <a:off x="8307134" y="3504819"/>
            <a:ext cx="3017520" cy="576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  0.00277 m/s²
R²     0.999998</a:t>
            </a:r>
            <a:endParaRPr lang="zh-CN" sz="1700"/>
          </a:p>
        </p:txBody>
      </p:sp>
      <p:sp>
        <p:nvSpPr>
          <p:cNvPr id="103" name="Shape 103"/>
          <p:cNvSpPr/>
          <p:nvPr/>
        </p:nvSpPr>
        <p:spPr>
          <a:xfrm>
            <a:off x="8087678" y="4419219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4" name="Shape 104"/>
          <p:cNvSpPr/>
          <p:nvPr/>
        </p:nvSpPr>
        <p:spPr>
          <a:xfrm>
            <a:off x="8087678" y="4419219"/>
            <a:ext cx="73152" cy="1572768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105" name="Text 105"/>
          <p:cNvSpPr txBox="1"/>
          <p:nvPr/>
        </p:nvSpPr>
        <p:spPr>
          <a:xfrm>
            <a:off x="8307134" y="4574667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2F9E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工程结论</a:t>
            </a:r>
            <a:endParaRPr lang="zh-CN" sz="1400"/>
          </a:p>
        </p:txBody>
      </p:sp>
      <p:sp>
        <p:nvSpPr>
          <p:cNvPr id="106" name="Text 106"/>
          <p:cNvSpPr txBox="1"/>
          <p:nvPr/>
        </p:nvSpPr>
        <p:spPr>
          <a:xfrm>
            <a:off x="8307134" y="4949571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已足以验证单步系统辨识闭环；预测曲线与机理真值高度重合。</a:t>
            </a:r>
            <a:endParaRPr lang="zh-CN" sz="1500"/>
          </a:p>
        </p:txBody>
      </p:sp>
      <p:sp>
        <p:nvSpPr>
          <p:cNvPr id="107" name="Text 107"/>
          <p:cNvSpPr txBox="1"/>
          <p:nvPr/>
        </p:nvSpPr>
        <p:spPr>
          <a:xfrm>
            <a:off x="8115110" y="6211443"/>
            <a:ext cx="3355848" cy="41148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3C5C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D6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注意：这是单步随机样本任务</a:t>
            </a:r>
            <a:endParaRPr lang="zh-CN" sz="12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MLP 基线预测结果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9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580644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results/prediction_compare.png" descr="results/prediction_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6963"/>
            <a:ext cx="5715000" cy="4284617"/>
          </a:xfrm>
          <a:prstGeom prst="rect">
            <a:avLst/>
          </a:prstGeom>
        </p:spPr>
      </p:pic>
      <p:sp>
        <p:nvSpPr>
          <p:cNvPr id="19" name="TableCell"/>
          <p:cNvSpPr txBox="1"/>
          <p:nvPr/>
        </p:nvSpPr>
        <p:spPr>
          <a:xfrm>
            <a:off x="6629400" y="1170432"/>
            <a:ext cx="1131570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output</a:t>
            </a:r>
            <a:endParaRPr lang="zh-CN" altLang="en-US" sz="760"/>
          </a:p>
        </p:txBody>
      </p:sp>
      <p:sp>
        <p:nvSpPr>
          <p:cNvPr id="20" name="TableCell"/>
          <p:cNvSpPr txBox="1"/>
          <p:nvPr/>
        </p:nvSpPr>
        <p:spPr>
          <a:xfrm>
            <a:off x="7760970" y="1170432"/>
            <a:ext cx="1131570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mse</a:t>
            </a:r>
            <a:endParaRPr lang="zh-CN" altLang="en-US" sz="760"/>
          </a:p>
        </p:txBody>
      </p:sp>
      <p:sp>
        <p:nvSpPr>
          <p:cNvPr id="21" name="TableCell"/>
          <p:cNvSpPr txBox="1"/>
          <p:nvPr/>
        </p:nvSpPr>
        <p:spPr>
          <a:xfrm>
            <a:off x="8892540" y="1170432"/>
            <a:ext cx="1131570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mae</a:t>
            </a:r>
            <a:endParaRPr lang="zh-CN" altLang="en-US" sz="760"/>
          </a:p>
        </p:txBody>
      </p:sp>
      <p:sp>
        <p:nvSpPr>
          <p:cNvPr id="22" name="TableCell"/>
          <p:cNvSpPr txBox="1"/>
          <p:nvPr/>
        </p:nvSpPr>
        <p:spPr>
          <a:xfrm>
            <a:off x="10024110" y="1170432"/>
            <a:ext cx="1131570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r2</a:t>
            </a:r>
            <a:endParaRPr lang="zh-CN" altLang="en-US" sz="760"/>
          </a:p>
        </p:txBody>
      </p:sp>
      <p:sp>
        <p:nvSpPr>
          <p:cNvPr id="23" name="TableCell"/>
          <p:cNvSpPr txBox="1"/>
          <p:nvPr/>
        </p:nvSpPr>
        <p:spPr>
          <a:xfrm>
            <a:off x="6629400" y="1932432"/>
            <a:ext cx="1131570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v_next</a:t>
            </a:r>
            <a:endParaRPr lang="zh-CN" altLang="en-US" sz="760"/>
          </a:p>
        </p:txBody>
      </p:sp>
      <p:sp>
        <p:nvSpPr>
          <p:cNvPr id="24" name="TableCell"/>
          <p:cNvSpPr txBox="1"/>
          <p:nvPr/>
        </p:nvSpPr>
        <p:spPr>
          <a:xfrm>
            <a:off x="7760970" y="1932432"/>
            <a:ext cx="1131570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0.000433839452664508</a:t>
            </a:r>
            <a:endParaRPr lang="zh-CN" altLang="en-US" sz="760"/>
          </a:p>
        </p:txBody>
      </p:sp>
      <p:sp>
        <p:nvSpPr>
          <p:cNvPr id="25" name="TableCell"/>
          <p:cNvSpPr txBox="1"/>
          <p:nvPr/>
        </p:nvSpPr>
        <p:spPr>
          <a:xfrm>
            <a:off x="8892540" y="1932432"/>
            <a:ext cx="1131570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0.0185269870071398</a:t>
            </a:r>
            <a:endParaRPr lang="zh-CN" altLang="en-US" sz="760"/>
          </a:p>
        </p:txBody>
      </p:sp>
      <p:sp>
        <p:nvSpPr>
          <p:cNvPr id="26" name="TableCell"/>
          <p:cNvSpPr txBox="1"/>
          <p:nvPr/>
        </p:nvSpPr>
        <p:spPr>
          <a:xfrm>
            <a:off x="10024110" y="1932432"/>
            <a:ext cx="1131570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0.999994463161941</a:t>
            </a:r>
            <a:endParaRPr lang="zh-CN" altLang="en-US" sz="760"/>
          </a:p>
        </p:txBody>
      </p:sp>
      <p:sp>
        <p:nvSpPr>
          <p:cNvPr id="27" name="TableCell"/>
          <p:cNvSpPr txBox="1"/>
          <p:nvPr/>
        </p:nvSpPr>
        <p:spPr>
          <a:xfrm>
            <a:off x="6629400" y="2694432"/>
            <a:ext cx="1131570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a_next</a:t>
            </a:r>
            <a:endParaRPr lang="zh-CN" altLang="en-US" sz="760"/>
          </a:p>
        </p:txBody>
      </p:sp>
      <p:sp>
        <p:nvSpPr>
          <p:cNvPr id="28" name="TableCell"/>
          <p:cNvSpPr txBox="1"/>
          <p:nvPr/>
        </p:nvSpPr>
        <p:spPr>
          <a:xfrm>
            <a:off x="7760970" y="2694432"/>
            <a:ext cx="1131570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1.04613970274565e-05</a:t>
            </a:r>
            <a:endParaRPr lang="zh-CN" altLang="en-US" sz="760"/>
          </a:p>
        </p:txBody>
      </p:sp>
      <p:sp>
        <p:nvSpPr>
          <p:cNvPr id="29" name="TableCell"/>
          <p:cNvSpPr txBox="1"/>
          <p:nvPr/>
        </p:nvSpPr>
        <p:spPr>
          <a:xfrm>
            <a:off x="8892540" y="2694432"/>
            <a:ext cx="1131570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0.00276958528558822</a:t>
            </a:r>
            <a:endParaRPr lang="zh-CN" altLang="en-US" sz="760"/>
          </a:p>
        </p:txBody>
      </p:sp>
      <p:sp>
        <p:nvSpPr>
          <p:cNvPr id="30" name="TableCell"/>
          <p:cNvSpPr txBox="1"/>
          <p:nvPr/>
        </p:nvSpPr>
        <p:spPr>
          <a:xfrm>
            <a:off x="10024110" y="2694432"/>
            <a:ext cx="1131570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0.999997936571855</a:t>
            </a:r>
            <a:endParaRPr lang="zh-CN" altLang="en-US" sz="760"/>
          </a:p>
        </p:txBody>
      </p:sp>
      <p:sp>
        <p:nvSpPr>
          <p:cNvPr id="31" name="Text"/>
          <p:cNvSpPr txBox="1"/>
          <p:nvPr/>
        </p:nvSpPr>
        <p:spPr>
          <a:xfrm>
            <a:off x="6720840" y="3703320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单步动力学可以被准确学习</a:t>
            </a:r>
            <a:endParaRPr lang="zh-CN" altLang="en-US" sz="820"/>
          </a:p>
        </p:txBody>
      </p:sp>
      <p:sp>
        <p:nvSpPr>
          <p:cNvPr id="32" name="Text"/>
          <p:cNvSpPr txBox="1"/>
          <p:nvPr/>
        </p:nvSpPr>
        <p:spPr>
          <a:xfrm>
            <a:off x="6720840" y="4233672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MLP 验证了数据生成、归一化和推理链路</a:t>
            </a:r>
            <a:endParaRPr lang="zh-CN" altLang="en-US" sz="820"/>
          </a:p>
        </p:txBody>
      </p:sp>
      <p:sp>
        <p:nvSpPr>
          <p:cNvPr id="33" name="Text"/>
          <p:cNvSpPr txBox="1"/>
          <p:nvPr/>
        </p:nvSpPr>
        <p:spPr>
          <a:xfrm>
            <a:off x="6720840" y="4764024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局限：没有显式历史依赖</a:t>
            </a:r>
            <a:endParaRPr lang="zh-CN" altLang="en-US" sz="8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统一数据字段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10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"/>
              <p:cNvSpPr txBox="1"/>
              <p:nvPr/>
            </p:nvSpPr>
            <p:spPr>
              <a:xfrm>
                <a:off x="914400" y="1325880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𝑡𝑟𝑎𝑗𝑒𝑐𝑡𝑜𝑟𝑦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𝑖𝑑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25880"/>
                <a:ext cx="2971800" cy="658368"/>
              </a:xfrm>
              <a:prstGeom prst="roundRect">
                <a:avLst/>
              </a:prstGeom>
              <a:blipFill rotWithShape="1">
                <a:blip r:embed="rId1"/>
                <a:stretch>
                  <a:fillRect l="-171" t="-772" r="-150" b="-694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"/>
              <p:cNvSpPr txBox="1"/>
              <p:nvPr/>
            </p:nvSpPr>
            <p:spPr>
              <a:xfrm>
                <a:off x="4434840" y="1325880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245C8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𝑠𝑡𝑒𝑝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0" y="1325880"/>
                <a:ext cx="2971800" cy="658368"/>
              </a:xfrm>
              <a:prstGeom prst="roundRect">
                <a:avLst/>
              </a:prstGeom>
              <a:blipFill rotWithShape="1">
                <a:blip r:embed="rId2"/>
                <a:stretch>
                  <a:fillRect l="-171" t="-772" r="-150" b="-694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"/>
              <p:cNvSpPr txBox="1"/>
              <p:nvPr/>
            </p:nvSpPr>
            <p:spPr>
              <a:xfrm>
                <a:off x="7955280" y="1325880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𝑡𝑖𝑚𝑒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0" y="1325880"/>
                <a:ext cx="2971800" cy="658368"/>
              </a:xfrm>
              <a:prstGeom prst="roundRect">
                <a:avLst/>
              </a:prstGeom>
              <a:blipFill rotWithShape="1">
                <a:blip r:embed="rId3"/>
                <a:stretch>
                  <a:fillRect l="-171" t="-772" r="-150" b="-694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"/>
              <p:cNvSpPr txBox="1"/>
              <p:nvPr/>
            </p:nvSpPr>
            <p:spPr>
              <a:xfrm>
                <a:off x="914400" y="2359152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59152"/>
                <a:ext cx="2971800" cy="658368"/>
              </a:xfrm>
              <a:prstGeom prst="roundRect">
                <a:avLst/>
              </a:prstGeom>
              <a:blipFill rotWithShape="1">
                <a:blip r:embed="rId4"/>
                <a:stretch>
                  <a:fillRect l="-171" t="-791" r="-150" b="-675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"/>
              <p:cNvSpPr txBox="1"/>
              <p:nvPr/>
            </p:nvSpPr>
            <p:spPr>
              <a:xfrm>
                <a:off x="4434840" y="2359152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0" y="2359152"/>
                <a:ext cx="2971800" cy="658368"/>
              </a:xfrm>
              <a:prstGeom prst="roundRect">
                <a:avLst/>
              </a:prstGeom>
              <a:blipFill rotWithShape="1">
                <a:blip r:embed="rId5"/>
                <a:stretch>
                  <a:fillRect l="-171" t="-791" r="-150" b="-675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"/>
              <p:cNvSpPr txBox="1"/>
              <p:nvPr/>
            </p:nvSpPr>
            <p:spPr>
              <a:xfrm>
                <a:off x="7955280" y="2359152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𝑝𝑟𝑒𝑠𝑠𝑢𝑟𝑒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𝑀𝑃𝑎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0" y="2359152"/>
                <a:ext cx="2971800" cy="658368"/>
              </a:xfrm>
              <a:prstGeom prst="roundRect">
                <a:avLst/>
              </a:prstGeom>
              <a:blipFill rotWithShape="1">
                <a:blip r:embed="rId6"/>
                <a:stretch>
                  <a:fillRect l="-171" t="-791" r="-150" b="-675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"/>
              <p:cNvSpPr txBox="1"/>
              <p:nvPr/>
            </p:nvSpPr>
            <p:spPr>
              <a:xfrm>
                <a:off x="914400" y="3392424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392424"/>
                <a:ext cx="2971800" cy="658368"/>
              </a:xfrm>
              <a:prstGeom prst="roundRect">
                <a:avLst/>
              </a:prstGeom>
              <a:blipFill rotWithShape="1">
                <a:blip r:embed="rId7"/>
                <a:stretch>
                  <a:fillRect l="-171" t="-810" r="-150" b="-656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"/>
              <p:cNvSpPr txBox="1"/>
              <p:nvPr/>
            </p:nvSpPr>
            <p:spPr>
              <a:xfrm>
                <a:off x="4434840" y="3392424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_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0" y="3392424"/>
                <a:ext cx="2971800" cy="658368"/>
              </a:xfrm>
              <a:prstGeom prst="roundRect">
                <a:avLst/>
              </a:prstGeom>
              <a:blipFill rotWithShape="1">
                <a:blip r:embed="rId8"/>
                <a:stretch>
                  <a:fillRect l="-171" t="-810" r="-150" b="-656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"/>
              <p:cNvSpPr txBox="1"/>
              <p:nvPr/>
            </p:nvSpPr>
            <p:spPr>
              <a:xfrm>
                <a:off x="7955280" y="3392424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_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0" y="3392424"/>
                <a:ext cx="2971800" cy="658368"/>
              </a:xfrm>
              <a:prstGeom prst="roundRect">
                <a:avLst/>
              </a:prstGeom>
              <a:blipFill rotWithShape="1">
                <a:blip r:embed="rId9"/>
                <a:stretch>
                  <a:fillRect l="-171" t="-810" r="-150" b="-656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"/>
          <p:cNvSpPr txBox="1"/>
          <p:nvPr/>
        </p:nvSpPr>
        <p:spPr>
          <a:xfrm>
            <a:off x="960120" y="4681728"/>
            <a:ext cx="10012680" cy="6858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附加字段可以保留，但训练接口只依赖统一输入输出字段。</a:t>
            </a:r>
            <a:endParaRPr lang="zh-CN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914400" y="2060848"/>
            <a:ext cx="10363200" cy="1437799"/>
          </a:xfrm>
        </p:spPr>
        <p:txBody>
          <a:bodyPr/>
          <a:lstStyle/>
          <a:p>
            <a:r>
              <a:rPr lang="zh-CN" altLang="en-US" dirty="0"/>
              <a:t>谢 谢！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9.52755905511808,&quot;left&quot;:224.8535433070866,&quot;top&quot;:162.27165354330708,&quot;width&quot;:491.1505511811024}"/>
</p:tagLst>
</file>

<file path=ppt/tags/tag2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3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4.xml><?xml version="1.0" encoding="utf-8"?>
<p:tagLst xmlns:p="http://schemas.openxmlformats.org/presentationml/2006/main">
  <p:tag name="KSO_WM_DIAGRAM_VIRTUALLY_FRAME" val="{&quot;height&quot;:229.52755905511808,&quot;left&quot;:224.8535433070866,&quot;top&quot;:162.27165354330708,&quot;width&quot;:491.1505511811024}"/>
</p:tagLst>
</file>

<file path=ppt/tags/tag5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6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7.xml><?xml version="1.0" encoding="utf-8"?>
<p:tagLst xmlns:p="http://schemas.openxmlformats.org/presentationml/2006/main">
  <p:tag name="KSO_WM_DIAGRAM_VIRTUALLY_FRAME" val="{&quot;height&quot;:229.52755905511808,&quot;left&quot;:224.8535433070866,&quot;top&quot;:162.27165354330708,&quot;width&quot;:491.1505511811024}"/>
</p:tagLst>
</file>

<file path=ppt/tags/tag8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9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10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1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2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3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4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5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6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7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8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9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20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21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22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3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4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5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6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7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8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9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0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1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2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3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4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5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6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7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8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9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40.xml><?xml version="1.0" encoding="utf-8"?>
<p:tagLst xmlns:p="http://schemas.openxmlformats.org/presentationml/2006/main">
  <p:tag name="KSO_WPP_MARK_KEY" val="dd8e9db9-b485-444a-8177-54e3c259d421"/>
  <p:tag name="COMMONDATA" val="eyJoZGlkIjoiNjk0NDY4NmIyNGM0YTRkMzQ0ZGRmNDQ3MGQ4MDJkZWEifQ=="/>
</p:tagLst>
</file>

<file path=ppt/theme/theme1.xml><?xml version="1.0" encoding="utf-8"?>
<a:theme xmlns:a="http://schemas.openxmlformats.org/drawingml/2006/main" name="1_Safety-Nie 20190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wrap="square" lIns="73152" tIns="36576" rIns="73152" bIns="36576" anchor="t">
        <a:normAutofit fontScale="30000"/>
      </a:bodyPr>
      <a:lstStyle>
        <a:defPPr algn="l">
          <a:lnSpc>
            <a:spcPct val="108000"/>
          </a:lnSpc>
          <a:spcAft>
            <a:spcPts val="500"/>
          </a:spcAft>
          <a:defRPr lang="zh-CN" sz="1400" b="1" i="0">
            <a:solidFill>
              <a:srgbClr val="F2A93B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2380</Words>
  <Application>WPS 演示</Application>
  <PresentationFormat>Widescreen</PresentationFormat>
  <Paragraphs>337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</vt:lpstr>
      <vt:lpstr>Arial Unicode MS</vt:lpstr>
      <vt:lpstr>黑体</vt:lpstr>
      <vt:lpstr>Cambria Math</vt:lpstr>
      <vt:lpstr>Calibri</vt:lpstr>
      <vt:lpstr>Arial Unicode MS</vt:lpstr>
      <vt:lpstr>等线</vt:lpstr>
      <vt:lpstr>1_Safety-Nie 201909</vt:lpstr>
      <vt:lpstr>PowerPoint 演示文稿</vt:lpstr>
      <vt:lpstr>Contents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PowerPoint 演示文稿</vt:lpstr>
      <vt:lpstr>PowerPoint 演示文稿</vt:lpstr>
      <vt:lpstr>谢 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Bingbing Nie</dc:creator>
  <cp:lastModifiedBy>李子昂(2025210297)</cp:lastModifiedBy>
  <cp:revision>4669</cp:revision>
  <cp:lastPrinted>2021-03-03T03:15:00Z</cp:lastPrinted>
  <dcterms:created xsi:type="dcterms:W3CDTF">2015-08-10T08:02:00Z</dcterms:created>
  <dcterms:modified xsi:type="dcterms:W3CDTF">2026-06-08T15:58:12Z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1FE8B62B3450421CA05A61B8D34EA8AB_13</vt:lpwstr>
  </property>
  <property fmtid="{D5CDD505-2E9C-101B-9397-08002B2CF9AE}" pid="3" name="KSOProductBuildVer">
    <vt:lpwstr>2052-12.1.0.23542</vt:lpwstr>
  </property>
</Properties>
</file>