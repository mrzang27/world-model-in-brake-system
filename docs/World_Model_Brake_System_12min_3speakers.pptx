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16x9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0"/>
    <p:restoredTop sz="0"/>
  </p:normal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>
    <a:lvl1pPr marL="0" indent="0"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372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30 秒｜同学 A】各位老师、同学好，我们汇报的题目是“基于世界模型的一维纵向制动决策规划”。项目从一个可解释的 Simulink 纵向制动机理模型出发，先生成伪真实数据，再训练 MLP 和 LSTM-PINN 世界模型，最后把预测模型嵌入采样式 MPC，完成面向前方障碍物的一维精准刹停。接下来我们三个人分别介绍数据闭环、模型升级和上层规划。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373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分钟｜同学 A】我们的核心问题不是单纯预测下一时刻速度，而是让预测真正参与制动决策。场景限定为一维直线刹停：车辆已知当前速度、与障碍物距离和路面附着系数，控制量是制动主缸压力。系统需要同时满足三个目标：第一，不碰撞并尽量停在 2 米安全距离附近；第二，减速度和压力变化不能过于激烈；第三，控制必须能滚动在线更新。因此，我们把任务拆成环境、世界模型和规划器三个层次。</a:t>
            </a:r>
            <a:endParaRPr 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374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10 秒｜同学 A】我们已经跑通了第一版完整工程闭环。底层是简化纵向制动机理模型，输入速度、压力和附着系数，输出下一时刻速度与减速度；随后随机采样生成 3 万条单步数据，同时又生成 1.6 万行连续轨迹数据；中层分别训练 MLP 与时序模型；上层先实现一步安全屏障，再实现多步 MPC 刹停。所有环节都提供脚本、模型文件、CSV 和结果图，因此这个项目不是概念图，而是可复现的工程管线。</a:t>
            </a:r>
            <a:endParaRPr 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 375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10 秒｜同学 A】在没有真实车辆数据的条件下，我们先建立一个可解释的纵向制动模型。制动力与主缸压力近似线性，同时受路面最大附着力 μmg 限制，实际制动力取两者较小值，再通过牛顿第二定律更新减速度和速度。图中固定 6 MPa 时，干燥、湿滑和冰雪路面分别受到不同附着上限约束，减速度呈现明显差异。采样范围覆盖 20 到 120 公里每小时、0 到 10 MPa 和 μ=0.2 到 0.8，为后续模型训练提供基础。下面交给同学 B 介绍学习模型。</a:t>
            </a:r>
            <a:endParaRPr 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376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5 秒｜同学 B】第一版世界模型采用两层隐藏层的 MLP，学习从当前状态与压力到下一时刻状态的映射。左侧对比图中，机理模型真值与 MLP 预测几乎重合。量化结果显示，下一时刻速度 MAE 为 0.0185 米每秒、R² 为 0.999994；下一时刻减速度 MAE 为 0.00277 米每二次方秒、R² 为 0.999998。这说明数据生成、归一化、训练和推理链路已经正确。但这个结果对应随机单步数据，不能代表对液压迟滞和历史依赖的建模能力。</a:t>
            </a:r>
            <a:endParaRPr 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ext 377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55 秒｜同学 B】普通 MLP 只看当前一个点，默认同样的速度、压力和附着系数一定得到同样响应。但真实制动存在压力建立过程、执行器滞后、轮胎滑移和热状态等历史影响。因此我们把输入改成过去 5 个时间步的序列，并采用 LSTM 或 GRU 提取动态状态。同时加入物理一致性残差，要求网络预测满足速度积分关系。这样做的目的不是让网络背公式，而是在数据较少或分布外工况下，减少不符合基本动力学的预测。</a:t>
            </a:r>
            <a:endParaRPr 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378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15 秒｜同学 B】时序数据共 1.6 万行，每条轨迹包含编号和时间步。模型默认读取过去 5 步的四维输入，经单层 LSTM 和两层预测头输出速度与减速度。训练损失在前几个 epoch 快速下降，之后稳定收敛。验证集上，速度 RMSE 为 0.0747 米每秒、R² 为 0.99993；减速度 RMSE 为 0.1235 米每二次方秒、R² 为 0.99667。这里不能把数值和 MLP 直接横向比较，因为 LSTM 面对的是更难的连续轨迹任务，但结果证明时序底座可以用于多步滚动预测。</a:t>
            </a:r>
            <a:endParaRPr 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379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45 秒｜同学 B】目前底层数据来自自建 Simulink 机理模型，它适合快速闭环，但没有完整描述轮胎非线性、悬架俯仰和制动器复杂动态。下一步将通过 CarSim S-Function 接入高保真车辆环境。我们已经统一了 trajectory_id、step、速度、减速度、压力、附着系数以及下一时刻标签的数据格式，并提供批量采集模板。因此替换数据源时，上层训练和规划代码不需要重写。需要强调的是，CarSim 联调是下一阶段工作，当前汇报中的定量结果仍来自机制模型。下面交给同学 C。</a:t>
            </a:r>
            <a:endParaRPr 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380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5 秒｜同学 C】世界模型的价值在于让规划器能够快速试错。上层规划器读取当前速度、剩余距离和附着系数，生成多条候选压力序列；中层 LSTM-PINN 对每条序列滚动预测未来速度与减速度；代价最低序列的第一步压力交给下层环境执行；获得新的真实反馈后再次规划。这与模型预测控制的滚动时域思想一致。当前下层使用机制模型进行闭环验证，后续可以直接换成 CarSim，而规划器仍然调用同一个学习模型接口。</a:t>
            </a:r>
            <a:endParaRPr 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381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10 秒｜同学 C】为了控制工程难度，我们没有实现复杂的解析求导 MPC，而采用基于采样的轻量方法。每个时刻随机生成约 256 条平滑压力曲线，同时加入恒压、渐增和渐减等确定性候选；世界模型对预测时域逐步展开；然后根据终点距离误差、减速度、压力平滑、碰撞和未停住惩罚计算总代价。选出最优序列后只执行第一个压力，再根据反馈重新采样。这样算法直观、便于调参，也适合神经网络这种非线性预测模型。</a:t>
            </a:r>
            <a:endParaRPr 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382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1 分 20 秒｜同学 C】这里展示正式 LSTM 世界模型参与规划的闭环结果。初始速度为 80 公里每小时，初始障碍物距离 65 米，路面附着系数为 0.6，目标安全距离为 2 米。规划器先采用较温和的压力减速，在后半段提高到约 2.94 MPa，使车辆在 5.05 秒停止。最终剩余距离为 1.844 米，与目标相差约 0.156 米，没有碰撞。曲线也说明规划器不是简单“一脚踩死”，而是根据预测结果动态调整压力。当前仍存在后段减速度平台偏高、压力阶跃较明显的问题，可以通过提高舒适度和压力平滑权重进一步改善。</a:t>
            </a:r>
            <a:endParaRPr 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 383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【建议用时 50 秒｜同学 C】最后总结。我们已经完成三个层次：第一，Simulink 机制模型和随机采样构成伪真实数据闭环；第二，MLP 与 LSTM-PINN 分别完成单步和时序动力学学习；第三，采样式 MPC 调用世界模型，实现了距离误差约 0.156 米的一维刹停。下一步重点不是盲目增加网络规模，而是用 CarSim 提升数据保真度、系统化比较 MLP 与 LSTM/PINN，并优化舒适性权重和道路突变场景。三位同学分别负责环境数据、模型训练和规划展示。我们的核心结论是：世界模型只有进入规划闭环，才真正从系统辨识走向决策。谢谢大家。</a:t>
            </a:r>
            <a:endParaRPr 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/>
      </a:lvl1pPr>
    </p:titleStyle>
    <p:bodyStyle>
      <a:lvl1pPr marL="0" indent="0">
        <a:defRPr sz="1800"/>
      </a:lvl1pPr>
    </p:bodyStyle>
    <p:otherStyle>
      <a:defPPr>
        <a:defRPr sz="1600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94360" y="594360"/>
            <a:ext cx="109728" cy="53949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60120" y="777240"/>
            <a:ext cx="9966960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基于世界模型的</a:t>
            </a:r>
            <a:endParaRPr lang="zh-CN" sz="3400"/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一维纵向制动决策规划</a:t>
            </a:r>
            <a:endParaRPr lang="zh-CN" sz="3400"/>
          </a:p>
        </p:txBody>
      </p:sp>
      <p:sp>
        <p:nvSpPr>
          <p:cNvPr id="5" name="Text 5"/>
          <p:cNvSpPr txBox="1"/>
          <p:nvPr/>
        </p:nvSpPr>
        <p:spPr>
          <a:xfrm>
            <a:off x="987552" y="2423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BFD6DB"/>
                </a:solidFill>
                <a:latin typeface="微软雅黑" panose="020B0503020204020204" charset="-122"/>
                <a:ea typeface="微软雅黑" panose="020B0503020204020204" charset="-122"/>
              </a:rPr>
              <a:t>Simulink 机理建模  ·  MLP / LSTM-PINN  ·  采样式 MPC</a:t>
            </a:r>
            <a:endParaRPr lang="zh-CN" sz="1800"/>
          </a:p>
        </p:txBody>
      </p:sp>
      <p:sp>
        <p:nvSpPr>
          <p:cNvPr id="6" name="Text 6"/>
          <p:cNvSpPr txBox="1"/>
          <p:nvPr/>
        </p:nvSpPr>
        <p:spPr>
          <a:xfrm>
            <a:off x="987552" y="309067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300" b="0" i="0">
                <a:solidFill>
                  <a:srgbClr val="8DA9B2"/>
                </a:solidFill>
                <a:latin typeface="微软雅黑" panose="020B0503020204020204" charset="-122"/>
                <a:ea typeface="微软雅黑" panose="020B0503020204020204" charset="-122"/>
              </a:rPr>
              <a:t>三人课程项目汇报  |  约 12 分钟</a:t>
            </a:r>
            <a:endParaRPr lang="zh-CN" sz="1300"/>
          </a:p>
        </p:txBody>
      </p:sp>
      <p:sp>
        <p:nvSpPr>
          <p:cNvPr id="7" name="Line 7"/>
          <p:cNvSpPr/>
          <p:nvPr/>
        </p:nvSpPr>
        <p:spPr>
          <a:xfrm>
            <a:off x="1097280" y="5440680"/>
            <a:ext cx="9738360" cy="914"/>
          </a:xfrm>
          <a:prstGeom prst="line">
            <a:avLst/>
          </a:prstGeom>
          <a:ln w="25400">
            <a:solidFill>
              <a:srgbClr val="68838D"/>
            </a:solidFill>
          </a:ln>
        </p:spPr>
      </p:sp>
      <p:sp>
        <p:nvSpPr>
          <p:cNvPr id="8" name="Shape 8"/>
          <p:cNvSpPr/>
          <p:nvPr/>
        </p:nvSpPr>
        <p:spPr>
          <a:xfrm>
            <a:off x="1572768" y="5010912"/>
            <a:ext cx="1554480" cy="50292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847088" y="4800600"/>
            <a:ext cx="731520" cy="32004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783080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2606040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2" name="Line 12"/>
          <p:cNvSpPr/>
          <p:nvPr/>
        </p:nvSpPr>
        <p:spPr>
          <a:xfrm>
            <a:off x="3657600" y="5257800"/>
            <a:ext cx="5440680" cy="914"/>
          </a:xfrm>
          <a:prstGeom prst="line">
            <a:avLst/>
          </a:prstGeom>
          <a:ln w="50800">
            <a:solidFill>
              <a:srgbClr val="F2A93B"/>
            </a:solidFill>
            <a:prstDash val="dash"/>
          </a:ln>
        </p:spPr>
      </p:sp>
      <p:sp>
        <p:nvSpPr>
          <p:cNvPr id="13" name="Shape 13"/>
          <p:cNvSpPr/>
          <p:nvPr/>
        </p:nvSpPr>
        <p:spPr>
          <a:xfrm>
            <a:off x="9601200" y="4526280"/>
            <a:ext cx="292608" cy="91440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9235440" y="5230368"/>
            <a:ext cx="1051560" cy="164592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3880" y="41605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3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预测 · 规划 · 执行 · 反馈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87552" y="608076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8DA9B2"/>
                </a:solidFill>
                <a:latin typeface="微软雅黑" panose="020B0503020204020204" charset="-122"/>
                <a:ea typeface="微软雅黑" panose="020B0503020204020204" charset="-122"/>
              </a:rPr>
              <a:t>汇报人：同学 A  /  同学 B  /  同学 C（可替换姓名）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问题定义：从“拟合动力学”走向“预测式决策”</a:t>
            </a:r>
            <a:endParaRPr lang="zh-CN" sz="2700"/>
          </a:p>
        </p:txBody>
      </p:sp>
      <p:sp>
        <p:nvSpPr>
          <p:cNvPr id="20" name="Text 20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PART 1 / 3</a:t>
            </a:r>
            <a:endParaRPr lang="zh-CN" sz="1000"/>
          </a:p>
        </p:txBody>
      </p:sp>
      <p:sp>
        <p:nvSpPr>
          <p:cNvPr id="21" name="Text 21"/>
          <p:cNvSpPr txBox="1"/>
          <p:nvPr/>
        </p:nvSpPr>
        <p:spPr>
          <a:xfrm>
            <a:off x="566928" y="896112"/>
            <a:ext cx="10972800" cy="530352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目标：给定当前状态，在线选择制动压力，使车辆安全、精准、平顺地停在障碍物前。</a:t>
            </a:r>
            <a:endParaRPr lang="zh-CN" sz="2000"/>
          </a:p>
        </p:txBody>
      </p:sp>
      <p:sp>
        <p:nvSpPr>
          <p:cNvPr id="22" name="Shape 22"/>
          <p:cNvSpPr/>
          <p:nvPr/>
        </p:nvSpPr>
        <p:spPr>
          <a:xfrm>
            <a:off x="640080" y="169164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3" name="Shape 23"/>
          <p:cNvSpPr/>
          <p:nvPr/>
        </p:nvSpPr>
        <p:spPr>
          <a:xfrm>
            <a:off x="640080" y="1691640"/>
            <a:ext cx="73152" cy="297180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59536" y="18470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状态 State</a:t>
            </a:r>
            <a:endParaRPr lang="zh-CN" sz="1400"/>
          </a:p>
        </p:txBody>
      </p:sp>
      <p:sp>
        <p:nvSpPr>
          <p:cNvPr id="25" name="Text 25"/>
          <p:cNvSpPr txBox="1"/>
          <p:nvPr/>
        </p:nvSpPr>
        <p:spPr>
          <a:xfrm>
            <a:off x="859536" y="2221992"/>
            <a:ext cx="3044952" cy="2313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vₜ：当前车速
xₜ：剩余距离
aₜ：当前减速度
μₜ：路面附着系数</a:t>
            </a:r>
            <a:endParaRPr lang="zh-CN" sz="1800"/>
          </a:p>
        </p:txBody>
      </p:sp>
      <p:sp>
        <p:nvSpPr>
          <p:cNvPr id="26" name="Shape 26"/>
          <p:cNvSpPr/>
          <p:nvPr/>
        </p:nvSpPr>
        <p:spPr>
          <a:xfrm>
            <a:off x="4389120" y="169164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7" name="Shape 27"/>
          <p:cNvSpPr/>
          <p:nvPr/>
        </p:nvSpPr>
        <p:spPr>
          <a:xfrm>
            <a:off x="4389120" y="1691640"/>
            <a:ext cx="73152" cy="297180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4608576" y="18470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动作 Action</a:t>
            </a:r>
            <a:endParaRPr lang="zh-CN" sz="1400"/>
          </a:p>
        </p:txBody>
      </p:sp>
      <p:sp>
        <p:nvSpPr>
          <p:cNvPr id="29" name="Text 29"/>
          <p:cNvSpPr txBox="1"/>
          <p:nvPr/>
        </p:nvSpPr>
        <p:spPr>
          <a:xfrm>
            <a:off x="4608576" y="2221992"/>
            <a:ext cx="3044952" cy="2313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Pₜ：制动主缸压力
控制范围：0–10 MPa
滚动执行：每次只应用第一步</a:t>
            </a:r>
            <a:endParaRPr lang="zh-CN" sz="1800"/>
          </a:p>
        </p:txBody>
      </p:sp>
      <p:sp>
        <p:nvSpPr>
          <p:cNvPr id="30" name="Shape 30"/>
          <p:cNvSpPr/>
          <p:nvPr/>
        </p:nvSpPr>
        <p:spPr>
          <a:xfrm>
            <a:off x="8138160" y="169164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8160" y="1691640"/>
            <a:ext cx="73152" cy="297180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357616" y="18470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目标 Objective</a:t>
            </a:r>
            <a:endParaRPr lang="zh-CN" sz="1400"/>
          </a:p>
        </p:txBody>
      </p:sp>
      <p:sp>
        <p:nvSpPr>
          <p:cNvPr id="33" name="Text 33"/>
          <p:cNvSpPr txBox="1"/>
          <p:nvPr/>
        </p:nvSpPr>
        <p:spPr>
          <a:xfrm>
            <a:off x="8357616" y="2221992"/>
            <a:ext cx="3044952" cy="2313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安全：避免 x &lt; 0
精准：x_stop ≈ d_safe
舒适：限制减速度与压力突变</a:t>
            </a:r>
            <a:endParaRPr lang="zh-CN" sz="1800"/>
          </a:p>
        </p:txBody>
      </p:sp>
      <p:sp>
        <p:nvSpPr>
          <p:cNvPr id="34" name="Text 34"/>
          <p:cNvSpPr txBox="1"/>
          <p:nvPr/>
        </p:nvSpPr>
        <p:spPr>
          <a:xfrm>
            <a:off x="713232" y="5010912"/>
            <a:ext cx="10835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关键转变：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世界模型不再只是“预测器”，而是规划器内部的快速虚拟环境。</a:t>
            </a:r>
            <a:endParaRPr lang="zh-CN" sz="2000"/>
          </a:p>
        </p:txBody>
      </p:sp>
      <p:sp>
        <p:nvSpPr>
          <p:cNvPr id="35" name="Shape 3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A  ·  建议用时 1:00</a:t>
            </a:r>
            <a:endParaRPr lang="zh-CN" sz="900"/>
          </a:p>
        </p:txBody>
      </p:sp>
      <p:sp>
        <p:nvSpPr>
          <p:cNvPr id="37" name="Text 37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39" name="Shape 3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当前工程闭环：机理数据 → 学习模型 → 安全验证</a:t>
            </a:r>
            <a:endParaRPr lang="zh-CN" sz="2700"/>
          </a:p>
        </p:txBody>
      </p:sp>
      <p:sp>
        <p:nvSpPr>
          <p:cNvPr id="41" name="Text 41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PART 1 / 3</a:t>
            </a:r>
            <a:endParaRPr lang="zh-CN" sz="1000"/>
          </a:p>
        </p:txBody>
      </p:sp>
      <p:sp>
        <p:nvSpPr>
          <p:cNvPr id="42" name="Shape 42"/>
          <p:cNvSpPr/>
          <p:nvPr/>
        </p:nvSpPr>
        <p:spPr>
          <a:xfrm>
            <a:off x="594360" y="141732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704088" y="156362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① 机理环境</a:t>
            </a:r>
            <a:endParaRPr lang="zh-CN" sz="1700"/>
          </a:p>
        </p:txBody>
      </p:sp>
      <p:sp>
        <p:nvSpPr>
          <p:cNvPr id="44" name="Text 44"/>
          <p:cNvSpPr txBox="1"/>
          <p:nvPr/>
        </p:nvSpPr>
        <p:spPr>
          <a:xfrm>
            <a:off x="722376" y="194767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Simulink / MATLAB
纵向制动方程</a:t>
            </a:r>
            <a:endParaRPr lang="zh-CN" sz="1200"/>
          </a:p>
        </p:txBody>
      </p:sp>
      <p:sp>
        <p:nvSpPr>
          <p:cNvPr id="45" name="Line 45"/>
          <p:cNvSpPr/>
          <p:nvPr/>
        </p:nvSpPr>
        <p:spPr>
          <a:xfrm>
            <a:off x="2852928" y="2194560"/>
            <a:ext cx="32004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46" name="Shape 46"/>
          <p:cNvSpPr/>
          <p:nvPr/>
        </p:nvSpPr>
        <p:spPr>
          <a:xfrm>
            <a:off x="3246120" y="141732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B5C2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3355848" y="156362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36B5C2"/>
                </a:solidFill>
                <a:latin typeface="微软雅黑" panose="020B0503020204020204" charset="-122"/>
                <a:ea typeface="微软雅黑" panose="020B0503020204020204" charset="-122"/>
              </a:rPr>
              <a:t>② 数据集</a:t>
            </a:r>
            <a:endParaRPr lang="zh-CN" sz="1700"/>
          </a:p>
        </p:txBody>
      </p:sp>
      <p:sp>
        <p:nvSpPr>
          <p:cNvPr id="48" name="Text 48"/>
          <p:cNvSpPr txBox="1"/>
          <p:nvPr/>
        </p:nvSpPr>
        <p:spPr>
          <a:xfrm>
            <a:off x="3374136" y="194767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30,000 单步数据
16,000 时序数据</a:t>
            </a:r>
            <a:endParaRPr lang="zh-CN" sz="1200"/>
          </a:p>
        </p:txBody>
      </p:sp>
      <p:sp>
        <p:nvSpPr>
          <p:cNvPr id="49" name="Line 49"/>
          <p:cNvSpPr/>
          <p:nvPr/>
        </p:nvSpPr>
        <p:spPr>
          <a:xfrm>
            <a:off x="5504688" y="2194560"/>
            <a:ext cx="32004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0" name="Shape 50"/>
          <p:cNvSpPr/>
          <p:nvPr/>
        </p:nvSpPr>
        <p:spPr>
          <a:xfrm>
            <a:off x="5897880" y="141732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A93B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6007608" y="156362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③ 世界模型</a:t>
            </a:r>
            <a:endParaRPr lang="zh-CN" sz="1700"/>
          </a:p>
        </p:txBody>
      </p:sp>
      <p:sp>
        <p:nvSpPr>
          <p:cNvPr id="52" name="Text 52"/>
          <p:cNvSpPr txBox="1"/>
          <p:nvPr/>
        </p:nvSpPr>
        <p:spPr>
          <a:xfrm>
            <a:off x="6025896" y="194767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MLP 基线
LSTM + PINN</a:t>
            </a:r>
            <a:endParaRPr lang="zh-CN" sz="1200"/>
          </a:p>
        </p:txBody>
      </p:sp>
      <p:sp>
        <p:nvSpPr>
          <p:cNvPr id="53" name="Line 53"/>
          <p:cNvSpPr/>
          <p:nvPr/>
        </p:nvSpPr>
        <p:spPr>
          <a:xfrm>
            <a:off x="8156448" y="2194560"/>
            <a:ext cx="32004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4" name="Shape 54"/>
          <p:cNvSpPr/>
          <p:nvPr/>
        </p:nvSpPr>
        <p:spPr>
          <a:xfrm>
            <a:off x="8549640" y="1417320"/>
            <a:ext cx="224028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8659368" y="1563624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④ 决策验证</a:t>
            </a:r>
            <a:endParaRPr lang="zh-CN" sz="1700"/>
          </a:p>
        </p:txBody>
      </p:sp>
      <p:sp>
        <p:nvSpPr>
          <p:cNvPr id="56" name="Text 56"/>
          <p:cNvSpPr txBox="1"/>
          <p:nvPr/>
        </p:nvSpPr>
        <p:spPr>
          <a:xfrm>
            <a:off x="8677656" y="1947672"/>
            <a:ext cx="198424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安全屏障
采样式 MPC</a:t>
            </a:r>
            <a:endParaRPr lang="zh-CN" sz="1200"/>
          </a:p>
        </p:txBody>
      </p:sp>
      <p:sp>
        <p:nvSpPr>
          <p:cNvPr id="57" name="Line 57"/>
          <p:cNvSpPr/>
          <p:nvPr/>
        </p:nvSpPr>
        <p:spPr>
          <a:xfrm flipH="1">
            <a:off x="1645920" y="3127248"/>
            <a:ext cx="8028432" cy="914"/>
          </a:xfrm>
          <a:prstGeom prst="line">
            <a:avLst/>
          </a:prstGeom>
          <a:ln w="25400">
            <a:solidFill>
              <a:srgbClr val="0E8A92"/>
            </a:solidFill>
            <a:prstDash val="dash"/>
            <a:tailEnd type="triangle"/>
          </a:ln>
        </p:spPr>
      </p:sp>
      <p:sp>
        <p:nvSpPr>
          <p:cNvPr id="58" name="Text 58"/>
          <p:cNvSpPr txBox="1"/>
          <p:nvPr/>
        </p:nvSpPr>
        <p:spPr>
          <a:xfrm>
            <a:off x="4023360" y="2944368"/>
            <a:ext cx="4023360" cy="32004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结果反馈与数据迭代</a:t>
            </a:r>
            <a:endParaRPr lang="zh-CN" sz="1200"/>
          </a:p>
        </p:txBody>
      </p:sp>
      <p:sp>
        <p:nvSpPr>
          <p:cNvPr id="59" name="Shape 59"/>
          <p:cNvSpPr/>
          <p:nvPr/>
        </p:nvSpPr>
        <p:spPr>
          <a:xfrm>
            <a:off x="685800" y="36576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0" name="Shape 60"/>
          <p:cNvSpPr/>
          <p:nvPr/>
        </p:nvSpPr>
        <p:spPr>
          <a:xfrm>
            <a:off x="685800" y="3657600"/>
            <a:ext cx="73152" cy="146304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61" name="Text 61"/>
          <p:cNvSpPr txBox="1"/>
          <p:nvPr/>
        </p:nvSpPr>
        <p:spPr>
          <a:xfrm>
            <a:off x="905256" y="381304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MATLAB 产物</a:t>
            </a:r>
            <a:endParaRPr lang="zh-CN" sz="1400"/>
          </a:p>
        </p:txBody>
      </p:sp>
      <p:sp>
        <p:nvSpPr>
          <p:cNvPr id="62" name="Text 62"/>
          <p:cNvSpPr txBox="1"/>
          <p:nvPr/>
        </p:nvSpPr>
        <p:spPr>
          <a:xfrm>
            <a:off x="905256" y="4187952"/>
            <a:ext cx="304495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brake_mechanism_model.slx
world_model_mlp.mat</a:t>
            </a:r>
            <a:endParaRPr lang="zh-CN" sz="1400"/>
          </a:p>
        </p:txBody>
      </p:sp>
      <p:sp>
        <p:nvSpPr>
          <p:cNvPr id="63" name="Shape 63"/>
          <p:cNvSpPr/>
          <p:nvPr/>
        </p:nvSpPr>
        <p:spPr>
          <a:xfrm>
            <a:off x="4370832" y="36576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4" name="Shape 64"/>
          <p:cNvSpPr/>
          <p:nvPr/>
        </p:nvSpPr>
        <p:spPr>
          <a:xfrm>
            <a:off x="4370832" y="3657600"/>
            <a:ext cx="73152" cy="146304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65" name="Text 65"/>
          <p:cNvSpPr txBox="1"/>
          <p:nvPr/>
        </p:nvSpPr>
        <p:spPr>
          <a:xfrm>
            <a:off x="4590288" y="381304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PyTorch 产物</a:t>
            </a:r>
            <a:endParaRPr lang="zh-CN" sz="1400"/>
          </a:p>
        </p:txBody>
      </p:sp>
      <p:sp>
        <p:nvSpPr>
          <p:cNvPr id="66" name="Text 66"/>
          <p:cNvSpPr txBox="1"/>
          <p:nvPr/>
        </p:nvSpPr>
        <p:spPr>
          <a:xfrm>
            <a:off x="4590288" y="4187952"/>
            <a:ext cx="304495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world_model_lstm.pt
训练与评估脚本</a:t>
            </a:r>
            <a:endParaRPr lang="zh-CN" sz="1400"/>
          </a:p>
        </p:txBody>
      </p:sp>
      <p:sp>
        <p:nvSpPr>
          <p:cNvPr id="67" name="Shape 67"/>
          <p:cNvSpPr/>
          <p:nvPr/>
        </p:nvSpPr>
        <p:spPr>
          <a:xfrm>
            <a:off x="8065008" y="36576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8" name="Shape 68"/>
          <p:cNvSpPr/>
          <p:nvPr/>
        </p:nvSpPr>
        <p:spPr>
          <a:xfrm>
            <a:off x="8065008" y="3657600"/>
            <a:ext cx="73152" cy="146304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69" name="Text 69"/>
          <p:cNvSpPr txBox="1"/>
          <p:nvPr/>
        </p:nvSpPr>
        <p:spPr>
          <a:xfrm>
            <a:off x="8284464" y="381304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验证产物</a:t>
            </a:r>
            <a:endParaRPr lang="zh-CN" sz="1400"/>
          </a:p>
        </p:txBody>
      </p:sp>
      <p:sp>
        <p:nvSpPr>
          <p:cNvPr id="70" name="Text 70"/>
          <p:cNvSpPr txBox="1"/>
          <p:nvPr/>
        </p:nvSpPr>
        <p:spPr>
          <a:xfrm>
            <a:off x="8284464" y="4187952"/>
            <a:ext cx="304495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指标 CSV · 训练曲线
安全场景 · MPC 刹停曲线</a:t>
            </a:r>
            <a:endParaRPr lang="zh-CN" sz="1400"/>
          </a:p>
        </p:txBody>
      </p:sp>
      <p:sp>
        <p:nvSpPr>
          <p:cNvPr id="71" name="Text 71"/>
          <p:cNvSpPr txBox="1"/>
          <p:nvPr/>
        </p:nvSpPr>
        <p:spPr>
          <a:xfrm>
            <a:off x="749808" y="5422392"/>
            <a:ext cx="10698480" cy="566928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1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统一数据接口：[vₜ, aₜ, Pₜ, μₜ]  →  [vₜ₊₁, aₜ₊₁]</a:t>
            </a:r>
            <a:endParaRPr lang="zh-CN" sz="2100"/>
          </a:p>
        </p:txBody>
      </p:sp>
      <p:sp>
        <p:nvSpPr>
          <p:cNvPr id="72" name="Shape 7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73" name="Text 73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A  ·  建议用时 1:10</a:t>
            </a:r>
            <a:endParaRPr lang="zh-CN" sz="900"/>
          </a:p>
        </p:txBody>
      </p:sp>
      <p:sp>
        <p:nvSpPr>
          <p:cNvPr id="74" name="Text 74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76" name="Shape 7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77" name="Text 77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伪真实数据：可解释机理模型覆盖不同路面</a:t>
            </a:r>
            <a:endParaRPr lang="zh-CN" sz="2700"/>
          </a:p>
        </p:txBody>
      </p:sp>
      <p:sp>
        <p:nvSpPr>
          <p:cNvPr id="78" name="Text 78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PART 1 / 3</a:t>
            </a:r>
            <a:endParaRPr lang="zh-CN" sz="1000"/>
          </a:p>
        </p:txBody>
      </p:sp>
      <p:sp>
        <p:nvSpPr>
          <p:cNvPr id="79" name="Shape 79"/>
          <p:cNvSpPr/>
          <p:nvPr/>
        </p:nvSpPr>
        <p:spPr>
          <a:xfrm>
            <a:off x="594360" y="987552"/>
            <a:ext cx="3886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80" name="Text 80"/>
          <p:cNvSpPr txBox="1"/>
          <p:nvPr/>
        </p:nvSpPr>
        <p:spPr>
          <a:xfrm>
            <a:off x="868680" y="123444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纵向制动核心方程</a:t>
            </a:r>
            <a:endParaRPr lang="zh-CN" sz="1800"/>
          </a:p>
        </p:txBody>
      </p:sp>
      <p:sp>
        <p:nvSpPr>
          <p:cNvPr id="81" name="Text 81"/>
          <p:cNvSpPr txBox="1"/>
          <p:nvPr/>
        </p:nvSpPr>
        <p:spPr>
          <a:xfrm>
            <a:off x="932688" y="1828800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2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F_brake = k · P</a:t>
            </a:r>
            <a:endParaRPr lang="zh-CN" sz="2200"/>
          </a:p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F_actual = min(F_brake, μmg)</a:t>
            </a:r>
            <a:endParaRPr lang="zh-CN" sz="2000"/>
          </a:p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aₜ₊₁ = −F_actual / m</a:t>
            </a:r>
            <a:endParaRPr lang="zh-CN" sz="2000"/>
          </a:p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vₜ₊₁ = max(vₜ + aₜ₊₁Δt, 0)</a:t>
            </a:r>
            <a:endParaRPr lang="zh-CN" sz="1800"/>
          </a:p>
        </p:txBody>
      </p:sp>
      <p:sp>
        <p:nvSpPr>
          <p:cNvPr id="82" name="Text 82"/>
          <p:cNvSpPr txBox="1"/>
          <p:nvPr/>
        </p:nvSpPr>
        <p:spPr>
          <a:xfrm>
            <a:off x="914400" y="4370832"/>
            <a:ext cx="3246120" cy="749808"/>
          </a:xfrm>
          <a:prstGeom prst="roundRect">
            <a:avLst/>
          </a:prstGeom>
          <a:solidFill>
            <a:srgbClr val="F6F9FA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m = 1800 kg   ·   Δt = 0.05 s
k = 3500 N/MPa</a:t>
            </a:r>
            <a:endParaRPr lang="zh-CN" sz="1400"/>
          </a:p>
        </p:txBody>
      </p:sp>
      <p:sp>
        <p:nvSpPr>
          <p:cNvPr id="83" name="Shape 83"/>
          <p:cNvSpPr/>
          <p:nvPr/>
        </p:nvSpPr>
        <p:spPr>
          <a:xfrm>
            <a:off x="4754880" y="987552"/>
            <a:ext cx="6812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84" name="Road adhesion respon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683" y="1170432"/>
            <a:ext cx="5464098" cy="4096512"/>
          </a:xfrm>
          <a:prstGeom prst="rect">
            <a:avLst/>
          </a:prstGeom>
          <a:ln>
            <a:noFill/>
          </a:ln>
        </p:spPr>
      </p:pic>
      <p:sp>
        <p:nvSpPr>
          <p:cNvPr id="85" name="Text 85"/>
          <p:cNvSpPr txBox="1"/>
          <p:nvPr/>
        </p:nvSpPr>
        <p:spPr>
          <a:xfrm>
            <a:off x="658368" y="5641848"/>
            <a:ext cx="10881360" cy="566928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采样覆盖：20–120 km/h  ·  0–10 MPa  ·  μ = 0.2 / 0.4 / 0.6 / 0.8  ·  随机与平滑压力曲线</a:t>
            </a:r>
            <a:endParaRPr lang="zh-CN" sz="1500"/>
          </a:p>
        </p:txBody>
      </p:sp>
      <p:sp>
        <p:nvSpPr>
          <p:cNvPr id="86" name="Shape 8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87" name="Text 87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A  ·  建议用时 1:10</a:t>
            </a:r>
            <a:endParaRPr lang="zh-CN" sz="900"/>
          </a:p>
        </p:txBody>
      </p:sp>
      <p:sp>
        <p:nvSpPr>
          <p:cNvPr id="88" name="Text 88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90" name="Shape 9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91" name="Text 91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MLP 基线：先验证单步动力学可以被准确学习</a:t>
            </a:r>
            <a:endParaRPr lang="zh-CN" sz="2700"/>
          </a:p>
        </p:txBody>
      </p:sp>
      <p:sp>
        <p:nvSpPr>
          <p:cNvPr id="92" name="Text 92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PART 2 / 3</a:t>
            </a:r>
            <a:endParaRPr lang="zh-CN" sz="1000"/>
          </a:p>
        </p:txBody>
      </p:sp>
      <p:sp>
        <p:nvSpPr>
          <p:cNvPr id="93" name="Shape 93"/>
          <p:cNvSpPr/>
          <p:nvPr/>
        </p:nvSpPr>
        <p:spPr>
          <a:xfrm>
            <a:off x="502920" y="914400"/>
            <a:ext cx="7406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94" name="MLP prediction 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42" y="1069848"/>
            <a:ext cx="6561796" cy="4919472"/>
          </a:xfrm>
          <a:prstGeom prst="rect">
            <a:avLst/>
          </a:prstGeom>
          <a:ln>
            <a:noFill/>
          </a:ln>
        </p:spPr>
      </p:pic>
      <p:sp>
        <p:nvSpPr>
          <p:cNvPr id="95" name="Shape 95"/>
          <p:cNvSpPr/>
          <p:nvPr/>
        </p:nvSpPr>
        <p:spPr>
          <a:xfrm>
            <a:off x="8183880" y="1005840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96" name="Shape 96"/>
          <p:cNvSpPr/>
          <p:nvPr/>
        </p:nvSpPr>
        <p:spPr>
          <a:xfrm>
            <a:off x="8183880" y="1005840"/>
            <a:ext cx="73152" cy="123444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7" name="Text 97"/>
          <p:cNvSpPr txBox="1"/>
          <p:nvPr/>
        </p:nvSpPr>
        <p:spPr>
          <a:xfrm>
            <a:off x="8403336" y="1161288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速度预测 vₜ₊₁</a:t>
            </a:r>
            <a:endParaRPr lang="zh-CN" sz="1400"/>
          </a:p>
        </p:txBody>
      </p:sp>
      <p:sp>
        <p:nvSpPr>
          <p:cNvPr id="98" name="Text 98"/>
          <p:cNvSpPr txBox="1"/>
          <p:nvPr/>
        </p:nvSpPr>
        <p:spPr>
          <a:xfrm>
            <a:off x="8403336" y="1536192"/>
            <a:ext cx="3017520" cy="576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MAE  0.0185 m/s
R²     0.999994</a:t>
            </a:r>
            <a:endParaRPr lang="zh-CN" sz="1700"/>
          </a:p>
        </p:txBody>
      </p:sp>
      <p:sp>
        <p:nvSpPr>
          <p:cNvPr id="99" name="Shape 99"/>
          <p:cNvSpPr/>
          <p:nvPr/>
        </p:nvSpPr>
        <p:spPr>
          <a:xfrm>
            <a:off x="8183880" y="2450592"/>
            <a:ext cx="34015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0" name="Shape 100"/>
          <p:cNvSpPr/>
          <p:nvPr/>
        </p:nvSpPr>
        <p:spPr>
          <a:xfrm>
            <a:off x="8183880" y="2450592"/>
            <a:ext cx="73152" cy="123444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1" name="Text 101"/>
          <p:cNvSpPr txBox="1"/>
          <p:nvPr/>
        </p:nvSpPr>
        <p:spPr>
          <a:xfrm>
            <a:off x="8403336" y="2606040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减速度预测 aₜ₊₁</a:t>
            </a:r>
            <a:endParaRPr lang="zh-CN" sz="1400"/>
          </a:p>
        </p:txBody>
      </p:sp>
      <p:sp>
        <p:nvSpPr>
          <p:cNvPr id="102" name="Text 102"/>
          <p:cNvSpPr txBox="1"/>
          <p:nvPr/>
        </p:nvSpPr>
        <p:spPr>
          <a:xfrm>
            <a:off x="8403336" y="2980944"/>
            <a:ext cx="3017520" cy="5760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MAE  0.00277 m/s²
R²     0.999998</a:t>
            </a:r>
            <a:endParaRPr lang="zh-CN" sz="1700"/>
          </a:p>
        </p:txBody>
      </p:sp>
      <p:sp>
        <p:nvSpPr>
          <p:cNvPr id="103" name="Shape 103"/>
          <p:cNvSpPr/>
          <p:nvPr/>
        </p:nvSpPr>
        <p:spPr>
          <a:xfrm>
            <a:off x="8183880" y="3895344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4" name="Shape 104"/>
          <p:cNvSpPr/>
          <p:nvPr/>
        </p:nvSpPr>
        <p:spPr>
          <a:xfrm>
            <a:off x="8183880" y="3895344"/>
            <a:ext cx="73152" cy="1572768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105" name="Text 105"/>
          <p:cNvSpPr txBox="1"/>
          <p:nvPr/>
        </p:nvSpPr>
        <p:spPr>
          <a:xfrm>
            <a:off x="8403336" y="4050792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工程结论</a:t>
            </a:r>
            <a:endParaRPr lang="zh-CN" sz="1400"/>
          </a:p>
        </p:txBody>
      </p:sp>
      <p:sp>
        <p:nvSpPr>
          <p:cNvPr id="106" name="Text 106"/>
          <p:cNvSpPr txBox="1"/>
          <p:nvPr/>
        </p:nvSpPr>
        <p:spPr>
          <a:xfrm>
            <a:off x="8403336" y="4425696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已足以验证单步系统辨识闭环；预测曲线与机理真值高度重合。</a:t>
            </a:r>
            <a:endParaRPr lang="zh-CN" sz="1500"/>
          </a:p>
        </p:txBody>
      </p:sp>
      <p:sp>
        <p:nvSpPr>
          <p:cNvPr id="107" name="Text 107"/>
          <p:cNvSpPr txBox="1"/>
          <p:nvPr/>
        </p:nvSpPr>
        <p:spPr>
          <a:xfrm>
            <a:off x="8211312" y="5687568"/>
            <a:ext cx="3355848" cy="41148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3C5C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注意：这是单步随机样本任务</a:t>
            </a:r>
            <a:endParaRPr lang="zh-CN" sz="1200"/>
          </a:p>
        </p:txBody>
      </p:sp>
      <p:sp>
        <p:nvSpPr>
          <p:cNvPr id="108" name="Shape 10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9" name="Text 109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B  ·  建议用时 1:05</a:t>
            </a:r>
            <a:endParaRPr lang="zh-CN" sz="900"/>
          </a:p>
        </p:txBody>
      </p:sp>
      <p:sp>
        <p:nvSpPr>
          <p:cNvPr id="110" name="Text 110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112" name="Shape 1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3" name="Text 113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为什么升级：制动系统具有历史依赖与物理约束</a:t>
            </a:r>
            <a:endParaRPr lang="zh-CN" sz="2700"/>
          </a:p>
        </p:txBody>
      </p:sp>
      <p:sp>
        <p:nvSpPr>
          <p:cNvPr id="114" name="Text 114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PART 2 / 3</a:t>
            </a:r>
            <a:endParaRPr lang="zh-CN" sz="1000"/>
          </a:p>
        </p:txBody>
      </p:sp>
      <p:sp>
        <p:nvSpPr>
          <p:cNvPr id="115" name="Shape 115"/>
          <p:cNvSpPr/>
          <p:nvPr/>
        </p:nvSpPr>
        <p:spPr>
          <a:xfrm>
            <a:off x="640080" y="1097280"/>
            <a:ext cx="4069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16" name="Text 116"/>
          <p:cNvSpPr txBox="1"/>
          <p:nvPr/>
        </p:nvSpPr>
        <p:spPr>
          <a:xfrm>
            <a:off x="868680" y="1353312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MLP：点对点映射</a:t>
            </a:r>
            <a:endParaRPr lang="zh-CN" sz="2000"/>
          </a:p>
        </p:txBody>
      </p:sp>
      <p:sp>
        <p:nvSpPr>
          <p:cNvPr id="117" name="Shape 117"/>
          <p:cNvSpPr/>
          <p:nvPr/>
        </p:nvSpPr>
        <p:spPr>
          <a:xfrm>
            <a:off x="1051560" y="2057400"/>
            <a:ext cx="1325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7080"/>
            </a:solidFill>
          </a:ln>
        </p:spPr>
      </p:sp>
      <p:sp>
        <p:nvSpPr>
          <p:cNvPr id="118" name="Text 118"/>
          <p:cNvSpPr txBox="1"/>
          <p:nvPr/>
        </p:nvSpPr>
        <p:spPr>
          <a:xfrm>
            <a:off x="1161288" y="2203704"/>
            <a:ext cx="1106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当前点</a:t>
            </a:r>
            <a:endParaRPr lang="zh-CN" sz="1700"/>
          </a:p>
        </p:txBody>
      </p:sp>
      <p:sp>
        <p:nvSpPr>
          <p:cNvPr id="119" name="Text 119"/>
          <p:cNvSpPr txBox="1"/>
          <p:nvPr/>
        </p:nvSpPr>
        <p:spPr>
          <a:xfrm>
            <a:off x="1179576" y="2587752"/>
            <a:ext cx="1069848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[vₜ,Pₜ,μₜ]</a:t>
            </a:r>
            <a:endParaRPr lang="zh-CN" sz="1200"/>
          </a:p>
        </p:txBody>
      </p:sp>
      <p:sp>
        <p:nvSpPr>
          <p:cNvPr id="120" name="Line 120"/>
          <p:cNvSpPr/>
          <p:nvPr/>
        </p:nvSpPr>
        <p:spPr>
          <a:xfrm>
            <a:off x="2441448" y="2578608"/>
            <a:ext cx="484632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121" name="Shape 121"/>
          <p:cNvSpPr/>
          <p:nvPr/>
        </p:nvSpPr>
        <p:spPr>
          <a:xfrm>
            <a:off x="2999232" y="2057400"/>
            <a:ext cx="1325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7080"/>
            </a:solidFill>
          </a:ln>
        </p:spPr>
      </p:sp>
      <p:sp>
        <p:nvSpPr>
          <p:cNvPr id="122" name="Text 122"/>
          <p:cNvSpPr txBox="1"/>
          <p:nvPr/>
        </p:nvSpPr>
        <p:spPr>
          <a:xfrm>
            <a:off x="3108960" y="2203704"/>
            <a:ext cx="1106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下一点</a:t>
            </a:r>
            <a:endParaRPr lang="zh-CN" sz="1700"/>
          </a:p>
        </p:txBody>
      </p:sp>
      <p:sp>
        <p:nvSpPr>
          <p:cNvPr id="123" name="Text 123"/>
          <p:cNvSpPr txBox="1"/>
          <p:nvPr/>
        </p:nvSpPr>
        <p:spPr>
          <a:xfrm>
            <a:off x="3127248" y="2587752"/>
            <a:ext cx="1069848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[vₜ₊₁,aₜ₊₁]</a:t>
            </a:r>
            <a:endParaRPr lang="zh-CN" sz="1200"/>
          </a:p>
        </p:txBody>
      </p:sp>
      <p:sp>
        <p:nvSpPr>
          <p:cNvPr id="124" name="Text 124"/>
          <p:cNvSpPr txBox="1"/>
          <p:nvPr/>
        </p:nvSpPr>
        <p:spPr>
          <a:xfrm>
            <a:off x="960120" y="3520440"/>
            <a:ext cx="3429000" cy="685800"/>
          </a:xfrm>
          <a:prstGeom prst="roundRect">
            <a:avLst/>
          </a:prstGeom>
          <a:solidFill>
            <a:srgbClr val="FDEEEE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无法显式利用压力建立、液压滞后和历史状态</a:t>
            </a:r>
            <a:endParaRPr lang="zh-CN" sz="1600"/>
          </a:p>
        </p:txBody>
      </p:sp>
      <p:sp>
        <p:nvSpPr>
          <p:cNvPr id="125" name="Line 125"/>
          <p:cNvSpPr/>
          <p:nvPr/>
        </p:nvSpPr>
        <p:spPr>
          <a:xfrm>
            <a:off x="4983480" y="2880360"/>
            <a:ext cx="731520" cy="914"/>
          </a:xfrm>
          <a:prstGeom prst="line">
            <a:avLst/>
          </a:prstGeom>
          <a:ln w="50800">
            <a:solidFill>
              <a:srgbClr val="F2A93B"/>
            </a:solidFill>
            <a:tailEnd type="triangle"/>
          </a:ln>
        </p:spPr>
      </p:sp>
      <p:sp>
        <p:nvSpPr>
          <p:cNvPr id="126" name="Text 126"/>
          <p:cNvSpPr txBox="1"/>
          <p:nvPr/>
        </p:nvSpPr>
        <p:spPr>
          <a:xfrm>
            <a:off x="4773168" y="219456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升级</a:t>
            </a:r>
            <a:endParaRPr lang="zh-CN" sz="1800"/>
          </a:p>
        </p:txBody>
      </p:sp>
      <p:sp>
        <p:nvSpPr>
          <p:cNvPr id="127" name="Shape 127"/>
          <p:cNvSpPr/>
          <p:nvPr/>
        </p:nvSpPr>
        <p:spPr>
          <a:xfrm>
            <a:off x="5989320" y="1097280"/>
            <a:ext cx="5532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28" name="Text 128"/>
          <p:cNvSpPr txBox="1"/>
          <p:nvPr/>
        </p:nvSpPr>
        <p:spPr>
          <a:xfrm>
            <a:off x="6263640" y="1353312"/>
            <a:ext cx="4983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LSTM / GRU：序列建模</a:t>
            </a:r>
            <a:endParaRPr lang="zh-CN" sz="2000"/>
          </a:p>
        </p:txBody>
      </p:sp>
      <p:sp>
        <p:nvSpPr>
          <p:cNvPr id="129" name="Shape 129"/>
          <p:cNvSpPr/>
          <p:nvPr/>
        </p:nvSpPr>
        <p:spPr>
          <a:xfrm>
            <a:off x="6400800" y="2148840"/>
            <a:ext cx="566928" cy="713232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</p:sp>
      <p:sp>
        <p:nvSpPr>
          <p:cNvPr id="130" name="Text 130"/>
          <p:cNvSpPr txBox="1"/>
          <p:nvPr/>
        </p:nvSpPr>
        <p:spPr>
          <a:xfrm>
            <a:off x="6428232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t-4</a:t>
            </a:r>
            <a:endParaRPr lang="zh-CN" sz="1100"/>
          </a:p>
        </p:txBody>
      </p:sp>
      <p:sp>
        <p:nvSpPr>
          <p:cNvPr id="131" name="Line 131"/>
          <p:cNvSpPr/>
          <p:nvPr/>
        </p:nvSpPr>
        <p:spPr>
          <a:xfrm>
            <a:off x="6976872" y="2505456"/>
            <a:ext cx="146304" cy="914"/>
          </a:xfrm>
          <a:prstGeom prst="line">
            <a:avLst/>
          </a:prstGeom>
          <a:ln w="19050">
            <a:solidFill>
              <a:srgbClr val="607080"/>
            </a:solidFill>
            <a:tailEnd type="triangle"/>
          </a:ln>
        </p:spPr>
      </p:sp>
      <p:sp>
        <p:nvSpPr>
          <p:cNvPr id="132" name="Shape 132"/>
          <p:cNvSpPr/>
          <p:nvPr/>
        </p:nvSpPr>
        <p:spPr>
          <a:xfrm>
            <a:off x="7150608" y="2148840"/>
            <a:ext cx="566928" cy="713232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</p:sp>
      <p:sp>
        <p:nvSpPr>
          <p:cNvPr id="133" name="Text 133"/>
          <p:cNvSpPr txBox="1"/>
          <p:nvPr/>
        </p:nvSpPr>
        <p:spPr>
          <a:xfrm>
            <a:off x="7178040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t-3</a:t>
            </a:r>
            <a:endParaRPr lang="zh-CN" sz="1100"/>
          </a:p>
        </p:txBody>
      </p:sp>
      <p:sp>
        <p:nvSpPr>
          <p:cNvPr id="134" name="Line 134"/>
          <p:cNvSpPr/>
          <p:nvPr/>
        </p:nvSpPr>
        <p:spPr>
          <a:xfrm>
            <a:off x="7726680" y="2505456"/>
            <a:ext cx="146304" cy="914"/>
          </a:xfrm>
          <a:prstGeom prst="line">
            <a:avLst/>
          </a:prstGeom>
          <a:ln w="19050">
            <a:solidFill>
              <a:srgbClr val="607080"/>
            </a:solidFill>
            <a:tailEnd type="triangle"/>
          </a:ln>
        </p:spPr>
      </p:sp>
      <p:sp>
        <p:nvSpPr>
          <p:cNvPr id="135" name="Shape 135"/>
          <p:cNvSpPr/>
          <p:nvPr/>
        </p:nvSpPr>
        <p:spPr>
          <a:xfrm>
            <a:off x="7900416" y="2148840"/>
            <a:ext cx="566928" cy="713232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</p:sp>
      <p:sp>
        <p:nvSpPr>
          <p:cNvPr id="136" name="Text 136"/>
          <p:cNvSpPr txBox="1"/>
          <p:nvPr/>
        </p:nvSpPr>
        <p:spPr>
          <a:xfrm>
            <a:off x="7927848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t-2</a:t>
            </a:r>
            <a:endParaRPr lang="zh-CN" sz="1100"/>
          </a:p>
        </p:txBody>
      </p:sp>
      <p:sp>
        <p:nvSpPr>
          <p:cNvPr id="137" name="Line 137"/>
          <p:cNvSpPr/>
          <p:nvPr/>
        </p:nvSpPr>
        <p:spPr>
          <a:xfrm>
            <a:off x="8476488" y="2505456"/>
            <a:ext cx="146304" cy="914"/>
          </a:xfrm>
          <a:prstGeom prst="line">
            <a:avLst/>
          </a:prstGeom>
          <a:ln w="19050">
            <a:solidFill>
              <a:srgbClr val="607080"/>
            </a:solidFill>
            <a:tailEnd type="triangle"/>
          </a:ln>
        </p:spPr>
      </p:sp>
      <p:sp>
        <p:nvSpPr>
          <p:cNvPr id="138" name="Shape 138"/>
          <p:cNvSpPr/>
          <p:nvPr/>
        </p:nvSpPr>
        <p:spPr>
          <a:xfrm>
            <a:off x="8650224" y="2148840"/>
            <a:ext cx="566928" cy="713232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</p:sp>
      <p:sp>
        <p:nvSpPr>
          <p:cNvPr id="139" name="Text 139"/>
          <p:cNvSpPr txBox="1"/>
          <p:nvPr/>
        </p:nvSpPr>
        <p:spPr>
          <a:xfrm>
            <a:off x="8677656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t-1</a:t>
            </a:r>
            <a:endParaRPr lang="zh-CN" sz="1100"/>
          </a:p>
        </p:txBody>
      </p:sp>
      <p:sp>
        <p:nvSpPr>
          <p:cNvPr id="140" name="Line 140"/>
          <p:cNvSpPr/>
          <p:nvPr/>
        </p:nvSpPr>
        <p:spPr>
          <a:xfrm>
            <a:off x="9226296" y="2505456"/>
            <a:ext cx="146304" cy="914"/>
          </a:xfrm>
          <a:prstGeom prst="line">
            <a:avLst/>
          </a:prstGeom>
          <a:ln w="19050">
            <a:solidFill>
              <a:srgbClr val="607080"/>
            </a:solidFill>
            <a:tailEnd type="triangle"/>
          </a:ln>
        </p:spPr>
      </p:sp>
      <p:sp>
        <p:nvSpPr>
          <p:cNvPr id="141" name="Shape 141"/>
          <p:cNvSpPr/>
          <p:nvPr/>
        </p:nvSpPr>
        <p:spPr>
          <a:xfrm>
            <a:off x="9400032" y="2148840"/>
            <a:ext cx="566928" cy="713232"/>
          </a:xfrm>
          <a:prstGeom prst="roundRect">
            <a:avLst/>
          </a:prstGeom>
          <a:solidFill>
            <a:srgbClr val="CFECEF"/>
          </a:solidFill>
          <a:ln w="12700">
            <a:solidFill>
              <a:srgbClr val="0E8A92"/>
            </a:solidFill>
          </a:ln>
        </p:spPr>
      </p:sp>
      <p:sp>
        <p:nvSpPr>
          <p:cNvPr id="142" name="Text 142"/>
          <p:cNvSpPr txBox="1"/>
          <p:nvPr/>
        </p:nvSpPr>
        <p:spPr>
          <a:xfrm>
            <a:off x="9427464" y="2340864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t-0</a:t>
            </a:r>
            <a:endParaRPr lang="zh-CN" sz="1100"/>
          </a:p>
        </p:txBody>
      </p:sp>
      <p:sp>
        <p:nvSpPr>
          <p:cNvPr id="143" name="Line 143"/>
          <p:cNvSpPr/>
          <p:nvPr/>
        </p:nvSpPr>
        <p:spPr>
          <a:xfrm>
            <a:off x="10085832" y="2505456"/>
            <a:ext cx="384048" cy="914"/>
          </a:xfrm>
          <a:prstGeom prst="line">
            <a:avLst/>
          </a:prstGeom>
          <a:ln w="25400">
            <a:solidFill>
              <a:srgbClr val="0E8A92"/>
            </a:solidFill>
            <a:tailEnd type="triangle"/>
          </a:ln>
        </p:spPr>
      </p:sp>
      <p:sp>
        <p:nvSpPr>
          <p:cNvPr id="144" name="Shape 144"/>
          <p:cNvSpPr/>
          <p:nvPr/>
        </p:nvSpPr>
        <p:spPr>
          <a:xfrm>
            <a:off x="10515600" y="2057400"/>
            <a:ext cx="658368" cy="91440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45" name="Text 145"/>
          <p:cNvSpPr txBox="1"/>
          <p:nvPr/>
        </p:nvSpPr>
        <p:spPr>
          <a:xfrm>
            <a:off x="10543032" y="2267712"/>
            <a:ext cx="603504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预测</a:t>
            </a:r>
            <a:endParaRPr lang="zh-CN" sz="1100"/>
          </a:p>
        </p:txBody>
      </p:sp>
      <p:sp>
        <p:nvSpPr>
          <p:cNvPr id="146" name="Text 146"/>
          <p:cNvSpPr txBox="1"/>
          <p:nvPr/>
        </p:nvSpPr>
        <p:spPr>
          <a:xfrm>
            <a:off x="6400800" y="3456432"/>
            <a:ext cx="4663440" cy="667512"/>
          </a:xfrm>
          <a:prstGeom prst="roundRect">
            <a:avLst/>
          </a:prstGeom>
          <a:solidFill>
            <a:srgbClr val="E9F4F5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利用过去 K=5 步：[v, a, P, μ] 序列提取隐状态</a:t>
            </a:r>
            <a:endParaRPr lang="zh-CN" sz="1600"/>
          </a:p>
        </p:txBody>
      </p:sp>
      <p:sp>
        <p:nvSpPr>
          <p:cNvPr id="147" name="Text 147"/>
          <p:cNvSpPr txBox="1"/>
          <p:nvPr/>
        </p:nvSpPr>
        <p:spPr>
          <a:xfrm>
            <a:off x="822960" y="5074920"/>
            <a:ext cx="10561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PINN 约束：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Loss = MSE_data + λ · [v̂ₜ₊₁ − max(vₜ + âₜ₊₁Δt, 0)]²</a:t>
            </a:r>
            <a:endParaRPr lang="zh-CN" sz="2000"/>
          </a:p>
        </p:txBody>
      </p:sp>
      <p:sp>
        <p:nvSpPr>
          <p:cNvPr id="148" name="Shape 14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49" name="Text 149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B  ·  建议用时 0:55</a:t>
            </a:r>
            <a:endParaRPr lang="zh-CN" sz="900"/>
          </a:p>
        </p:txBody>
      </p:sp>
      <p:sp>
        <p:nvSpPr>
          <p:cNvPr id="150" name="Text 150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385" name="Shape 38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86" name="Text 386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LSTM-PINN 实现与结果：时序预测保持高精度</a:t>
            </a:r>
            <a:endParaRPr lang="zh-CN" sz="2700"/>
          </a:p>
        </p:txBody>
      </p:sp>
      <p:sp>
        <p:nvSpPr>
          <p:cNvPr id="387" name="Text 387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PART 2 / 3</a:t>
            </a:r>
            <a:endParaRPr lang="zh-CN" sz="1000"/>
          </a:p>
        </p:txBody>
      </p:sp>
      <p:sp>
        <p:nvSpPr>
          <p:cNvPr id="388" name="Shape 388"/>
          <p:cNvSpPr/>
          <p:nvPr/>
        </p:nvSpPr>
        <p:spPr>
          <a:xfrm>
            <a:off x="566928" y="932688"/>
            <a:ext cx="411480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89" name="Text 389"/>
          <p:cNvSpPr txBox="1"/>
          <p:nvPr/>
        </p:nvSpPr>
        <p:spPr>
          <a:xfrm>
            <a:off x="841248" y="1188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9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网络结构</a:t>
            </a:r>
            <a:endParaRPr lang="zh-CN" sz="1900"/>
          </a:p>
        </p:txBody>
      </p:sp>
      <p:sp>
        <p:nvSpPr>
          <p:cNvPr id="390" name="Shape 390"/>
          <p:cNvSpPr/>
          <p:nvPr/>
        </p:nvSpPr>
        <p:spPr>
          <a:xfrm>
            <a:off x="914400" y="1828800"/>
            <a:ext cx="475488" cy="658368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D9E1E5"/>
            </a:solidFill>
          </a:ln>
        </p:spPr>
      </p:sp>
      <p:sp>
        <p:nvSpPr>
          <p:cNvPr id="391" name="Text 391"/>
          <p:cNvSpPr txBox="1"/>
          <p:nvPr/>
        </p:nvSpPr>
        <p:spPr>
          <a:xfrm>
            <a:off x="932688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000"/>
          </a:p>
        </p:txBody>
      </p:sp>
      <p:sp>
        <p:nvSpPr>
          <p:cNvPr id="392" name="Shape 392"/>
          <p:cNvSpPr/>
          <p:nvPr/>
        </p:nvSpPr>
        <p:spPr>
          <a:xfrm>
            <a:off x="1527048" y="1828800"/>
            <a:ext cx="475488" cy="658368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D9E1E5"/>
            </a:solidFill>
          </a:ln>
        </p:spPr>
      </p:sp>
      <p:sp>
        <p:nvSpPr>
          <p:cNvPr id="393" name="Text 393"/>
          <p:cNvSpPr txBox="1"/>
          <p:nvPr/>
        </p:nvSpPr>
        <p:spPr>
          <a:xfrm>
            <a:off x="1545336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000"/>
          </a:p>
        </p:txBody>
      </p:sp>
      <p:sp>
        <p:nvSpPr>
          <p:cNvPr id="394" name="Shape 394"/>
          <p:cNvSpPr/>
          <p:nvPr/>
        </p:nvSpPr>
        <p:spPr>
          <a:xfrm>
            <a:off x="2139696" y="1828800"/>
            <a:ext cx="475488" cy="658368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D9E1E5"/>
            </a:solidFill>
          </a:ln>
        </p:spPr>
      </p:sp>
      <p:sp>
        <p:nvSpPr>
          <p:cNvPr id="395" name="Text 395"/>
          <p:cNvSpPr txBox="1"/>
          <p:nvPr/>
        </p:nvSpPr>
        <p:spPr>
          <a:xfrm>
            <a:off x="2157984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000"/>
          </a:p>
        </p:txBody>
      </p:sp>
      <p:sp>
        <p:nvSpPr>
          <p:cNvPr id="396" name="Shape 396"/>
          <p:cNvSpPr/>
          <p:nvPr/>
        </p:nvSpPr>
        <p:spPr>
          <a:xfrm>
            <a:off x="2752344" y="1828800"/>
            <a:ext cx="475488" cy="658368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D9E1E5"/>
            </a:solidFill>
          </a:ln>
        </p:spPr>
      </p:sp>
      <p:sp>
        <p:nvSpPr>
          <p:cNvPr id="397" name="Text 397"/>
          <p:cNvSpPr txBox="1"/>
          <p:nvPr/>
        </p:nvSpPr>
        <p:spPr>
          <a:xfrm>
            <a:off x="2770632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1000"/>
          </a:p>
        </p:txBody>
      </p:sp>
      <p:sp>
        <p:nvSpPr>
          <p:cNvPr id="398" name="Shape 398"/>
          <p:cNvSpPr/>
          <p:nvPr/>
        </p:nvSpPr>
        <p:spPr>
          <a:xfrm>
            <a:off x="3364992" y="1828800"/>
            <a:ext cx="475488" cy="658368"/>
          </a:xfrm>
          <a:prstGeom prst="roundRect">
            <a:avLst/>
          </a:prstGeom>
          <a:solidFill>
            <a:srgbClr val="CFECEF"/>
          </a:solidFill>
          <a:ln w="12700">
            <a:solidFill>
              <a:srgbClr val="0E8A92"/>
            </a:solidFill>
          </a:ln>
        </p:spPr>
      </p:sp>
      <p:sp>
        <p:nvSpPr>
          <p:cNvPr id="399" name="Text 399"/>
          <p:cNvSpPr txBox="1"/>
          <p:nvPr/>
        </p:nvSpPr>
        <p:spPr>
          <a:xfrm>
            <a:off x="3383280" y="2002536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1000"/>
          </a:p>
        </p:txBody>
      </p:sp>
      <p:sp>
        <p:nvSpPr>
          <p:cNvPr id="400" name="Line 400"/>
          <p:cNvSpPr/>
          <p:nvPr/>
        </p:nvSpPr>
        <p:spPr>
          <a:xfrm>
            <a:off x="3721608" y="2157984"/>
            <a:ext cx="438912" cy="914"/>
          </a:xfrm>
          <a:prstGeom prst="line">
            <a:avLst/>
          </a:prstGeom>
          <a:ln w="25400">
            <a:solidFill>
              <a:srgbClr val="0E8A92"/>
            </a:solidFill>
            <a:tailEnd type="triangle"/>
          </a:ln>
        </p:spPr>
      </p:sp>
      <p:sp>
        <p:nvSpPr>
          <p:cNvPr id="401" name="Shape 401"/>
          <p:cNvSpPr/>
          <p:nvPr/>
        </p:nvSpPr>
        <p:spPr>
          <a:xfrm>
            <a:off x="1078992" y="2880360"/>
            <a:ext cx="1115568" cy="91440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02" name="Text 402"/>
          <p:cNvSpPr txBox="1"/>
          <p:nvPr/>
        </p:nvSpPr>
        <p:spPr>
          <a:xfrm>
            <a:off x="1124712" y="3145536"/>
            <a:ext cx="1024128" cy="301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LSTM 64</a:t>
            </a:r>
            <a:endParaRPr lang="zh-CN" sz="1400"/>
          </a:p>
        </p:txBody>
      </p:sp>
      <p:sp>
        <p:nvSpPr>
          <p:cNvPr id="403" name="Line 403"/>
          <p:cNvSpPr/>
          <p:nvPr/>
        </p:nvSpPr>
        <p:spPr>
          <a:xfrm>
            <a:off x="2212848" y="3337560"/>
            <a:ext cx="548640" cy="914"/>
          </a:xfrm>
          <a:prstGeom prst="line">
            <a:avLst/>
          </a:prstGeom>
          <a:ln w="25400">
            <a:solidFill>
              <a:srgbClr val="0E8A92"/>
            </a:solidFill>
            <a:tailEnd type="triangle"/>
          </a:ln>
        </p:spPr>
      </p:sp>
      <p:sp>
        <p:nvSpPr>
          <p:cNvPr id="404" name="Shape 404"/>
          <p:cNvSpPr/>
          <p:nvPr/>
        </p:nvSpPr>
        <p:spPr>
          <a:xfrm>
            <a:off x="2816352" y="2880360"/>
            <a:ext cx="1261872" cy="91440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405" name="Text 405"/>
          <p:cNvSpPr txBox="1"/>
          <p:nvPr/>
        </p:nvSpPr>
        <p:spPr>
          <a:xfrm>
            <a:off x="2862072" y="3026664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FC + ReLU
FC → 2</a:t>
            </a:r>
            <a:endParaRPr lang="zh-CN" sz="1300"/>
          </a:p>
        </p:txBody>
      </p:sp>
      <p:sp>
        <p:nvSpPr>
          <p:cNvPr id="406" name="Text 406"/>
          <p:cNvSpPr txBox="1"/>
          <p:nvPr/>
        </p:nvSpPr>
        <p:spPr>
          <a:xfrm>
            <a:off x="960120" y="4187952"/>
            <a:ext cx="3337560" cy="749808"/>
          </a:xfrm>
          <a:prstGeom prst="roundRect">
            <a:avLst/>
          </a:prstGeom>
          <a:solidFill>
            <a:srgbClr val="F6F9FA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输入：5 × [v, a, P, μ]
输出：[v_next, a_next]</a:t>
            </a:r>
            <a:endParaRPr lang="zh-CN" sz="1500"/>
          </a:p>
        </p:txBody>
      </p:sp>
      <p:sp>
        <p:nvSpPr>
          <p:cNvPr id="407" name="Shape 407"/>
          <p:cNvSpPr/>
          <p:nvPr/>
        </p:nvSpPr>
        <p:spPr>
          <a:xfrm>
            <a:off x="4937760" y="932688"/>
            <a:ext cx="66751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408" name="LSTM training lo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307592"/>
            <a:ext cx="6272784" cy="3584448"/>
          </a:xfrm>
          <a:prstGeom prst="rect">
            <a:avLst/>
          </a:prstGeom>
          <a:ln>
            <a:noFill/>
          </a:ln>
        </p:spPr>
      </p:pic>
      <p:sp>
        <p:nvSpPr>
          <p:cNvPr id="409" name="Shape 409"/>
          <p:cNvSpPr/>
          <p:nvPr/>
        </p:nvSpPr>
        <p:spPr>
          <a:xfrm>
            <a:off x="658368" y="5486400"/>
            <a:ext cx="35295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410" name="Shape 410"/>
          <p:cNvSpPr/>
          <p:nvPr/>
        </p:nvSpPr>
        <p:spPr>
          <a:xfrm>
            <a:off x="658368" y="5486400"/>
            <a:ext cx="64008" cy="713232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11" name="Text 411"/>
          <p:cNvSpPr txBox="1"/>
          <p:nvPr/>
        </p:nvSpPr>
        <p:spPr>
          <a:xfrm>
            <a:off x="841248" y="5577840"/>
            <a:ext cx="3163824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速度 v_next</a:t>
            </a:r>
            <a:endParaRPr lang="zh-CN" sz="1100"/>
          </a:p>
        </p:txBody>
      </p:sp>
      <p:sp>
        <p:nvSpPr>
          <p:cNvPr id="412" name="Text 412"/>
          <p:cNvSpPr txBox="1"/>
          <p:nvPr/>
        </p:nvSpPr>
        <p:spPr>
          <a:xfrm>
            <a:off x="841248" y="5833872"/>
            <a:ext cx="3163824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RMSE 0.0747 m/s  ·  R² 0.99993</a:t>
            </a:r>
            <a:endParaRPr lang="zh-CN" sz="1100"/>
          </a:p>
        </p:txBody>
      </p:sp>
      <p:sp>
        <p:nvSpPr>
          <p:cNvPr id="413" name="Shape 413"/>
          <p:cNvSpPr/>
          <p:nvPr/>
        </p:nvSpPr>
        <p:spPr>
          <a:xfrm>
            <a:off x="4343400" y="5486400"/>
            <a:ext cx="3657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414" name="Shape 414"/>
          <p:cNvSpPr/>
          <p:nvPr/>
        </p:nvSpPr>
        <p:spPr>
          <a:xfrm>
            <a:off x="4343400" y="5486400"/>
            <a:ext cx="64008" cy="713232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415" name="Text 415"/>
          <p:cNvSpPr txBox="1"/>
          <p:nvPr/>
        </p:nvSpPr>
        <p:spPr>
          <a:xfrm>
            <a:off x="4526280" y="55778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减速度 a_next</a:t>
            </a:r>
            <a:endParaRPr lang="zh-CN" sz="1100"/>
          </a:p>
        </p:txBody>
      </p:sp>
      <p:sp>
        <p:nvSpPr>
          <p:cNvPr id="416" name="Text 416"/>
          <p:cNvSpPr txBox="1"/>
          <p:nvPr/>
        </p:nvSpPr>
        <p:spPr>
          <a:xfrm>
            <a:off x="4526280" y="5833872"/>
            <a:ext cx="329184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RMSE 0.1235 m/s²  ·  R² 0.99667</a:t>
            </a:r>
            <a:endParaRPr lang="zh-CN" sz="1100"/>
          </a:p>
        </p:txBody>
      </p:sp>
      <p:sp>
        <p:nvSpPr>
          <p:cNvPr id="417" name="Shape 417"/>
          <p:cNvSpPr/>
          <p:nvPr/>
        </p:nvSpPr>
        <p:spPr>
          <a:xfrm>
            <a:off x="8156448" y="5486400"/>
            <a:ext cx="3383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418" name="Shape 418"/>
          <p:cNvSpPr/>
          <p:nvPr/>
        </p:nvSpPr>
        <p:spPr>
          <a:xfrm>
            <a:off x="8156448" y="5486400"/>
            <a:ext cx="64008" cy="713232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419" name="Text 419"/>
          <p:cNvSpPr txBox="1"/>
          <p:nvPr/>
        </p:nvSpPr>
        <p:spPr>
          <a:xfrm>
            <a:off x="8339328" y="557784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数据规模</a:t>
            </a:r>
            <a:endParaRPr lang="zh-CN" sz="1100"/>
          </a:p>
        </p:txBody>
      </p:sp>
      <p:sp>
        <p:nvSpPr>
          <p:cNvPr id="420" name="Text 420"/>
          <p:cNvSpPr txBox="1"/>
          <p:nvPr/>
        </p:nvSpPr>
        <p:spPr>
          <a:xfrm>
            <a:off x="8339328" y="5833872"/>
            <a:ext cx="3017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16,000 行连续轨迹数据</a:t>
            </a:r>
            <a:endParaRPr lang="zh-CN" sz="1100"/>
          </a:p>
        </p:txBody>
      </p:sp>
      <p:sp>
        <p:nvSpPr>
          <p:cNvPr id="421" name="Shape 4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422" name="Text 422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B  ·  建议用时 1:15</a:t>
            </a:r>
            <a:endParaRPr lang="zh-CN" sz="900"/>
          </a:p>
        </p:txBody>
      </p:sp>
      <p:sp>
        <p:nvSpPr>
          <p:cNvPr id="423" name="Text 423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192" name="Shape 19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93" name="Text 193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高保真升级：用统一接口把 Simulink 替换为 CarSim</a:t>
            </a:r>
            <a:endParaRPr lang="zh-CN" sz="2700"/>
          </a:p>
        </p:txBody>
      </p:sp>
      <p:sp>
        <p:nvSpPr>
          <p:cNvPr id="194" name="Text 194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PART 2 / 3</a:t>
            </a:r>
            <a:endParaRPr lang="zh-CN" sz="1000"/>
          </a:p>
        </p:txBody>
      </p:sp>
      <p:sp>
        <p:nvSpPr>
          <p:cNvPr id="195" name="Shape 195"/>
          <p:cNvSpPr/>
          <p:nvPr/>
        </p:nvSpPr>
        <p:spPr>
          <a:xfrm>
            <a:off x="640080" y="1371600"/>
            <a:ext cx="27889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196" name="Text 196"/>
          <p:cNvSpPr txBox="1"/>
          <p:nvPr/>
        </p:nvSpPr>
        <p:spPr>
          <a:xfrm>
            <a:off x="749808" y="1517904"/>
            <a:ext cx="2569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当前数据源</a:t>
            </a:r>
            <a:endParaRPr lang="zh-CN" sz="1700"/>
          </a:p>
        </p:txBody>
      </p:sp>
      <p:sp>
        <p:nvSpPr>
          <p:cNvPr id="197" name="Text 197"/>
          <p:cNvSpPr txBox="1"/>
          <p:nvPr/>
        </p:nvSpPr>
        <p:spPr>
          <a:xfrm>
            <a:off x="768096" y="1901952"/>
            <a:ext cx="25328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自建 Simulink 机制模型
快速 · 可解释 · 可控</a:t>
            </a:r>
            <a:endParaRPr lang="zh-CN" sz="1200"/>
          </a:p>
        </p:txBody>
      </p:sp>
      <p:sp>
        <p:nvSpPr>
          <p:cNvPr id="198" name="Line 198"/>
          <p:cNvSpPr/>
          <p:nvPr/>
        </p:nvSpPr>
        <p:spPr>
          <a:xfrm>
            <a:off x="3474720" y="2167128"/>
            <a:ext cx="1143000" cy="914"/>
          </a:xfrm>
          <a:prstGeom prst="line">
            <a:avLst/>
          </a:prstGeom>
          <a:ln w="38100">
            <a:solidFill>
              <a:srgbClr val="F2A93B"/>
            </a:solidFill>
            <a:tailEnd type="triangle"/>
          </a:ln>
        </p:spPr>
      </p:sp>
      <p:sp>
        <p:nvSpPr>
          <p:cNvPr id="199" name="Text 199"/>
          <p:cNvSpPr txBox="1"/>
          <p:nvPr/>
        </p:nvSpPr>
        <p:spPr>
          <a:xfrm>
            <a:off x="3547872" y="1627632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统一 CSV</a:t>
            </a:r>
            <a:endParaRPr lang="zh-CN" sz="1200"/>
          </a:p>
        </p:txBody>
      </p:sp>
      <p:sp>
        <p:nvSpPr>
          <p:cNvPr id="200" name="Shape 200"/>
          <p:cNvSpPr/>
          <p:nvPr/>
        </p:nvSpPr>
        <p:spPr>
          <a:xfrm>
            <a:off x="4663440" y="1371600"/>
            <a:ext cx="27889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A93B"/>
            </a:solidFill>
          </a:ln>
        </p:spPr>
      </p:sp>
      <p:sp>
        <p:nvSpPr>
          <p:cNvPr id="201" name="Text 201"/>
          <p:cNvSpPr txBox="1"/>
          <p:nvPr/>
        </p:nvSpPr>
        <p:spPr>
          <a:xfrm>
            <a:off x="4773168" y="1517904"/>
            <a:ext cx="2569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共享接口</a:t>
            </a:r>
            <a:endParaRPr lang="zh-CN" sz="1700"/>
          </a:p>
        </p:txBody>
      </p:sp>
      <p:sp>
        <p:nvSpPr>
          <p:cNvPr id="202" name="Text 202"/>
          <p:cNvSpPr txBox="1"/>
          <p:nvPr/>
        </p:nvSpPr>
        <p:spPr>
          <a:xfrm>
            <a:off x="4791456" y="1901952"/>
            <a:ext cx="25328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trajectory_id / step
v, a, P, μ → next state</a:t>
            </a:r>
            <a:endParaRPr lang="zh-CN" sz="1200"/>
          </a:p>
        </p:txBody>
      </p:sp>
      <p:sp>
        <p:nvSpPr>
          <p:cNvPr id="203" name="Line 203"/>
          <p:cNvSpPr/>
          <p:nvPr/>
        </p:nvSpPr>
        <p:spPr>
          <a:xfrm>
            <a:off x="7498080" y="2167128"/>
            <a:ext cx="1143000" cy="914"/>
          </a:xfrm>
          <a:prstGeom prst="line">
            <a:avLst/>
          </a:prstGeom>
          <a:ln w="38100">
            <a:solidFill>
              <a:srgbClr val="F2A93B"/>
            </a:solidFill>
            <a:tailEnd type="triangle"/>
          </a:ln>
        </p:spPr>
      </p:sp>
      <p:sp>
        <p:nvSpPr>
          <p:cNvPr id="204" name="Text 204"/>
          <p:cNvSpPr txBox="1"/>
          <p:nvPr/>
        </p:nvSpPr>
        <p:spPr>
          <a:xfrm>
            <a:off x="7571232" y="1627632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无缝替换</a:t>
            </a:r>
            <a:endParaRPr lang="zh-CN" sz="1200"/>
          </a:p>
        </p:txBody>
      </p:sp>
      <p:sp>
        <p:nvSpPr>
          <p:cNvPr id="205" name="Shape 205"/>
          <p:cNvSpPr/>
          <p:nvPr/>
        </p:nvSpPr>
        <p:spPr>
          <a:xfrm>
            <a:off x="8686800" y="1371600"/>
            <a:ext cx="27889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206" name="Text 206"/>
          <p:cNvSpPr txBox="1"/>
          <p:nvPr/>
        </p:nvSpPr>
        <p:spPr>
          <a:xfrm>
            <a:off x="8796528" y="1517904"/>
            <a:ext cx="2569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下一数据源</a:t>
            </a:r>
            <a:endParaRPr lang="zh-CN" sz="1700"/>
          </a:p>
        </p:txBody>
      </p:sp>
      <p:sp>
        <p:nvSpPr>
          <p:cNvPr id="207" name="Text 207"/>
          <p:cNvSpPr txBox="1"/>
          <p:nvPr/>
        </p:nvSpPr>
        <p:spPr>
          <a:xfrm>
            <a:off x="8814816" y="1901952"/>
            <a:ext cx="2532888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CarSim S-Function
轮胎 · 俯仰 · 轮速 · 滑移率</a:t>
            </a:r>
            <a:endParaRPr lang="zh-CN" sz="1200"/>
          </a:p>
        </p:txBody>
      </p:sp>
      <p:sp>
        <p:nvSpPr>
          <p:cNvPr id="208" name="Text 208"/>
          <p:cNvSpPr txBox="1"/>
          <p:nvPr/>
        </p:nvSpPr>
        <p:spPr>
          <a:xfrm>
            <a:off x="685800" y="340156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推荐采样设计</a:t>
            </a:r>
            <a:endParaRPr lang="zh-CN" sz="1800"/>
          </a:p>
        </p:txBody>
      </p:sp>
      <p:sp>
        <p:nvSpPr>
          <p:cNvPr id="209" name="Shape 209"/>
          <p:cNvSpPr/>
          <p:nvPr/>
        </p:nvSpPr>
        <p:spPr>
          <a:xfrm>
            <a:off x="713232" y="3840480"/>
            <a:ext cx="2880360" cy="347472"/>
          </a:xfrm>
          <a:prstGeom prst="rect">
            <a:avLst/>
          </a:prstGeom>
          <a:solidFill>
            <a:srgbClr val="EAF0F2"/>
          </a:solidFill>
          <a:ln>
            <a:noFill/>
          </a:ln>
        </p:spPr>
      </p:sp>
      <p:sp>
        <p:nvSpPr>
          <p:cNvPr id="210" name="Text 210"/>
          <p:cNvSpPr txBox="1"/>
          <p:nvPr/>
        </p:nvSpPr>
        <p:spPr>
          <a:xfrm>
            <a:off x="822960" y="3877056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初速度</a:t>
            </a:r>
            <a:endParaRPr lang="zh-CN" sz="1100"/>
          </a:p>
        </p:txBody>
      </p:sp>
      <p:sp>
        <p:nvSpPr>
          <p:cNvPr id="211" name="Text 211"/>
          <p:cNvSpPr txBox="1"/>
          <p:nvPr/>
        </p:nvSpPr>
        <p:spPr>
          <a:xfrm>
            <a:off x="1874520" y="3877056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20–120 km/h</a:t>
            </a:r>
            <a:endParaRPr lang="zh-CN" sz="1100"/>
          </a:p>
        </p:txBody>
      </p:sp>
      <p:sp>
        <p:nvSpPr>
          <p:cNvPr id="212" name="Shape 212"/>
          <p:cNvSpPr/>
          <p:nvPr/>
        </p:nvSpPr>
        <p:spPr>
          <a:xfrm>
            <a:off x="713232" y="4242816"/>
            <a:ext cx="2880360" cy="347472"/>
          </a:xfrm>
          <a:prstGeom prst="rect">
            <a:avLst/>
          </a:prstGeom>
          <a:solidFill>
            <a:srgbClr val="F6F9FA"/>
          </a:solidFill>
          <a:ln>
            <a:noFill/>
          </a:ln>
        </p:spPr>
      </p:sp>
      <p:sp>
        <p:nvSpPr>
          <p:cNvPr id="213" name="Text 213"/>
          <p:cNvSpPr txBox="1"/>
          <p:nvPr/>
        </p:nvSpPr>
        <p:spPr>
          <a:xfrm>
            <a:off x="822960" y="4279392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主缸压力</a:t>
            </a:r>
            <a:endParaRPr lang="zh-CN" sz="1100"/>
          </a:p>
        </p:txBody>
      </p:sp>
      <p:sp>
        <p:nvSpPr>
          <p:cNvPr id="214" name="Text 214"/>
          <p:cNvSpPr txBox="1"/>
          <p:nvPr/>
        </p:nvSpPr>
        <p:spPr>
          <a:xfrm>
            <a:off x="1874520" y="4279392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0–10 MPa</a:t>
            </a:r>
            <a:endParaRPr lang="zh-CN" sz="1100"/>
          </a:p>
        </p:txBody>
      </p:sp>
      <p:sp>
        <p:nvSpPr>
          <p:cNvPr id="215" name="Shape 215"/>
          <p:cNvSpPr/>
          <p:nvPr/>
        </p:nvSpPr>
        <p:spPr>
          <a:xfrm>
            <a:off x="713232" y="4645152"/>
            <a:ext cx="2880360" cy="347472"/>
          </a:xfrm>
          <a:prstGeom prst="rect">
            <a:avLst/>
          </a:prstGeom>
          <a:solidFill>
            <a:srgbClr val="EAF0F2"/>
          </a:solidFill>
          <a:ln>
            <a:noFill/>
          </a:ln>
        </p:spPr>
      </p:sp>
      <p:sp>
        <p:nvSpPr>
          <p:cNvPr id="216" name="Text 216"/>
          <p:cNvSpPr txBox="1"/>
          <p:nvPr/>
        </p:nvSpPr>
        <p:spPr>
          <a:xfrm>
            <a:off x="822960" y="4681728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附着系数</a:t>
            </a:r>
            <a:endParaRPr lang="zh-CN" sz="1100"/>
          </a:p>
        </p:txBody>
      </p:sp>
      <p:sp>
        <p:nvSpPr>
          <p:cNvPr id="217" name="Text 217"/>
          <p:cNvSpPr txBox="1"/>
          <p:nvPr/>
        </p:nvSpPr>
        <p:spPr>
          <a:xfrm>
            <a:off x="1874520" y="4681728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0.2–0.8</a:t>
            </a:r>
            <a:endParaRPr lang="zh-CN" sz="1100"/>
          </a:p>
        </p:txBody>
      </p:sp>
      <p:sp>
        <p:nvSpPr>
          <p:cNvPr id="218" name="Shape 218"/>
          <p:cNvSpPr/>
          <p:nvPr/>
        </p:nvSpPr>
        <p:spPr>
          <a:xfrm>
            <a:off x="713232" y="5047488"/>
            <a:ext cx="2880360" cy="347472"/>
          </a:xfrm>
          <a:prstGeom prst="rect">
            <a:avLst/>
          </a:prstGeom>
          <a:solidFill>
            <a:srgbClr val="F6F9FA"/>
          </a:solidFill>
          <a:ln>
            <a:noFill/>
          </a:ln>
        </p:spPr>
      </p:sp>
      <p:sp>
        <p:nvSpPr>
          <p:cNvPr id="219" name="Text 219"/>
          <p:cNvSpPr txBox="1"/>
          <p:nvPr/>
        </p:nvSpPr>
        <p:spPr>
          <a:xfrm>
            <a:off x="822960" y="5084064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压力曲线</a:t>
            </a:r>
            <a:endParaRPr lang="zh-CN" sz="1100"/>
          </a:p>
        </p:txBody>
      </p:sp>
      <p:sp>
        <p:nvSpPr>
          <p:cNvPr id="220" name="Text 220"/>
          <p:cNvSpPr txBox="1"/>
          <p:nvPr/>
        </p:nvSpPr>
        <p:spPr>
          <a:xfrm>
            <a:off x="1874520" y="5084064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恒压 / 阶跃 / 平滑随机</a:t>
            </a:r>
            <a:endParaRPr lang="zh-CN" sz="1100"/>
          </a:p>
        </p:txBody>
      </p:sp>
      <p:sp>
        <p:nvSpPr>
          <p:cNvPr id="221" name="Shape 221"/>
          <p:cNvSpPr/>
          <p:nvPr/>
        </p:nvSpPr>
        <p:spPr>
          <a:xfrm>
            <a:off x="713232" y="5449824"/>
            <a:ext cx="2880360" cy="347472"/>
          </a:xfrm>
          <a:prstGeom prst="rect">
            <a:avLst/>
          </a:prstGeom>
          <a:solidFill>
            <a:srgbClr val="EAF0F2"/>
          </a:solidFill>
          <a:ln>
            <a:noFill/>
          </a:ln>
        </p:spPr>
      </p:sp>
      <p:sp>
        <p:nvSpPr>
          <p:cNvPr id="222" name="Text 222"/>
          <p:cNvSpPr txBox="1"/>
          <p:nvPr/>
        </p:nvSpPr>
        <p:spPr>
          <a:xfrm>
            <a:off x="822960" y="5486400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1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轨迹长度</a:t>
            </a:r>
            <a:endParaRPr lang="zh-CN" sz="1100"/>
          </a:p>
        </p:txBody>
      </p:sp>
      <p:sp>
        <p:nvSpPr>
          <p:cNvPr id="223" name="Text 223"/>
          <p:cNvSpPr txBox="1"/>
          <p:nvPr/>
        </p:nvSpPr>
        <p:spPr>
          <a:xfrm>
            <a:off x="1874520" y="5486400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4–8 s，Δt=0.05 s</a:t>
            </a:r>
            <a:endParaRPr lang="zh-CN" sz="1100"/>
          </a:p>
        </p:txBody>
      </p:sp>
      <p:sp>
        <p:nvSpPr>
          <p:cNvPr id="224" name="Shape 224"/>
          <p:cNvSpPr/>
          <p:nvPr/>
        </p:nvSpPr>
        <p:spPr>
          <a:xfrm>
            <a:off x="3977640" y="342900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25" name="Shape 225"/>
          <p:cNvSpPr/>
          <p:nvPr/>
        </p:nvSpPr>
        <p:spPr>
          <a:xfrm>
            <a:off x="3977640" y="3429000"/>
            <a:ext cx="73152" cy="2423160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226" name="Text 226"/>
          <p:cNvSpPr txBox="1"/>
          <p:nvPr/>
        </p:nvSpPr>
        <p:spPr>
          <a:xfrm>
            <a:off x="4197096" y="35844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已完成的工程准备</a:t>
            </a:r>
            <a:endParaRPr lang="zh-CN" sz="1400"/>
          </a:p>
        </p:txBody>
      </p:sp>
      <p:sp>
        <p:nvSpPr>
          <p:cNvPr id="227" name="Text 227"/>
          <p:cNvSpPr txBox="1"/>
          <p:nvPr/>
        </p:nvSpPr>
        <p:spPr>
          <a:xfrm>
            <a:off x="4197096" y="3959352"/>
            <a:ext cx="3182112" cy="1764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• 序列数据生成器
• CarSim 批量采集模板
• 通用 PyTorch Dataset
• 模型与规划器接口解耦</a:t>
            </a:r>
            <a:endParaRPr lang="zh-CN" sz="1500"/>
          </a:p>
        </p:txBody>
      </p:sp>
      <p:sp>
        <p:nvSpPr>
          <p:cNvPr id="228" name="Shape 228"/>
          <p:cNvSpPr/>
          <p:nvPr/>
        </p:nvSpPr>
        <p:spPr>
          <a:xfrm>
            <a:off x="7909560" y="342900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29" name="Shape 229"/>
          <p:cNvSpPr/>
          <p:nvPr/>
        </p:nvSpPr>
        <p:spPr>
          <a:xfrm>
            <a:off x="7909560" y="3429000"/>
            <a:ext cx="73152" cy="2423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30" name="Text 230"/>
          <p:cNvSpPr txBox="1"/>
          <p:nvPr/>
        </p:nvSpPr>
        <p:spPr>
          <a:xfrm>
            <a:off x="8129016" y="35844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汇报口径</a:t>
            </a:r>
            <a:endParaRPr lang="zh-CN" sz="1400"/>
          </a:p>
        </p:txBody>
      </p:sp>
      <p:sp>
        <p:nvSpPr>
          <p:cNvPr id="231" name="Text 231"/>
          <p:cNvSpPr txBox="1"/>
          <p:nvPr/>
        </p:nvSpPr>
        <p:spPr>
          <a:xfrm>
            <a:off x="8129016" y="3959352"/>
            <a:ext cx="3182112" cy="17647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当前：机制模型闭环已完成
下一步：CarSim 高保真验证
不把规划中的 CarSim 结果冒充为已完成结果。</a:t>
            </a:r>
            <a:endParaRPr lang="zh-CN" sz="1500"/>
          </a:p>
        </p:txBody>
      </p:sp>
      <p:sp>
        <p:nvSpPr>
          <p:cNvPr id="232" name="Shape 23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233" name="Text 233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B  ·  建议用时 0:45</a:t>
            </a:r>
            <a:endParaRPr lang="zh-CN" sz="900"/>
          </a:p>
        </p:txBody>
      </p:sp>
      <p:sp>
        <p:nvSpPr>
          <p:cNvPr id="234" name="Text 234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zh-CN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236" name="Shape 23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37" name="Text 237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上层世界模型规划：在“脑内”比较未来制动轨迹</a:t>
            </a:r>
            <a:endParaRPr lang="zh-CN" sz="2700"/>
          </a:p>
        </p:txBody>
      </p:sp>
      <p:sp>
        <p:nvSpPr>
          <p:cNvPr id="238" name="Text 238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PART 3 / 3</a:t>
            </a:r>
            <a:endParaRPr lang="zh-CN" sz="1000"/>
          </a:p>
        </p:txBody>
      </p:sp>
      <p:sp>
        <p:nvSpPr>
          <p:cNvPr id="239" name="Shape 239"/>
          <p:cNvSpPr/>
          <p:nvPr/>
        </p:nvSpPr>
        <p:spPr>
          <a:xfrm>
            <a:off x="658368" y="1005840"/>
            <a:ext cx="108813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40" name="Shape 240"/>
          <p:cNvSpPr/>
          <p:nvPr/>
        </p:nvSpPr>
        <p:spPr>
          <a:xfrm>
            <a:off x="960120" y="1417320"/>
            <a:ext cx="2743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241" name="Text 241"/>
          <p:cNvSpPr txBox="1"/>
          <p:nvPr/>
        </p:nvSpPr>
        <p:spPr>
          <a:xfrm>
            <a:off x="1069848" y="1563624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上层：采样式规划器</a:t>
            </a:r>
            <a:endParaRPr lang="zh-CN" sz="1700"/>
          </a:p>
        </p:txBody>
      </p:sp>
      <p:sp>
        <p:nvSpPr>
          <p:cNvPr id="242" name="Text 242"/>
          <p:cNvSpPr txBox="1"/>
          <p:nvPr/>
        </p:nvSpPr>
        <p:spPr>
          <a:xfrm>
            <a:off x="1088136" y="1947672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状态 [vₜ, xₜ, μₜ]
生成候选压力序列 U</a:t>
            </a:r>
            <a:endParaRPr lang="zh-CN" sz="1200"/>
          </a:p>
        </p:txBody>
      </p:sp>
      <p:sp>
        <p:nvSpPr>
          <p:cNvPr id="243" name="Shape 243"/>
          <p:cNvSpPr/>
          <p:nvPr/>
        </p:nvSpPr>
        <p:spPr>
          <a:xfrm>
            <a:off x="4736592" y="1417320"/>
            <a:ext cx="2743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A93B"/>
            </a:solidFill>
          </a:ln>
        </p:spPr>
      </p:sp>
      <p:sp>
        <p:nvSpPr>
          <p:cNvPr id="244" name="Text 244"/>
          <p:cNvSpPr txBox="1"/>
          <p:nvPr/>
        </p:nvSpPr>
        <p:spPr>
          <a:xfrm>
            <a:off x="4846320" y="1563624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中层：世界模型</a:t>
            </a:r>
            <a:endParaRPr lang="zh-CN" sz="1700"/>
          </a:p>
        </p:txBody>
      </p:sp>
      <p:sp>
        <p:nvSpPr>
          <p:cNvPr id="245" name="Text 245"/>
          <p:cNvSpPr txBox="1"/>
          <p:nvPr/>
        </p:nvSpPr>
        <p:spPr>
          <a:xfrm>
            <a:off x="4864608" y="1947672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LSTM / PINN
滚动预测未来轨迹</a:t>
            </a:r>
            <a:endParaRPr lang="zh-CN" sz="1200"/>
          </a:p>
        </p:txBody>
      </p:sp>
      <p:sp>
        <p:nvSpPr>
          <p:cNvPr id="246" name="Shape 246"/>
          <p:cNvSpPr/>
          <p:nvPr/>
        </p:nvSpPr>
        <p:spPr>
          <a:xfrm>
            <a:off x="8503920" y="1417320"/>
            <a:ext cx="2743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247" name="Text 247"/>
          <p:cNvSpPr txBox="1"/>
          <p:nvPr/>
        </p:nvSpPr>
        <p:spPr>
          <a:xfrm>
            <a:off x="8613648" y="1563624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下层：物理环境</a:t>
            </a:r>
            <a:endParaRPr lang="zh-CN" sz="1700"/>
          </a:p>
        </p:txBody>
      </p:sp>
      <p:sp>
        <p:nvSpPr>
          <p:cNvPr id="248" name="Text 248"/>
          <p:cNvSpPr txBox="1"/>
          <p:nvPr/>
        </p:nvSpPr>
        <p:spPr>
          <a:xfrm>
            <a:off x="8631936" y="1947672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机制模型 / CarSim
执行第一步压力 Pₜ</a:t>
            </a:r>
            <a:endParaRPr lang="zh-CN" sz="1200"/>
          </a:p>
        </p:txBody>
      </p:sp>
      <p:sp>
        <p:nvSpPr>
          <p:cNvPr id="249" name="Line 249"/>
          <p:cNvSpPr/>
          <p:nvPr/>
        </p:nvSpPr>
        <p:spPr>
          <a:xfrm>
            <a:off x="3730752" y="2084832"/>
            <a:ext cx="914400" cy="914"/>
          </a:xfrm>
          <a:prstGeom prst="line">
            <a:avLst/>
          </a:prstGeom>
          <a:ln w="31750">
            <a:solidFill>
              <a:srgbClr val="D64D4D"/>
            </a:solidFill>
            <a:tailEnd type="triangle"/>
          </a:ln>
        </p:spPr>
      </p:sp>
      <p:sp>
        <p:nvSpPr>
          <p:cNvPr id="250" name="Line 250"/>
          <p:cNvSpPr/>
          <p:nvPr/>
        </p:nvSpPr>
        <p:spPr>
          <a:xfrm>
            <a:off x="7498080" y="2084832"/>
            <a:ext cx="914400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51" name="Line 251"/>
          <p:cNvSpPr/>
          <p:nvPr/>
        </p:nvSpPr>
        <p:spPr>
          <a:xfrm>
            <a:off x="9875520" y="2816352"/>
            <a:ext cx="914" cy="932688"/>
          </a:xfrm>
          <a:prstGeom prst="line">
            <a:avLst/>
          </a:prstGeom>
          <a:ln w="31750">
            <a:solidFill>
              <a:srgbClr val="0E8A92"/>
            </a:solidFill>
            <a:tailEnd type="triangle"/>
          </a:ln>
        </p:spPr>
      </p:sp>
      <p:sp>
        <p:nvSpPr>
          <p:cNvPr id="252" name="Shape 252"/>
          <p:cNvSpPr/>
          <p:nvPr/>
        </p:nvSpPr>
        <p:spPr>
          <a:xfrm>
            <a:off x="8183880" y="3767328"/>
            <a:ext cx="33832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253" name="Text 253"/>
          <p:cNvSpPr txBox="1"/>
          <p:nvPr/>
        </p:nvSpPr>
        <p:spPr>
          <a:xfrm>
            <a:off x="8293608" y="3913632"/>
            <a:ext cx="31638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状态反馈</a:t>
            </a:r>
            <a:endParaRPr lang="zh-CN" sz="1700"/>
          </a:p>
        </p:txBody>
      </p:sp>
      <p:sp>
        <p:nvSpPr>
          <p:cNvPr id="254" name="Text 254"/>
          <p:cNvSpPr txBox="1"/>
          <p:nvPr/>
        </p:nvSpPr>
        <p:spPr>
          <a:xfrm>
            <a:off x="8311896" y="4297680"/>
            <a:ext cx="3127248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vₜ₊₁, aₜ₊₁, xₜ₊₁</a:t>
            </a:r>
            <a:endParaRPr lang="zh-CN" sz="1200"/>
          </a:p>
        </p:txBody>
      </p:sp>
      <p:sp>
        <p:nvSpPr>
          <p:cNvPr id="255" name="Line 255"/>
          <p:cNvSpPr/>
          <p:nvPr/>
        </p:nvSpPr>
        <p:spPr>
          <a:xfrm flipH="1">
            <a:off x="4023360" y="4334256"/>
            <a:ext cx="4133088" cy="914"/>
          </a:xfrm>
          <a:prstGeom prst="line">
            <a:avLst/>
          </a:prstGeom>
          <a:ln w="31750">
            <a:solidFill>
              <a:srgbClr val="0E8A92"/>
            </a:solidFill>
            <a:tailEnd type="triangle"/>
          </a:ln>
        </p:spPr>
      </p:sp>
      <p:sp>
        <p:nvSpPr>
          <p:cNvPr id="256" name="Line 256"/>
          <p:cNvSpPr/>
          <p:nvPr/>
        </p:nvSpPr>
        <p:spPr>
          <a:xfrm flipH="1" flipV="1">
            <a:off x="2331720" y="2852928"/>
            <a:ext cx="1691640" cy="1481328"/>
          </a:xfrm>
          <a:prstGeom prst="line">
            <a:avLst/>
          </a:prstGeom>
          <a:ln w="31750">
            <a:solidFill>
              <a:srgbClr val="0E8A92"/>
            </a:solidFill>
            <a:tailEnd type="triangle"/>
          </a:ln>
        </p:spPr>
      </p:sp>
      <p:sp>
        <p:nvSpPr>
          <p:cNvPr id="257" name="Shape 257"/>
          <p:cNvSpPr/>
          <p:nvPr/>
        </p:nvSpPr>
        <p:spPr>
          <a:xfrm>
            <a:off x="960120" y="3703320"/>
            <a:ext cx="2743200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258" name="Text 258"/>
          <p:cNvSpPr txBox="1"/>
          <p:nvPr/>
        </p:nvSpPr>
        <p:spPr>
          <a:xfrm>
            <a:off x="1069848" y="3849624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代价评估</a:t>
            </a:r>
            <a:endParaRPr lang="zh-CN" sz="1700"/>
          </a:p>
        </p:txBody>
      </p:sp>
      <p:sp>
        <p:nvSpPr>
          <p:cNvPr id="259" name="Text 259"/>
          <p:cNvSpPr txBox="1"/>
          <p:nvPr/>
        </p:nvSpPr>
        <p:spPr>
          <a:xfrm>
            <a:off x="1088136" y="4233672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安全距离 · 舒适性
压力平滑 · 碰撞惩罚</a:t>
            </a:r>
            <a:endParaRPr lang="zh-CN" sz="1200"/>
          </a:p>
        </p:txBody>
      </p:sp>
      <p:sp>
        <p:nvSpPr>
          <p:cNvPr id="260" name="Line 260"/>
          <p:cNvSpPr/>
          <p:nvPr/>
        </p:nvSpPr>
        <p:spPr>
          <a:xfrm flipH="1">
            <a:off x="3337560" y="2852928"/>
            <a:ext cx="1399032" cy="804672"/>
          </a:xfrm>
          <a:prstGeom prst="line">
            <a:avLst/>
          </a:prstGeom>
          <a:ln w="25400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61" name="Text 261"/>
          <p:cNvSpPr txBox="1"/>
          <p:nvPr/>
        </p:nvSpPr>
        <p:spPr>
          <a:xfrm>
            <a:off x="4160520" y="5047488"/>
            <a:ext cx="3931920" cy="384048"/>
          </a:xfrm>
          <a:prstGeom prst="roundRect">
            <a:avLst/>
          </a:prstGeom>
          <a:solidFill>
            <a:srgbClr val="E9F4F5"/>
          </a:solidFill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6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滚动优化：只执行最优序列的第一步</a:t>
            </a:r>
            <a:endParaRPr lang="zh-CN" sz="1600"/>
          </a:p>
        </p:txBody>
      </p:sp>
      <p:sp>
        <p:nvSpPr>
          <p:cNvPr id="262" name="Shape 26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63" name="Text 263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C  ·  建议用时 1:05</a:t>
            </a:r>
            <a:endParaRPr lang="zh-CN" sz="900"/>
          </a:p>
        </p:txBody>
      </p:sp>
      <p:sp>
        <p:nvSpPr>
          <p:cNvPr id="264" name="Text 264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266" name="Shape 26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67" name="Text 267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采样式 MPC：不求复杂梯度，直接预测并排序</a:t>
            </a:r>
            <a:endParaRPr lang="zh-CN" sz="2700"/>
          </a:p>
        </p:txBody>
      </p:sp>
      <p:sp>
        <p:nvSpPr>
          <p:cNvPr id="268" name="Text 268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PART 3 / 3</a:t>
            </a:r>
            <a:endParaRPr lang="zh-CN" sz="1000"/>
          </a:p>
        </p:txBody>
      </p:sp>
      <p:sp>
        <p:nvSpPr>
          <p:cNvPr id="269" name="Shape 269"/>
          <p:cNvSpPr/>
          <p:nvPr/>
        </p:nvSpPr>
        <p:spPr>
          <a:xfrm>
            <a:off x="658368" y="1234440"/>
            <a:ext cx="2331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70" name="Shape 270"/>
          <p:cNvSpPr/>
          <p:nvPr/>
        </p:nvSpPr>
        <p:spPr>
          <a:xfrm>
            <a:off x="822960" y="1435608"/>
            <a:ext cx="493776" cy="493776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71" name="Text 271"/>
          <p:cNvSpPr txBox="1"/>
          <p:nvPr/>
        </p:nvSpPr>
        <p:spPr>
          <a:xfrm>
            <a:off x="841248" y="15453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400"/>
          </a:p>
        </p:txBody>
      </p:sp>
      <p:sp>
        <p:nvSpPr>
          <p:cNvPr id="272" name="Text 272"/>
          <p:cNvSpPr txBox="1"/>
          <p:nvPr/>
        </p:nvSpPr>
        <p:spPr>
          <a:xfrm>
            <a:off x="1444752" y="143560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采样动作</a:t>
            </a:r>
            <a:endParaRPr lang="zh-CN" sz="1700"/>
          </a:p>
        </p:txBody>
      </p:sp>
      <p:sp>
        <p:nvSpPr>
          <p:cNvPr id="273" name="Text 273"/>
          <p:cNvSpPr txBox="1"/>
          <p:nvPr/>
        </p:nvSpPr>
        <p:spPr>
          <a:xfrm>
            <a:off x="914400" y="2029968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生成约 256 条
平滑压力序列</a:t>
            </a:r>
            <a:endParaRPr lang="zh-CN" sz="1500"/>
          </a:p>
        </p:txBody>
      </p:sp>
      <p:sp>
        <p:nvSpPr>
          <p:cNvPr id="274" name="Line 274"/>
          <p:cNvSpPr/>
          <p:nvPr/>
        </p:nvSpPr>
        <p:spPr>
          <a:xfrm>
            <a:off x="3008376" y="2176272"/>
            <a:ext cx="429768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75" name="Shape 275"/>
          <p:cNvSpPr/>
          <p:nvPr/>
        </p:nvSpPr>
        <p:spPr>
          <a:xfrm>
            <a:off x="3511296" y="1234440"/>
            <a:ext cx="2331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76" name="Shape 276"/>
          <p:cNvSpPr/>
          <p:nvPr/>
        </p:nvSpPr>
        <p:spPr>
          <a:xfrm>
            <a:off x="3675888" y="1435608"/>
            <a:ext cx="493776" cy="493776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77" name="Text 277"/>
          <p:cNvSpPr txBox="1"/>
          <p:nvPr/>
        </p:nvSpPr>
        <p:spPr>
          <a:xfrm>
            <a:off x="3694176" y="15453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400"/>
          </a:p>
        </p:txBody>
      </p:sp>
      <p:sp>
        <p:nvSpPr>
          <p:cNvPr id="278" name="Text 278"/>
          <p:cNvSpPr txBox="1"/>
          <p:nvPr/>
        </p:nvSpPr>
        <p:spPr>
          <a:xfrm>
            <a:off x="4297680" y="143560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脑内演化</a:t>
            </a:r>
            <a:endParaRPr lang="zh-CN" sz="1700"/>
          </a:p>
        </p:txBody>
      </p:sp>
      <p:sp>
        <p:nvSpPr>
          <p:cNvPr id="279" name="Text 279"/>
          <p:cNvSpPr txBox="1"/>
          <p:nvPr/>
        </p:nvSpPr>
        <p:spPr>
          <a:xfrm>
            <a:off x="3767328" y="2029968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世界模型滚动
预测 N 步</a:t>
            </a:r>
            <a:endParaRPr lang="zh-CN" sz="1500"/>
          </a:p>
        </p:txBody>
      </p:sp>
      <p:sp>
        <p:nvSpPr>
          <p:cNvPr id="280" name="Line 280"/>
          <p:cNvSpPr/>
          <p:nvPr/>
        </p:nvSpPr>
        <p:spPr>
          <a:xfrm>
            <a:off x="5861304" y="2176272"/>
            <a:ext cx="429768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81" name="Shape 281"/>
          <p:cNvSpPr/>
          <p:nvPr/>
        </p:nvSpPr>
        <p:spPr>
          <a:xfrm>
            <a:off x="6364224" y="1234440"/>
            <a:ext cx="2331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82" name="Shape 282"/>
          <p:cNvSpPr/>
          <p:nvPr/>
        </p:nvSpPr>
        <p:spPr>
          <a:xfrm>
            <a:off x="6528816" y="1435608"/>
            <a:ext cx="493776" cy="493776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83" name="Text 283"/>
          <p:cNvSpPr txBox="1"/>
          <p:nvPr/>
        </p:nvSpPr>
        <p:spPr>
          <a:xfrm>
            <a:off x="6547104" y="15453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400"/>
          </a:p>
        </p:txBody>
      </p:sp>
      <p:sp>
        <p:nvSpPr>
          <p:cNvPr id="284" name="Text 284"/>
          <p:cNvSpPr txBox="1"/>
          <p:nvPr/>
        </p:nvSpPr>
        <p:spPr>
          <a:xfrm>
            <a:off x="7150608" y="143560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计算代价</a:t>
            </a:r>
            <a:endParaRPr lang="zh-CN" sz="1700"/>
          </a:p>
        </p:txBody>
      </p:sp>
      <p:sp>
        <p:nvSpPr>
          <p:cNvPr id="285" name="Text 285"/>
          <p:cNvSpPr txBox="1"/>
          <p:nvPr/>
        </p:nvSpPr>
        <p:spPr>
          <a:xfrm>
            <a:off x="6620256" y="2029968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安全、精准
舒适、平滑</a:t>
            </a:r>
            <a:endParaRPr lang="zh-CN" sz="1500"/>
          </a:p>
        </p:txBody>
      </p:sp>
      <p:sp>
        <p:nvSpPr>
          <p:cNvPr id="286" name="Line 286"/>
          <p:cNvSpPr/>
          <p:nvPr/>
        </p:nvSpPr>
        <p:spPr>
          <a:xfrm>
            <a:off x="8714232" y="2176272"/>
            <a:ext cx="429768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87" name="Shape 287"/>
          <p:cNvSpPr/>
          <p:nvPr/>
        </p:nvSpPr>
        <p:spPr>
          <a:xfrm>
            <a:off x="9217152" y="1234440"/>
            <a:ext cx="2331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4D4D"/>
            </a:solidFill>
          </a:ln>
        </p:spPr>
      </p:sp>
      <p:sp>
        <p:nvSpPr>
          <p:cNvPr id="288" name="Shape 288"/>
          <p:cNvSpPr/>
          <p:nvPr/>
        </p:nvSpPr>
        <p:spPr>
          <a:xfrm>
            <a:off x="9381744" y="1435608"/>
            <a:ext cx="493776" cy="493776"/>
          </a:xfrm>
          <a:prstGeom prst="ellipse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289" name="Text 289"/>
          <p:cNvSpPr txBox="1"/>
          <p:nvPr/>
        </p:nvSpPr>
        <p:spPr>
          <a:xfrm>
            <a:off x="9400032" y="154533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1400"/>
          </a:p>
        </p:txBody>
      </p:sp>
      <p:sp>
        <p:nvSpPr>
          <p:cNvPr id="290" name="Text 290"/>
          <p:cNvSpPr txBox="1"/>
          <p:nvPr/>
        </p:nvSpPr>
        <p:spPr>
          <a:xfrm>
            <a:off x="10003536" y="143560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执行首步</a:t>
            </a:r>
            <a:endParaRPr lang="zh-CN" sz="1700"/>
          </a:p>
        </p:txBody>
      </p:sp>
      <p:sp>
        <p:nvSpPr>
          <p:cNvPr id="291" name="Text 291"/>
          <p:cNvSpPr txBox="1"/>
          <p:nvPr/>
        </p:nvSpPr>
        <p:spPr>
          <a:xfrm>
            <a:off x="9473184" y="2029968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输出最优 Pₜ
下一时刻重规划</a:t>
            </a:r>
            <a:endParaRPr lang="zh-CN" sz="1500"/>
          </a:p>
        </p:txBody>
      </p:sp>
      <p:sp>
        <p:nvSpPr>
          <p:cNvPr id="292" name="Text 292"/>
          <p:cNvSpPr txBox="1"/>
          <p:nvPr/>
        </p:nvSpPr>
        <p:spPr>
          <a:xfrm>
            <a:off x="749808" y="3502152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1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J = w_d (x_stop − d_safe)²  +  w_a mean(a²)  +  w_p mean(ΔP²)</a:t>
            </a:r>
            <a:endParaRPr lang="zh-CN" sz="2100"/>
          </a:p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+ collision_penalty  +  not_stop_penalty</a:t>
            </a:r>
            <a:endParaRPr lang="zh-CN" sz="1800"/>
          </a:p>
        </p:txBody>
      </p:sp>
      <p:sp>
        <p:nvSpPr>
          <p:cNvPr id="293" name="Text 293"/>
          <p:cNvSpPr txBox="1"/>
          <p:nvPr/>
        </p:nvSpPr>
        <p:spPr>
          <a:xfrm>
            <a:off x="749808" y="477316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候选压力曲线示意</a:t>
            </a:r>
            <a:endParaRPr lang="zh-CN" sz="1600"/>
          </a:p>
        </p:txBody>
      </p:sp>
      <p:sp>
        <p:nvSpPr>
          <p:cNvPr id="294" name="Line 294"/>
          <p:cNvSpPr/>
          <p:nvPr/>
        </p:nvSpPr>
        <p:spPr>
          <a:xfrm flipV="1">
            <a:off x="960120" y="5669280"/>
            <a:ext cx="868680" cy="137160"/>
          </a:xfrm>
          <a:prstGeom prst="line">
            <a:avLst/>
          </a:prstGeom>
          <a:ln w="19050">
            <a:solidFill>
              <a:srgbClr val="0E8A92"/>
            </a:solidFill>
          </a:ln>
        </p:spPr>
      </p:sp>
      <p:sp>
        <p:nvSpPr>
          <p:cNvPr id="295" name="Line 295"/>
          <p:cNvSpPr/>
          <p:nvPr/>
        </p:nvSpPr>
        <p:spPr>
          <a:xfrm flipV="1">
            <a:off x="1828800" y="5294376"/>
            <a:ext cx="1371600" cy="374904"/>
          </a:xfrm>
          <a:prstGeom prst="line">
            <a:avLst/>
          </a:prstGeom>
          <a:ln w="19050">
            <a:solidFill>
              <a:srgbClr val="0E8A92"/>
            </a:solidFill>
          </a:ln>
        </p:spPr>
      </p:sp>
      <p:sp>
        <p:nvSpPr>
          <p:cNvPr id="296" name="Line 296"/>
          <p:cNvSpPr/>
          <p:nvPr/>
        </p:nvSpPr>
        <p:spPr>
          <a:xfrm flipV="1">
            <a:off x="960120" y="5568696"/>
            <a:ext cx="868680" cy="237744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297" name="Line 297"/>
          <p:cNvSpPr/>
          <p:nvPr/>
        </p:nvSpPr>
        <p:spPr>
          <a:xfrm flipV="1">
            <a:off x="1828800" y="5404104"/>
            <a:ext cx="1371600" cy="164592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298" name="Line 298"/>
          <p:cNvSpPr/>
          <p:nvPr/>
        </p:nvSpPr>
        <p:spPr>
          <a:xfrm flipV="1">
            <a:off x="960120" y="5468112"/>
            <a:ext cx="868680" cy="338328"/>
          </a:xfrm>
          <a:prstGeom prst="line">
            <a:avLst/>
          </a:prstGeom>
          <a:ln w="19050">
            <a:solidFill>
              <a:srgbClr val="0E8A92"/>
            </a:solidFill>
          </a:ln>
        </p:spPr>
      </p:sp>
      <p:sp>
        <p:nvSpPr>
          <p:cNvPr id="299" name="Line 299"/>
          <p:cNvSpPr/>
          <p:nvPr/>
        </p:nvSpPr>
        <p:spPr>
          <a:xfrm flipV="1">
            <a:off x="1828800" y="5074920"/>
            <a:ext cx="1371600" cy="393192"/>
          </a:xfrm>
          <a:prstGeom prst="line">
            <a:avLst/>
          </a:prstGeom>
          <a:ln w="19050">
            <a:solidFill>
              <a:srgbClr val="0E8A92"/>
            </a:solidFill>
          </a:ln>
        </p:spPr>
      </p:sp>
      <p:sp>
        <p:nvSpPr>
          <p:cNvPr id="300" name="Line 300"/>
          <p:cNvSpPr/>
          <p:nvPr/>
        </p:nvSpPr>
        <p:spPr>
          <a:xfrm flipV="1">
            <a:off x="960120" y="5367528"/>
            <a:ext cx="868680" cy="438912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301" name="Line 301"/>
          <p:cNvSpPr/>
          <p:nvPr/>
        </p:nvSpPr>
        <p:spPr>
          <a:xfrm flipV="1">
            <a:off x="1828800" y="5184648"/>
            <a:ext cx="1371600" cy="182880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302" name="Line 302"/>
          <p:cNvSpPr/>
          <p:nvPr/>
        </p:nvSpPr>
        <p:spPr>
          <a:xfrm flipV="1">
            <a:off x="960120" y="5266944"/>
            <a:ext cx="868680" cy="539496"/>
          </a:xfrm>
          <a:prstGeom prst="line">
            <a:avLst/>
          </a:prstGeom>
          <a:ln w="38100">
            <a:solidFill>
              <a:srgbClr val="D64D4D"/>
            </a:solidFill>
          </a:ln>
        </p:spPr>
      </p:sp>
      <p:sp>
        <p:nvSpPr>
          <p:cNvPr id="303" name="Line 303"/>
          <p:cNvSpPr/>
          <p:nvPr/>
        </p:nvSpPr>
        <p:spPr>
          <a:xfrm>
            <a:off x="1828800" y="5266944"/>
            <a:ext cx="1371600" cy="27432"/>
          </a:xfrm>
          <a:prstGeom prst="line">
            <a:avLst/>
          </a:prstGeom>
          <a:ln w="38100">
            <a:solidFill>
              <a:srgbClr val="D64D4D"/>
            </a:solidFill>
          </a:ln>
        </p:spPr>
      </p:sp>
      <p:sp>
        <p:nvSpPr>
          <p:cNvPr id="304" name="Line 304"/>
          <p:cNvSpPr/>
          <p:nvPr/>
        </p:nvSpPr>
        <p:spPr>
          <a:xfrm flipV="1">
            <a:off x="960120" y="5166360"/>
            <a:ext cx="868680" cy="640080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305" name="Line 305"/>
          <p:cNvSpPr/>
          <p:nvPr/>
        </p:nvSpPr>
        <p:spPr>
          <a:xfrm>
            <a:off x="1828800" y="5166360"/>
            <a:ext cx="1371600" cy="237744"/>
          </a:xfrm>
          <a:prstGeom prst="line">
            <a:avLst/>
          </a:prstGeom>
          <a:ln w="19050">
            <a:solidFill>
              <a:srgbClr val="F2A93B"/>
            </a:solidFill>
          </a:ln>
        </p:spPr>
      </p:sp>
      <p:sp>
        <p:nvSpPr>
          <p:cNvPr id="306" name="Text 306"/>
          <p:cNvSpPr txBox="1"/>
          <p:nvPr/>
        </p:nvSpPr>
        <p:spPr>
          <a:xfrm>
            <a:off x="3840480" y="4773168"/>
            <a:ext cx="7452360" cy="1143000"/>
          </a:xfrm>
          <a:prstGeom prst="roundRect">
            <a:avLst/>
          </a:prstGeom>
          <a:solidFill>
            <a:srgbClr val="FFF7EA"/>
          </a:solidFill>
          <a:ln w="12700">
            <a:solidFill>
              <a:srgbClr val="F4D9AA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工程优势</a:t>
            </a:r>
            <a:endParaRPr lang="zh-CN" sz="1500"/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无需对神经网络求解析梯度；易加入约束和惩罚；可从随机搜索逐步升级到 MPPI / CEM。</a:t>
            </a:r>
            <a:endParaRPr lang="zh-CN" sz="1800"/>
          </a:p>
        </p:txBody>
      </p:sp>
      <p:sp>
        <p:nvSpPr>
          <p:cNvPr id="307" name="Shape 30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08" name="Text 308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C  ·  建议用时 1:10</a:t>
            </a:r>
            <a:endParaRPr lang="zh-CN" sz="900"/>
          </a:p>
        </p:txBody>
      </p:sp>
      <p:sp>
        <p:nvSpPr>
          <p:cNvPr id="309" name="Text 309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311" name="Shape 3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12" name="Text 312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闭环刹停结果：80 km/h 工况停在安全距离附近</a:t>
            </a:r>
            <a:endParaRPr lang="zh-CN" sz="2700"/>
          </a:p>
        </p:txBody>
      </p:sp>
      <p:sp>
        <p:nvSpPr>
          <p:cNvPr id="313" name="Text 313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PART 3 / 3</a:t>
            </a:r>
            <a:endParaRPr lang="zh-CN" sz="1000"/>
          </a:p>
        </p:txBody>
      </p:sp>
      <p:sp>
        <p:nvSpPr>
          <p:cNvPr id="314" name="Shape 314"/>
          <p:cNvSpPr/>
          <p:nvPr/>
        </p:nvSpPr>
        <p:spPr>
          <a:xfrm>
            <a:off x="438912" y="868680"/>
            <a:ext cx="745236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315" name="MPC stopping resul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005840"/>
            <a:ext cx="5230368" cy="5230368"/>
          </a:xfrm>
          <a:prstGeom prst="rect">
            <a:avLst/>
          </a:prstGeom>
          <a:ln>
            <a:noFill/>
          </a:ln>
        </p:spPr>
      </p:pic>
      <p:sp>
        <p:nvSpPr>
          <p:cNvPr id="316" name="Shape 316"/>
          <p:cNvSpPr/>
          <p:nvPr/>
        </p:nvSpPr>
        <p:spPr>
          <a:xfrm>
            <a:off x="8156448" y="960120"/>
            <a:ext cx="34290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17" name="Shape 317"/>
          <p:cNvSpPr/>
          <p:nvPr/>
        </p:nvSpPr>
        <p:spPr>
          <a:xfrm>
            <a:off x="8156448" y="960120"/>
            <a:ext cx="73152" cy="1078992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318" name="Text 318"/>
          <p:cNvSpPr txBox="1"/>
          <p:nvPr/>
        </p:nvSpPr>
        <p:spPr>
          <a:xfrm>
            <a:off x="8375904" y="111556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实验工况</a:t>
            </a:r>
            <a:endParaRPr lang="zh-CN" sz="1400"/>
          </a:p>
        </p:txBody>
      </p:sp>
      <p:sp>
        <p:nvSpPr>
          <p:cNvPr id="319" name="Text 319"/>
          <p:cNvSpPr txBox="1"/>
          <p:nvPr/>
        </p:nvSpPr>
        <p:spPr>
          <a:xfrm>
            <a:off x="8375904" y="1490472"/>
            <a:ext cx="304495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v₀ = 80 km/h  ·  x₀ = 65 m
μ = 0.6  ·  d_safe = 2 m</a:t>
            </a:r>
            <a:endParaRPr lang="zh-CN" sz="1400"/>
          </a:p>
        </p:txBody>
      </p:sp>
      <p:sp>
        <p:nvSpPr>
          <p:cNvPr id="320" name="Shape 320"/>
          <p:cNvSpPr/>
          <p:nvPr/>
        </p:nvSpPr>
        <p:spPr>
          <a:xfrm>
            <a:off x="8156448" y="2267712"/>
            <a:ext cx="34290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21" name="Shape 321"/>
          <p:cNvSpPr/>
          <p:nvPr/>
        </p:nvSpPr>
        <p:spPr>
          <a:xfrm>
            <a:off x="8156448" y="2267712"/>
            <a:ext cx="73152" cy="1078992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322" name="Text 322"/>
          <p:cNvSpPr txBox="1"/>
          <p:nvPr/>
        </p:nvSpPr>
        <p:spPr>
          <a:xfrm>
            <a:off x="8375904" y="242316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刹停结果</a:t>
            </a:r>
            <a:endParaRPr lang="zh-CN" sz="1400"/>
          </a:p>
        </p:txBody>
      </p:sp>
      <p:sp>
        <p:nvSpPr>
          <p:cNvPr id="323" name="Text 323"/>
          <p:cNvSpPr txBox="1"/>
          <p:nvPr/>
        </p:nvSpPr>
        <p:spPr>
          <a:xfrm>
            <a:off x="8375904" y="2798064"/>
            <a:ext cx="304495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停止时间  5.05 s
最终距离  1.844 m</a:t>
            </a:r>
            <a:endParaRPr lang="zh-CN" sz="1600"/>
          </a:p>
        </p:txBody>
      </p:sp>
      <p:sp>
        <p:nvSpPr>
          <p:cNvPr id="324" name="Shape 324"/>
          <p:cNvSpPr/>
          <p:nvPr/>
        </p:nvSpPr>
        <p:spPr>
          <a:xfrm>
            <a:off x="8156448" y="3575304"/>
            <a:ext cx="34290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25" name="Shape 325"/>
          <p:cNvSpPr/>
          <p:nvPr/>
        </p:nvSpPr>
        <p:spPr>
          <a:xfrm>
            <a:off x="8156448" y="3575304"/>
            <a:ext cx="73152" cy="1078992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26" name="Text 326"/>
          <p:cNvSpPr txBox="1"/>
          <p:nvPr/>
        </p:nvSpPr>
        <p:spPr>
          <a:xfrm>
            <a:off x="8375904" y="373075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目标误差</a:t>
            </a:r>
            <a:endParaRPr lang="zh-CN" sz="1400"/>
          </a:p>
        </p:txBody>
      </p:sp>
      <p:sp>
        <p:nvSpPr>
          <p:cNvPr id="327" name="Text 327"/>
          <p:cNvSpPr txBox="1"/>
          <p:nvPr/>
        </p:nvSpPr>
        <p:spPr>
          <a:xfrm>
            <a:off x="8375904" y="4105656"/>
            <a:ext cx="304495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|1.844 − 2.000| = 0.156 m
无碰撞，速度降至 0</a:t>
            </a:r>
            <a:endParaRPr lang="zh-CN" sz="1500"/>
          </a:p>
        </p:txBody>
      </p:sp>
      <p:sp>
        <p:nvSpPr>
          <p:cNvPr id="328" name="Shape 328"/>
          <p:cNvSpPr/>
          <p:nvPr/>
        </p:nvSpPr>
        <p:spPr>
          <a:xfrm>
            <a:off x="8156448" y="4882896"/>
            <a:ext cx="34290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29" name="Shape 329"/>
          <p:cNvSpPr/>
          <p:nvPr/>
        </p:nvSpPr>
        <p:spPr>
          <a:xfrm>
            <a:off x="8156448" y="4882896"/>
            <a:ext cx="73152" cy="1170432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30" name="Text 330"/>
          <p:cNvSpPr txBox="1"/>
          <p:nvPr/>
        </p:nvSpPr>
        <p:spPr>
          <a:xfrm>
            <a:off x="8375904" y="503834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仍可优化</a:t>
            </a:r>
            <a:endParaRPr lang="zh-CN" sz="1400"/>
          </a:p>
        </p:txBody>
      </p:sp>
      <p:sp>
        <p:nvSpPr>
          <p:cNvPr id="331" name="Text 331"/>
          <p:cNvSpPr txBox="1"/>
          <p:nvPr/>
        </p:nvSpPr>
        <p:spPr>
          <a:xfrm>
            <a:off x="8375904" y="5413248"/>
            <a:ext cx="304495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后段减速度约 −5.72 m/s²
压力变化可进一步平滑</a:t>
            </a:r>
            <a:endParaRPr lang="zh-CN" sz="1400"/>
          </a:p>
        </p:txBody>
      </p:sp>
      <p:sp>
        <p:nvSpPr>
          <p:cNvPr id="332" name="Shape 33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33" name="Text 333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C  ·  建议用时 1:20</a:t>
            </a:r>
            <a:endParaRPr lang="zh-CN" sz="900"/>
          </a:p>
        </p:txBody>
      </p:sp>
      <p:sp>
        <p:nvSpPr>
          <p:cNvPr id="334" name="Text 334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zh-CN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</p:sp>
      <p:sp>
        <p:nvSpPr>
          <p:cNvPr id="336" name="Shape 33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37" name="Text 337"/>
          <p:cNvSpPr txBox="1"/>
          <p:nvPr/>
        </p:nvSpPr>
        <p:spPr>
          <a:xfrm>
            <a:off x="475488" y="256032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总结与下一步：已跑通闭环，继续提升环境保真度</a:t>
            </a:r>
            <a:endParaRPr lang="zh-CN" sz="2700"/>
          </a:p>
        </p:txBody>
      </p:sp>
      <p:sp>
        <p:nvSpPr>
          <p:cNvPr id="338" name="Text 338"/>
          <p:cNvSpPr txBox="1"/>
          <p:nvPr/>
        </p:nvSpPr>
        <p:spPr>
          <a:xfrm>
            <a:off x="10652760" y="283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1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PART 3 / 3</a:t>
            </a:r>
            <a:endParaRPr lang="zh-CN" sz="1000"/>
          </a:p>
        </p:txBody>
      </p:sp>
      <p:sp>
        <p:nvSpPr>
          <p:cNvPr id="339" name="Shape 339"/>
          <p:cNvSpPr/>
          <p:nvPr/>
        </p:nvSpPr>
        <p:spPr>
          <a:xfrm>
            <a:off x="621792" y="105156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0" name="Shape 340"/>
          <p:cNvSpPr/>
          <p:nvPr/>
        </p:nvSpPr>
        <p:spPr>
          <a:xfrm>
            <a:off x="621792" y="1051560"/>
            <a:ext cx="73152" cy="19659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341" name="Text 341"/>
          <p:cNvSpPr txBox="1"/>
          <p:nvPr/>
        </p:nvSpPr>
        <p:spPr>
          <a:xfrm>
            <a:off x="841248" y="120700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① 数据闭环</a:t>
            </a:r>
            <a:endParaRPr lang="zh-CN" sz="1400"/>
          </a:p>
        </p:txBody>
      </p:sp>
      <p:sp>
        <p:nvSpPr>
          <p:cNvPr id="342" name="Text 342"/>
          <p:cNvSpPr txBox="1"/>
          <p:nvPr/>
        </p:nvSpPr>
        <p:spPr>
          <a:xfrm>
            <a:off x="841248" y="1581912"/>
            <a:ext cx="3044952" cy="1307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Simulink 机制模型
30,000 单步 + 16,000 时序数据
统一 CarSim 接口</a:t>
            </a:r>
            <a:endParaRPr lang="zh-CN" sz="1600"/>
          </a:p>
        </p:txBody>
      </p:sp>
      <p:sp>
        <p:nvSpPr>
          <p:cNvPr id="343" name="Shape 343"/>
          <p:cNvSpPr/>
          <p:nvPr/>
        </p:nvSpPr>
        <p:spPr>
          <a:xfrm>
            <a:off x="4370832" y="105156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4" name="Shape 344"/>
          <p:cNvSpPr/>
          <p:nvPr/>
        </p:nvSpPr>
        <p:spPr>
          <a:xfrm>
            <a:off x="4370832" y="1051560"/>
            <a:ext cx="73152" cy="19659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45" name="Text 345"/>
          <p:cNvSpPr txBox="1"/>
          <p:nvPr/>
        </p:nvSpPr>
        <p:spPr>
          <a:xfrm>
            <a:off x="4590288" y="120700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② 模型底座</a:t>
            </a:r>
            <a:endParaRPr lang="zh-CN" sz="1400"/>
          </a:p>
        </p:txBody>
      </p:sp>
      <p:sp>
        <p:nvSpPr>
          <p:cNvPr id="346" name="Text 346"/>
          <p:cNvSpPr txBox="1"/>
          <p:nvPr/>
        </p:nvSpPr>
        <p:spPr>
          <a:xfrm>
            <a:off x="4590288" y="1581912"/>
            <a:ext cx="3044952" cy="1307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验证单步辨识
LSTM 建模历史依赖
PINN 加入物理一致性</a:t>
            </a:r>
            <a:endParaRPr lang="zh-CN" sz="1600"/>
          </a:p>
        </p:txBody>
      </p:sp>
      <p:sp>
        <p:nvSpPr>
          <p:cNvPr id="347" name="Shape 347"/>
          <p:cNvSpPr/>
          <p:nvPr/>
        </p:nvSpPr>
        <p:spPr>
          <a:xfrm>
            <a:off x="8119872" y="105156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8" name="Shape 348"/>
          <p:cNvSpPr/>
          <p:nvPr/>
        </p:nvSpPr>
        <p:spPr>
          <a:xfrm>
            <a:off x="8119872" y="1051560"/>
            <a:ext cx="73152" cy="19659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49" name="Text 349"/>
          <p:cNvSpPr txBox="1"/>
          <p:nvPr/>
        </p:nvSpPr>
        <p:spPr>
          <a:xfrm>
            <a:off x="8339328" y="120700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③ 决策规划</a:t>
            </a:r>
            <a:endParaRPr lang="zh-CN" sz="1400"/>
          </a:p>
        </p:txBody>
      </p:sp>
      <p:sp>
        <p:nvSpPr>
          <p:cNvPr id="350" name="Text 350"/>
          <p:cNvSpPr txBox="1"/>
          <p:nvPr/>
        </p:nvSpPr>
        <p:spPr>
          <a:xfrm>
            <a:off x="8339328" y="1581912"/>
            <a:ext cx="3044952" cy="1307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采样式 MPC 滚动优化
80 km/h 工况安全刹停
最终距离误差 0.156 m</a:t>
            </a:r>
            <a:endParaRPr lang="zh-CN" sz="1600"/>
          </a:p>
        </p:txBody>
      </p:sp>
      <p:sp>
        <p:nvSpPr>
          <p:cNvPr id="351" name="Text 351"/>
          <p:cNvSpPr txBox="1"/>
          <p:nvPr/>
        </p:nvSpPr>
        <p:spPr>
          <a:xfrm>
            <a:off x="685800" y="34015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下一阶段路线</a:t>
            </a:r>
            <a:endParaRPr lang="zh-CN" sz="1800"/>
          </a:p>
        </p:txBody>
      </p:sp>
      <p:sp>
        <p:nvSpPr>
          <p:cNvPr id="352" name="Shape 352"/>
          <p:cNvSpPr/>
          <p:nvPr/>
        </p:nvSpPr>
        <p:spPr>
          <a:xfrm>
            <a:off x="685800" y="3931920"/>
            <a:ext cx="2331720" cy="987552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0E8A92"/>
            </a:solidFill>
          </a:ln>
        </p:spPr>
      </p:sp>
      <p:sp>
        <p:nvSpPr>
          <p:cNvPr id="353" name="Text 353"/>
          <p:cNvSpPr txBox="1"/>
          <p:nvPr/>
        </p:nvSpPr>
        <p:spPr>
          <a:xfrm>
            <a:off x="795528" y="4096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CarSim 联调</a:t>
            </a:r>
            <a:endParaRPr lang="zh-CN" sz="1500"/>
          </a:p>
        </p:txBody>
      </p:sp>
      <p:sp>
        <p:nvSpPr>
          <p:cNvPr id="354" name="Text 354"/>
          <p:cNvSpPr txBox="1"/>
          <p:nvPr/>
        </p:nvSpPr>
        <p:spPr>
          <a:xfrm>
            <a:off x="795528" y="44439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高保真时序数据</a:t>
            </a:r>
            <a:endParaRPr lang="zh-CN" sz="1200"/>
          </a:p>
        </p:txBody>
      </p:sp>
      <p:sp>
        <p:nvSpPr>
          <p:cNvPr id="355" name="Line 355"/>
          <p:cNvSpPr/>
          <p:nvPr/>
        </p:nvSpPr>
        <p:spPr>
          <a:xfrm>
            <a:off x="3044952" y="4425696"/>
            <a:ext cx="338328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56" name="Shape 356"/>
          <p:cNvSpPr/>
          <p:nvPr/>
        </p:nvSpPr>
        <p:spPr>
          <a:xfrm>
            <a:off x="3447288" y="3931920"/>
            <a:ext cx="2331720" cy="987552"/>
          </a:xfrm>
          <a:prstGeom prst="roundRect">
            <a:avLst/>
          </a:prstGeom>
          <a:solidFill>
            <a:srgbClr val="FFF7EA"/>
          </a:solidFill>
          <a:ln w="12700">
            <a:solidFill>
              <a:srgbClr val="F2A93B"/>
            </a:solidFill>
          </a:ln>
        </p:spPr>
      </p:sp>
      <p:sp>
        <p:nvSpPr>
          <p:cNvPr id="357" name="Text 357"/>
          <p:cNvSpPr txBox="1"/>
          <p:nvPr/>
        </p:nvSpPr>
        <p:spPr>
          <a:xfrm>
            <a:off x="3557016" y="4096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模型对比</a:t>
            </a:r>
            <a:endParaRPr lang="zh-CN" sz="1500"/>
          </a:p>
        </p:txBody>
      </p:sp>
      <p:sp>
        <p:nvSpPr>
          <p:cNvPr id="358" name="Text 358"/>
          <p:cNvSpPr txBox="1"/>
          <p:nvPr/>
        </p:nvSpPr>
        <p:spPr>
          <a:xfrm>
            <a:off x="3557016" y="44439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/ LSTM / PINN</a:t>
            </a:r>
            <a:endParaRPr lang="zh-CN" sz="1200"/>
          </a:p>
        </p:txBody>
      </p:sp>
      <p:sp>
        <p:nvSpPr>
          <p:cNvPr id="359" name="Line 359"/>
          <p:cNvSpPr/>
          <p:nvPr/>
        </p:nvSpPr>
        <p:spPr>
          <a:xfrm>
            <a:off x="5806440" y="4425696"/>
            <a:ext cx="338328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0" name="Shape 360"/>
          <p:cNvSpPr/>
          <p:nvPr/>
        </p:nvSpPr>
        <p:spPr>
          <a:xfrm>
            <a:off x="6208776" y="3931920"/>
            <a:ext cx="2331720" cy="987552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64D4D"/>
            </a:solidFill>
          </a:ln>
        </p:spPr>
      </p:sp>
      <p:sp>
        <p:nvSpPr>
          <p:cNvPr id="361" name="Text 361"/>
          <p:cNvSpPr txBox="1"/>
          <p:nvPr/>
        </p:nvSpPr>
        <p:spPr>
          <a:xfrm>
            <a:off x="6318504" y="4096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场景扩展</a:t>
            </a:r>
            <a:endParaRPr lang="zh-CN" sz="1500"/>
          </a:p>
        </p:txBody>
      </p:sp>
      <p:sp>
        <p:nvSpPr>
          <p:cNvPr id="362" name="Text 362"/>
          <p:cNvSpPr txBox="1"/>
          <p:nvPr/>
        </p:nvSpPr>
        <p:spPr>
          <a:xfrm>
            <a:off x="6318504" y="44439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μ 突变与噪声</a:t>
            </a:r>
            <a:endParaRPr lang="zh-CN" sz="1200"/>
          </a:p>
        </p:txBody>
      </p:sp>
      <p:sp>
        <p:nvSpPr>
          <p:cNvPr id="363" name="Line 363"/>
          <p:cNvSpPr/>
          <p:nvPr/>
        </p:nvSpPr>
        <p:spPr>
          <a:xfrm>
            <a:off x="8567928" y="4425696"/>
            <a:ext cx="338328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4" name="Shape 364"/>
          <p:cNvSpPr/>
          <p:nvPr/>
        </p:nvSpPr>
        <p:spPr>
          <a:xfrm>
            <a:off x="8970264" y="3931920"/>
            <a:ext cx="2331720" cy="987552"/>
          </a:xfrm>
          <a:prstGeom prst="roundRect">
            <a:avLst/>
          </a:prstGeom>
          <a:solidFill>
            <a:srgbClr val="EDF4EF"/>
          </a:solidFill>
          <a:ln w="12700">
            <a:solidFill>
              <a:srgbClr val="2F9E73"/>
            </a:solidFill>
          </a:ln>
        </p:spPr>
      </p:sp>
      <p:sp>
        <p:nvSpPr>
          <p:cNvPr id="365" name="Text 365"/>
          <p:cNvSpPr txBox="1"/>
          <p:nvPr/>
        </p:nvSpPr>
        <p:spPr>
          <a:xfrm>
            <a:off x="9079992" y="4096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控制优化</a:t>
            </a:r>
            <a:endParaRPr lang="zh-CN" sz="1500"/>
          </a:p>
        </p:txBody>
      </p:sp>
      <p:sp>
        <p:nvSpPr>
          <p:cNvPr id="366" name="Text 366"/>
          <p:cNvSpPr txBox="1"/>
          <p:nvPr/>
        </p:nvSpPr>
        <p:spPr>
          <a:xfrm>
            <a:off x="9079992" y="44439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舒适度与实时性</a:t>
            </a:r>
            <a:endParaRPr lang="zh-CN" sz="1200"/>
          </a:p>
        </p:txBody>
      </p:sp>
      <p:sp>
        <p:nvSpPr>
          <p:cNvPr id="367" name="Text 367"/>
          <p:cNvSpPr txBox="1"/>
          <p:nvPr/>
        </p:nvSpPr>
        <p:spPr>
          <a:xfrm>
            <a:off x="841248" y="53492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  <p:txBody>
          <a:bodyPr wrap="square" lIns="73152" tIns="36576" rIns="73152" bIns="36576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核心结论：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世界模型只有进入规划闭环，才真正从“系统辨识”走向“预测式决策”。</a:t>
            </a:r>
            <a:endParaRPr lang="zh-CN" sz="2000"/>
          </a:p>
        </p:txBody>
      </p:sp>
      <p:sp>
        <p:nvSpPr>
          <p:cNvPr id="368" name="Text 368"/>
          <p:cNvSpPr txBox="1"/>
          <p:nvPr/>
        </p:nvSpPr>
        <p:spPr>
          <a:xfrm>
            <a:off x="804672" y="6144768"/>
            <a:ext cx="10561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A：环境与数据  ·  B：模型训练与物理约束  ·  C：规划器、结果分析与统筹</a:t>
            </a:r>
            <a:endParaRPr lang="zh-CN" sz="1200"/>
          </a:p>
        </p:txBody>
      </p:sp>
      <p:sp>
        <p:nvSpPr>
          <p:cNvPr id="369" name="Shape 36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70" name="Text 370"/>
          <p:cNvSpPr txBox="1"/>
          <p:nvPr/>
        </p:nvSpPr>
        <p:spPr>
          <a:xfrm>
            <a:off x="320040" y="64190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汇报人 C  ·  建议用时 0:50</a:t>
            </a:r>
            <a:endParaRPr lang="zh-CN" sz="900"/>
          </a:p>
        </p:txBody>
      </p:sp>
      <p:sp>
        <p:nvSpPr>
          <p:cNvPr id="371" name="Text 371"/>
          <p:cNvSpPr txBox="1"/>
          <p:nvPr/>
        </p:nvSpPr>
        <p:spPr>
          <a:xfrm>
            <a:off x="113842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lang="zh-CN" sz="9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ke World Model Theme">
  <a:themeElements>
    <a:clrScheme name="Brake">
      <a:dk1>
        <a:srgbClr val="0B1F33"/>
      </a:dk1>
      <a:lt1>
        <a:srgbClr val="FFFFFF"/>
      </a:lt1>
      <a:dk2>
        <a:srgbClr val="17212B"/>
      </a:dk2>
      <a:lt2>
        <a:srgbClr val="F4F7F8"/>
      </a:lt2>
      <a:accent1>
        <a:srgbClr val="0E8A92"/>
      </a:accent1>
      <a:accent2>
        <a:srgbClr val="F2A93B"/>
      </a:accent2>
      <a:accent3>
        <a:srgbClr val="D64D4D"/>
      </a:accent3>
      <a:accent4>
        <a:srgbClr val="36B5C2"/>
      </a:accent4>
      <a:accent5>
        <a:srgbClr val="2F9E73"/>
      </a:accent5>
      <a:accent6>
        <a:srgbClr val="607080"/>
      </a:accent6>
      <a:hlink>
        <a:srgbClr val="0563C1"/>
      </a:hlink>
      <a:folHlink>
        <a:srgbClr val="954F72"/>
      </a:folHlink>
    </a:clrScheme>
    <a:fontScheme name="Brake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Brake Format">
      <a:fillStyleLst>
        <a:solidFill>
          <a:srgbClr val="FFFFFF"/>
        </a:solidFill>
        <a:solidFill>
          <a:srgbClr val="F4F7F8"/>
        </a:solidFill>
        <a:solidFill>
          <a:srgbClr val="0E8A92"/>
        </a:solidFill>
      </a:fillStyleLst>
      <a:lnStyleLst>
        <a:ln w="12700">
          <a:solidFill>
            <a:srgbClr val="D9E1E5"/>
          </a:solidFill>
        </a:ln>
        <a:ln w="19050">
          <a:solidFill>
            <a:srgbClr val="0E8A92"/>
          </a:solidFill>
        </a:ln>
        <a:ln w="25400">
          <a:solidFill>
            <a:srgbClr val="D64D4D"/>
          </a:solidFill>
        </a:ln>
      </a:lnStyleLst>
      <a:effectStyleLst/>
      <a:bgFillStyleLst>
        <a:solidFill>
          <a:srgbClr val="FFFFFF"/>
        </a:solidFill>
        <a:solidFill>
          <a:srgbClr val="F4F7F8"/>
        </a:solidFill>
        <a:solidFill>
          <a:srgbClr val="0B1F33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ke World Model Theme">
  <a:themeElements>
    <a:clrScheme name="Brake">
      <a:dk1>
        <a:srgbClr val="0B1F33"/>
      </a:dk1>
      <a:lt1>
        <a:srgbClr val="FFFFFF"/>
      </a:lt1>
      <a:dk2>
        <a:srgbClr val="17212B"/>
      </a:dk2>
      <a:lt2>
        <a:srgbClr val="F4F7F8"/>
      </a:lt2>
      <a:accent1>
        <a:srgbClr val="0E8A92"/>
      </a:accent1>
      <a:accent2>
        <a:srgbClr val="F2A93B"/>
      </a:accent2>
      <a:accent3>
        <a:srgbClr val="D64D4D"/>
      </a:accent3>
      <a:accent4>
        <a:srgbClr val="36B5C2"/>
      </a:accent4>
      <a:accent5>
        <a:srgbClr val="2F9E73"/>
      </a:accent5>
      <a:accent6>
        <a:srgbClr val="607080"/>
      </a:accent6>
      <a:hlink>
        <a:srgbClr val="0563C1"/>
      </a:hlink>
      <a:folHlink>
        <a:srgbClr val="954F72"/>
      </a:folHlink>
    </a:clrScheme>
    <a:fontScheme name="Brake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Brake Format">
      <a:fillStyleLst>
        <a:solidFill>
          <a:srgbClr val="FFFFFF"/>
        </a:solidFill>
        <a:solidFill>
          <a:srgbClr val="F4F7F8"/>
        </a:solidFill>
        <a:solidFill>
          <a:srgbClr val="0E8A92"/>
        </a:solidFill>
      </a:fillStyleLst>
      <a:lnStyleLst>
        <a:ln w="12700">
          <a:solidFill>
            <a:srgbClr val="D9E1E5"/>
          </a:solidFill>
        </a:ln>
        <a:ln w="19050">
          <a:solidFill>
            <a:srgbClr val="0E8A92"/>
          </a:solidFill>
        </a:ln>
        <a:ln w="25400">
          <a:solidFill>
            <a:srgbClr val="D64D4D"/>
          </a:solidFill>
        </a:ln>
      </a:lnStyleLst>
      <a:effectStyleLst/>
      <a:bgFillStyleLst>
        <a:solidFill>
          <a:srgbClr val="FFFFFF"/>
        </a:solidFill>
        <a:solidFill>
          <a:srgbClr val="F4F7F8"/>
        </a:solidFill>
        <a:solidFill>
          <a:srgbClr val="0B1F33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3091</Words>
  <Application>WPS 演示</Application>
  <PresentationFormat>Widescreen</PresentationFormat>
  <Paragraphs>384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Brake World Model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基于世界模型的一维纵向制动决策规划</dc:title>
  <dc:creator>World Model in Brake System Team</dc:creator>
  <dc:subject>三人12分钟课程项目汇报</dc:subject>
  <cp:lastModifiedBy>李子昂(2025210297)</cp:lastModifiedBy>
  <cp:revision>2</cp:revision>
  <dcterms:created xsi:type="dcterms:W3CDTF">2026-06-07T06:15:49Z</dcterms:created>
  <dcterms:modified xsi:type="dcterms:W3CDTF">2026-06-07T07:18:50Z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86FC3AF9947E48D2AD4D6097D24E61A1_13</vt:lpwstr>
  </property>
  <property fmtid="{D5CDD505-2E9C-101B-9397-08002B2CF9AE}" pid="3" name="KSOProductBuildVer">
    <vt:lpwstr>2052-12.1.0.23542</vt:lpwstr>
  </property>
</Properties>
</file>