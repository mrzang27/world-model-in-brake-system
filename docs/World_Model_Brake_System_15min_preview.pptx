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16x9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0"/>
    <p:restoredTop sz="0"/>
  </p:normal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/>
  <p:notesStyle>
    <a:lvl1pPr marL="0" indent="0"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372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40 秒｜同学 A】各位老师、同学好，我们汇报的题目是“基于世界模型的一维纵向制动决策规划”。项目最初从简化的 Simulink 纵向制动模型出发，现在已经扩展到 CarSim 与 Simulink 联合仿真、GRU-PINN 时序世界模型，并用采样式 MPC 完成一维刹停决策。我们希望展示的不只是一个预测网络，而是一条从高保真数据、模型训练到滚动规划和反馈验证的完整工程链路。接下来三位同学分别介绍环境与数据、模型升级，以及上层规划与结果。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 373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分钟｜同学 A】我们的核心问题不是单纯预测下一时刻速度，而是让预测真正参与制动决策。场景限定为一维直线刹停：已知当前车速、与障碍物的剩余距离、当前减速度和路面附着系数，控制量是零到十兆帕的制动主缸压力。系统同时追求三个目标：首先不能碰撞；其次希望停车后距离障碍物约两米；最后要限制过大的减速度和压力突变。控制采用滚动方式，每次规划一段未来压力曲线，但只执行第一步，再利用新反馈重新计算。由此，世界模型从离线拟合器变成了规划器内部能够快速试错的虚拟环境。</a:t>
            </a:r>
            <a:endParaRPr 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374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20 秒｜同学 A】这张图概括当前已经跑通的工程闭环。第一层是仿真环境：简化机制模型负责快速调试和物理基线，CarSim 负责提供包含轮胎和整车动态的高保真数据。第二层是统一数据接口，我们保留了原来的三万条单步样本和一万六千行时序样本，并新增一万三千零七十条 CarSim 状态转移。第三层是世界模型：先用 MLP 验证单步链路，再系统比较 LSTM 和 GRU，并加入运动学残差。第四层是验证和决策：二十四个独立 CarSim Run 根全部通过检查，上层采用采样式 MPC。所有环节都有可复现的模型、脚本、CSV、权重和指标文件，因此这已经是一条可持续迭代的工程管线，而不只是概念示意图。</a:t>
            </a:r>
            <a:endParaRPr 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 375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20 秒｜同学 A】在没有实车数据时，我们先保留一个可解释的机制基线。制动力与主缸压力近似线性，但不能超过路面最大附着力 μmg，因此实际制动力取两者较小值，再通过牛顿第二定律和离散积分更新减速度与速度。车辆质量设为一千八百千克，采样周期是零点零五秒。图中可以看到，同样的制动压力在不同附着系数下会出现明显不同的减速度上限。这个模型的价值有三点：第一，能够快速生成和检查数据格式；第二，作为单元测试的物理参考；第三，在规划调试阶段作为稳定的执行环境和 fallback。它不会被当成高保真真值，复杂动力学由后面的 CarSim 补充。下面交给同学 B 介绍联合仿真和学习模型。</a:t>
            </a:r>
            <a:endParaRPr 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376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20 秒｜同学 B】CarSim 联合仿真已经从模板阶段进入批量可用阶段。我们按六档初速度，也就是二十到一百二十公里每小时，以及四档附着系数零点二到零点八，建立了二十四个相互独立的 Run 根。验证脚本检查了文件数量、根标识唯一性、速度和附着条件，二十四项全部通过。每个物理工况再施加五条不同压力轨迹，总计一百二十条轨迹和一万三千零七十条状态转移。左图显示 CarSim 的峰值减速度会随附着系数形成清晰分层：低附着约为二米每二次方秒，高附着约为七点三米每二次方秒，符合附着极限。单工况和六个边界工况的烟雾测试也全部通过，说明 SIMFILE 切换、压力输入、信号输出和重采样链路已经稳定。</a:t>
            </a:r>
            <a:endParaRPr 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ext 377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15 秒｜同学 B】单步 MLP 能验证数据生成、归一化和推理链路，但它只看到当前一个点，难以表达液压建压、执行器滞后和轮胎状态的历史影响。因此我们把输入改为过去五个时间步的速度、减速度、压力和附着系数序列，并把循环单元升级为 GRU。GRU 相比 LSTM 门结构更少，参数更紧凑，适合后续在 MPC 中反复调用。除了数据均方误差，我们还加入 PINN 形式的运动学残差，要求网络预测的下一时刻速度与当前速度、预测减速度和采样周期之间基本一致。这个约束不是替代数据，而是减少违反基本运动学的预测，尤其有助于小数据和分布外工况的稳定性。</a:t>
            </a:r>
            <a:endParaRPr 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378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30 秒｜同学 B】为了避免凭经验挑网络，我们做了一个完整消融实验。LSTM 和 GRU 各测试四组配置：序列长度五或五十，隐藏维度六十四或一百二十八，以及单层或双层，所有实验使用相同的轨迹级划分、随机种子、四十轮训练和物理损失权重。图中比较速度 RMSE、减速度 RMSE 和参数量。推荐的 GRU 短序列单层模型只有一万七千七百三十个参数，比同配置 LSTM 少百分之二十点二；速度 RMSE 从零点零八零三降到零点零六四八，下降百分之十九点二；减速度 RMSE 从零点一四五零降到零点零四三一，下降百分之七十点三。长序列深模型虽然在个别速度指标上更好，但参数量约增加九倍，减速度误差也没有同步改善。因此我们选择短序列、六十四隐藏单元、单层 GRU，兼顾精度、速度和规划调用成本。</a:t>
            </a:r>
            <a:endParaRPr 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 379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20 秒｜同学 B】选定结构后，我们直接使用 CarSim 数据训练同一套 GRU-PINN。数据按照完整轨迹划分，而不是随机打散相邻时间点，训练集九十六条轨迹，验证集二十四条轨迹，最终形成一万零四百四十四个有效序列。模型训练四十轮，GPU 用时约十七点二秒。验证集上，下一时刻速度 RMSE 为零点一一七三米每秒，R 方为零点九九九八一；减速度 RMSE 为零点四四九三米每二次方秒，R 方为零点九二九二九。相比简化机制数据，CarSim 的减速度误差明显更高，这是合理且更诚实的结果，因为数据包含更复杂的轮胎、俯仰和停车附近非线性。当前精度已经能够支撑短时预测实验，同时也指出后续应重点处理低速停车段、滑移状态和更多历史变量。下面交给同学 C。</a:t>
            </a:r>
            <a:endParaRPr 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 380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10 秒｜同学 C】世界模型的真正价值是让规划器能够在很短时间内比较大量未来。上层读取当前速度、剩余距离和附着系数，生成多条候选压力序列；中层 GRU-PINN 对每条序列展开未来速度和减速度；根据距离、舒适性和平滑性计算代价后，只把最优序列的第一步压力交给物理环境。得到下一时刻反馈以后，再重复整个过程，这就是滚动时域优化。这里需要准确区分两类验证：CarSim 已经用于高保真数据采集、边界工况验证和 GRU 训练；当前展示的完整刹停闭环仍由机制模型执行。这样的分层让我们可以先验证规划逻辑，再把下层逐步替换为 CarSim 在线执行。</a:t>
            </a:r>
            <a:endParaRPr 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 381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15 秒｜同学 C】我们采用采样式 MPC，主要考虑实现透明、约束容易加入，而且不要求对神经网络推导解析梯度。每个控制时刻生成约二百五十六条平滑压力曲线，并加入恒压、渐增和渐减等确定性候选。世界模型对每条曲线滚动预测 N 步，代价函数包括停车位置与安全距离的平方误差、平均减速度平方、压力变化平方，以及碰撞和预测时域内未停车的惩罚。选出代价最低的序列后只执行第一个压力值，下一时刻重新采样。这种方案目前是随机搜索，但数据接口和代价函数都可以直接保留，后续只需要把采样器升级为 MPPI 或 CEM，就能提高搜索效率。</a:t>
            </a:r>
            <a:endParaRPr 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382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30 秒｜同学 C】这里展示当前机制执行环境下的完整闭环刹停结果。初始速度八十公里每小时，障碍物初始距离六十五米，附着系数零点六，目标安全距离两米。规划器前半段采用较温和的压力，随后根据剩余距离提高制动强度，车辆在五点零五秒停止。最终距离为一点八四四米，与目标相差零点一五六米，没有碰撞。四幅曲线分别给出距离、速度、减速度和压力，可以看到控制并不是固定压力，而是在反馈下动态调整。需要说明，这张图验证的是世界模型参与规划和滚动执行的算法闭环，物理执行端目前仍是机制模型，不把它表述为 CarSim 在线 MPC 结果。后段减速度约负五点七二米每二次方秒，压力也存在阶跃，下一步会通过提高舒适度和平滑项权重，并接入 CarSim 在线执行进一步验证。</a:t>
            </a:r>
            <a:endParaRPr 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 383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10 秒｜同学 C】最后总结。数据层已经形成机制模型与 CarSim 双环境，二十四个物理工况、一百二十条压力轨迹和一万三千零七十条状态转移均已落盘。模型层完成了 MLP 基线、LSTM 与 GRU 的统一消融，并训练出面向 CarSim 数据的轻量 GRU-PINN。规划层实现了采样式 MPC，在八十公里每小时工况下完成安全刹停，终点误差约零点一五六米。下一阶段重点是让 CarSim 成为在线执行环境，增加附着系数突变、噪声和制动热衰退等场景，并升级 MPPI 或 CEM，同时评估实时延迟和鲁棒性。我们的核心结论是：世界模型项目的价值不只在单个网络精度，而在于高保真环境、可学习模型、在线规划和反馈验证能否构成可复现的闭环。谢谢大家。</a:t>
            </a:r>
            <a:endParaRPr 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 b="1"/>
      </a:lvl1pPr>
    </p:titleStyle>
    <p:bodyStyle>
      <a:lvl1pPr marL="0" indent="0">
        <a:defRPr sz="1800"/>
      </a:lvl1pPr>
    </p:bodyStyle>
    <p:otherStyle>
      <a:defPPr>
        <a:defRPr sz="1600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94360" y="594360"/>
            <a:ext cx="109728" cy="53949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60120" y="777240"/>
            <a:ext cx="9966960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基于世界模型的</a:t>
            </a:r>
            <a:endParaRPr lang="zh-CN" sz="3400"/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一维纵向制动决策规划</a:t>
            </a:r>
            <a:endParaRPr lang="zh-CN" sz="3400"/>
          </a:p>
        </p:txBody>
      </p:sp>
      <p:sp>
        <p:nvSpPr>
          <p:cNvPr id="5" name="Text 5"/>
          <p:cNvSpPr txBox="1"/>
          <p:nvPr/>
        </p:nvSpPr>
        <p:spPr>
          <a:xfrm>
            <a:off x="987552" y="2423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BFD6DB"/>
                </a:solidFill>
                <a:latin typeface="微软雅黑" panose="020B0503020204020204" charset="-122"/>
                <a:ea typeface="微软雅黑" panose="020B0503020204020204" charset="-122"/>
              </a:rPr>
              <a:t>Simulink / CarSim 联合仿真  ·  GRU-PINN  ·  采样式 MPC</a:t>
            </a:r>
            <a:endParaRPr lang="zh-CN" sz="1800"/>
          </a:p>
        </p:txBody>
      </p:sp>
      <p:sp>
        <p:nvSpPr>
          <p:cNvPr id="6" name="Text 6"/>
          <p:cNvSpPr txBox="1"/>
          <p:nvPr/>
        </p:nvSpPr>
        <p:spPr>
          <a:xfrm>
            <a:off x="987552" y="309067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300" b="0" i="0">
                <a:solidFill>
                  <a:srgbClr val="8DA9B2"/>
                </a:solidFill>
                <a:latin typeface="微软雅黑" panose="020B0503020204020204" charset="-122"/>
                <a:ea typeface="微软雅黑" panose="020B0503020204020204" charset="-122"/>
              </a:rPr>
              <a:t>三人课程项目汇报  |  约 15 分钟</a:t>
            </a:r>
            <a:endParaRPr lang="zh-CN" sz="1300"/>
          </a:p>
        </p:txBody>
      </p:sp>
      <p:sp>
        <p:nvSpPr>
          <p:cNvPr id="7" name="Line 7"/>
          <p:cNvSpPr/>
          <p:nvPr/>
        </p:nvSpPr>
        <p:spPr>
          <a:xfrm>
            <a:off x="1097280" y="5440680"/>
            <a:ext cx="9738360" cy="914"/>
          </a:xfrm>
          <a:prstGeom prst="line">
            <a:avLst/>
          </a:prstGeom>
          <a:ln w="25400">
            <a:solidFill>
              <a:srgbClr val="68838D"/>
            </a:solidFill>
          </a:ln>
        </p:spPr>
      </p:sp>
      <p:sp>
        <p:nvSpPr>
          <p:cNvPr id="8" name="Shape 8"/>
          <p:cNvSpPr/>
          <p:nvPr/>
        </p:nvSpPr>
        <p:spPr>
          <a:xfrm>
            <a:off x="1572768" y="5010912"/>
            <a:ext cx="1554480" cy="50292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847088" y="4800600"/>
            <a:ext cx="731520" cy="32004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783080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2606040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2" name="Line 12"/>
          <p:cNvSpPr/>
          <p:nvPr/>
        </p:nvSpPr>
        <p:spPr>
          <a:xfrm>
            <a:off x="3657600" y="5257800"/>
            <a:ext cx="5440680" cy="914"/>
          </a:xfrm>
          <a:prstGeom prst="line">
            <a:avLst/>
          </a:prstGeom>
          <a:ln w="50800">
            <a:solidFill>
              <a:srgbClr val="F2A93B"/>
            </a:solidFill>
            <a:prstDash val="dash"/>
          </a:ln>
        </p:spPr>
      </p:sp>
      <p:sp>
        <p:nvSpPr>
          <p:cNvPr id="13" name="Shape 13"/>
          <p:cNvSpPr/>
          <p:nvPr/>
        </p:nvSpPr>
        <p:spPr>
          <a:xfrm>
            <a:off x="9601200" y="4526280"/>
            <a:ext cx="292608" cy="91440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9235440" y="5230368"/>
            <a:ext cx="1051560" cy="164592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183880" y="41605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3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预测 · 规划 · 执行 · 反馈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987552" y="608076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8DA9B2"/>
                </a:solidFill>
                <a:latin typeface="微软雅黑" panose="020B0503020204020204" charset="-122"/>
                <a:ea typeface="微软雅黑" panose="020B0503020204020204" charset="-122"/>
              </a:rPr>
              <a:t>汇报人：同学 A  /  同学 B  /  同学 C（可替换姓名）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问题定义：从“拟合动力学”走向“预测式决策”</a:t>
            </a:r>
            <a:endParaRPr lang="zh-CN" sz="2700"/>
          </a:p>
        </p:txBody>
      </p:sp>
      <p:sp>
        <p:nvSpPr>
          <p:cNvPr id="20" name="Text 20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PART 1 / 3</a:t>
            </a:r>
            <a:endParaRPr lang="zh-CN" sz="1000"/>
          </a:p>
        </p:txBody>
      </p:sp>
      <p:sp>
        <p:nvSpPr>
          <p:cNvPr id="21" name="Text 21"/>
          <p:cNvSpPr txBox="1"/>
          <p:nvPr/>
        </p:nvSpPr>
        <p:spPr>
          <a:xfrm>
            <a:off x="566928" y="896112"/>
            <a:ext cx="10972800" cy="530352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B9DDE1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目标：给定当前状态，在线选择制动压力，使车辆安全、精准、平顺地停在障碍物前。</a:t>
            </a:r>
            <a:endParaRPr lang="zh-CN" sz="2000"/>
          </a:p>
        </p:txBody>
      </p:sp>
      <p:sp>
        <p:nvSpPr>
          <p:cNvPr id="22" name="Shape 22"/>
          <p:cNvSpPr/>
          <p:nvPr/>
        </p:nvSpPr>
        <p:spPr>
          <a:xfrm>
            <a:off x="640080" y="169164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3" name="Shape 23"/>
          <p:cNvSpPr/>
          <p:nvPr/>
        </p:nvSpPr>
        <p:spPr>
          <a:xfrm>
            <a:off x="640080" y="1691640"/>
            <a:ext cx="73152" cy="297180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59536" y="18470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状态 State</a:t>
            </a:r>
            <a:endParaRPr lang="zh-CN" sz="1400"/>
          </a:p>
        </p:txBody>
      </p:sp>
      <p:sp>
        <p:nvSpPr>
          <p:cNvPr id="25" name="Text 25"/>
          <p:cNvSpPr txBox="1"/>
          <p:nvPr/>
        </p:nvSpPr>
        <p:spPr>
          <a:xfrm>
            <a:off x="859536" y="2221992"/>
            <a:ext cx="3044952" cy="2313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vₜ：当前车速
xₜ：剩余距离
aₜ：当前减速度
μₜ：路面附着系数</a:t>
            </a:r>
            <a:endParaRPr lang="zh-CN" sz="1800"/>
          </a:p>
        </p:txBody>
      </p:sp>
      <p:sp>
        <p:nvSpPr>
          <p:cNvPr id="26" name="Shape 26"/>
          <p:cNvSpPr/>
          <p:nvPr/>
        </p:nvSpPr>
        <p:spPr>
          <a:xfrm>
            <a:off x="4389120" y="169164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7" name="Shape 27"/>
          <p:cNvSpPr/>
          <p:nvPr/>
        </p:nvSpPr>
        <p:spPr>
          <a:xfrm>
            <a:off x="4389120" y="1691640"/>
            <a:ext cx="73152" cy="297180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4608576" y="18470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动作 Action</a:t>
            </a:r>
            <a:endParaRPr lang="zh-CN" sz="1400"/>
          </a:p>
        </p:txBody>
      </p:sp>
      <p:sp>
        <p:nvSpPr>
          <p:cNvPr id="29" name="Text 29"/>
          <p:cNvSpPr txBox="1"/>
          <p:nvPr/>
        </p:nvSpPr>
        <p:spPr>
          <a:xfrm>
            <a:off x="4608576" y="2221992"/>
            <a:ext cx="3044952" cy="2313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Pₜ：制动主缸压力
控制范围：0–10 MPa
滚动执行：每次只应用第一步</a:t>
            </a:r>
            <a:endParaRPr lang="zh-CN" sz="1800"/>
          </a:p>
        </p:txBody>
      </p:sp>
      <p:sp>
        <p:nvSpPr>
          <p:cNvPr id="30" name="Shape 30"/>
          <p:cNvSpPr/>
          <p:nvPr/>
        </p:nvSpPr>
        <p:spPr>
          <a:xfrm>
            <a:off x="8138160" y="169164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8160" y="1691640"/>
            <a:ext cx="73152" cy="297180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357616" y="18470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目标 Objective</a:t>
            </a:r>
            <a:endParaRPr lang="zh-CN" sz="1400"/>
          </a:p>
        </p:txBody>
      </p:sp>
      <p:sp>
        <p:nvSpPr>
          <p:cNvPr id="33" name="Text 33"/>
          <p:cNvSpPr txBox="1"/>
          <p:nvPr/>
        </p:nvSpPr>
        <p:spPr>
          <a:xfrm>
            <a:off x="8357616" y="2221992"/>
            <a:ext cx="3044952" cy="2313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安全：避免 x &lt; 0
精准：x_stop ≈ d_safe
舒适：限制减速度与压力突变</a:t>
            </a:r>
            <a:endParaRPr lang="zh-CN" sz="1800"/>
          </a:p>
        </p:txBody>
      </p:sp>
      <p:sp>
        <p:nvSpPr>
          <p:cNvPr id="34" name="Text 34"/>
          <p:cNvSpPr txBox="1"/>
          <p:nvPr/>
        </p:nvSpPr>
        <p:spPr>
          <a:xfrm>
            <a:off x="713232" y="5010912"/>
            <a:ext cx="10835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关键转变：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世界模型不再只是“预测器”，而是规划器内部可快速试错的虚拟环境。</a:t>
            </a:r>
            <a:endParaRPr lang="zh-CN" sz="2000"/>
          </a:p>
        </p:txBody>
      </p:sp>
      <p:sp>
        <p:nvSpPr>
          <p:cNvPr id="35" name="Shape 3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A  ·  建议用时 1:00</a:t>
            </a:r>
            <a:endParaRPr lang="zh-CN" sz="900"/>
          </a:p>
        </p:txBody>
      </p:sp>
      <p:sp>
        <p:nvSpPr>
          <p:cNvPr id="37" name="Text 3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39" name="Shape 3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当前工程闭环：机制基线 → CarSim 数据 → GRU 世界模型 → MPC</a:t>
            </a:r>
            <a:endParaRPr lang="zh-CN" sz="2700"/>
          </a:p>
        </p:txBody>
      </p:sp>
      <p:sp>
        <p:nvSpPr>
          <p:cNvPr id="41" name="Text 41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PART 1 / 3</a:t>
            </a:r>
            <a:endParaRPr lang="zh-CN" sz="1000"/>
          </a:p>
        </p:txBody>
      </p:sp>
      <p:sp>
        <p:nvSpPr>
          <p:cNvPr id="42" name="Shape 42"/>
          <p:cNvSpPr/>
          <p:nvPr/>
        </p:nvSpPr>
        <p:spPr>
          <a:xfrm>
            <a:off x="594360" y="141732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92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704088" y="156362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① 双层仿真环境</a:t>
            </a:r>
            <a:endParaRPr lang="zh-CN" sz="1700"/>
          </a:p>
        </p:txBody>
      </p:sp>
      <p:sp>
        <p:nvSpPr>
          <p:cNvPr id="44" name="Text 44"/>
          <p:cNvSpPr txBox="1"/>
          <p:nvPr/>
        </p:nvSpPr>
        <p:spPr>
          <a:xfrm>
            <a:off x="722376" y="1947672"/>
            <a:ext cx="198424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Simulink 机制基线
CarSim 高保真整车</a:t>
            </a:r>
            <a:endParaRPr lang="zh-CN" sz="1200"/>
          </a:p>
        </p:txBody>
      </p:sp>
      <p:sp>
        <p:nvSpPr>
          <p:cNvPr id="45" name="Line 45"/>
          <p:cNvSpPr/>
          <p:nvPr/>
        </p:nvSpPr>
        <p:spPr>
          <a:xfrm>
            <a:off x="2852928" y="2194560"/>
            <a:ext cx="32004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46" name="Shape 46"/>
          <p:cNvSpPr/>
          <p:nvPr/>
        </p:nvSpPr>
        <p:spPr>
          <a:xfrm>
            <a:off x="3246120" y="141732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B5C2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3355848" y="156362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36B5C2"/>
                </a:solidFill>
                <a:latin typeface="微软雅黑" panose="020B0503020204020204" charset="-122"/>
                <a:ea typeface="微软雅黑" panose="020B0503020204020204" charset="-122"/>
              </a:rPr>
              <a:t>② 统一数据集</a:t>
            </a:r>
            <a:endParaRPr lang="zh-CN" sz="1700"/>
          </a:p>
        </p:txBody>
      </p:sp>
      <p:sp>
        <p:nvSpPr>
          <p:cNvPr id="48" name="Text 48"/>
          <p:cNvSpPr txBox="1"/>
          <p:nvPr/>
        </p:nvSpPr>
        <p:spPr>
          <a:xfrm>
            <a:off x="3289935" y="1947545"/>
            <a:ext cx="2119630" cy="93281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30,000 单步 + 16,000 时序
13,070 CarSim 状态转移</a:t>
            </a:r>
            <a:endParaRPr lang="zh-CN" sz="1200"/>
          </a:p>
        </p:txBody>
      </p:sp>
      <p:sp>
        <p:nvSpPr>
          <p:cNvPr id="49" name="Line 49"/>
          <p:cNvSpPr/>
          <p:nvPr/>
        </p:nvSpPr>
        <p:spPr>
          <a:xfrm>
            <a:off x="5504688" y="2194560"/>
            <a:ext cx="32004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50" name="Shape 50"/>
          <p:cNvSpPr/>
          <p:nvPr/>
        </p:nvSpPr>
        <p:spPr>
          <a:xfrm>
            <a:off x="5897880" y="141732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A93B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6007608" y="156362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③ 世界模型</a:t>
            </a:r>
            <a:endParaRPr lang="zh-CN" sz="1700"/>
          </a:p>
        </p:txBody>
      </p:sp>
      <p:sp>
        <p:nvSpPr>
          <p:cNvPr id="52" name="Text 52"/>
          <p:cNvSpPr txBox="1"/>
          <p:nvPr/>
        </p:nvSpPr>
        <p:spPr>
          <a:xfrm>
            <a:off x="6025896" y="1947672"/>
            <a:ext cx="198424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MLP 基线
LSTM / GRU + PINN</a:t>
            </a:r>
            <a:endParaRPr lang="zh-CN" sz="1200"/>
          </a:p>
        </p:txBody>
      </p:sp>
      <p:sp>
        <p:nvSpPr>
          <p:cNvPr id="53" name="Line 53"/>
          <p:cNvSpPr/>
          <p:nvPr/>
        </p:nvSpPr>
        <p:spPr>
          <a:xfrm>
            <a:off x="8156448" y="2194560"/>
            <a:ext cx="32004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54" name="Shape 54"/>
          <p:cNvSpPr/>
          <p:nvPr/>
        </p:nvSpPr>
        <p:spPr>
          <a:xfrm>
            <a:off x="8549640" y="141732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D4D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8659368" y="156362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④ 决策与验证</a:t>
            </a:r>
            <a:endParaRPr lang="zh-CN" sz="1700"/>
          </a:p>
        </p:txBody>
      </p:sp>
      <p:sp>
        <p:nvSpPr>
          <p:cNvPr id="56" name="Text 56"/>
          <p:cNvSpPr txBox="1"/>
          <p:nvPr/>
        </p:nvSpPr>
        <p:spPr>
          <a:xfrm>
            <a:off x="8677656" y="1947672"/>
            <a:ext cx="198424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24 Run 根验证
采样式 MPC</a:t>
            </a:r>
            <a:endParaRPr lang="zh-CN" sz="1200"/>
          </a:p>
        </p:txBody>
      </p:sp>
      <p:sp>
        <p:nvSpPr>
          <p:cNvPr id="57" name="Line 57"/>
          <p:cNvSpPr/>
          <p:nvPr/>
        </p:nvSpPr>
        <p:spPr>
          <a:xfrm flipH="1">
            <a:off x="1645920" y="3127248"/>
            <a:ext cx="8028432" cy="914"/>
          </a:xfrm>
          <a:prstGeom prst="line">
            <a:avLst/>
          </a:prstGeom>
          <a:ln w="25400">
            <a:solidFill>
              <a:srgbClr val="0E8A92"/>
            </a:solidFill>
            <a:prstDash val="dash"/>
            <a:tailEnd type="triangle"/>
          </a:ln>
        </p:spPr>
      </p:sp>
      <p:sp>
        <p:nvSpPr>
          <p:cNvPr id="58" name="Text 58"/>
          <p:cNvSpPr txBox="1"/>
          <p:nvPr/>
        </p:nvSpPr>
        <p:spPr>
          <a:xfrm>
            <a:off x="4023360" y="2944368"/>
            <a:ext cx="4023360" cy="32004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结果反馈、消融实验与数据迭代</a:t>
            </a:r>
            <a:endParaRPr lang="zh-CN" sz="1200"/>
          </a:p>
        </p:txBody>
      </p:sp>
      <p:sp>
        <p:nvSpPr>
          <p:cNvPr id="59" name="Shape 59"/>
          <p:cNvSpPr/>
          <p:nvPr/>
        </p:nvSpPr>
        <p:spPr>
          <a:xfrm>
            <a:off x="685800" y="36576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0" name="Shape 60"/>
          <p:cNvSpPr/>
          <p:nvPr/>
        </p:nvSpPr>
        <p:spPr>
          <a:xfrm>
            <a:off x="685800" y="3657600"/>
            <a:ext cx="73152" cy="146304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61" name="Text 61"/>
          <p:cNvSpPr txBox="1"/>
          <p:nvPr/>
        </p:nvSpPr>
        <p:spPr>
          <a:xfrm>
            <a:off x="905256" y="381304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MATLAB 产物</a:t>
            </a:r>
            <a:endParaRPr lang="zh-CN" sz="1400"/>
          </a:p>
        </p:txBody>
      </p:sp>
      <p:sp>
        <p:nvSpPr>
          <p:cNvPr id="62" name="Text 62"/>
          <p:cNvSpPr txBox="1"/>
          <p:nvPr/>
        </p:nvSpPr>
        <p:spPr>
          <a:xfrm>
            <a:off x="905256" y="4187952"/>
            <a:ext cx="304495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brake_mechanism_model.slx
carsim_brake_cosim.slx</a:t>
            </a:r>
            <a:endParaRPr lang="zh-CN" sz="1400"/>
          </a:p>
        </p:txBody>
      </p:sp>
      <p:sp>
        <p:nvSpPr>
          <p:cNvPr id="63" name="Shape 63"/>
          <p:cNvSpPr/>
          <p:nvPr/>
        </p:nvSpPr>
        <p:spPr>
          <a:xfrm>
            <a:off x="4370832" y="36576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4" name="Shape 64"/>
          <p:cNvSpPr/>
          <p:nvPr/>
        </p:nvSpPr>
        <p:spPr>
          <a:xfrm>
            <a:off x="4370832" y="3657600"/>
            <a:ext cx="73152" cy="146304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65" name="Text 65"/>
          <p:cNvSpPr txBox="1"/>
          <p:nvPr/>
        </p:nvSpPr>
        <p:spPr>
          <a:xfrm>
            <a:off x="4590288" y="381304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PyTorch 产物</a:t>
            </a:r>
            <a:endParaRPr lang="zh-CN" sz="1400"/>
          </a:p>
        </p:txBody>
      </p:sp>
      <p:sp>
        <p:nvSpPr>
          <p:cNvPr id="66" name="Text 66"/>
          <p:cNvSpPr txBox="1"/>
          <p:nvPr/>
        </p:nvSpPr>
        <p:spPr>
          <a:xfrm>
            <a:off x="4590288" y="4187952"/>
            <a:ext cx="304495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world_model_gru.pt
LSTM / GRU 消融结果</a:t>
            </a:r>
            <a:endParaRPr lang="zh-CN" sz="1400"/>
          </a:p>
        </p:txBody>
      </p:sp>
      <p:sp>
        <p:nvSpPr>
          <p:cNvPr id="67" name="Shape 67"/>
          <p:cNvSpPr/>
          <p:nvPr/>
        </p:nvSpPr>
        <p:spPr>
          <a:xfrm>
            <a:off x="8065008" y="36576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8" name="Shape 68"/>
          <p:cNvSpPr/>
          <p:nvPr/>
        </p:nvSpPr>
        <p:spPr>
          <a:xfrm>
            <a:off x="8065008" y="3657600"/>
            <a:ext cx="73152" cy="146304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69" name="Text 69"/>
          <p:cNvSpPr txBox="1"/>
          <p:nvPr/>
        </p:nvSpPr>
        <p:spPr>
          <a:xfrm>
            <a:off x="8284464" y="381304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验证产物</a:t>
            </a:r>
            <a:endParaRPr lang="zh-CN" sz="1400"/>
          </a:p>
        </p:txBody>
      </p:sp>
      <p:sp>
        <p:nvSpPr>
          <p:cNvPr id="70" name="Text 70"/>
          <p:cNvSpPr txBox="1"/>
          <p:nvPr/>
        </p:nvSpPr>
        <p:spPr>
          <a:xfrm>
            <a:off x="8284464" y="4187952"/>
            <a:ext cx="304495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24 工况库 · 120 条轨迹
GRU 指标 · MPC 刹停曲线</a:t>
            </a:r>
            <a:endParaRPr lang="zh-CN" sz="1400"/>
          </a:p>
        </p:txBody>
      </p:sp>
      <p:sp>
        <p:nvSpPr>
          <p:cNvPr id="71" name="Text 71"/>
          <p:cNvSpPr txBox="1"/>
          <p:nvPr/>
        </p:nvSpPr>
        <p:spPr>
          <a:xfrm>
            <a:off x="749808" y="5422392"/>
            <a:ext cx="10698480" cy="566928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1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统一接口：[vₜ, aₜ, Pₜ, μₜ]  →  [vₜ₊₁, aₜ₊₁]</a:t>
            </a:r>
            <a:endParaRPr lang="zh-CN" sz="2100"/>
          </a:p>
        </p:txBody>
      </p:sp>
      <p:sp>
        <p:nvSpPr>
          <p:cNvPr id="72" name="Shape 7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73" name="Text 73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A  ·  建议用时 1:20</a:t>
            </a:r>
            <a:endParaRPr lang="zh-CN" sz="900"/>
          </a:p>
        </p:txBody>
      </p:sp>
      <p:sp>
        <p:nvSpPr>
          <p:cNvPr id="74" name="Text 74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76" name="Shape 7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77" name="Text 77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机制基线：先建立可解释的物理下限与统一数据接口</a:t>
            </a:r>
            <a:endParaRPr lang="zh-CN" sz="2700"/>
          </a:p>
        </p:txBody>
      </p:sp>
      <p:sp>
        <p:nvSpPr>
          <p:cNvPr id="78" name="Text 78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PART 1 / 3</a:t>
            </a:r>
            <a:endParaRPr lang="zh-CN" sz="1000"/>
          </a:p>
        </p:txBody>
      </p:sp>
      <p:sp>
        <p:nvSpPr>
          <p:cNvPr id="79" name="Shape 79"/>
          <p:cNvSpPr/>
          <p:nvPr/>
        </p:nvSpPr>
        <p:spPr>
          <a:xfrm>
            <a:off x="594360" y="987552"/>
            <a:ext cx="3886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80" name="Text 80"/>
          <p:cNvSpPr txBox="1"/>
          <p:nvPr/>
        </p:nvSpPr>
        <p:spPr>
          <a:xfrm>
            <a:off x="868680" y="1234440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纵向制动核心方程</a:t>
            </a:r>
            <a:endParaRPr lang="zh-CN" sz="1800"/>
          </a:p>
        </p:txBody>
      </p:sp>
      <p:sp>
        <p:nvSpPr>
          <p:cNvPr id="81" name="Text 81"/>
          <p:cNvSpPr txBox="1"/>
          <p:nvPr/>
        </p:nvSpPr>
        <p:spPr>
          <a:xfrm>
            <a:off x="932688" y="1828800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2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F_brake = k · P</a:t>
            </a:r>
            <a:endParaRPr lang="zh-CN" sz="2200"/>
          </a:p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F_actual = min(F_brake, μmg)</a:t>
            </a:r>
            <a:endParaRPr lang="zh-CN" sz="2000"/>
          </a:p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aₜ₊₁ = −F_actual / m</a:t>
            </a:r>
            <a:endParaRPr lang="zh-CN" sz="2000"/>
          </a:p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vₜ₊₁ = max(vₜ + aₜ₊₁Δt, 0)</a:t>
            </a:r>
            <a:endParaRPr lang="zh-CN" sz="1800"/>
          </a:p>
        </p:txBody>
      </p:sp>
      <p:sp>
        <p:nvSpPr>
          <p:cNvPr id="82" name="Text 82"/>
          <p:cNvSpPr txBox="1"/>
          <p:nvPr/>
        </p:nvSpPr>
        <p:spPr>
          <a:xfrm>
            <a:off x="914400" y="4370832"/>
            <a:ext cx="3246120" cy="749808"/>
          </a:xfrm>
          <a:prstGeom prst="roundRect">
            <a:avLst/>
          </a:prstGeom>
          <a:solidFill>
            <a:srgbClr val="F6F9FA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m = 1800 kg   ·   Δt = 0.05 s
k = 3500 N/MPa</a:t>
            </a:r>
            <a:endParaRPr lang="zh-CN" sz="1400"/>
          </a:p>
        </p:txBody>
      </p:sp>
      <p:sp>
        <p:nvSpPr>
          <p:cNvPr id="83" name="Shape 83"/>
          <p:cNvSpPr/>
          <p:nvPr/>
        </p:nvSpPr>
        <p:spPr>
          <a:xfrm>
            <a:off x="4754880" y="987552"/>
            <a:ext cx="6812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pic>
        <p:nvPicPr>
          <p:cNvPr id="84" name="Road adhesion respon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683" y="1170432"/>
            <a:ext cx="5464098" cy="4096512"/>
          </a:xfrm>
          <a:prstGeom prst="rect">
            <a:avLst/>
          </a:prstGeom>
          <a:ln>
            <a:noFill/>
          </a:ln>
        </p:spPr>
      </p:pic>
      <p:sp>
        <p:nvSpPr>
          <p:cNvPr id="85" name="Text 85"/>
          <p:cNvSpPr txBox="1"/>
          <p:nvPr/>
        </p:nvSpPr>
        <p:spPr>
          <a:xfrm>
            <a:off x="658368" y="5641848"/>
            <a:ext cx="10881360" cy="566928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B9DDE1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覆盖：20–120 km/h · 0–10 MPa · μ=0.2/0.4/0.6/0.8；用于单元测试、数据规范与 MPC fallback</a:t>
            </a:r>
            <a:endParaRPr lang="zh-CN" sz="1500"/>
          </a:p>
        </p:txBody>
      </p:sp>
      <p:sp>
        <p:nvSpPr>
          <p:cNvPr id="86" name="Shape 8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87" name="Text 87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A  ·  建议用时 1:20</a:t>
            </a:r>
            <a:endParaRPr lang="zh-CN" sz="900"/>
          </a:p>
        </p:txBody>
      </p:sp>
      <p:sp>
        <p:nvSpPr>
          <p:cNvPr id="88" name="Text 88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90" name="Shape 9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91" name="Text 91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CarSim 联合仿真：24 个独立 Run 根与 120 条压力轨迹已跑通</a:t>
            </a:r>
            <a:endParaRPr lang="zh-CN" sz="2700"/>
          </a:p>
        </p:txBody>
      </p:sp>
      <p:sp>
        <p:nvSpPr>
          <p:cNvPr id="92" name="Text 92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PART 2 / 3</a:t>
            </a:r>
            <a:endParaRPr lang="zh-CN" sz="1000"/>
          </a:p>
        </p:txBody>
      </p:sp>
      <p:sp>
        <p:nvSpPr>
          <p:cNvPr id="93" name="Shape 93"/>
          <p:cNvSpPr/>
          <p:nvPr/>
        </p:nvSpPr>
        <p:spPr>
          <a:xfrm>
            <a:off x="502920" y="914400"/>
            <a:ext cx="74066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pic>
        <p:nvPicPr>
          <p:cNvPr id="94" name="MLP prediction 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42" y="1069848"/>
            <a:ext cx="6561796" cy="4919472"/>
          </a:xfrm>
          <a:prstGeom prst="rect">
            <a:avLst/>
          </a:prstGeom>
          <a:ln>
            <a:noFill/>
          </a:ln>
        </p:spPr>
      </p:pic>
      <p:sp>
        <p:nvSpPr>
          <p:cNvPr id="95" name="Shape 95"/>
          <p:cNvSpPr/>
          <p:nvPr/>
        </p:nvSpPr>
        <p:spPr>
          <a:xfrm>
            <a:off x="8183880" y="1005840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96" name="Shape 96"/>
          <p:cNvSpPr/>
          <p:nvPr/>
        </p:nvSpPr>
        <p:spPr>
          <a:xfrm>
            <a:off x="8183880" y="1005840"/>
            <a:ext cx="73152" cy="123444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97" name="Text 97"/>
          <p:cNvSpPr txBox="1"/>
          <p:nvPr/>
        </p:nvSpPr>
        <p:spPr>
          <a:xfrm>
            <a:off x="8403336" y="1161288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工况库验证</a:t>
            </a:r>
            <a:endParaRPr lang="zh-CN" sz="1400"/>
          </a:p>
        </p:txBody>
      </p:sp>
      <p:sp>
        <p:nvSpPr>
          <p:cNvPr id="98" name="Text 98"/>
          <p:cNvSpPr txBox="1"/>
          <p:nvPr/>
        </p:nvSpPr>
        <p:spPr>
          <a:xfrm>
            <a:off x="8403336" y="1536192"/>
            <a:ext cx="3017520" cy="5760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6 速度 × 4 μ = 24 工况
Run 根唯一性：24/24 PASS</a:t>
            </a:r>
            <a:endParaRPr lang="zh-CN" sz="1700"/>
          </a:p>
        </p:txBody>
      </p:sp>
      <p:sp>
        <p:nvSpPr>
          <p:cNvPr id="99" name="Shape 99"/>
          <p:cNvSpPr/>
          <p:nvPr/>
        </p:nvSpPr>
        <p:spPr>
          <a:xfrm>
            <a:off x="8183880" y="2450592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0" name="Shape 100"/>
          <p:cNvSpPr/>
          <p:nvPr/>
        </p:nvSpPr>
        <p:spPr>
          <a:xfrm>
            <a:off x="8183880" y="2450592"/>
            <a:ext cx="73152" cy="123444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01" name="Text 101"/>
          <p:cNvSpPr txBox="1"/>
          <p:nvPr/>
        </p:nvSpPr>
        <p:spPr>
          <a:xfrm>
            <a:off x="8403336" y="2606040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批量数据集</a:t>
            </a:r>
            <a:endParaRPr lang="zh-CN" sz="1400"/>
          </a:p>
        </p:txBody>
      </p:sp>
      <p:sp>
        <p:nvSpPr>
          <p:cNvPr id="102" name="Text 102"/>
          <p:cNvSpPr txBox="1"/>
          <p:nvPr/>
        </p:nvSpPr>
        <p:spPr>
          <a:xfrm>
            <a:off x="8403336" y="2980944"/>
            <a:ext cx="3017520" cy="5760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每工况 5 条压力轨迹
13,070 条状态转移</a:t>
            </a:r>
            <a:endParaRPr lang="zh-CN" sz="1700"/>
          </a:p>
        </p:txBody>
      </p:sp>
      <p:sp>
        <p:nvSpPr>
          <p:cNvPr id="103" name="Shape 103"/>
          <p:cNvSpPr/>
          <p:nvPr/>
        </p:nvSpPr>
        <p:spPr>
          <a:xfrm>
            <a:off x="8183880" y="3895344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4" name="Shape 104"/>
          <p:cNvSpPr/>
          <p:nvPr/>
        </p:nvSpPr>
        <p:spPr>
          <a:xfrm>
            <a:off x="8183880" y="3895344"/>
            <a:ext cx="73152" cy="1572768"/>
          </a:xfrm>
          <a:prstGeom prst="rect">
            <a:avLst/>
          </a:prstGeom>
          <a:solidFill>
            <a:srgbClr val="2F9E73"/>
          </a:solidFill>
          <a:ln>
            <a:noFill/>
          </a:ln>
        </p:spPr>
      </p:sp>
      <p:sp>
        <p:nvSpPr>
          <p:cNvPr id="105" name="Text 105"/>
          <p:cNvSpPr txBox="1"/>
          <p:nvPr/>
        </p:nvSpPr>
        <p:spPr>
          <a:xfrm>
            <a:off x="8403336" y="4050792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边界响应</a:t>
            </a:r>
            <a:endParaRPr lang="zh-CN" sz="1400"/>
          </a:p>
        </p:txBody>
      </p:sp>
      <p:sp>
        <p:nvSpPr>
          <p:cNvPr id="106" name="Text 106"/>
          <p:cNvSpPr txBox="1"/>
          <p:nvPr/>
        </p:nvSpPr>
        <p:spPr>
          <a:xfrm>
            <a:off x="8403336" y="4425696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低附着峰值约 2 m/s²
高附着峰值约 7.3 m/s²</a:t>
            </a:r>
            <a:endParaRPr lang="zh-CN" sz="1500"/>
          </a:p>
        </p:txBody>
      </p:sp>
      <p:sp>
        <p:nvSpPr>
          <p:cNvPr id="107" name="Text 107"/>
          <p:cNvSpPr txBox="1"/>
          <p:nvPr/>
        </p:nvSpPr>
        <p:spPr>
          <a:xfrm>
            <a:off x="8211312" y="5687568"/>
            <a:ext cx="3355848" cy="41148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3C5C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CarSim 2019 + MATLAB R2024b；统一重采样 Δt = 0.05 s</a:t>
            </a:r>
            <a:endParaRPr lang="zh-CN" sz="1200"/>
          </a:p>
        </p:txBody>
      </p:sp>
      <p:sp>
        <p:nvSpPr>
          <p:cNvPr id="108" name="Shape 10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09" name="Text 109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B  ·  建议用时 1:20</a:t>
            </a:r>
            <a:endParaRPr lang="zh-CN" sz="900"/>
          </a:p>
        </p:txBody>
      </p:sp>
      <p:sp>
        <p:nvSpPr>
          <p:cNvPr id="110" name="Text 110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112" name="Shape 1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3" name="Text 113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模型升级：GRU 捕捉历史依赖，PINN 保证运动学一致</a:t>
            </a:r>
            <a:endParaRPr lang="zh-CN" sz="2700"/>
          </a:p>
        </p:txBody>
      </p:sp>
      <p:sp>
        <p:nvSpPr>
          <p:cNvPr id="114" name="Text 114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PART 2 / 3</a:t>
            </a:r>
            <a:endParaRPr lang="zh-CN" sz="1000"/>
          </a:p>
        </p:txBody>
      </p:sp>
      <p:sp>
        <p:nvSpPr>
          <p:cNvPr id="115" name="Shape 115"/>
          <p:cNvSpPr/>
          <p:nvPr/>
        </p:nvSpPr>
        <p:spPr>
          <a:xfrm>
            <a:off x="640080" y="1097280"/>
            <a:ext cx="40690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16" name="Text 116"/>
          <p:cNvSpPr txBox="1"/>
          <p:nvPr/>
        </p:nvSpPr>
        <p:spPr>
          <a:xfrm>
            <a:off x="868680" y="1353312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单步 MLP：机制基线</a:t>
            </a:r>
            <a:endParaRPr lang="zh-CN" sz="2000"/>
          </a:p>
        </p:txBody>
      </p:sp>
      <p:sp>
        <p:nvSpPr>
          <p:cNvPr id="117" name="Shape 117"/>
          <p:cNvSpPr/>
          <p:nvPr/>
        </p:nvSpPr>
        <p:spPr>
          <a:xfrm>
            <a:off x="1051560" y="2057400"/>
            <a:ext cx="1325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7080"/>
            </a:solidFill>
          </a:ln>
        </p:spPr>
      </p:sp>
      <p:sp>
        <p:nvSpPr>
          <p:cNvPr id="118" name="Text 118"/>
          <p:cNvSpPr txBox="1"/>
          <p:nvPr/>
        </p:nvSpPr>
        <p:spPr>
          <a:xfrm>
            <a:off x="1161288" y="2203704"/>
            <a:ext cx="1106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当前点</a:t>
            </a:r>
            <a:endParaRPr lang="zh-CN" sz="1700"/>
          </a:p>
        </p:txBody>
      </p:sp>
      <p:sp>
        <p:nvSpPr>
          <p:cNvPr id="119" name="Text 119"/>
          <p:cNvSpPr txBox="1"/>
          <p:nvPr/>
        </p:nvSpPr>
        <p:spPr>
          <a:xfrm>
            <a:off x="1179576" y="2587752"/>
            <a:ext cx="1069848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[vₜ, Pₜ, μₜ]</a:t>
            </a:r>
            <a:endParaRPr lang="zh-CN" sz="1200"/>
          </a:p>
        </p:txBody>
      </p:sp>
      <p:sp>
        <p:nvSpPr>
          <p:cNvPr id="120" name="Line 120"/>
          <p:cNvSpPr/>
          <p:nvPr/>
        </p:nvSpPr>
        <p:spPr>
          <a:xfrm>
            <a:off x="2441448" y="2578608"/>
            <a:ext cx="484632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121" name="Shape 121"/>
          <p:cNvSpPr/>
          <p:nvPr/>
        </p:nvSpPr>
        <p:spPr>
          <a:xfrm>
            <a:off x="2999232" y="2057400"/>
            <a:ext cx="1325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7080"/>
            </a:solidFill>
          </a:ln>
        </p:spPr>
      </p:sp>
      <p:sp>
        <p:nvSpPr>
          <p:cNvPr id="122" name="Text 122"/>
          <p:cNvSpPr txBox="1"/>
          <p:nvPr/>
        </p:nvSpPr>
        <p:spPr>
          <a:xfrm>
            <a:off x="3108960" y="2203704"/>
            <a:ext cx="1106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下一点</a:t>
            </a:r>
            <a:endParaRPr lang="zh-CN" sz="1700"/>
          </a:p>
        </p:txBody>
      </p:sp>
      <p:sp>
        <p:nvSpPr>
          <p:cNvPr id="123" name="Text 123"/>
          <p:cNvSpPr txBox="1"/>
          <p:nvPr/>
        </p:nvSpPr>
        <p:spPr>
          <a:xfrm>
            <a:off x="3127248" y="2587752"/>
            <a:ext cx="1069848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[vₜ₊₁, aₜ₊₁]</a:t>
            </a:r>
            <a:endParaRPr lang="zh-CN" sz="1200"/>
          </a:p>
        </p:txBody>
      </p:sp>
      <p:sp>
        <p:nvSpPr>
          <p:cNvPr id="124" name="Text 124"/>
          <p:cNvSpPr txBox="1"/>
          <p:nvPr/>
        </p:nvSpPr>
        <p:spPr>
          <a:xfrm>
            <a:off x="960120" y="3520440"/>
            <a:ext cx="3429000" cy="685800"/>
          </a:xfrm>
          <a:prstGeom prst="roundRect">
            <a:avLst/>
          </a:prstGeom>
          <a:solidFill>
            <a:srgbClr val="FDEEEE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适合验证数据链路；无法显式表达建压滞后与历史状态</a:t>
            </a:r>
            <a:endParaRPr lang="zh-CN" sz="1600"/>
          </a:p>
        </p:txBody>
      </p:sp>
      <p:sp>
        <p:nvSpPr>
          <p:cNvPr id="125" name="Line 125"/>
          <p:cNvSpPr/>
          <p:nvPr/>
        </p:nvSpPr>
        <p:spPr>
          <a:xfrm>
            <a:off x="4983480" y="2880360"/>
            <a:ext cx="731520" cy="914"/>
          </a:xfrm>
          <a:prstGeom prst="line">
            <a:avLst/>
          </a:prstGeom>
          <a:ln w="50800">
            <a:solidFill>
              <a:srgbClr val="F2A93B"/>
            </a:solidFill>
            <a:tailEnd type="triangle"/>
          </a:ln>
        </p:spPr>
      </p:sp>
      <p:sp>
        <p:nvSpPr>
          <p:cNvPr id="126" name="Text 126"/>
          <p:cNvSpPr txBox="1"/>
          <p:nvPr/>
        </p:nvSpPr>
        <p:spPr>
          <a:xfrm>
            <a:off x="4773168" y="219456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升级</a:t>
            </a:r>
            <a:endParaRPr lang="zh-CN" sz="1800"/>
          </a:p>
        </p:txBody>
      </p:sp>
      <p:sp>
        <p:nvSpPr>
          <p:cNvPr id="127" name="Shape 127"/>
          <p:cNvSpPr/>
          <p:nvPr/>
        </p:nvSpPr>
        <p:spPr>
          <a:xfrm>
            <a:off x="5989320" y="1097280"/>
            <a:ext cx="5532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28" name="Text 128"/>
          <p:cNvSpPr txBox="1"/>
          <p:nvPr/>
        </p:nvSpPr>
        <p:spPr>
          <a:xfrm>
            <a:off x="6263640" y="1353312"/>
            <a:ext cx="49834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GRU：轻量序列建模</a:t>
            </a:r>
            <a:endParaRPr lang="zh-CN" sz="2000"/>
          </a:p>
        </p:txBody>
      </p:sp>
      <p:sp>
        <p:nvSpPr>
          <p:cNvPr id="129" name="Shape 129"/>
          <p:cNvSpPr/>
          <p:nvPr/>
        </p:nvSpPr>
        <p:spPr>
          <a:xfrm>
            <a:off x="6400800" y="2148840"/>
            <a:ext cx="566928" cy="713232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</p:sp>
      <p:sp>
        <p:nvSpPr>
          <p:cNvPr id="130" name="Text 130"/>
          <p:cNvSpPr txBox="1"/>
          <p:nvPr/>
        </p:nvSpPr>
        <p:spPr>
          <a:xfrm>
            <a:off x="6428232" y="2340864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t-4</a:t>
            </a:r>
            <a:endParaRPr lang="zh-CN" sz="1100"/>
          </a:p>
        </p:txBody>
      </p:sp>
      <p:sp>
        <p:nvSpPr>
          <p:cNvPr id="131" name="Line 131"/>
          <p:cNvSpPr/>
          <p:nvPr/>
        </p:nvSpPr>
        <p:spPr>
          <a:xfrm>
            <a:off x="6976872" y="2505456"/>
            <a:ext cx="146304" cy="914"/>
          </a:xfrm>
          <a:prstGeom prst="line">
            <a:avLst/>
          </a:prstGeom>
          <a:ln w="19050">
            <a:solidFill>
              <a:srgbClr val="607080"/>
            </a:solidFill>
            <a:tailEnd type="triangle"/>
          </a:ln>
        </p:spPr>
      </p:sp>
      <p:sp>
        <p:nvSpPr>
          <p:cNvPr id="132" name="Shape 132"/>
          <p:cNvSpPr/>
          <p:nvPr/>
        </p:nvSpPr>
        <p:spPr>
          <a:xfrm>
            <a:off x="7150608" y="2148840"/>
            <a:ext cx="566928" cy="713232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</p:sp>
      <p:sp>
        <p:nvSpPr>
          <p:cNvPr id="133" name="Text 133"/>
          <p:cNvSpPr txBox="1"/>
          <p:nvPr/>
        </p:nvSpPr>
        <p:spPr>
          <a:xfrm>
            <a:off x="7178040" y="2340864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t-3</a:t>
            </a:r>
            <a:endParaRPr lang="zh-CN" sz="1100"/>
          </a:p>
        </p:txBody>
      </p:sp>
      <p:sp>
        <p:nvSpPr>
          <p:cNvPr id="134" name="Line 134"/>
          <p:cNvSpPr/>
          <p:nvPr/>
        </p:nvSpPr>
        <p:spPr>
          <a:xfrm>
            <a:off x="7726680" y="2505456"/>
            <a:ext cx="146304" cy="914"/>
          </a:xfrm>
          <a:prstGeom prst="line">
            <a:avLst/>
          </a:prstGeom>
          <a:ln w="19050">
            <a:solidFill>
              <a:srgbClr val="607080"/>
            </a:solidFill>
            <a:tailEnd type="triangle"/>
          </a:ln>
        </p:spPr>
      </p:sp>
      <p:sp>
        <p:nvSpPr>
          <p:cNvPr id="135" name="Shape 135"/>
          <p:cNvSpPr/>
          <p:nvPr/>
        </p:nvSpPr>
        <p:spPr>
          <a:xfrm>
            <a:off x="7900416" y="2148840"/>
            <a:ext cx="566928" cy="713232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</p:sp>
      <p:sp>
        <p:nvSpPr>
          <p:cNvPr id="136" name="Text 136"/>
          <p:cNvSpPr txBox="1"/>
          <p:nvPr/>
        </p:nvSpPr>
        <p:spPr>
          <a:xfrm>
            <a:off x="7927848" y="2340864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t-2</a:t>
            </a:r>
            <a:endParaRPr lang="zh-CN" sz="1100"/>
          </a:p>
        </p:txBody>
      </p:sp>
      <p:sp>
        <p:nvSpPr>
          <p:cNvPr id="137" name="Line 137"/>
          <p:cNvSpPr/>
          <p:nvPr/>
        </p:nvSpPr>
        <p:spPr>
          <a:xfrm>
            <a:off x="8476488" y="2505456"/>
            <a:ext cx="146304" cy="914"/>
          </a:xfrm>
          <a:prstGeom prst="line">
            <a:avLst/>
          </a:prstGeom>
          <a:ln w="19050">
            <a:solidFill>
              <a:srgbClr val="607080"/>
            </a:solidFill>
            <a:tailEnd type="triangle"/>
          </a:ln>
        </p:spPr>
      </p:sp>
      <p:sp>
        <p:nvSpPr>
          <p:cNvPr id="138" name="Shape 138"/>
          <p:cNvSpPr/>
          <p:nvPr/>
        </p:nvSpPr>
        <p:spPr>
          <a:xfrm>
            <a:off x="8650224" y="2148840"/>
            <a:ext cx="566928" cy="713232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</p:sp>
      <p:sp>
        <p:nvSpPr>
          <p:cNvPr id="139" name="Text 139"/>
          <p:cNvSpPr txBox="1"/>
          <p:nvPr/>
        </p:nvSpPr>
        <p:spPr>
          <a:xfrm>
            <a:off x="8677656" y="2340864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t-1</a:t>
            </a:r>
            <a:endParaRPr lang="zh-CN" sz="1100"/>
          </a:p>
        </p:txBody>
      </p:sp>
      <p:sp>
        <p:nvSpPr>
          <p:cNvPr id="140" name="Line 140"/>
          <p:cNvSpPr/>
          <p:nvPr/>
        </p:nvSpPr>
        <p:spPr>
          <a:xfrm>
            <a:off x="9226296" y="2505456"/>
            <a:ext cx="146304" cy="914"/>
          </a:xfrm>
          <a:prstGeom prst="line">
            <a:avLst/>
          </a:prstGeom>
          <a:ln w="19050">
            <a:solidFill>
              <a:srgbClr val="607080"/>
            </a:solidFill>
            <a:tailEnd type="triangle"/>
          </a:ln>
        </p:spPr>
      </p:sp>
      <p:sp>
        <p:nvSpPr>
          <p:cNvPr id="141" name="Shape 141"/>
          <p:cNvSpPr/>
          <p:nvPr/>
        </p:nvSpPr>
        <p:spPr>
          <a:xfrm>
            <a:off x="9400032" y="2148840"/>
            <a:ext cx="566928" cy="713232"/>
          </a:xfrm>
          <a:prstGeom prst="roundRect">
            <a:avLst/>
          </a:prstGeom>
          <a:solidFill>
            <a:srgbClr val="CFECEF"/>
          </a:solidFill>
          <a:ln w="12700">
            <a:solidFill>
              <a:srgbClr val="0E8A92"/>
            </a:solidFill>
          </a:ln>
        </p:spPr>
      </p:sp>
      <p:sp>
        <p:nvSpPr>
          <p:cNvPr id="142" name="Text 142"/>
          <p:cNvSpPr txBox="1"/>
          <p:nvPr/>
        </p:nvSpPr>
        <p:spPr>
          <a:xfrm>
            <a:off x="9427464" y="2340864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t-0</a:t>
            </a:r>
            <a:endParaRPr lang="zh-CN" sz="1100"/>
          </a:p>
        </p:txBody>
      </p:sp>
      <p:sp>
        <p:nvSpPr>
          <p:cNvPr id="143" name="Line 143"/>
          <p:cNvSpPr/>
          <p:nvPr/>
        </p:nvSpPr>
        <p:spPr>
          <a:xfrm>
            <a:off x="10085832" y="2505456"/>
            <a:ext cx="384048" cy="914"/>
          </a:xfrm>
          <a:prstGeom prst="line">
            <a:avLst/>
          </a:prstGeom>
          <a:ln w="25400">
            <a:solidFill>
              <a:srgbClr val="0E8A92"/>
            </a:solidFill>
            <a:tailEnd type="triangle"/>
          </a:ln>
        </p:spPr>
      </p:sp>
      <p:sp>
        <p:nvSpPr>
          <p:cNvPr id="144" name="Shape 144"/>
          <p:cNvSpPr/>
          <p:nvPr/>
        </p:nvSpPr>
        <p:spPr>
          <a:xfrm>
            <a:off x="10515600" y="2057400"/>
            <a:ext cx="658368" cy="91440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45" name="Text 145"/>
          <p:cNvSpPr txBox="1"/>
          <p:nvPr/>
        </p:nvSpPr>
        <p:spPr>
          <a:xfrm>
            <a:off x="10543032" y="2267712"/>
            <a:ext cx="603504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预测</a:t>
            </a:r>
            <a:endParaRPr lang="zh-CN" sz="1100"/>
          </a:p>
        </p:txBody>
      </p:sp>
      <p:sp>
        <p:nvSpPr>
          <p:cNvPr id="146" name="Text 146"/>
          <p:cNvSpPr txBox="1"/>
          <p:nvPr/>
        </p:nvSpPr>
        <p:spPr>
          <a:xfrm>
            <a:off x="6400800" y="3456432"/>
            <a:ext cx="4663440" cy="667512"/>
          </a:xfrm>
          <a:prstGeom prst="roundRect">
            <a:avLst/>
          </a:prstGeom>
          <a:solidFill>
            <a:srgbClr val="E9F4F5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利用过去 K=5 步 [v, a, P, μ]，门控状态记忆压力建立过程</a:t>
            </a:r>
            <a:endParaRPr lang="zh-CN" sz="1600"/>
          </a:p>
        </p:txBody>
      </p:sp>
      <p:sp>
        <p:nvSpPr>
          <p:cNvPr id="147" name="Text 147"/>
          <p:cNvSpPr txBox="1"/>
          <p:nvPr/>
        </p:nvSpPr>
        <p:spPr>
          <a:xfrm>
            <a:off x="822960" y="5074920"/>
            <a:ext cx="10561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PINN 约束：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Loss = MSE_data + λ · [v̂ₜ₊₁ − max(vₜ + âₜ₊₁Δt, 0)]²</a:t>
            </a:r>
            <a:endParaRPr lang="zh-CN" sz="2000"/>
          </a:p>
        </p:txBody>
      </p:sp>
      <p:sp>
        <p:nvSpPr>
          <p:cNvPr id="148" name="Shape 14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49" name="Text 149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B  ·  建议用时 1:15</a:t>
            </a:r>
            <a:endParaRPr lang="zh-CN" sz="900"/>
          </a:p>
        </p:txBody>
      </p:sp>
      <p:sp>
        <p:nvSpPr>
          <p:cNvPr id="150" name="Text 150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385" name="Shape 38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86" name="Text 386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消融实验：GRU 在短序列下以更少参数获得更低误差</a:t>
            </a:r>
            <a:endParaRPr lang="zh-CN" sz="2700"/>
          </a:p>
        </p:txBody>
      </p:sp>
      <p:sp>
        <p:nvSpPr>
          <p:cNvPr id="387" name="Text 387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PART 2 / 3</a:t>
            </a:r>
            <a:endParaRPr lang="zh-CN" sz="1000"/>
          </a:p>
        </p:txBody>
      </p:sp>
      <p:sp>
        <p:nvSpPr>
          <p:cNvPr id="388" name="Shape 388"/>
          <p:cNvSpPr/>
          <p:nvPr/>
        </p:nvSpPr>
        <p:spPr>
          <a:xfrm>
            <a:off x="566928" y="932688"/>
            <a:ext cx="411480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89" name="Text 389"/>
          <p:cNvSpPr txBox="1"/>
          <p:nvPr/>
        </p:nvSpPr>
        <p:spPr>
          <a:xfrm>
            <a:off x="841248" y="11887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9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推荐配置</a:t>
            </a:r>
            <a:endParaRPr lang="zh-CN" sz="1900"/>
          </a:p>
        </p:txBody>
      </p:sp>
      <p:sp>
        <p:nvSpPr>
          <p:cNvPr id="390" name="Shape 390"/>
          <p:cNvSpPr/>
          <p:nvPr/>
        </p:nvSpPr>
        <p:spPr>
          <a:xfrm>
            <a:off x="914400" y="1828800"/>
            <a:ext cx="475488" cy="658368"/>
          </a:xfrm>
          <a:prstGeom prst="roundRect">
            <a:avLst/>
          </a:prstGeom>
          <a:solidFill>
            <a:srgbClr val="EDF2F4"/>
          </a:solidFill>
          <a:ln w="12700">
            <a:solidFill>
              <a:srgbClr val="D9E1E5"/>
            </a:solidFill>
          </a:ln>
        </p:spPr>
      </p:sp>
      <p:sp>
        <p:nvSpPr>
          <p:cNvPr id="391" name="Text 391"/>
          <p:cNvSpPr txBox="1"/>
          <p:nvPr/>
        </p:nvSpPr>
        <p:spPr>
          <a:xfrm>
            <a:off x="932688" y="2002536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1000"/>
          </a:p>
        </p:txBody>
      </p:sp>
      <p:sp>
        <p:nvSpPr>
          <p:cNvPr id="392" name="Shape 392"/>
          <p:cNvSpPr/>
          <p:nvPr/>
        </p:nvSpPr>
        <p:spPr>
          <a:xfrm>
            <a:off x="1527048" y="1828800"/>
            <a:ext cx="475488" cy="658368"/>
          </a:xfrm>
          <a:prstGeom prst="roundRect">
            <a:avLst/>
          </a:prstGeom>
          <a:solidFill>
            <a:srgbClr val="EDF2F4"/>
          </a:solidFill>
          <a:ln w="12700">
            <a:solidFill>
              <a:srgbClr val="D9E1E5"/>
            </a:solidFill>
          </a:ln>
        </p:spPr>
      </p:sp>
      <p:sp>
        <p:nvSpPr>
          <p:cNvPr id="393" name="Text 393"/>
          <p:cNvSpPr txBox="1"/>
          <p:nvPr/>
        </p:nvSpPr>
        <p:spPr>
          <a:xfrm>
            <a:off x="1545336" y="2002536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sz="1000"/>
          </a:p>
        </p:txBody>
      </p:sp>
      <p:sp>
        <p:nvSpPr>
          <p:cNvPr id="394" name="Shape 394"/>
          <p:cNvSpPr/>
          <p:nvPr/>
        </p:nvSpPr>
        <p:spPr>
          <a:xfrm>
            <a:off x="2139696" y="1828800"/>
            <a:ext cx="475488" cy="658368"/>
          </a:xfrm>
          <a:prstGeom prst="roundRect">
            <a:avLst/>
          </a:prstGeom>
          <a:solidFill>
            <a:srgbClr val="EDF2F4"/>
          </a:solidFill>
          <a:ln w="12700">
            <a:solidFill>
              <a:srgbClr val="D9E1E5"/>
            </a:solidFill>
          </a:ln>
        </p:spPr>
      </p:sp>
      <p:sp>
        <p:nvSpPr>
          <p:cNvPr id="395" name="Text 395"/>
          <p:cNvSpPr txBox="1"/>
          <p:nvPr/>
        </p:nvSpPr>
        <p:spPr>
          <a:xfrm>
            <a:off x="2157984" y="2002536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1000"/>
          </a:p>
        </p:txBody>
      </p:sp>
      <p:sp>
        <p:nvSpPr>
          <p:cNvPr id="396" name="Shape 396"/>
          <p:cNvSpPr/>
          <p:nvPr/>
        </p:nvSpPr>
        <p:spPr>
          <a:xfrm>
            <a:off x="2752344" y="1828800"/>
            <a:ext cx="475488" cy="658368"/>
          </a:xfrm>
          <a:prstGeom prst="roundRect">
            <a:avLst/>
          </a:prstGeom>
          <a:solidFill>
            <a:srgbClr val="EDF2F4"/>
          </a:solidFill>
          <a:ln w="12700">
            <a:solidFill>
              <a:srgbClr val="D9E1E5"/>
            </a:solidFill>
          </a:ln>
        </p:spPr>
      </p:sp>
      <p:sp>
        <p:nvSpPr>
          <p:cNvPr id="397" name="Text 397"/>
          <p:cNvSpPr txBox="1"/>
          <p:nvPr/>
        </p:nvSpPr>
        <p:spPr>
          <a:xfrm>
            <a:off x="2770632" y="2002536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sz="1000"/>
          </a:p>
        </p:txBody>
      </p:sp>
      <p:sp>
        <p:nvSpPr>
          <p:cNvPr id="398" name="Shape 398"/>
          <p:cNvSpPr/>
          <p:nvPr/>
        </p:nvSpPr>
        <p:spPr>
          <a:xfrm>
            <a:off x="3364992" y="1828800"/>
            <a:ext cx="475488" cy="658368"/>
          </a:xfrm>
          <a:prstGeom prst="roundRect">
            <a:avLst/>
          </a:prstGeom>
          <a:solidFill>
            <a:srgbClr val="CFECEF"/>
          </a:solidFill>
          <a:ln w="12700">
            <a:solidFill>
              <a:srgbClr val="0E8A92"/>
            </a:solidFill>
          </a:ln>
        </p:spPr>
      </p:sp>
      <p:sp>
        <p:nvSpPr>
          <p:cNvPr id="399" name="Text 399"/>
          <p:cNvSpPr txBox="1"/>
          <p:nvPr/>
        </p:nvSpPr>
        <p:spPr>
          <a:xfrm>
            <a:off x="3383280" y="2002536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1000"/>
          </a:p>
        </p:txBody>
      </p:sp>
      <p:sp>
        <p:nvSpPr>
          <p:cNvPr id="400" name="Line 400"/>
          <p:cNvSpPr/>
          <p:nvPr/>
        </p:nvSpPr>
        <p:spPr>
          <a:xfrm>
            <a:off x="3721608" y="2157984"/>
            <a:ext cx="438912" cy="914"/>
          </a:xfrm>
          <a:prstGeom prst="line">
            <a:avLst/>
          </a:prstGeom>
          <a:ln w="25400">
            <a:solidFill>
              <a:srgbClr val="0E8A92"/>
            </a:solidFill>
            <a:tailEnd type="triangle"/>
          </a:ln>
        </p:spPr>
      </p:sp>
      <p:sp>
        <p:nvSpPr>
          <p:cNvPr id="401" name="Shape 401"/>
          <p:cNvSpPr/>
          <p:nvPr/>
        </p:nvSpPr>
        <p:spPr>
          <a:xfrm>
            <a:off x="1078992" y="2880360"/>
            <a:ext cx="1115568" cy="91440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02" name="Text 402"/>
          <p:cNvSpPr txBox="1"/>
          <p:nvPr/>
        </p:nvSpPr>
        <p:spPr>
          <a:xfrm>
            <a:off x="1124712" y="3145536"/>
            <a:ext cx="1024128" cy="301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GRU 64</a:t>
            </a:r>
            <a:endParaRPr lang="zh-CN" sz="1400"/>
          </a:p>
        </p:txBody>
      </p:sp>
      <p:sp>
        <p:nvSpPr>
          <p:cNvPr id="403" name="Line 403"/>
          <p:cNvSpPr/>
          <p:nvPr/>
        </p:nvSpPr>
        <p:spPr>
          <a:xfrm>
            <a:off x="2212848" y="3337560"/>
            <a:ext cx="548640" cy="914"/>
          </a:xfrm>
          <a:prstGeom prst="line">
            <a:avLst/>
          </a:prstGeom>
          <a:ln w="25400">
            <a:solidFill>
              <a:srgbClr val="0E8A92"/>
            </a:solidFill>
            <a:tailEnd type="triangle"/>
          </a:ln>
        </p:spPr>
      </p:sp>
      <p:sp>
        <p:nvSpPr>
          <p:cNvPr id="404" name="Shape 404"/>
          <p:cNvSpPr/>
          <p:nvPr/>
        </p:nvSpPr>
        <p:spPr>
          <a:xfrm>
            <a:off x="2816352" y="2880360"/>
            <a:ext cx="1261872" cy="914400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405" name="Text 405"/>
          <p:cNvSpPr txBox="1"/>
          <p:nvPr/>
        </p:nvSpPr>
        <p:spPr>
          <a:xfrm>
            <a:off x="2862072" y="3026664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FC + ReLU
FC → 2</a:t>
            </a:r>
            <a:endParaRPr lang="zh-CN" sz="1300"/>
          </a:p>
        </p:txBody>
      </p:sp>
      <p:sp>
        <p:nvSpPr>
          <p:cNvPr id="406" name="Text 406"/>
          <p:cNvSpPr txBox="1"/>
          <p:nvPr/>
        </p:nvSpPr>
        <p:spPr>
          <a:xfrm>
            <a:off x="960120" y="4187952"/>
            <a:ext cx="3337560" cy="749808"/>
          </a:xfrm>
          <a:prstGeom prst="roundRect">
            <a:avLst/>
          </a:prstGeom>
          <a:solidFill>
            <a:srgbClr val="F6F9FA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输入：5 × [v, a, P, μ]
参数：17,730</a:t>
            </a:r>
            <a:endParaRPr lang="zh-CN" sz="1500"/>
          </a:p>
        </p:txBody>
      </p:sp>
      <p:sp>
        <p:nvSpPr>
          <p:cNvPr id="407" name="Shape 407"/>
          <p:cNvSpPr/>
          <p:nvPr/>
        </p:nvSpPr>
        <p:spPr>
          <a:xfrm>
            <a:off x="4937760" y="932688"/>
            <a:ext cx="66751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pic>
        <p:nvPicPr>
          <p:cNvPr id="408" name="LSTM training lo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1307592"/>
            <a:ext cx="6272784" cy="3584448"/>
          </a:xfrm>
          <a:prstGeom prst="rect">
            <a:avLst/>
          </a:prstGeom>
          <a:ln>
            <a:noFill/>
          </a:ln>
        </p:spPr>
      </p:pic>
      <p:sp>
        <p:nvSpPr>
          <p:cNvPr id="409" name="Shape 409"/>
          <p:cNvSpPr/>
          <p:nvPr/>
        </p:nvSpPr>
        <p:spPr>
          <a:xfrm>
            <a:off x="658368" y="5486400"/>
            <a:ext cx="35295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410" name="Shape 410"/>
          <p:cNvSpPr/>
          <p:nvPr/>
        </p:nvSpPr>
        <p:spPr>
          <a:xfrm>
            <a:off x="658368" y="5486400"/>
            <a:ext cx="64008" cy="713232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11" name="Text 411"/>
          <p:cNvSpPr txBox="1"/>
          <p:nvPr/>
        </p:nvSpPr>
        <p:spPr>
          <a:xfrm>
            <a:off x="841248" y="5577840"/>
            <a:ext cx="3163824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速度 RMSE</a:t>
            </a:r>
            <a:endParaRPr lang="zh-CN" sz="1100"/>
          </a:p>
        </p:txBody>
      </p:sp>
      <p:sp>
        <p:nvSpPr>
          <p:cNvPr id="412" name="Text 412"/>
          <p:cNvSpPr txBox="1"/>
          <p:nvPr/>
        </p:nvSpPr>
        <p:spPr>
          <a:xfrm>
            <a:off x="841248" y="5833872"/>
            <a:ext cx="3163824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GRU 0.0648 vs LSTM 0.0803（↓19.2%）</a:t>
            </a:r>
            <a:endParaRPr lang="zh-CN" sz="1100"/>
          </a:p>
        </p:txBody>
      </p:sp>
      <p:sp>
        <p:nvSpPr>
          <p:cNvPr id="413" name="Shape 413"/>
          <p:cNvSpPr/>
          <p:nvPr/>
        </p:nvSpPr>
        <p:spPr>
          <a:xfrm>
            <a:off x="4343400" y="5486400"/>
            <a:ext cx="3657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414" name="Shape 414"/>
          <p:cNvSpPr/>
          <p:nvPr/>
        </p:nvSpPr>
        <p:spPr>
          <a:xfrm>
            <a:off x="4343400" y="5486400"/>
            <a:ext cx="64008" cy="713232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415" name="Text 415"/>
          <p:cNvSpPr txBox="1"/>
          <p:nvPr/>
        </p:nvSpPr>
        <p:spPr>
          <a:xfrm>
            <a:off x="4526280" y="55778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减速度 RMSE</a:t>
            </a:r>
            <a:endParaRPr lang="zh-CN" sz="1100"/>
          </a:p>
        </p:txBody>
      </p:sp>
      <p:sp>
        <p:nvSpPr>
          <p:cNvPr id="416" name="Text 416"/>
          <p:cNvSpPr txBox="1"/>
          <p:nvPr/>
        </p:nvSpPr>
        <p:spPr>
          <a:xfrm>
            <a:off x="4526280" y="5833872"/>
            <a:ext cx="329184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GRU 0.0431 vs LSTM 0.1450（↓70.3%）</a:t>
            </a:r>
            <a:endParaRPr lang="zh-CN" sz="1100"/>
          </a:p>
        </p:txBody>
      </p:sp>
      <p:sp>
        <p:nvSpPr>
          <p:cNvPr id="417" name="Shape 417"/>
          <p:cNvSpPr/>
          <p:nvPr/>
        </p:nvSpPr>
        <p:spPr>
          <a:xfrm>
            <a:off x="8156448" y="5486400"/>
            <a:ext cx="3383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418" name="Shape 418"/>
          <p:cNvSpPr/>
          <p:nvPr/>
        </p:nvSpPr>
        <p:spPr>
          <a:xfrm>
            <a:off x="8156448" y="5486400"/>
            <a:ext cx="64008" cy="713232"/>
          </a:xfrm>
          <a:prstGeom prst="rect">
            <a:avLst/>
          </a:prstGeom>
          <a:solidFill>
            <a:srgbClr val="2F9E73"/>
          </a:solidFill>
          <a:ln>
            <a:noFill/>
          </a:ln>
        </p:spPr>
      </p:sp>
      <p:sp>
        <p:nvSpPr>
          <p:cNvPr id="419" name="Text 419"/>
          <p:cNvSpPr txBox="1"/>
          <p:nvPr/>
        </p:nvSpPr>
        <p:spPr>
          <a:xfrm>
            <a:off x="8339328" y="557784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参数量</a:t>
            </a:r>
            <a:endParaRPr lang="zh-CN" sz="1100"/>
          </a:p>
        </p:txBody>
      </p:sp>
      <p:sp>
        <p:nvSpPr>
          <p:cNvPr id="420" name="Text 420"/>
          <p:cNvSpPr txBox="1"/>
          <p:nvPr/>
        </p:nvSpPr>
        <p:spPr>
          <a:xfrm>
            <a:off x="8339328" y="5833872"/>
            <a:ext cx="3017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17,730 vs 22,210（↓20.2%）</a:t>
            </a:r>
            <a:endParaRPr lang="zh-CN" sz="1100"/>
          </a:p>
        </p:txBody>
      </p:sp>
      <p:sp>
        <p:nvSpPr>
          <p:cNvPr id="421" name="Shape 4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422" name="Text 422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B  ·  建议用时 1:30</a:t>
            </a:r>
            <a:endParaRPr lang="zh-CN" sz="900"/>
          </a:p>
        </p:txBody>
      </p:sp>
      <p:sp>
        <p:nvSpPr>
          <p:cNvPr id="423" name="Text 423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zh-CN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192" name="Shape 19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93" name="Text 193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CarSim-GRU 结果：在更真实、更难的数据上保持可用精度</a:t>
            </a:r>
            <a:endParaRPr lang="zh-CN" sz="2700"/>
          </a:p>
        </p:txBody>
      </p:sp>
      <p:sp>
        <p:nvSpPr>
          <p:cNvPr id="194" name="Text 194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PART 2 / 3</a:t>
            </a:r>
            <a:endParaRPr lang="zh-CN" sz="1000"/>
          </a:p>
        </p:txBody>
      </p:sp>
      <p:sp>
        <p:nvSpPr>
          <p:cNvPr id="195" name="Shape 195"/>
          <p:cNvSpPr/>
          <p:nvPr/>
        </p:nvSpPr>
        <p:spPr>
          <a:xfrm>
            <a:off x="640080" y="1371600"/>
            <a:ext cx="27889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92"/>
            </a:solidFill>
          </a:ln>
        </p:spPr>
      </p:sp>
      <p:sp>
        <p:nvSpPr>
          <p:cNvPr id="196" name="Text 196"/>
          <p:cNvSpPr txBox="1"/>
          <p:nvPr/>
        </p:nvSpPr>
        <p:spPr>
          <a:xfrm>
            <a:off x="749808" y="1517904"/>
            <a:ext cx="2569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高保真数据源</a:t>
            </a:r>
            <a:endParaRPr lang="zh-CN" sz="1700"/>
          </a:p>
        </p:txBody>
      </p:sp>
      <p:sp>
        <p:nvSpPr>
          <p:cNvPr id="197" name="Text 197"/>
          <p:cNvSpPr txBox="1"/>
          <p:nvPr/>
        </p:nvSpPr>
        <p:spPr>
          <a:xfrm>
            <a:off x="768096" y="1901952"/>
            <a:ext cx="25328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CarSim 2019 / S-Function
轮胎非线性 · 俯仰 · 轮速</a:t>
            </a:r>
            <a:endParaRPr lang="zh-CN" sz="1200"/>
          </a:p>
        </p:txBody>
      </p:sp>
      <p:sp>
        <p:nvSpPr>
          <p:cNvPr id="198" name="Line 198"/>
          <p:cNvSpPr/>
          <p:nvPr/>
        </p:nvSpPr>
        <p:spPr>
          <a:xfrm>
            <a:off x="3474720" y="2167128"/>
            <a:ext cx="1143000" cy="914"/>
          </a:xfrm>
          <a:prstGeom prst="line">
            <a:avLst/>
          </a:prstGeom>
          <a:ln w="38100">
            <a:solidFill>
              <a:srgbClr val="F2A93B"/>
            </a:solidFill>
            <a:tailEnd type="triangle"/>
          </a:ln>
        </p:spPr>
      </p:sp>
      <p:sp>
        <p:nvSpPr>
          <p:cNvPr id="199" name="Text 199"/>
          <p:cNvSpPr txBox="1"/>
          <p:nvPr/>
        </p:nvSpPr>
        <p:spPr>
          <a:xfrm>
            <a:off x="3547872" y="1627632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统一 CSV</a:t>
            </a:r>
            <a:endParaRPr lang="zh-CN" sz="1200"/>
          </a:p>
        </p:txBody>
      </p:sp>
      <p:sp>
        <p:nvSpPr>
          <p:cNvPr id="200" name="Shape 200"/>
          <p:cNvSpPr/>
          <p:nvPr/>
        </p:nvSpPr>
        <p:spPr>
          <a:xfrm>
            <a:off x="4663440" y="1371600"/>
            <a:ext cx="27889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A93B"/>
            </a:solidFill>
          </a:ln>
        </p:spPr>
      </p:sp>
      <p:sp>
        <p:nvSpPr>
          <p:cNvPr id="201" name="Text 201"/>
          <p:cNvSpPr txBox="1"/>
          <p:nvPr/>
        </p:nvSpPr>
        <p:spPr>
          <a:xfrm>
            <a:off x="4773168" y="1517904"/>
            <a:ext cx="2569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共享接口</a:t>
            </a:r>
            <a:endParaRPr lang="zh-CN" sz="1700"/>
          </a:p>
        </p:txBody>
      </p:sp>
      <p:sp>
        <p:nvSpPr>
          <p:cNvPr id="202" name="Text 202"/>
          <p:cNvSpPr txBox="1"/>
          <p:nvPr/>
        </p:nvSpPr>
        <p:spPr>
          <a:xfrm>
            <a:off x="4791456" y="1901952"/>
            <a:ext cx="25328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trajectory / step
[v, a, P, μ] → next state</a:t>
            </a:r>
            <a:endParaRPr lang="zh-CN" sz="1200"/>
          </a:p>
        </p:txBody>
      </p:sp>
      <p:sp>
        <p:nvSpPr>
          <p:cNvPr id="203" name="Line 203"/>
          <p:cNvSpPr/>
          <p:nvPr/>
        </p:nvSpPr>
        <p:spPr>
          <a:xfrm>
            <a:off x="7498080" y="2167128"/>
            <a:ext cx="1143000" cy="914"/>
          </a:xfrm>
          <a:prstGeom prst="line">
            <a:avLst/>
          </a:prstGeom>
          <a:ln w="38100">
            <a:solidFill>
              <a:srgbClr val="F2A93B"/>
            </a:solidFill>
            <a:tailEnd type="triangle"/>
          </a:ln>
        </p:spPr>
      </p:sp>
      <p:sp>
        <p:nvSpPr>
          <p:cNvPr id="204" name="Text 204"/>
          <p:cNvSpPr txBox="1"/>
          <p:nvPr/>
        </p:nvSpPr>
        <p:spPr>
          <a:xfrm>
            <a:off x="7571232" y="1627632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直接训练</a:t>
            </a:r>
            <a:endParaRPr lang="zh-CN" sz="1200"/>
          </a:p>
        </p:txBody>
      </p:sp>
      <p:sp>
        <p:nvSpPr>
          <p:cNvPr id="205" name="Shape 205"/>
          <p:cNvSpPr/>
          <p:nvPr/>
        </p:nvSpPr>
        <p:spPr>
          <a:xfrm>
            <a:off x="8686800" y="1371600"/>
            <a:ext cx="27889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D4D"/>
            </a:solidFill>
          </a:ln>
        </p:spPr>
      </p:sp>
      <p:sp>
        <p:nvSpPr>
          <p:cNvPr id="206" name="Text 206"/>
          <p:cNvSpPr txBox="1"/>
          <p:nvPr/>
        </p:nvSpPr>
        <p:spPr>
          <a:xfrm>
            <a:off x="8796528" y="1517904"/>
            <a:ext cx="2569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推荐模型</a:t>
            </a:r>
            <a:endParaRPr lang="zh-CN" sz="1700"/>
          </a:p>
        </p:txBody>
      </p:sp>
      <p:sp>
        <p:nvSpPr>
          <p:cNvPr id="207" name="Text 207"/>
          <p:cNvSpPr txBox="1"/>
          <p:nvPr/>
        </p:nvSpPr>
        <p:spPr>
          <a:xfrm>
            <a:off x="8814816" y="1901952"/>
            <a:ext cx="25328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GRU-PINN
S=5 · H=64 · L=1</a:t>
            </a:r>
            <a:endParaRPr lang="zh-CN" sz="1200"/>
          </a:p>
        </p:txBody>
      </p:sp>
      <p:sp>
        <p:nvSpPr>
          <p:cNvPr id="208" name="Text 208"/>
          <p:cNvSpPr txBox="1"/>
          <p:nvPr/>
        </p:nvSpPr>
        <p:spPr>
          <a:xfrm>
            <a:off x="685800" y="340156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数据覆盖</a:t>
            </a:r>
            <a:endParaRPr lang="zh-CN" sz="1800"/>
          </a:p>
        </p:txBody>
      </p:sp>
      <p:sp>
        <p:nvSpPr>
          <p:cNvPr id="209" name="Shape 209"/>
          <p:cNvSpPr/>
          <p:nvPr/>
        </p:nvSpPr>
        <p:spPr>
          <a:xfrm>
            <a:off x="713232" y="3840480"/>
            <a:ext cx="2880360" cy="347472"/>
          </a:xfrm>
          <a:prstGeom prst="rect">
            <a:avLst/>
          </a:prstGeom>
          <a:solidFill>
            <a:srgbClr val="EAF0F2"/>
          </a:solidFill>
          <a:ln>
            <a:noFill/>
          </a:ln>
        </p:spPr>
      </p:sp>
      <p:sp>
        <p:nvSpPr>
          <p:cNvPr id="210" name="Text 210"/>
          <p:cNvSpPr txBox="1"/>
          <p:nvPr/>
        </p:nvSpPr>
        <p:spPr>
          <a:xfrm>
            <a:off x="822960" y="3877056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初速度</a:t>
            </a:r>
            <a:endParaRPr lang="zh-CN" sz="1100"/>
          </a:p>
        </p:txBody>
      </p:sp>
      <p:sp>
        <p:nvSpPr>
          <p:cNvPr id="211" name="Text 211"/>
          <p:cNvSpPr txBox="1"/>
          <p:nvPr/>
        </p:nvSpPr>
        <p:spPr>
          <a:xfrm>
            <a:off x="1874520" y="3877056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20–120 km/h</a:t>
            </a:r>
            <a:endParaRPr lang="zh-CN" sz="1100"/>
          </a:p>
        </p:txBody>
      </p:sp>
      <p:sp>
        <p:nvSpPr>
          <p:cNvPr id="212" name="Shape 212"/>
          <p:cNvSpPr/>
          <p:nvPr/>
        </p:nvSpPr>
        <p:spPr>
          <a:xfrm>
            <a:off x="713232" y="4242816"/>
            <a:ext cx="2880360" cy="347472"/>
          </a:xfrm>
          <a:prstGeom prst="rect">
            <a:avLst/>
          </a:prstGeom>
          <a:solidFill>
            <a:srgbClr val="F6F9FA"/>
          </a:solidFill>
          <a:ln>
            <a:noFill/>
          </a:ln>
        </p:spPr>
      </p:sp>
      <p:sp>
        <p:nvSpPr>
          <p:cNvPr id="213" name="Text 213"/>
          <p:cNvSpPr txBox="1"/>
          <p:nvPr/>
        </p:nvSpPr>
        <p:spPr>
          <a:xfrm>
            <a:off x="822960" y="4279392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主缸压力</a:t>
            </a:r>
            <a:endParaRPr lang="zh-CN" sz="1100"/>
          </a:p>
        </p:txBody>
      </p:sp>
      <p:sp>
        <p:nvSpPr>
          <p:cNvPr id="214" name="Text 214"/>
          <p:cNvSpPr txBox="1"/>
          <p:nvPr/>
        </p:nvSpPr>
        <p:spPr>
          <a:xfrm>
            <a:off x="1874520" y="4279392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0–10 MPa</a:t>
            </a:r>
            <a:endParaRPr lang="zh-CN" sz="1100"/>
          </a:p>
        </p:txBody>
      </p:sp>
      <p:sp>
        <p:nvSpPr>
          <p:cNvPr id="215" name="Shape 215"/>
          <p:cNvSpPr/>
          <p:nvPr/>
        </p:nvSpPr>
        <p:spPr>
          <a:xfrm>
            <a:off x="713232" y="4645152"/>
            <a:ext cx="2880360" cy="347472"/>
          </a:xfrm>
          <a:prstGeom prst="rect">
            <a:avLst/>
          </a:prstGeom>
          <a:solidFill>
            <a:srgbClr val="EAF0F2"/>
          </a:solidFill>
          <a:ln>
            <a:noFill/>
          </a:ln>
        </p:spPr>
      </p:sp>
      <p:sp>
        <p:nvSpPr>
          <p:cNvPr id="216" name="Text 216"/>
          <p:cNvSpPr txBox="1"/>
          <p:nvPr/>
        </p:nvSpPr>
        <p:spPr>
          <a:xfrm>
            <a:off x="822960" y="4681728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附着系数</a:t>
            </a:r>
            <a:endParaRPr lang="zh-CN" sz="1100"/>
          </a:p>
        </p:txBody>
      </p:sp>
      <p:sp>
        <p:nvSpPr>
          <p:cNvPr id="217" name="Text 217"/>
          <p:cNvSpPr txBox="1"/>
          <p:nvPr/>
        </p:nvSpPr>
        <p:spPr>
          <a:xfrm>
            <a:off x="1874520" y="4681728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0.2 / 0.4 / 0.6 / 0.8</a:t>
            </a:r>
            <a:endParaRPr lang="zh-CN" sz="1100"/>
          </a:p>
        </p:txBody>
      </p:sp>
      <p:sp>
        <p:nvSpPr>
          <p:cNvPr id="218" name="Shape 218"/>
          <p:cNvSpPr/>
          <p:nvPr/>
        </p:nvSpPr>
        <p:spPr>
          <a:xfrm>
            <a:off x="713232" y="5047488"/>
            <a:ext cx="2880360" cy="347472"/>
          </a:xfrm>
          <a:prstGeom prst="rect">
            <a:avLst/>
          </a:prstGeom>
          <a:solidFill>
            <a:srgbClr val="F6F9FA"/>
          </a:solidFill>
          <a:ln>
            <a:noFill/>
          </a:ln>
        </p:spPr>
      </p:sp>
      <p:sp>
        <p:nvSpPr>
          <p:cNvPr id="219" name="Text 219"/>
          <p:cNvSpPr txBox="1"/>
          <p:nvPr/>
        </p:nvSpPr>
        <p:spPr>
          <a:xfrm>
            <a:off x="822960" y="5084064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物理工况</a:t>
            </a:r>
            <a:endParaRPr lang="zh-CN" sz="1100"/>
          </a:p>
        </p:txBody>
      </p:sp>
      <p:sp>
        <p:nvSpPr>
          <p:cNvPr id="220" name="Text 220"/>
          <p:cNvSpPr txBox="1"/>
          <p:nvPr/>
        </p:nvSpPr>
        <p:spPr>
          <a:xfrm>
            <a:off x="1874520" y="5084064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zh-CN" sz="1100"/>
          </a:p>
        </p:txBody>
      </p:sp>
      <p:sp>
        <p:nvSpPr>
          <p:cNvPr id="221" name="Shape 221"/>
          <p:cNvSpPr/>
          <p:nvPr/>
        </p:nvSpPr>
        <p:spPr>
          <a:xfrm>
            <a:off x="713232" y="5449824"/>
            <a:ext cx="2880360" cy="347472"/>
          </a:xfrm>
          <a:prstGeom prst="rect">
            <a:avLst/>
          </a:prstGeom>
          <a:solidFill>
            <a:srgbClr val="EAF0F2"/>
          </a:solidFill>
          <a:ln>
            <a:noFill/>
          </a:ln>
        </p:spPr>
      </p:sp>
      <p:sp>
        <p:nvSpPr>
          <p:cNvPr id="222" name="Text 222"/>
          <p:cNvSpPr txBox="1"/>
          <p:nvPr/>
        </p:nvSpPr>
        <p:spPr>
          <a:xfrm>
            <a:off x="822960" y="5486400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压力轨迹</a:t>
            </a:r>
            <a:endParaRPr lang="zh-CN" sz="1100"/>
          </a:p>
        </p:txBody>
      </p:sp>
      <p:sp>
        <p:nvSpPr>
          <p:cNvPr id="223" name="Text 223"/>
          <p:cNvSpPr txBox="1"/>
          <p:nvPr/>
        </p:nvSpPr>
        <p:spPr>
          <a:xfrm>
            <a:off x="1874520" y="5486400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120</a:t>
            </a:r>
            <a:endParaRPr lang="zh-CN" sz="1100"/>
          </a:p>
        </p:txBody>
      </p:sp>
      <p:sp>
        <p:nvSpPr>
          <p:cNvPr id="224" name="Shape 224"/>
          <p:cNvSpPr/>
          <p:nvPr/>
        </p:nvSpPr>
        <p:spPr>
          <a:xfrm>
            <a:off x="3977640" y="3429000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25" name="Shape 225"/>
          <p:cNvSpPr/>
          <p:nvPr/>
        </p:nvSpPr>
        <p:spPr>
          <a:xfrm>
            <a:off x="3977640" y="3429000"/>
            <a:ext cx="73152" cy="2423160"/>
          </a:xfrm>
          <a:prstGeom prst="rect">
            <a:avLst/>
          </a:prstGeom>
          <a:solidFill>
            <a:srgbClr val="2F9E73"/>
          </a:solidFill>
          <a:ln>
            <a:noFill/>
          </a:ln>
        </p:spPr>
      </p:sp>
      <p:sp>
        <p:nvSpPr>
          <p:cNvPr id="226" name="Text 226"/>
          <p:cNvSpPr txBox="1"/>
          <p:nvPr/>
        </p:nvSpPr>
        <p:spPr>
          <a:xfrm>
            <a:off x="4197096" y="35844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训练配置</a:t>
            </a:r>
            <a:endParaRPr lang="zh-CN" sz="1400"/>
          </a:p>
        </p:txBody>
      </p:sp>
      <p:sp>
        <p:nvSpPr>
          <p:cNvPr id="227" name="Text 227"/>
          <p:cNvSpPr txBox="1"/>
          <p:nvPr/>
        </p:nvSpPr>
        <p:spPr>
          <a:xfrm>
            <a:off x="4197096" y="3959352"/>
            <a:ext cx="3182112" cy="1764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轨迹级划分 96 / 24
40 epochs · CUDA 17.2 s
有效序列 10,444</a:t>
            </a:r>
            <a:endParaRPr lang="zh-CN" sz="1500"/>
          </a:p>
        </p:txBody>
      </p:sp>
      <p:sp>
        <p:nvSpPr>
          <p:cNvPr id="228" name="Shape 228"/>
          <p:cNvSpPr/>
          <p:nvPr/>
        </p:nvSpPr>
        <p:spPr>
          <a:xfrm>
            <a:off x="7909560" y="3429000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29" name="Shape 229"/>
          <p:cNvSpPr/>
          <p:nvPr/>
        </p:nvSpPr>
        <p:spPr>
          <a:xfrm>
            <a:off x="7909560" y="3429000"/>
            <a:ext cx="73152" cy="24231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230" name="Text 230"/>
          <p:cNvSpPr txBox="1"/>
          <p:nvPr/>
        </p:nvSpPr>
        <p:spPr>
          <a:xfrm>
            <a:off x="8129016" y="35844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验证指标</a:t>
            </a:r>
            <a:endParaRPr lang="zh-CN" sz="1400"/>
          </a:p>
        </p:txBody>
      </p:sp>
      <p:sp>
        <p:nvSpPr>
          <p:cNvPr id="231" name="Text 231"/>
          <p:cNvSpPr txBox="1"/>
          <p:nvPr/>
        </p:nvSpPr>
        <p:spPr>
          <a:xfrm>
            <a:off x="8129016" y="3959352"/>
            <a:ext cx="3182112" cy="1764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v_next RMSE 0.1173 m/s
R² 0.99981
a_next RMSE 0.4493 m/s²
R² 0.92929</a:t>
            </a:r>
            <a:endParaRPr lang="zh-CN" sz="1500"/>
          </a:p>
        </p:txBody>
      </p:sp>
      <p:sp>
        <p:nvSpPr>
          <p:cNvPr id="232" name="Shape 23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233" name="Text 233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B  ·  建议用时 1:20</a:t>
            </a:r>
            <a:endParaRPr lang="zh-CN" sz="900"/>
          </a:p>
        </p:txBody>
      </p:sp>
      <p:sp>
        <p:nvSpPr>
          <p:cNvPr id="234" name="Text 234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zh-CN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236" name="Shape 23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237" name="Text 237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上层世界模型规划：在“脑内”比较未来制动轨迹</a:t>
            </a:r>
            <a:endParaRPr lang="zh-CN" sz="2700"/>
          </a:p>
        </p:txBody>
      </p:sp>
      <p:sp>
        <p:nvSpPr>
          <p:cNvPr id="238" name="Text 238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PART 3 / 3</a:t>
            </a:r>
            <a:endParaRPr lang="zh-CN" sz="1000"/>
          </a:p>
        </p:txBody>
      </p:sp>
      <p:sp>
        <p:nvSpPr>
          <p:cNvPr id="239" name="Shape 239"/>
          <p:cNvSpPr/>
          <p:nvPr/>
        </p:nvSpPr>
        <p:spPr>
          <a:xfrm>
            <a:off x="658368" y="1005840"/>
            <a:ext cx="1088136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40" name="Shape 240"/>
          <p:cNvSpPr/>
          <p:nvPr/>
        </p:nvSpPr>
        <p:spPr>
          <a:xfrm>
            <a:off x="960120" y="1417320"/>
            <a:ext cx="2743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D4D"/>
            </a:solidFill>
          </a:ln>
        </p:spPr>
      </p:sp>
      <p:sp>
        <p:nvSpPr>
          <p:cNvPr id="241" name="Text 241"/>
          <p:cNvSpPr txBox="1"/>
          <p:nvPr/>
        </p:nvSpPr>
        <p:spPr>
          <a:xfrm>
            <a:off x="1069848" y="1563624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上层：采样式规划器</a:t>
            </a:r>
            <a:endParaRPr lang="zh-CN" sz="1700"/>
          </a:p>
        </p:txBody>
      </p:sp>
      <p:sp>
        <p:nvSpPr>
          <p:cNvPr id="242" name="Text 242"/>
          <p:cNvSpPr txBox="1"/>
          <p:nvPr/>
        </p:nvSpPr>
        <p:spPr>
          <a:xfrm>
            <a:off x="1088136" y="1947672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状态 [vₜ, xₜ, μₜ]
生成候选压力序列 U</a:t>
            </a:r>
            <a:endParaRPr lang="zh-CN" sz="1200"/>
          </a:p>
        </p:txBody>
      </p:sp>
      <p:sp>
        <p:nvSpPr>
          <p:cNvPr id="243" name="Shape 243"/>
          <p:cNvSpPr/>
          <p:nvPr/>
        </p:nvSpPr>
        <p:spPr>
          <a:xfrm>
            <a:off x="4736592" y="1417320"/>
            <a:ext cx="2743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A93B"/>
            </a:solidFill>
          </a:ln>
        </p:spPr>
      </p:sp>
      <p:sp>
        <p:nvSpPr>
          <p:cNvPr id="244" name="Text 244"/>
          <p:cNvSpPr txBox="1"/>
          <p:nvPr/>
        </p:nvSpPr>
        <p:spPr>
          <a:xfrm>
            <a:off x="4846320" y="1563624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中层：学习世界模型</a:t>
            </a:r>
            <a:endParaRPr lang="zh-CN" sz="1700"/>
          </a:p>
        </p:txBody>
      </p:sp>
      <p:sp>
        <p:nvSpPr>
          <p:cNvPr id="245" name="Text 245"/>
          <p:cNvSpPr txBox="1"/>
          <p:nvPr/>
        </p:nvSpPr>
        <p:spPr>
          <a:xfrm>
            <a:off x="4864608" y="1947672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GRU / PINN
滚动预测未来轨迹</a:t>
            </a:r>
            <a:endParaRPr lang="zh-CN" sz="1200"/>
          </a:p>
        </p:txBody>
      </p:sp>
      <p:sp>
        <p:nvSpPr>
          <p:cNvPr id="246" name="Shape 246"/>
          <p:cNvSpPr/>
          <p:nvPr/>
        </p:nvSpPr>
        <p:spPr>
          <a:xfrm>
            <a:off x="8503920" y="1417320"/>
            <a:ext cx="2743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92"/>
            </a:solidFill>
          </a:ln>
        </p:spPr>
      </p:sp>
      <p:sp>
        <p:nvSpPr>
          <p:cNvPr id="247" name="Text 247"/>
          <p:cNvSpPr txBox="1"/>
          <p:nvPr/>
        </p:nvSpPr>
        <p:spPr>
          <a:xfrm>
            <a:off x="8613648" y="1563624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下层：物理执行环境</a:t>
            </a:r>
            <a:endParaRPr lang="zh-CN" sz="1700"/>
          </a:p>
        </p:txBody>
      </p:sp>
      <p:sp>
        <p:nvSpPr>
          <p:cNvPr id="248" name="Text 248"/>
          <p:cNvSpPr txBox="1"/>
          <p:nvPr/>
        </p:nvSpPr>
        <p:spPr>
          <a:xfrm>
            <a:off x="8631936" y="1947672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机制模型（当前闭环）
CarSim（高保真数据与验证）</a:t>
            </a:r>
            <a:endParaRPr lang="zh-CN" sz="1200"/>
          </a:p>
        </p:txBody>
      </p:sp>
      <p:sp>
        <p:nvSpPr>
          <p:cNvPr id="249" name="Line 249"/>
          <p:cNvSpPr/>
          <p:nvPr/>
        </p:nvSpPr>
        <p:spPr>
          <a:xfrm>
            <a:off x="3730752" y="2084832"/>
            <a:ext cx="914400" cy="914"/>
          </a:xfrm>
          <a:prstGeom prst="line">
            <a:avLst/>
          </a:prstGeom>
          <a:ln w="31750">
            <a:solidFill>
              <a:srgbClr val="D64D4D"/>
            </a:solidFill>
            <a:tailEnd type="triangle"/>
          </a:ln>
        </p:spPr>
      </p:sp>
      <p:sp>
        <p:nvSpPr>
          <p:cNvPr id="250" name="Line 250"/>
          <p:cNvSpPr/>
          <p:nvPr/>
        </p:nvSpPr>
        <p:spPr>
          <a:xfrm>
            <a:off x="7498080" y="2084832"/>
            <a:ext cx="914400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51" name="Line 251"/>
          <p:cNvSpPr/>
          <p:nvPr/>
        </p:nvSpPr>
        <p:spPr>
          <a:xfrm>
            <a:off x="9875520" y="2816352"/>
            <a:ext cx="914" cy="932688"/>
          </a:xfrm>
          <a:prstGeom prst="line">
            <a:avLst/>
          </a:prstGeom>
          <a:ln w="31750">
            <a:solidFill>
              <a:srgbClr val="0E8A92"/>
            </a:solidFill>
            <a:tailEnd type="triangle"/>
          </a:ln>
        </p:spPr>
      </p:sp>
      <p:sp>
        <p:nvSpPr>
          <p:cNvPr id="252" name="Shape 252"/>
          <p:cNvSpPr/>
          <p:nvPr/>
        </p:nvSpPr>
        <p:spPr>
          <a:xfrm>
            <a:off x="8183880" y="3767328"/>
            <a:ext cx="33832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92"/>
            </a:solidFill>
          </a:ln>
        </p:spPr>
      </p:sp>
      <p:sp>
        <p:nvSpPr>
          <p:cNvPr id="253" name="Text 253"/>
          <p:cNvSpPr txBox="1"/>
          <p:nvPr/>
        </p:nvSpPr>
        <p:spPr>
          <a:xfrm>
            <a:off x="8293608" y="3913632"/>
            <a:ext cx="3163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状态反馈</a:t>
            </a:r>
            <a:endParaRPr lang="zh-CN" sz="1700"/>
          </a:p>
        </p:txBody>
      </p:sp>
      <p:sp>
        <p:nvSpPr>
          <p:cNvPr id="254" name="Text 254"/>
          <p:cNvSpPr txBox="1"/>
          <p:nvPr/>
        </p:nvSpPr>
        <p:spPr>
          <a:xfrm>
            <a:off x="8311896" y="4297680"/>
            <a:ext cx="3127248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vₜ₊₁, aₜ₊₁, xₜ₊₁</a:t>
            </a:r>
            <a:endParaRPr lang="zh-CN" sz="1200"/>
          </a:p>
        </p:txBody>
      </p:sp>
      <p:sp>
        <p:nvSpPr>
          <p:cNvPr id="255" name="Line 255"/>
          <p:cNvSpPr/>
          <p:nvPr/>
        </p:nvSpPr>
        <p:spPr>
          <a:xfrm flipH="1">
            <a:off x="4023360" y="4334256"/>
            <a:ext cx="4133088" cy="914"/>
          </a:xfrm>
          <a:prstGeom prst="line">
            <a:avLst/>
          </a:prstGeom>
          <a:ln w="31750">
            <a:solidFill>
              <a:srgbClr val="0E8A92"/>
            </a:solidFill>
            <a:tailEnd type="triangle"/>
          </a:ln>
        </p:spPr>
      </p:sp>
      <p:sp>
        <p:nvSpPr>
          <p:cNvPr id="256" name="Line 256"/>
          <p:cNvSpPr/>
          <p:nvPr/>
        </p:nvSpPr>
        <p:spPr>
          <a:xfrm flipH="1" flipV="1">
            <a:off x="2331720" y="2852928"/>
            <a:ext cx="1691640" cy="1481328"/>
          </a:xfrm>
          <a:prstGeom prst="line">
            <a:avLst/>
          </a:prstGeom>
          <a:ln w="31750">
            <a:solidFill>
              <a:srgbClr val="0E8A92"/>
            </a:solidFill>
            <a:tailEnd type="triangle"/>
          </a:ln>
        </p:spPr>
      </p:sp>
      <p:sp>
        <p:nvSpPr>
          <p:cNvPr id="257" name="Shape 257"/>
          <p:cNvSpPr/>
          <p:nvPr/>
        </p:nvSpPr>
        <p:spPr>
          <a:xfrm>
            <a:off x="960120" y="3703320"/>
            <a:ext cx="2743200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D4D"/>
            </a:solidFill>
          </a:ln>
        </p:spPr>
      </p:sp>
      <p:sp>
        <p:nvSpPr>
          <p:cNvPr id="258" name="Text 258"/>
          <p:cNvSpPr txBox="1"/>
          <p:nvPr/>
        </p:nvSpPr>
        <p:spPr>
          <a:xfrm>
            <a:off x="1069848" y="3849624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代价评估</a:t>
            </a:r>
            <a:endParaRPr lang="zh-CN" sz="1700"/>
          </a:p>
        </p:txBody>
      </p:sp>
      <p:sp>
        <p:nvSpPr>
          <p:cNvPr id="259" name="Text 259"/>
          <p:cNvSpPr txBox="1"/>
          <p:nvPr/>
        </p:nvSpPr>
        <p:spPr>
          <a:xfrm>
            <a:off x="1088136" y="4233672"/>
            <a:ext cx="2487168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安全距离 · 舒适性
压力平滑 · 碰撞惩罚</a:t>
            </a:r>
            <a:endParaRPr lang="zh-CN" sz="1200"/>
          </a:p>
        </p:txBody>
      </p:sp>
      <p:sp>
        <p:nvSpPr>
          <p:cNvPr id="260" name="Line 260"/>
          <p:cNvSpPr/>
          <p:nvPr/>
        </p:nvSpPr>
        <p:spPr>
          <a:xfrm flipH="1">
            <a:off x="3337560" y="2852928"/>
            <a:ext cx="1399032" cy="804672"/>
          </a:xfrm>
          <a:prstGeom prst="line">
            <a:avLst/>
          </a:prstGeom>
          <a:ln w="25400">
            <a:solidFill>
              <a:srgbClr val="F2A93B"/>
            </a:solidFill>
            <a:prstDash val="dash"/>
            <a:tailEnd type="triangle"/>
          </a:ln>
        </p:spPr>
      </p:sp>
      <p:sp>
        <p:nvSpPr>
          <p:cNvPr id="261" name="Text 261"/>
          <p:cNvSpPr txBox="1"/>
          <p:nvPr/>
        </p:nvSpPr>
        <p:spPr>
          <a:xfrm>
            <a:off x="4160520" y="5047488"/>
            <a:ext cx="3931920" cy="384048"/>
          </a:xfrm>
          <a:prstGeom prst="roundRect">
            <a:avLst/>
          </a:prstGeom>
          <a:solidFill>
            <a:srgbClr val="E9F4F5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6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滚动优化：只执行最优序列的第一步，再根据真实反馈重规划</a:t>
            </a:r>
            <a:endParaRPr lang="zh-CN" sz="1600"/>
          </a:p>
        </p:txBody>
      </p:sp>
      <p:sp>
        <p:nvSpPr>
          <p:cNvPr id="262" name="Shape 26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263" name="Text 263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C  ·  建议用时 1:10</a:t>
            </a:r>
            <a:endParaRPr lang="zh-CN" sz="900"/>
          </a:p>
        </p:txBody>
      </p:sp>
      <p:sp>
        <p:nvSpPr>
          <p:cNvPr id="264" name="Text 264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zh-C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266" name="Shape 26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267" name="Text 267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采样式 MPC：不求复杂梯度，直接预测并排序</a:t>
            </a:r>
            <a:endParaRPr lang="zh-CN" sz="2700"/>
          </a:p>
        </p:txBody>
      </p:sp>
      <p:sp>
        <p:nvSpPr>
          <p:cNvPr id="268" name="Text 268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PART 3 / 3</a:t>
            </a:r>
            <a:endParaRPr lang="zh-CN" sz="1000"/>
          </a:p>
        </p:txBody>
      </p:sp>
      <p:sp>
        <p:nvSpPr>
          <p:cNvPr id="269" name="Shape 269"/>
          <p:cNvSpPr/>
          <p:nvPr/>
        </p:nvSpPr>
        <p:spPr>
          <a:xfrm>
            <a:off x="658368" y="1234440"/>
            <a:ext cx="23317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70" name="Shape 270"/>
          <p:cNvSpPr/>
          <p:nvPr/>
        </p:nvSpPr>
        <p:spPr>
          <a:xfrm>
            <a:off x="822960" y="1435608"/>
            <a:ext cx="493776" cy="493776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271" name="Text 271"/>
          <p:cNvSpPr txBox="1"/>
          <p:nvPr/>
        </p:nvSpPr>
        <p:spPr>
          <a:xfrm>
            <a:off x="841248" y="15453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1400"/>
          </a:p>
        </p:txBody>
      </p:sp>
      <p:sp>
        <p:nvSpPr>
          <p:cNvPr id="272" name="Text 272"/>
          <p:cNvSpPr txBox="1"/>
          <p:nvPr/>
        </p:nvSpPr>
        <p:spPr>
          <a:xfrm>
            <a:off x="1444752" y="1435608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采样动作</a:t>
            </a:r>
            <a:endParaRPr lang="zh-CN" sz="1700"/>
          </a:p>
        </p:txBody>
      </p:sp>
      <p:sp>
        <p:nvSpPr>
          <p:cNvPr id="273" name="Text 273"/>
          <p:cNvSpPr txBox="1"/>
          <p:nvPr/>
        </p:nvSpPr>
        <p:spPr>
          <a:xfrm>
            <a:off x="914400" y="2029968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生成约 256 条
平滑压力序列</a:t>
            </a:r>
            <a:endParaRPr lang="zh-CN" sz="1500"/>
          </a:p>
        </p:txBody>
      </p:sp>
      <p:sp>
        <p:nvSpPr>
          <p:cNvPr id="274" name="Line 274"/>
          <p:cNvSpPr/>
          <p:nvPr/>
        </p:nvSpPr>
        <p:spPr>
          <a:xfrm>
            <a:off x="3008376" y="2176272"/>
            <a:ext cx="429768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75" name="Shape 275"/>
          <p:cNvSpPr/>
          <p:nvPr/>
        </p:nvSpPr>
        <p:spPr>
          <a:xfrm>
            <a:off x="3511296" y="1234440"/>
            <a:ext cx="23317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76" name="Shape 276"/>
          <p:cNvSpPr/>
          <p:nvPr/>
        </p:nvSpPr>
        <p:spPr>
          <a:xfrm>
            <a:off x="3675888" y="1435608"/>
            <a:ext cx="493776" cy="493776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277" name="Text 277"/>
          <p:cNvSpPr txBox="1"/>
          <p:nvPr/>
        </p:nvSpPr>
        <p:spPr>
          <a:xfrm>
            <a:off x="3694176" y="15453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sz="1400"/>
          </a:p>
        </p:txBody>
      </p:sp>
      <p:sp>
        <p:nvSpPr>
          <p:cNvPr id="278" name="Text 278"/>
          <p:cNvSpPr txBox="1"/>
          <p:nvPr/>
        </p:nvSpPr>
        <p:spPr>
          <a:xfrm>
            <a:off x="4297680" y="1435608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脑内演化</a:t>
            </a:r>
            <a:endParaRPr lang="zh-CN" sz="1700"/>
          </a:p>
        </p:txBody>
      </p:sp>
      <p:sp>
        <p:nvSpPr>
          <p:cNvPr id="279" name="Text 279"/>
          <p:cNvSpPr txBox="1"/>
          <p:nvPr/>
        </p:nvSpPr>
        <p:spPr>
          <a:xfrm>
            <a:off x="3767328" y="2029968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GRU 世界模型滚动
预测 N 步</a:t>
            </a:r>
            <a:endParaRPr lang="zh-CN" sz="1500"/>
          </a:p>
        </p:txBody>
      </p:sp>
      <p:sp>
        <p:nvSpPr>
          <p:cNvPr id="280" name="Line 280"/>
          <p:cNvSpPr/>
          <p:nvPr/>
        </p:nvSpPr>
        <p:spPr>
          <a:xfrm>
            <a:off x="5861304" y="2176272"/>
            <a:ext cx="429768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81" name="Shape 281"/>
          <p:cNvSpPr/>
          <p:nvPr/>
        </p:nvSpPr>
        <p:spPr>
          <a:xfrm>
            <a:off x="6364224" y="1234440"/>
            <a:ext cx="23317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82" name="Shape 282"/>
          <p:cNvSpPr/>
          <p:nvPr/>
        </p:nvSpPr>
        <p:spPr>
          <a:xfrm>
            <a:off x="6528816" y="1435608"/>
            <a:ext cx="493776" cy="493776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283" name="Text 283"/>
          <p:cNvSpPr txBox="1"/>
          <p:nvPr/>
        </p:nvSpPr>
        <p:spPr>
          <a:xfrm>
            <a:off x="6547104" y="15453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1400"/>
          </a:p>
        </p:txBody>
      </p:sp>
      <p:sp>
        <p:nvSpPr>
          <p:cNvPr id="284" name="Text 284"/>
          <p:cNvSpPr txBox="1"/>
          <p:nvPr/>
        </p:nvSpPr>
        <p:spPr>
          <a:xfrm>
            <a:off x="7150608" y="1435608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计算代价</a:t>
            </a:r>
            <a:endParaRPr lang="zh-CN" sz="1700"/>
          </a:p>
        </p:txBody>
      </p:sp>
      <p:sp>
        <p:nvSpPr>
          <p:cNvPr id="285" name="Text 285"/>
          <p:cNvSpPr txBox="1"/>
          <p:nvPr/>
        </p:nvSpPr>
        <p:spPr>
          <a:xfrm>
            <a:off x="6620256" y="2029968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安全、精准
舒适、平滑</a:t>
            </a:r>
            <a:endParaRPr lang="zh-CN" sz="1500"/>
          </a:p>
        </p:txBody>
      </p:sp>
      <p:sp>
        <p:nvSpPr>
          <p:cNvPr id="286" name="Line 286"/>
          <p:cNvSpPr/>
          <p:nvPr/>
        </p:nvSpPr>
        <p:spPr>
          <a:xfrm>
            <a:off x="8714232" y="2176272"/>
            <a:ext cx="429768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87" name="Shape 287"/>
          <p:cNvSpPr/>
          <p:nvPr/>
        </p:nvSpPr>
        <p:spPr>
          <a:xfrm>
            <a:off x="9217152" y="1234440"/>
            <a:ext cx="2331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4D4D"/>
            </a:solidFill>
          </a:ln>
        </p:spPr>
      </p:sp>
      <p:sp>
        <p:nvSpPr>
          <p:cNvPr id="288" name="Shape 288"/>
          <p:cNvSpPr/>
          <p:nvPr/>
        </p:nvSpPr>
        <p:spPr>
          <a:xfrm>
            <a:off x="9381744" y="1435608"/>
            <a:ext cx="493776" cy="493776"/>
          </a:xfrm>
          <a:prstGeom prst="ellipse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289" name="Text 289"/>
          <p:cNvSpPr txBox="1"/>
          <p:nvPr/>
        </p:nvSpPr>
        <p:spPr>
          <a:xfrm>
            <a:off x="9400032" y="15453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sz="1400"/>
          </a:p>
        </p:txBody>
      </p:sp>
      <p:sp>
        <p:nvSpPr>
          <p:cNvPr id="290" name="Text 290"/>
          <p:cNvSpPr txBox="1"/>
          <p:nvPr/>
        </p:nvSpPr>
        <p:spPr>
          <a:xfrm>
            <a:off x="10003536" y="1435608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执行首步</a:t>
            </a:r>
            <a:endParaRPr lang="zh-CN" sz="1700"/>
          </a:p>
        </p:txBody>
      </p:sp>
      <p:sp>
        <p:nvSpPr>
          <p:cNvPr id="291" name="Text 291"/>
          <p:cNvSpPr txBox="1"/>
          <p:nvPr/>
        </p:nvSpPr>
        <p:spPr>
          <a:xfrm>
            <a:off x="9473184" y="2029968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输出最优 Pₜ
下一时刻重规划</a:t>
            </a:r>
            <a:endParaRPr lang="zh-CN" sz="1500"/>
          </a:p>
        </p:txBody>
      </p:sp>
      <p:sp>
        <p:nvSpPr>
          <p:cNvPr id="292" name="Text 292"/>
          <p:cNvSpPr txBox="1"/>
          <p:nvPr/>
        </p:nvSpPr>
        <p:spPr>
          <a:xfrm>
            <a:off x="749808" y="3502152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1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J = w_d (x_stop − d_safe)²  +  w_a mean(a²)  +  w_p mean(ΔP²)</a:t>
            </a:r>
            <a:endParaRPr lang="zh-CN" sz="2100"/>
          </a:p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+ collision_penalty  +  not_stop_penalty</a:t>
            </a:r>
            <a:endParaRPr lang="zh-CN" sz="1800"/>
          </a:p>
        </p:txBody>
      </p:sp>
      <p:sp>
        <p:nvSpPr>
          <p:cNvPr id="293" name="Text 293"/>
          <p:cNvSpPr txBox="1"/>
          <p:nvPr/>
        </p:nvSpPr>
        <p:spPr>
          <a:xfrm>
            <a:off x="749808" y="477316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候选压力曲线示意</a:t>
            </a:r>
            <a:endParaRPr lang="zh-CN" sz="1600"/>
          </a:p>
        </p:txBody>
      </p:sp>
      <p:sp>
        <p:nvSpPr>
          <p:cNvPr id="294" name="Line 294"/>
          <p:cNvSpPr/>
          <p:nvPr/>
        </p:nvSpPr>
        <p:spPr>
          <a:xfrm flipV="1">
            <a:off x="960120" y="5669280"/>
            <a:ext cx="868680" cy="137160"/>
          </a:xfrm>
          <a:prstGeom prst="line">
            <a:avLst/>
          </a:prstGeom>
          <a:ln w="19050">
            <a:solidFill>
              <a:srgbClr val="0E8A92"/>
            </a:solidFill>
          </a:ln>
        </p:spPr>
      </p:sp>
      <p:sp>
        <p:nvSpPr>
          <p:cNvPr id="295" name="Line 295"/>
          <p:cNvSpPr/>
          <p:nvPr/>
        </p:nvSpPr>
        <p:spPr>
          <a:xfrm flipV="1">
            <a:off x="1828800" y="5294376"/>
            <a:ext cx="1371600" cy="374904"/>
          </a:xfrm>
          <a:prstGeom prst="line">
            <a:avLst/>
          </a:prstGeom>
          <a:ln w="19050">
            <a:solidFill>
              <a:srgbClr val="0E8A92"/>
            </a:solidFill>
          </a:ln>
        </p:spPr>
      </p:sp>
      <p:sp>
        <p:nvSpPr>
          <p:cNvPr id="296" name="Line 296"/>
          <p:cNvSpPr/>
          <p:nvPr/>
        </p:nvSpPr>
        <p:spPr>
          <a:xfrm flipV="1">
            <a:off x="960120" y="5568696"/>
            <a:ext cx="868680" cy="237744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297" name="Line 297"/>
          <p:cNvSpPr/>
          <p:nvPr/>
        </p:nvSpPr>
        <p:spPr>
          <a:xfrm flipV="1">
            <a:off x="1828800" y="5404104"/>
            <a:ext cx="1371600" cy="164592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298" name="Line 298"/>
          <p:cNvSpPr/>
          <p:nvPr/>
        </p:nvSpPr>
        <p:spPr>
          <a:xfrm flipV="1">
            <a:off x="960120" y="5468112"/>
            <a:ext cx="868680" cy="338328"/>
          </a:xfrm>
          <a:prstGeom prst="line">
            <a:avLst/>
          </a:prstGeom>
          <a:ln w="19050">
            <a:solidFill>
              <a:srgbClr val="0E8A92"/>
            </a:solidFill>
          </a:ln>
        </p:spPr>
      </p:sp>
      <p:sp>
        <p:nvSpPr>
          <p:cNvPr id="299" name="Line 299"/>
          <p:cNvSpPr/>
          <p:nvPr/>
        </p:nvSpPr>
        <p:spPr>
          <a:xfrm flipV="1">
            <a:off x="1828800" y="5074920"/>
            <a:ext cx="1371600" cy="393192"/>
          </a:xfrm>
          <a:prstGeom prst="line">
            <a:avLst/>
          </a:prstGeom>
          <a:ln w="19050">
            <a:solidFill>
              <a:srgbClr val="0E8A92"/>
            </a:solidFill>
          </a:ln>
        </p:spPr>
      </p:sp>
      <p:sp>
        <p:nvSpPr>
          <p:cNvPr id="300" name="Line 300"/>
          <p:cNvSpPr/>
          <p:nvPr/>
        </p:nvSpPr>
        <p:spPr>
          <a:xfrm flipV="1">
            <a:off x="960120" y="5367528"/>
            <a:ext cx="868680" cy="438912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301" name="Line 301"/>
          <p:cNvSpPr/>
          <p:nvPr/>
        </p:nvSpPr>
        <p:spPr>
          <a:xfrm flipV="1">
            <a:off x="1828800" y="5184648"/>
            <a:ext cx="1371600" cy="182880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302" name="Line 302"/>
          <p:cNvSpPr/>
          <p:nvPr/>
        </p:nvSpPr>
        <p:spPr>
          <a:xfrm flipV="1">
            <a:off x="960120" y="5266944"/>
            <a:ext cx="868680" cy="539496"/>
          </a:xfrm>
          <a:prstGeom prst="line">
            <a:avLst/>
          </a:prstGeom>
          <a:ln w="38100">
            <a:solidFill>
              <a:srgbClr val="D64D4D"/>
            </a:solidFill>
          </a:ln>
        </p:spPr>
      </p:sp>
      <p:sp>
        <p:nvSpPr>
          <p:cNvPr id="303" name="Line 303"/>
          <p:cNvSpPr/>
          <p:nvPr/>
        </p:nvSpPr>
        <p:spPr>
          <a:xfrm>
            <a:off x="1828800" y="5266944"/>
            <a:ext cx="1371600" cy="27432"/>
          </a:xfrm>
          <a:prstGeom prst="line">
            <a:avLst/>
          </a:prstGeom>
          <a:ln w="38100">
            <a:solidFill>
              <a:srgbClr val="D64D4D"/>
            </a:solidFill>
          </a:ln>
        </p:spPr>
      </p:sp>
      <p:sp>
        <p:nvSpPr>
          <p:cNvPr id="304" name="Line 304"/>
          <p:cNvSpPr/>
          <p:nvPr/>
        </p:nvSpPr>
        <p:spPr>
          <a:xfrm flipV="1">
            <a:off x="960120" y="5166360"/>
            <a:ext cx="868680" cy="640080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305" name="Line 305"/>
          <p:cNvSpPr/>
          <p:nvPr/>
        </p:nvSpPr>
        <p:spPr>
          <a:xfrm>
            <a:off x="1828800" y="5166360"/>
            <a:ext cx="1371600" cy="237744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306" name="Text 306"/>
          <p:cNvSpPr txBox="1"/>
          <p:nvPr/>
        </p:nvSpPr>
        <p:spPr>
          <a:xfrm>
            <a:off x="3840480" y="4773168"/>
            <a:ext cx="7452360" cy="1143000"/>
          </a:xfrm>
          <a:prstGeom prst="roundRect">
            <a:avLst/>
          </a:prstGeom>
          <a:solidFill>
            <a:srgbClr val="FFF7EA"/>
          </a:solidFill>
          <a:ln w="12700">
            <a:solidFill>
              <a:srgbClr val="F4D9AA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工程优势</a:t>
            </a:r>
            <a:endParaRPr lang="zh-CN" sz="1500"/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无需对网络求解析梯度；约束可直接写入代价；可继续升级到 MPPI / CEM。</a:t>
            </a:r>
            <a:endParaRPr lang="zh-CN" sz="1800"/>
          </a:p>
        </p:txBody>
      </p:sp>
      <p:sp>
        <p:nvSpPr>
          <p:cNvPr id="307" name="Shape 30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08" name="Text 308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C  ·  建议用时 1:15</a:t>
            </a:r>
            <a:endParaRPr lang="zh-CN" sz="900"/>
          </a:p>
        </p:txBody>
      </p:sp>
      <p:sp>
        <p:nvSpPr>
          <p:cNvPr id="309" name="Text 309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311" name="Shape 3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12" name="Text 312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闭环刹停验证：当前机制执行环境下 80 km/h 安全停车</a:t>
            </a:r>
            <a:endParaRPr lang="zh-CN" sz="2700"/>
          </a:p>
        </p:txBody>
      </p:sp>
      <p:sp>
        <p:nvSpPr>
          <p:cNvPr id="313" name="Text 313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PART 3 / 3</a:t>
            </a:r>
            <a:endParaRPr lang="zh-CN" sz="1000"/>
          </a:p>
        </p:txBody>
      </p:sp>
      <p:sp>
        <p:nvSpPr>
          <p:cNvPr id="314" name="Shape 314"/>
          <p:cNvSpPr/>
          <p:nvPr/>
        </p:nvSpPr>
        <p:spPr>
          <a:xfrm>
            <a:off x="438912" y="868680"/>
            <a:ext cx="745236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pic>
        <p:nvPicPr>
          <p:cNvPr id="315" name="MPC stopping resul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005840"/>
            <a:ext cx="5230368" cy="5230368"/>
          </a:xfrm>
          <a:prstGeom prst="rect">
            <a:avLst/>
          </a:prstGeom>
          <a:ln>
            <a:noFill/>
          </a:ln>
        </p:spPr>
      </p:pic>
      <p:sp>
        <p:nvSpPr>
          <p:cNvPr id="316" name="Shape 316"/>
          <p:cNvSpPr/>
          <p:nvPr/>
        </p:nvSpPr>
        <p:spPr>
          <a:xfrm>
            <a:off x="8156448" y="960120"/>
            <a:ext cx="34290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17" name="Shape 317"/>
          <p:cNvSpPr/>
          <p:nvPr/>
        </p:nvSpPr>
        <p:spPr>
          <a:xfrm>
            <a:off x="8156448" y="960120"/>
            <a:ext cx="73152" cy="1078992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318" name="Text 318"/>
          <p:cNvSpPr txBox="1"/>
          <p:nvPr/>
        </p:nvSpPr>
        <p:spPr>
          <a:xfrm>
            <a:off x="8375904" y="111556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实验工况</a:t>
            </a:r>
            <a:endParaRPr lang="zh-CN" sz="1400"/>
          </a:p>
        </p:txBody>
      </p:sp>
      <p:sp>
        <p:nvSpPr>
          <p:cNvPr id="319" name="Text 319"/>
          <p:cNvSpPr txBox="1"/>
          <p:nvPr/>
        </p:nvSpPr>
        <p:spPr>
          <a:xfrm>
            <a:off x="8375904" y="1490472"/>
            <a:ext cx="304495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v₀ = 80 km/h  ·  x₀ = 65 m
μ = 0.6  ·  d_safe = 2 m</a:t>
            </a:r>
            <a:endParaRPr lang="zh-CN" sz="1400"/>
          </a:p>
        </p:txBody>
      </p:sp>
      <p:sp>
        <p:nvSpPr>
          <p:cNvPr id="320" name="Shape 320"/>
          <p:cNvSpPr/>
          <p:nvPr/>
        </p:nvSpPr>
        <p:spPr>
          <a:xfrm>
            <a:off x="8156448" y="2267712"/>
            <a:ext cx="34290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21" name="Shape 321"/>
          <p:cNvSpPr/>
          <p:nvPr/>
        </p:nvSpPr>
        <p:spPr>
          <a:xfrm>
            <a:off x="8156448" y="2267712"/>
            <a:ext cx="73152" cy="1078992"/>
          </a:xfrm>
          <a:prstGeom prst="rect">
            <a:avLst/>
          </a:prstGeom>
          <a:solidFill>
            <a:srgbClr val="2F9E73"/>
          </a:solidFill>
          <a:ln>
            <a:noFill/>
          </a:ln>
        </p:spPr>
      </p:sp>
      <p:sp>
        <p:nvSpPr>
          <p:cNvPr id="322" name="Text 322"/>
          <p:cNvSpPr txBox="1"/>
          <p:nvPr/>
        </p:nvSpPr>
        <p:spPr>
          <a:xfrm>
            <a:off x="8375904" y="242316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刹停结果</a:t>
            </a:r>
            <a:endParaRPr lang="zh-CN" sz="1400"/>
          </a:p>
        </p:txBody>
      </p:sp>
      <p:sp>
        <p:nvSpPr>
          <p:cNvPr id="323" name="Text 323"/>
          <p:cNvSpPr txBox="1"/>
          <p:nvPr/>
        </p:nvSpPr>
        <p:spPr>
          <a:xfrm>
            <a:off x="8375904" y="2798064"/>
            <a:ext cx="304495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停止时间  5.05 s
最终距离  1.844 m</a:t>
            </a:r>
            <a:endParaRPr lang="zh-CN" sz="1600"/>
          </a:p>
        </p:txBody>
      </p:sp>
      <p:sp>
        <p:nvSpPr>
          <p:cNvPr id="324" name="Shape 324"/>
          <p:cNvSpPr/>
          <p:nvPr/>
        </p:nvSpPr>
        <p:spPr>
          <a:xfrm>
            <a:off x="8156448" y="3575304"/>
            <a:ext cx="34290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25" name="Shape 325"/>
          <p:cNvSpPr/>
          <p:nvPr/>
        </p:nvSpPr>
        <p:spPr>
          <a:xfrm>
            <a:off x="8156448" y="3575304"/>
            <a:ext cx="73152" cy="1078992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26" name="Text 326"/>
          <p:cNvSpPr txBox="1"/>
          <p:nvPr/>
        </p:nvSpPr>
        <p:spPr>
          <a:xfrm>
            <a:off x="8375904" y="373075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目标误差</a:t>
            </a:r>
            <a:endParaRPr lang="zh-CN" sz="1400"/>
          </a:p>
        </p:txBody>
      </p:sp>
      <p:sp>
        <p:nvSpPr>
          <p:cNvPr id="327" name="Text 327"/>
          <p:cNvSpPr txBox="1"/>
          <p:nvPr/>
        </p:nvSpPr>
        <p:spPr>
          <a:xfrm>
            <a:off x="8375904" y="4105656"/>
            <a:ext cx="304495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|1.844 − 2.000| = 0.156 m
无碰撞，速度降至 0</a:t>
            </a:r>
            <a:endParaRPr lang="zh-CN" sz="1500"/>
          </a:p>
        </p:txBody>
      </p:sp>
      <p:sp>
        <p:nvSpPr>
          <p:cNvPr id="328" name="Shape 328"/>
          <p:cNvSpPr/>
          <p:nvPr/>
        </p:nvSpPr>
        <p:spPr>
          <a:xfrm>
            <a:off x="8156448" y="4882896"/>
            <a:ext cx="34290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29" name="Shape 329"/>
          <p:cNvSpPr/>
          <p:nvPr/>
        </p:nvSpPr>
        <p:spPr>
          <a:xfrm>
            <a:off x="8156448" y="4882896"/>
            <a:ext cx="73152" cy="1170432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30" name="Text 330"/>
          <p:cNvSpPr txBox="1"/>
          <p:nvPr/>
        </p:nvSpPr>
        <p:spPr>
          <a:xfrm>
            <a:off x="8375904" y="5038344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仍可优化</a:t>
            </a:r>
            <a:endParaRPr lang="zh-CN" sz="1400"/>
          </a:p>
        </p:txBody>
      </p:sp>
      <p:sp>
        <p:nvSpPr>
          <p:cNvPr id="331" name="Text 331"/>
          <p:cNvSpPr txBox="1"/>
          <p:nvPr/>
        </p:nvSpPr>
        <p:spPr>
          <a:xfrm>
            <a:off x="8375904" y="5413248"/>
            <a:ext cx="304495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后段减速度约 −5.72 m/s²
下一步接入 CarSim 在线执行</a:t>
            </a:r>
            <a:endParaRPr lang="zh-CN" sz="1400"/>
          </a:p>
        </p:txBody>
      </p:sp>
      <p:sp>
        <p:nvSpPr>
          <p:cNvPr id="332" name="Shape 33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33" name="Text 333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C  ·  建议用时 1:30</a:t>
            </a:r>
            <a:endParaRPr lang="zh-CN" sz="900"/>
          </a:p>
        </p:txBody>
      </p:sp>
      <p:sp>
        <p:nvSpPr>
          <p:cNvPr id="334" name="Text 334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zh-CN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336" name="Shape 33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37" name="Text 337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总结：高保真数据、轻量世界模型与滚动规划已形成工程闭环</a:t>
            </a:r>
            <a:endParaRPr lang="zh-CN" sz="2700"/>
          </a:p>
        </p:txBody>
      </p:sp>
      <p:sp>
        <p:nvSpPr>
          <p:cNvPr id="338" name="Text 338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PART 3 / 3</a:t>
            </a:r>
            <a:endParaRPr lang="zh-CN" sz="1000"/>
          </a:p>
        </p:txBody>
      </p:sp>
      <p:sp>
        <p:nvSpPr>
          <p:cNvPr id="339" name="Shape 339"/>
          <p:cNvSpPr/>
          <p:nvPr/>
        </p:nvSpPr>
        <p:spPr>
          <a:xfrm>
            <a:off x="621792" y="105156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0" name="Shape 340"/>
          <p:cNvSpPr/>
          <p:nvPr/>
        </p:nvSpPr>
        <p:spPr>
          <a:xfrm>
            <a:off x="621792" y="1051560"/>
            <a:ext cx="73152" cy="19659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341" name="Text 341"/>
          <p:cNvSpPr txBox="1"/>
          <p:nvPr/>
        </p:nvSpPr>
        <p:spPr>
          <a:xfrm>
            <a:off x="841248" y="120700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① 数据闭环</a:t>
            </a:r>
            <a:endParaRPr lang="zh-CN" sz="1400"/>
          </a:p>
        </p:txBody>
      </p:sp>
      <p:sp>
        <p:nvSpPr>
          <p:cNvPr id="342" name="Text 342"/>
          <p:cNvSpPr txBox="1"/>
          <p:nvPr/>
        </p:nvSpPr>
        <p:spPr>
          <a:xfrm>
            <a:off x="841248" y="1581912"/>
            <a:ext cx="3044952" cy="1307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机制模型 + CarSim 联合仿真
24 物理工况 · 120 条轨迹
13,070 条状态转移</a:t>
            </a:r>
            <a:endParaRPr lang="zh-CN" sz="1600"/>
          </a:p>
        </p:txBody>
      </p:sp>
      <p:sp>
        <p:nvSpPr>
          <p:cNvPr id="343" name="Shape 343"/>
          <p:cNvSpPr/>
          <p:nvPr/>
        </p:nvSpPr>
        <p:spPr>
          <a:xfrm>
            <a:off x="4370832" y="105156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4" name="Shape 344"/>
          <p:cNvSpPr/>
          <p:nvPr/>
        </p:nvSpPr>
        <p:spPr>
          <a:xfrm>
            <a:off x="4370832" y="1051560"/>
            <a:ext cx="73152" cy="196596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45" name="Text 345"/>
          <p:cNvSpPr txBox="1"/>
          <p:nvPr/>
        </p:nvSpPr>
        <p:spPr>
          <a:xfrm>
            <a:off x="4590288" y="120700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② 模型底座</a:t>
            </a:r>
            <a:endParaRPr lang="zh-CN" sz="1400"/>
          </a:p>
        </p:txBody>
      </p:sp>
      <p:sp>
        <p:nvSpPr>
          <p:cNvPr id="346" name="Text 346"/>
          <p:cNvSpPr txBox="1"/>
          <p:nvPr/>
        </p:nvSpPr>
        <p:spPr>
          <a:xfrm>
            <a:off x="4590288" y="1581912"/>
            <a:ext cx="3044952" cy="1307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MLP 基线
LSTM / GRU-PINN 消融
CarSim-GRU 完成训练</a:t>
            </a:r>
            <a:endParaRPr lang="zh-CN" sz="1600"/>
          </a:p>
        </p:txBody>
      </p:sp>
      <p:sp>
        <p:nvSpPr>
          <p:cNvPr id="347" name="Shape 347"/>
          <p:cNvSpPr/>
          <p:nvPr/>
        </p:nvSpPr>
        <p:spPr>
          <a:xfrm>
            <a:off x="8119872" y="105156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8" name="Shape 348"/>
          <p:cNvSpPr/>
          <p:nvPr/>
        </p:nvSpPr>
        <p:spPr>
          <a:xfrm>
            <a:off x="8119872" y="1051560"/>
            <a:ext cx="73152" cy="19659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49" name="Text 349"/>
          <p:cNvSpPr txBox="1"/>
          <p:nvPr/>
        </p:nvSpPr>
        <p:spPr>
          <a:xfrm>
            <a:off x="8339328" y="120700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③ 决策规划</a:t>
            </a:r>
            <a:endParaRPr lang="zh-CN" sz="1400"/>
          </a:p>
        </p:txBody>
      </p:sp>
      <p:sp>
        <p:nvSpPr>
          <p:cNvPr id="350" name="Text 350"/>
          <p:cNvSpPr txBox="1"/>
          <p:nvPr/>
        </p:nvSpPr>
        <p:spPr>
          <a:xfrm>
            <a:off x="8339328" y="1581912"/>
            <a:ext cx="3044952" cy="1307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采样式 MPC 滚动优化
80 km/h 工况安全刹停
最终距离误差 0.156 m</a:t>
            </a:r>
            <a:endParaRPr lang="zh-CN" sz="1600"/>
          </a:p>
        </p:txBody>
      </p:sp>
      <p:sp>
        <p:nvSpPr>
          <p:cNvPr id="351" name="Text 351"/>
          <p:cNvSpPr txBox="1"/>
          <p:nvPr/>
        </p:nvSpPr>
        <p:spPr>
          <a:xfrm>
            <a:off x="685800" y="34015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下一阶段路线</a:t>
            </a:r>
            <a:endParaRPr lang="zh-CN" sz="1800"/>
          </a:p>
        </p:txBody>
      </p:sp>
      <p:sp>
        <p:nvSpPr>
          <p:cNvPr id="352" name="Shape 352"/>
          <p:cNvSpPr/>
          <p:nvPr/>
        </p:nvSpPr>
        <p:spPr>
          <a:xfrm>
            <a:off x="685800" y="3931920"/>
            <a:ext cx="2331720" cy="987552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0E8A92"/>
            </a:solidFill>
          </a:ln>
        </p:spPr>
      </p:sp>
      <p:sp>
        <p:nvSpPr>
          <p:cNvPr id="353" name="Text 353"/>
          <p:cNvSpPr txBox="1"/>
          <p:nvPr/>
        </p:nvSpPr>
        <p:spPr>
          <a:xfrm>
            <a:off x="795528" y="40965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在线闭环</a:t>
            </a:r>
            <a:endParaRPr lang="zh-CN" sz="1500"/>
          </a:p>
        </p:txBody>
      </p:sp>
      <p:sp>
        <p:nvSpPr>
          <p:cNvPr id="354" name="Text 354"/>
          <p:cNvSpPr txBox="1"/>
          <p:nvPr/>
        </p:nvSpPr>
        <p:spPr>
          <a:xfrm>
            <a:off x="795528" y="444398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CarSim 实时执行</a:t>
            </a:r>
            <a:endParaRPr lang="zh-CN" sz="1200"/>
          </a:p>
        </p:txBody>
      </p:sp>
      <p:sp>
        <p:nvSpPr>
          <p:cNvPr id="355" name="Line 355"/>
          <p:cNvSpPr/>
          <p:nvPr/>
        </p:nvSpPr>
        <p:spPr>
          <a:xfrm>
            <a:off x="3044952" y="4425696"/>
            <a:ext cx="338328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56" name="Shape 356"/>
          <p:cNvSpPr/>
          <p:nvPr/>
        </p:nvSpPr>
        <p:spPr>
          <a:xfrm>
            <a:off x="3447288" y="3931920"/>
            <a:ext cx="2331720" cy="987552"/>
          </a:xfrm>
          <a:prstGeom prst="roundRect">
            <a:avLst/>
          </a:prstGeom>
          <a:solidFill>
            <a:srgbClr val="FFF7EA"/>
          </a:solidFill>
          <a:ln w="12700">
            <a:solidFill>
              <a:srgbClr val="F2A93B"/>
            </a:solidFill>
          </a:ln>
        </p:spPr>
      </p:sp>
      <p:sp>
        <p:nvSpPr>
          <p:cNvPr id="357" name="Text 357"/>
          <p:cNvSpPr txBox="1"/>
          <p:nvPr/>
        </p:nvSpPr>
        <p:spPr>
          <a:xfrm>
            <a:off x="3557016" y="40965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泛化验证</a:t>
            </a:r>
            <a:endParaRPr lang="zh-CN" sz="1500"/>
          </a:p>
        </p:txBody>
      </p:sp>
      <p:sp>
        <p:nvSpPr>
          <p:cNvPr id="358" name="Text 358"/>
          <p:cNvSpPr txBox="1"/>
          <p:nvPr/>
        </p:nvSpPr>
        <p:spPr>
          <a:xfrm>
            <a:off x="3557016" y="444398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μ 突变 / 噪声 / 热衰退</a:t>
            </a:r>
            <a:endParaRPr lang="zh-CN" sz="1200"/>
          </a:p>
        </p:txBody>
      </p:sp>
      <p:sp>
        <p:nvSpPr>
          <p:cNvPr id="359" name="Line 359"/>
          <p:cNvSpPr/>
          <p:nvPr/>
        </p:nvSpPr>
        <p:spPr>
          <a:xfrm>
            <a:off x="5806440" y="4425696"/>
            <a:ext cx="338328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60" name="Shape 360"/>
          <p:cNvSpPr/>
          <p:nvPr/>
        </p:nvSpPr>
        <p:spPr>
          <a:xfrm>
            <a:off x="6208776" y="3931920"/>
            <a:ext cx="2331720" cy="987552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64D4D"/>
            </a:solidFill>
          </a:ln>
        </p:spPr>
      </p:sp>
      <p:sp>
        <p:nvSpPr>
          <p:cNvPr id="361" name="Text 361"/>
          <p:cNvSpPr txBox="1"/>
          <p:nvPr/>
        </p:nvSpPr>
        <p:spPr>
          <a:xfrm>
            <a:off x="6318504" y="40965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控制升级</a:t>
            </a:r>
            <a:endParaRPr lang="zh-CN" sz="1500"/>
          </a:p>
        </p:txBody>
      </p:sp>
      <p:sp>
        <p:nvSpPr>
          <p:cNvPr id="362" name="Text 362"/>
          <p:cNvSpPr txBox="1"/>
          <p:nvPr/>
        </p:nvSpPr>
        <p:spPr>
          <a:xfrm>
            <a:off x="6318504" y="444398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MPPI / CEM</a:t>
            </a:r>
            <a:endParaRPr lang="zh-CN" sz="1200"/>
          </a:p>
        </p:txBody>
      </p:sp>
      <p:sp>
        <p:nvSpPr>
          <p:cNvPr id="363" name="Line 363"/>
          <p:cNvSpPr/>
          <p:nvPr/>
        </p:nvSpPr>
        <p:spPr>
          <a:xfrm>
            <a:off x="8567928" y="4425696"/>
            <a:ext cx="338328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64" name="Shape 364"/>
          <p:cNvSpPr/>
          <p:nvPr/>
        </p:nvSpPr>
        <p:spPr>
          <a:xfrm>
            <a:off x="8970264" y="3931920"/>
            <a:ext cx="2331720" cy="987552"/>
          </a:xfrm>
          <a:prstGeom prst="roundRect">
            <a:avLst/>
          </a:prstGeom>
          <a:solidFill>
            <a:srgbClr val="EDF4EF"/>
          </a:solidFill>
          <a:ln w="12700">
            <a:solidFill>
              <a:srgbClr val="2F9E73"/>
            </a:solidFill>
          </a:ln>
        </p:spPr>
      </p:sp>
      <p:sp>
        <p:nvSpPr>
          <p:cNvPr id="365" name="Text 365"/>
          <p:cNvSpPr txBox="1"/>
          <p:nvPr/>
        </p:nvSpPr>
        <p:spPr>
          <a:xfrm>
            <a:off x="9079992" y="40965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部署评估</a:t>
            </a:r>
            <a:endParaRPr lang="zh-CN" sz="1500"/>
          </a:p>
        </p:txBody>
      </p:sp>
      <p:sp>
        <p:nvSpPr>
          <p:cNvPr id="366" name="Text 366"/>
          <p:cNvSpPr txBox="1"/>
          <p:nvPr/>
        </p:nvSpPr>
        <p:spPr>
          <a:xfrm>
            <a:off x="9079992" y="444398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时延与鲁棒性</a:t>
            </a:r>
            <a:endParaRPr lang="zh-CN" sz="1200"/>
          </a:p>
        </p:txBody>
      </p:sp>
      <p:sp>
        <p:nvSpPr>
          <p:cNvPr id="367" name="Text 367"/>
          <p:cNvSpPr txBox="1"/>
          <p:nvPr/>
        </p:nvSpPr>
        <p:spPr>
          <a:xfrm>
            <a:off x="841248" y="53492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核心结论：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关键不是单个网络精度，而是“高保真环境—可学习模型—在线规划—反馈验证”的完整闭环。</a:t>
            </a:r>
            <a:endParaRPr lang="zh-CN" sz="2000"/>
          </a:p>
        </p:txBody>
      </p:sp>
      <p:sp>
        <p:nvSpPr>
          <p:cNvPr id="368" name="Text 368"/>
          <p:cNvSpPr txBox="1"/>
          <p:nvPr/>
        </p:nvSpPr>
        <p:spPr>
          <a:xfrm>
            <a:off x="804672" y="6144768"/>
            <a:ext cx="10561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A：环境与 CarSim 数据  ·  B：GRU 消融与训练  ·  C：MPC、结果分析与统筹</a:t>
            </a:r>
            <a:endParaRPr lang="zh-CN" sz="1200"/>
          </a:p>
        </p:txBody>
      </p:sp>
      <p:sp>
        <p:nvSpPr>
          <p:cNvPr id="369" name="Shape 36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70" name="Text 370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C  ·  建议用时 1:10</a:t>
            </a:r>
            <a:endParaRPr lang="zh-CN" sz="900"/>
          </a:p>
        </p:txBody>
      </p:sp>
      <p:sp>
        <p:nvSpPr>
          <p:cNvPr id="371" name="Text 371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ke World Model Theme">
  <a:themeElements>
    <a:clrScheme name="Brake">
      <a:dk1>
        <a:srgbClr val="0B1F33"/>
      </a:dk1>
      <a:lt1>
        <a:srgbClr val="FFFFFF"/>
      </a:lt1>
      <a:dk2>
        <a:srgbClr val="17212B"/>
      </a:dk2>
      <a:lt2>
        <a:srgbClr val="F4F7F8"/>
      </a:lt2>
      <a:accent1>
        <a:srgbClr val="0E8A92"/>
      </a:accent1>
      <a:accent2>
        <a:srgbClr val="F2A93B"/>
      </a:accent2>
      <a:accent3>
        <a:srgbClr val="D64D4D"/>
      </a:accent3>
      <a:accent4>
        <a:srgbClr val="36B5C2"/>
      </a:accent4>
      <a:accent5>
        <a:srgbClr val="2F9E73"/>
      </a:accent5>
      <a:accent6>
        <a:srgbClr val="607080"/>
      </a:accent6>
      <a:hlink>
        <a:srgbClr val="0563C1"/>
      </a:hlink>
      <a:folHlink>
        <a:srgbClr val="954F72"/>
      </a:folHlink>
    </a:clrScheme>
    <a:fontScheme name="Brake 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Brake Format">
      <a:fillStyleLst>
        <a:solidFill>
          <a:srgbClr val="FFFFFF"/>
        </a:solidFill>
        <a:solidFill>
          <a:srgbClr val="F4F7F8"/>
        </a:solidFill>
        <a:solidFill>
          <a:srgbClr val="0E8A92"/>
        </a:solidFill>
      </a:fillStyleLst>
      <a:lnStyleLst>
        <a:ln w="12700">
          <a:solidFill>
            <a:srgbClr val="D9E1E5"/>
          </a:solidFill>
        </a:ln>
        <a:ln w="19050">
          <a:solidFill>
            <a:srgbClr val="0E8A92"/>
          </a:solidFill>
        </a:ln>
        <a:ln w="25400">
          <a:solidFill>
            <a:srgbClr val="D64D4D"/>
          </a:solidFill>
        </a:ln>
      </a:lnStyleLst>
      <a:effectStyleLst/>
      <a:bgFillStyleLst>
        <a:solidFill>
          <a:srgbClr val="FFFFFF"/>
        </a:solidFill>
        <a:solidFill>
          <a:srgbClr val="F4F7F8"/>
        </a:solidFill>
        <a:solidFill>
          <a:srgbClr val="0B1F33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ake World Model Theme">
  <a:themeElements>
    <a:clrScheme name="Brake">
      <a:dk1>
        <a:srgbClr val="0B1F33"/>
      </a:dk1>
      <a:lt1>
        <a:srgbClr val="FFFFFF"/>
      </a:lt1>
      <a:dk2>
        <a:srgbClr val="17212B"/>
      </a:dk2>
      <a:lt2>
        <a:srgbClr val="F4F7F8"/>
      </a:lt2>
      <a:accent1>
        <a:srgbClr val="0E8A92"/>
      </a:accent1>
      <a:accent2>
        <a:srgbClr val="F2A93B"/>
      </a:accent2>
      <a:accent3>
        <a:srgbClr val="D64D4D"/>
      </a:accent3>
      <a:accent4>
        <a:srgbClr val="36B5C2"/>
      </a:accent4>
      <a:accent5>
        <a:srgbClr val="2F9E73"/>
      </a:accent5>
      <a:accent6>
        <a:srgbClr val="607080"/>
      </a:accent6>
      <a:hlink>
        <a:srgbClr val="0563C1"/>
      </a:hlink>
      <a:folHlink>
        <a:srgbClr val="954F72"/>
      </a:folHlink>
    </a:clrScheme>
    <a:fontScheme name="Brake 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Brake Format">
      <a:fillStyleLst>
        <a:solidFill>
          <a:srgbClr val="FFFFFF"/>
        </a:solidFill>
        <a:solidFill>
          <a:srgbClr val="F4F7F8"/>
        </a:solidFill>
        <a:solidFill>
          <a:srgbClr val="0E8A92"/>
        </a:solidFill>
      </a:fillStyleLst>
      <a:lnStyleLst>
        <a:ln w="12700">
          <a:solidFill>
            <a:srgbClr val="D9E1E5"/>
          </a:solidFill>
        </a:ln>
        <a:ln w="19050">
          <a:solidFill>
            <a:srgbClr val="0E8A92"/>
          </a:solidFill>
        </a:ln>
        <a:ln w="25400">
          <a:solidFill>
            <a:srgbClr val="D64D4D"/>
          </a:solidFill>
        </a:ln>
      </a:lnStyleLst>
      <a:effectStyleLst/>
      <a:bgFillStyleLst>
        <a:solidFill>
          <a:srgbClr val="FFFFFF"/>
        </a:solidFill>
        <a:solidFill>
          <a:srgbClr val="F4F7F8"/>
        </a:solidFill>
        <a:solidFill>
          <a:srgbClr val="0B1F33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3252</Words>
  <Application>WPS 演示</Application>
  <PresentationFormat>Widescreen</PresentationFormat>
  <Paragraphs>384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Brake World Model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基于世界模型的一维纵向制动决策规划</dc:title>
  <dc:creator>World Model in Brake System Team</dc:creator>
  <dc:subject>三人12分钟课程项目汇报</dc:subject>
  <cp:lastModifiedBy>李子昂(2025210297)</cp:lastModifiedBy>
  <cp:revision>3</cp:revision>
  <dcterms:created xsi:type="dcterms:W3CDTF">2026-06-07T06:15:00Z</dcterms:created>
  <dcterms:modified xsi:type="dcterms:W3CDTF">2026-06-07T14:58:54Z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86FC3AF9947E48D2AD4D6097D24E61A1_13</vt:lpwstr>
  </property>
  <property fmtid="{D5CDD505-2E9C-101B-9397-08002B2CF9AE}" pid="3" name="KSOProductBuildVer">
    <vt:lpwstr>2052-12.1.0.23542</vt:lpwstr>
  </property>
</Properties>
</file>