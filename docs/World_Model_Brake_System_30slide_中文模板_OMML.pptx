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6EBBC38-3346-4717-A902-602E4156162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ngbing Nie" initials="BN" lastIdx="6" clrIdx="0"/>
  <p:cmAuthor id="2" name="Admin" initials="A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730EB8"/>
    <a:srgbClr val="0000FF"/>
    <a:srgbClr val="EBF1DE"/>
    <a:srgbClr val="953735"/>
    <a:srgbClr val="77933C"/>
    <a:srgbClr val="215968"/>
    <a:srgbClr val="0D409B"/>
    <a:srgbClr val="8C1514"/>
    <a:srgbClr val="C46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04" autoAdjust="0"/>
    <p:restoredTop sz="84366" autoAdjust="0"/>
  </p:normalViewPr>
  <p:slideViewPr>
    <p:cSldViewPr showGuides="1">
      <p:cViewPr varScale="1">
        <p:scale>
          <a:sx n="80" d="100"/>
          <a:sy n="80" d="100"/>
        </p:scale>
        <p:origin x="436" y="44"/>
      </p:cViewPr>
      <p:guideLst>
        <p:guide orient="horz" pos="2176"/>
        <p:guide pos="3840"/>
      </p:guideLst>
    </p:cSldViewPr>
  </p:slideViewPr>
  <p:outlineViewPr>
    <p:cViewPr>
      <p:scale>
        <a:sx n="33" d="100"/>
        <a:sy n="33" d="100"/>
      </p:scale>
      <p:origin x="0" y="-3583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5" d="100"/>
        <a:sy n="125" d="100"/>
      </p:scale>
      <p:origin x="0" y="-11092"/>
    </p:cViewPr>
  </p:sorterViewPr>
  <p:notesViewPr>
    <p:cSldViewPr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1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A0E95-367F-4A73-9C3B-3219D29F3B65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BE34D-6E21-4F00-AB43-928D22E18CE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11ABD-C8CA-45BD-AFCC-B3E5D2CB9C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各位老师、同学好，我们汇报的题目是基于世界模型的一维纵向制动决策规划。这个项目从一个简化的纵向制动机理模型出发，逐步扩展到 CarSim 高保真联合仿真、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GRU 时序世界模型和采样式 MPC 规划器。今天我们会重点展示三件事：第一，数据和仿真环境如何建立；第二，为什么从 MLP 升级到 GRU 并做消融实验；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第三，世界模型如何进入上层规划闭环，完成一维安全刹停。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开场时建议先控制语速，把“世界模型”解释成可被规划器反复调用的虚拟车辆动力学。可以强调本项目不是只做一个预测网络，而是把仿真、数据、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模型和控制闭环串成一条工程链路。最后自然过渡到下一页：我们先用一句话定义规划目标。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页面要点：制动系统世界模型；Simulink / CarSim 联合仿真；GRU-PINN 时序世界模型；采样式 MPC 刹停规划器。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1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我们的问题可以浓缩成一句话：给定车辆当前状态和前方障碍物距离，系统需要在线选择制动主缸压力，让车辆既不碰撞，又尽量停在目标安全距离附近，同时避免过大的减速度。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这里世界模型不是单独做预测，而是为规划器提供一个快速、可调用的虚拟动力学环境。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这一页要把输入、输出和评价目标讲成一个闭环任务。输入不是单一速度，而是车辆状态、制动动作、附着和障碍物距离；输出也不只是预测值，还包括当前应该执行的压力动作。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这里可以提醒听众，安全、精准和平顺三者存在权衡。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页面要点：输入：速度、加速度、制动压力、路面附着、障碍物距离；输出：下一时刻状态预测和当前制动动作；目标：在障碍物前安全、精准、平顺地停车。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2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如果只是训练 MLP 或 GRU 去拟合下一时刻速度，这只能算系统辨识。我们的目标是进一步把预测模型放进规划环节，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让控制器在执行前先“脑内推演”多条未来压力曲线，比较风险和代价，再选择当前最合适的压力。这就是从系统辨识走向预测式决策的关键区别。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建议用这一页区分“会预测”和“会决策”。系统辨识回答的是给定动作后车辆会怎样变化，预测式规划进一步回答当前应该选择什么动作。可以用“先推演、再执行、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再反馈”的节奏讲，让后面的 MPC 更容易被接受。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页面要点：系统辨识：只学习动力学映射；预测式规划：用学习到的动力学选择动作；规划器在执行前反复推演未来候选轨迹。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3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这张图先说明工程当前的数据规模。我们保留了三万条单步机理数据，用于快速验证 MLP；一万六千行机理时序数据，用于 LSTM 和 GRU；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同时已经通过 CarSim/Simulink 联合仿真得到一万三千零七十条高保真状态转移，并进一步清洗出一万零九百二十四条训练数据。也就是说，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现在的数据链路已经不只停留在简化模型。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讲数据规模时不要只报数字，要说明每类数据承担的角色：机理数据负责快速验证和接口打样，时序数据负责训练循环网络，高保真 CarSim 数据负责暴露真实非线性。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这样老师如果追问数据可信度，就能看到项目是逐层升级的。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页面要点：机理单步数据：30,000 行；机理时序数据：16,000 行；CarSim 原始状态转移：13,070 行；CarSim 训练数据：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10,924 行。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4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整体流程分成四层。第一层是环境，包括简化机理模型和 CarSim。第二层是数据集，把不同来源统一成相同的输入输出格式。第三层是世界模型，包含 MLP 基线、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LSTM/GRU 消融和 PINN 约束。第四层是规划器，它调用世界模型预测未来，再把第一步压力交给物理环境执行。这个结构保证后续替换数据源或模型结构时，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不需要重写全部代码。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这一页是全局路线图，建议按从下到上的顺序讲。环境层给出可运行仿真，数据层统一字段，模型层学习状态转移，规划层把模型放进闭环。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强调这个分层让后续替换模型或接入 CarSim 在线闭环时，不需要推倒重来。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页面要点：机理模型：可复现基线；CarSim：高保真伪真实数据；GRU-PINN：底盘世界模型；采样式 MPC：上层决策规划器。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5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机理模型使用一个可解释的纵向制动近似。制动力与主缸压力线性相关，但实际制动力不能超过路面附着上限。之后通过牛顿第二定律计算减速度，再用离散积分更新速度。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车辆质量取一千八百千克，采样周期零点零五秒。这个模型虽然简化，但非常适合做基线、单元测试和规划器初始验证。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公式页要讲慢一点。先说压力映射到理论制动力，再说附着上限裁剪，接着由力得到减速度，最后离散更新速度。这里的重点不是公式复杂，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而是它给了后续神经网络一个可解释基线，也给规划器提供了最小可运行环境。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页面要点：F_brake = k * P；F_actual = min(F_brake, mu * m * g)；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a_next = -F_actual / m；v_next = max(v + a_next * dt, 0)。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6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这张图展示机理单步数据的采样覆盖。速度、压力和附着系数都覆盖了制动场景中的主要范围，这保证 MLP 不只是记住少数工况。对于期末汇报来说，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这张图能够回答“你们的数据是不是太单一”的问题。我们可以强调，机理数据用于快速闭环，不代表最终真实世界，但它为模型和规划器接口打下了基础。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这一页可以回答数据覆盖是否充分。速度范围覆盖常见城市到高速制动，压力范围覆盖从不制动到强制动，附着系数覆盖湿滑到较好路面。补充说明：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覆盖不代表真实道路全部情况，但足够支撑当前一维纵向制动任务。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页面要点：速度覆盖：约 20-120 km/h；压力覆盖：0-10 MPa；附着覆盖：0.2 / 0.4 / 0.6 / 0.8。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7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这张图体现路面附着限制。压力增加时，减速度不会无限增大，因为实际制动力受到 μmg 的上限约束。低附着路面更早进入饱和，高附着路面可以支持更强制动。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这个规律不仅能解释数据，也能帮助我们在后面的 PINN 和规划代价中加入物理口径。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讲图时围绕“饱和”展开：低附着下压力继续增大也不能无限提高减速度，高附着下才允许更强制动。这个现象说明世界模型不能只靠黑箱拟合，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必须让模型和规划器都尊重轮胎附着约束。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页面要点：压力增加只在未饱和前提升减速度；低附着路面更早达到制动上限；该规律为模型提供可解释物理先验。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8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第一版世界模型是 MLP，用来验证单步动力学是否可学习。从预测对比图可以看到，模型输出与机理标签高度重合。这个结果说明数据生成、归一化、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训练和推理链路是正确的。但 MLP 的限制也很清楚：它只看当前状态，无法表达压力建立、液压滞后和轮胎状态随时间变化的影响，所以它适合作为基线，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不适合作为最终时序底座。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这一页可以把 MLP 定位为工程基线。它证明数据生成、训练、归一化、推理和指标评估链路是通的，但它没有记忆历史压力和动态响应。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由此自然引出后面使用 LSTM/GRU 的必要性。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页面要点：单步动力学可以被准确学习；MLP 验证了数据生成、归一化和推理链路；局限：没有显式历史依赖。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9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为了让机理模型和 CarSim 数据都能进入同一套训练代码，我们设计了统一数据接口。核心字段包括当前速度、当前加速度、压力、附着系数，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以及下一时刻速度和加速度。CarSim 可以额外保留初速度、来源、参考风险等字段，但训练接口只依赖前九个核心字段。这个设计减少了后续工程切换成本。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统一字段是工程可维护性的核心。建议强调同一套训练接口可以接收机理数据和 CarSim 数据，差异字段保留在数据集里，但模型只依赖规范输入输出。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这样后续加入更多传感器或换仿真器时，接口不会混乱。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页面要点：trajectory_id、step、time_s；v_mps、a_mps2、pressure_MPa、mu；v_next_mps、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a_next_mps2；CarSim 附加字段保留，但训练接口不依赖。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0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从这一页开始进入同学 B 的模型部分。为了建模制动过程的历史依赖，我们把输入从单个点改成最近五个时间步的序列。每一步包含速度、加速度、压力和附着系数。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这样模型能看到压力如何逐步建立、速度如何连续下降，而不是只在当前点做静态映射。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这里要说明从单步样本到序列样本的变化。循环网络看到最近 K 个时间步，因此能捕捉压力变化和车辆响应之间的滞后关系。默认 K 等于 5 是当前消融后的工程折中，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不是理论上唯一选择。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页面要点：输入变为最近 K 个时间步；默认 K = 5；特征：速度、加速度、压力、附着；目标：下一时刻速度和加速度。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1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联合仿真的关键是 VehicleSim S-Function 接口。我们从 Simulink 输入四个制动压力信号，对应四个车轮；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输出纵向速度和纵向加速度。当前 CarSim 2019 的运行文件参数名是 `SIMFILE`，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因此脚本会把不同工况的 `.sim` 文件切换到同一个联合仿真模型里运行。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讲接口时可以把它当成一个数据管道：Simulink 发送四轮制动压力，VehicleSim S-Function 返回车速和加速度。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通过 SIMFILE 切换不同 CarSim Run，能够批量采集工况矩阵。强调四轮同压是当前一维纵向任务的简化假设。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页面要点：输入：IMP_PBK_L1/L2/R1/R2；输出：Vx_SM、Ax_SM；同一个压力指令发送到四个车轮；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通过 SIMFILE 切换 CarSim Run。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2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这一页展示单工况冒烟测试。输入是八十公里每小时、附着系数零点八五、二兆帕制动压力，仿真两点五秒。结果显示速度确实下降，压力信号有效，输出没有 NaN，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最小加速度约负三点二三八米每二次方秒。这一步验证的是联合仿真通道本身：压力能进去，车辆响应能出来。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冒烟测试不是最终实验，而是验证接口正确性的第一关。这里要说明初速度、附着和压力给定后，CarSim 返回了连续车速下降和负加速度，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说明压力输入确实进入车辆模型。PASS 代表链路能跑通。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页面要点：80 km/h，mu = 0.85，压力 = 2 MPa；仿真 2.5 s，2501 个样本；末速度：58.373 km/h；最小加速度：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-3.238 m/s²。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3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单工况通过之后，我们进一步检查边界工况矩阵。这里选择低、中、高三个初速度，并在低附着零点二和高附着零点八下各跑一次，总计六个代表性工况。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六个工况都通过了初速度匹配、制动响应和有效输出检查。图中可以看到，高附着工况的峰值减速度明显更强，这符合物理预期。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矩阵冒烟测试的价值在于覆盖边界组合。低速、高速、低附着、高附着都有效，说明不是单一工况偶然成功。讲表格时重点看 valid 全部为 1，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以及不同附着下减速度差异明显。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页面要点：6 个代表性边界工况；速度：20 / 80 / 120 km/h；附着：0.2 和 0.8；6 个工况全部有效。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4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完整 CarSim 数据集覆盖六档初速度和四档附着系数，每个物理工况下使用五条不同压力轨迹，总计一百二十条轨迹。左侧热力图显示每个速度和附着组合都有数据，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右侧压力轨迹说明我们不是只用恒定压力，而是包含变化压力曲线。这样训练出来的模型更接近实际控制中会遇到的输入序列。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这一页说明数据采集已经从单点验证扩展到完整矩阵。六档速度、四档附着、五类压力轨迹形成 120 条轨迹。可以强调压力轨迹不是单一恒压，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而是更接近规划器未来会生成的多样动作序列。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页面要点：6 档速度 × 4 档附着；每个物理工况 5 条压力轨迹；总计 120 条轨迹；13,070 条原始状态转移。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5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这张图从完整数据集中汇总每个工况的峰值减速度。可以看到不同附着系数形成了非常清晰的分层：零点二低附着接近二米每二次方秒，零点八高附着超过七米每二次方秒。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这个结果说明 CarSim 数据不仅能跑通，而且在物理趋势上符合路面附着限制。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这里要把 CarSim 和机理模型联系起来：虽然 CarSim 更复杂，但附着越高峰值减速度越大的分层仍然清晰。这说明高保真数据保留了关键物理规律，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也解释了为什么加速度预测比速度预测更难。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页面要点：mu = 0.2：峰值减速度约 2 m/s²；mu = 0.8：峰值减速度超过 7 m/s²；CarSim 响应符合附着限制分层。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6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在规划器里，世界模型不是只调用一次，而是每个控制时刻都要对很多候选压力序列反复滚动预测。因此模型不仅要准，还要轻量。LSTM 表达能力强，但参数更多；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GRU 门结构更简洁，通常能用更少参数捕捉短期动态。我们没有凭直觉选择，而是做了统一消融实验。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讲 LSTM 和 GRU 时避免陷入结构细节。核心是规划器会在每个控制步反复调用模型，因此模型不只要准，还要轻。GRU 门结构少、参数少，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更适合作为当前采样式 MPC 的快速世界模型。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页面要点：LSTM：表达能力强，但参数更多；GRU：门结构更少，推理成本更低；规划器每个控制步会多次调用模型；需要同时兼顾精度和计算效率。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7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消融实验采用科学对比方式。我们固定随机种子、轨迹级划分、四十个训练轮次和物理损失权重，只改变循环单元、序列长度和模型深度。这样得到的差异主要来自结构本身，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而不是训练设置变化。这个实验也回应了一个常见问题：是不是模型越深、序列越长就越好。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消融实验要突出公平性：循环单元、序列长度和结构规模在同一训练设置下比较。这样选择 GRU 不是主观偏好，而是由误差、参数量和规划调用成本共同决定。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页面要点：循环单元：LSTM 对比 GRU；序列长度：5 对比 50；结构规模：64×1 对比 128×2；固定随机种子、划分方式、训练轮次、PINN 权重。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8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结果显示，推荐配置是短序列、单层、六十四隐藏单元的 GRU。它只有一万七千七百三十个参数，但速度 RMSE 达到零点零六四八米每秒，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减速度 RMSE 达到零点零四三一米每二次方秒。与同配置 LSTM 相比，它参数更少，减速度误差显著更低，非常适合作为后续 MPC 的预测底座。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这一页给出推荐配置。建议先报结论：GRU S5 H64 L1 是当前最好折中；再解释参数量和 RMSE。可以提醒听众，减速度误差对制动舒适性和安全距离更敏感，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所以不能只看速度误差。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页面要点：推荐配置：GRU S5 H64 L1；参数量：17,730；速度 RMSE：0.0648 m/s；加速度 RMSE：0.0431 m/s²。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9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这张散点图进一步说明，模型变大并不自动带来更好的规划价值。长序列深模型在某些速度指标上可能略好，但参数量上升接近一个数量级，而且减速度误差未必同步改善。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因为规划器特别依赖减速度预测和实时调用成本，所以我们选择 GRU S5 H64 L1，而不是盲目堆深网络。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散点图用来讲“模型越大不一定越好”。长序列或大隐藏层可能提升某些指标，但会增加调用成本并影响减速度表现。这里要把选择逻辑拉回工程闭环，而不只是离线排行榜。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页面要点：更大模型不保证更低误差；长序列对部分速度指标有帮助，但会影响减速度表现；短序列 GRU 是当前最合适的工程折中。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0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在选定结构后，我们把同一套 GRU-PINN 训练到 CarSim 数据上。训练采用轨迹级划分，而不是随机打散相邻时间点，避免数据泄漏。训练集九十六条轨迹，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验证集二十四条轨迹，训练四十轮，GPU 用时约十七点二秒。这说明模型训练成本很低，便于反复调参。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CarSim-GRU 是把前面选出的结构迁移到高保真数据。讲训练设置时强调轨迹级划分，避免同一轨迹同时出现在训练和验证中。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训练时间较短说明该结构后续适合集成到在线规划。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页面要点：数据来源：CarSim；GRU S=5，H=64，L=1；训练轨迹 96 条，验证轨迹 24 条；40 epochs，CUDA，17.2 s。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1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CarSim-GRU 在验证集上速度预测仍然非常准确，RMSE 为零点一一七三米每秒，R 方接近一。减速度预测的 RMSE 为零点四四九三米每二次方秒，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R 方为零点九二九二九。这个误差比机理数据高是合理的，因为 CarSim 包含更复杂的轮胎非线性、车身俯仰和停车附近动态。我们把它作为真实难度的体现，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而不是掩盖掉。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这一页要客观看指标：速度预测非常好，加速度预测也有较高 R²，但误差明显大于机理数据。不要把它说成完全解决真实车辆动力学，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而应说它暴露了高保真数据下的非线性难点。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页面要点：v_next RMSE：0.1173 m/s，R² = 0.99981；a_next RMSE：0.4493 m/s²，R² = 0.92929；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加速度比机理数据更非线性。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2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这张图把不同数据源和模型的 RMSE 放在一起比较。简化机理数据更平滑，因此模型误差非常低；CarSim 速度仍然容易预测，但加速度误差明显更高。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这个对比有助于解释为什么要引入 CarSim：它让模型面对更真实的物理复杂性，也让评价指标更加诚实。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这页是模型难度总结。机理标签更平滑，CarSim 响应包含更多车辆动力学细节，所以速度容易、加速度难。这个结论解释了为什么后续闭环仍先在机理环境验证，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再推进 CarSim 在线闭环。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页面要点：机理标签更平滑，因此更容易拟合；CarSim 速度仍然较容易预测；CarSim 加速度暴露了高保真动力学难点。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3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接下来进入同学 C 的规划部分。规划器的状态包括当前速度、障碍物距离和附着系数，动作是主缸压力。每次规划不是只选一个压力点，而是采样一段未来压力序列。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代价函数综合终点距离误差、减速度舒适性、压力平滑、碰撞惩罚和未刹停惩罚。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规划建模页要把状态、动作和代价对应起来。状态描述当前处境，动作是压力，世界模型负责预测未来，代价函数负责定义“好”的刹停。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可以强调碰撞惩罚和未刹停惩罚是安全闭环的关键项。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页面要点：状态：速度、障碍物距离、附着系数；动作：制动主缸压力；预测时域：候选压力序列；代价：距离、舒适度、平滑性、碰撞、未刹停惩罚。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4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我们采用的是采样式 MPC，而不是复杂的解析梯度优化。每个控制时刻生成多条平滑压力曲线，世界模型对每条曲线进行未来展开，然后用代价函数排序。选出最优序列后，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只执行第一步压力，下一时刻根据反馈重新规划。这个方法直观、可解释，也方便后续升级到 MPPI 或 CEM。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采样式 MPC 的讲法可以很直观：先随机或规则生成多条压力序列，再让世界模型逐条展开，计算代价后只执行第一步。下一时刻重新观测、重新采样、重新选择，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这就是 receding horizon 的核心。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页面要点：采样压力序列；用世界模型滚动预测未来轨迹；按总代价为每条序列打分；只执行最优序列的第一步压力。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5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在完整 MPC 之前，我们先实现了一个更简单的一步安全屏障，用于验证距离更新、速度更新和压力选择逻辑。它不是最终控制器，但对于工程调试非常重要。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先把简单闭环跑通，再升级到多步采样规划，可以降低开发风险。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一步安全屏障是早期基线，用来确保距离更新、制动动作和安全约束方向正确。它没有完整 MPC 的多步优化能力，但作为调试层很重要。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可以说它帮助我们在复杂规划器之前先验证最基本的安全逻辑。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页面要点：完整 MPC 之前的早期安全层；根据安全约束选择压力；用于调试距离更新和刹停逻辑。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6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这张图展示当前完整闭环刹停结果。初始速度八十公里每小时，障碍物距离六十五米，附着系数零点六，目标安全距离两米。规划器前段使用较温和的压力，后段提高压力，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最终车辆在约五点零五秒停止，剩余距离一点八四四米，与目标相差零点一五六米，没有碰撞。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结果页要先报场景，再报最终距离。80 km/h、65 米、附着 0.6 下，最终距离接近 2 米安全目标，误差约 0.156 米。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这里强调这是机理执行环境下的闭环结果，说明规划器链路已经可运行。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页面要点：初速度：80 km/h；初始距离：65 m；附着系数：0.6；目标安全距离：2 m。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7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这里需要明确项目口径。我们已经完成了 CarSim 数据采集、工况验证和 CarSim-GRU 训练；也完成了机制环境下的 MPC 闭环刹停。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但目前还不能说已经完成 CarSim 在线闭环 MPC，因为刹停演示的执行环境仍是简化机理模型。下一步要做的是把每个实际压力动作发送给 CarSim，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再用 CarSim 反馈滚动重规划。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这一页要诚实划边界。已完成 CarSim 数据和 CarSim-GRU，也完成机理环境 MPC 闭环；尚未声称的是 CarSim 在线闭环 MPC。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主动说明边界会增加可信度，也为下一步工作留下清晰方向。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页面要点：已完成：CarSim 数据集与 CarSim-GRU 训练；已完成：机理执行环境下的 MPC 闭环；尚未声称：CarSim 在线闭环 MPC；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下一步：把每次 MPC 动作发送给 CarSim，并用 CarSim 反馈重规划。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8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从工程交付角度看，仓库已经包含多个可复现模块。MATLAB 侧有机理模型、CarSim 联调脚本和数据采集脚本；Python 侧有时序数据生成、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GRU/LSTM 训练、消融实验和 MPC 规划器；文档侧有中英文 README、CarSim 配置指南、消融实验说明和 PPT 资产生成脚本。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这个项目可以继续扩展，而不是一次性脚本。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工程交付页建议按仓库结构讲，证明项目不是单张实验图。MATLAB、Simulink、CarSim、Python 训练、MPC 和文档资产都已组织好。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这样老师能看到复现路径和后续扩展入口。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页面要点：MATLAB 脚本与 Simulink 模型；CarSim 配置、验证和数据采集工具；Python GRU/LSTM 训练管线；MPC 规划器。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29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最后总结。我们已经把项目从简单的机理数据拟合，推进到 CarSim 高保真数据、GRU-PINN 世界模型和采样式 MPC 决策规划。最重要的结论是，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世界模型的价值不只是预测精度，而是能否进入规划闭环。下一阶段重点是实现 CarSim 在线执行闭环，引入附着系数突变、噪声和制动热衰退场景，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并把随机搜索升级为 MPPI 或 CEM，提高实时性和鲁棒性。谢谢大家。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总结时回到三条主线：数据、模型和规划。最后的下一步不要泛泛而谈，要点名 CarSim 在线 MPC、附着突变、MPPI/CEM 和鲁棒性评估。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结束语可以强调本项目已经完成从数据到闭环的最小闭环原型。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页面要点：数据：机理数据 + CarSim 高保真轨迹；模型：通过消融选择轻量 GRU-PINN；规划：采样式 MPC 实现安全刹停；下一步：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在线 MPC、附着突变、MPPI/CEM、鲁棒性评估。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30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28800"/>
            <a:ext cx="1036320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645024"/>
            <a:ext cx="8534400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4000" y="3248992"/>
            <a:ext cx="12144000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479376" y="361219"/>
            <a:ext cx="1844598" cy="576000"/>
            <a:chOff x="1136323" y="419145"/>
            <a:chExt cx="1782423" cy="576000"/>
          </a:xfrm>
        </p:grpSpPr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329" y="332656"/>
            <a:ext cx="3472541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28800"/>
            <a:ext cx="1036320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645024"/>
            <a:ext cx="8534400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4000" y="3248992"/>
            <a:ext cx="12144000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60" y="940460"/>
            <a:ext cx="11305256" cy="3352636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</a:t>
            </a:r>
            <a:endParaRPr lang="en-US" altLang="zh-CN" dirty="0"/>
          </a:p>
          <a:p>
            <a:pPr lvl="1"/>
            <a:r>
              <a:rPr lang="en-US" altLang="zh-CN" dirty="0"/>
              <a:t>Second</a:t>
            </a:r>
            <a:endParaRPr lang="en-US" altLang="zh-CN" dirty="0"/>
          </a:p>
          <a:p>
            <a:pPr lvl="2"/>
            <a:r>
              <a:rPr lang="en-US" altLang="zh-CN" dirty="0"/>
              <a:t>Third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3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940460"/>
            <a:ext cx="11305256" cy="451640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57530" indent="0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None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3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常双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99179" y="940459"/>
            <a:ext cx="5664000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0" name="内容占位符 2"/>
          <p:cNvSpPr>
            <a:spLocks noGrp="1"/>
          </p:cNvSpPr>
          <p:nvPr>
            <p:ph idx="13"/>
          </p:nvPr>
        </p:nvSpPr>
        <p:spPr>
          <a:xfrm>
            <a:off x="335360" y="940459"/>
            <a:ext cx="5664000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2"/>
          <p:cNvSpPr/>
          <p:nvPr userDrawn="1"/>
        </p:nvSpPr>
        <p:spPr>
          <a:xfrm rot="10800000" flipH="1">
            <a:off x="6069999" y="2348879"/>
            <a:ext cx="6122001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3" name="矩形 22"/>
          <p:cNvSpPr/>
          <p:nvPr userDrawn="1"/>
        </p:nvSpPr>
        <p:spPr>
          <a:xfrm rot="10800000">
            <a:off x="-3" y="2348879"/>
            <a:ext cx="6122001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400" y="2829890"/>
            <a:ext cx="10363200" cy="648072"/>
          </a:xfrm>
        </p:spPr>
        <p:txBody>
          <a:bodyPr anchor="t">
            <a:normAutofit/>
          </a:bodyPr>
          <a:lstStyle>
            <a:lvl1pPr algn="ctr">
              <a:defRPr sz="3600" b="1" cap="non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336000" y="188640"/>
            <a:ext cx="1152000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400" y="2204864"/>
            <a:ext cx="10363200" cy="936104"/>
          </a:xfrm>
        </p:spPr>
        <p:txBody>
          <a:bodyPr anchor="t"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 algn="ctr">
              <a:defRPr lang="zh-CN" altLang="en-US" sz="4000" b="1" kern="1200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23088" y="3166808"/>
            <a:ext cx="10080000" cy="141715"/>
            <a:chOff x="1419154" y="3501008"/>
            <a:chExt cx="6480000" cy="90000"/>
          </a:xfrm>
        </p:grpSpPr>
        <p:sp>
          <p:nvSpPr>
            <p:cNvPr id="13" name="矩形 12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矩形 13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6" name="组合 12"/>
          <p:cNvGrpSpPr/>
          <p:nvPr userDrawn="1"/>
        </p:nvGrpSpPr>
        <p:grpSpPr>
          <a:xfrm>
            <a:off x="479376" y="361219"/>
            <a:ext cx="1844598" cy="576000"/>
            <a:chOff x="1136323" y="419145"/>
            <a:chExt cx="1782423" cy="576000"/>
          </a:xfrm>
        </p:grpSpPr>
        <p:pic>
          <p:nvPicPr>
            <p:cNvPr id="7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8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9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329" y="332656"/>
            <a:ext cx="3472541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6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6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6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556895" indent="-213995" algn="l" defTabSz="6858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MainTitle"/>
          <p:cNvSpPr txBox="1"/>
          <p:nvPr/>
        </p:nvSpPr>
        <p:spPr>
          <a:xfrm>
            <a:off x="822960" y="685800"/>
            <a:ext cx="9692640" cy="1143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 fontScale="90000" lnSpcReduction="12000"/>
          </a:bodyPr>
          <a:lstStyle/>
          <a:p>
            <a:r>
              <a:rPr lang="zh-CN" altLang="en-US" sz="41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制动系统世界模型</a:t>
            </a:r>
            <a:endParaRPr lang="zh-CN" altLang="en-US" sz="4100"/>
          </a:p>
        </p:txBody>
      </p:sp>
      <p:sp>
        <p:nvSpPr>
          <p:cNvPr id="14" name="Subtitle"/>
          <p:cNvSpPr txBox="1"/>
          <p:nvPr/>
        </p:nvSpPr>
        <p:spPr>
          <a:xfrm>
            <a:off x="859536" y="166420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 fontScale="90000" lnSpcReduction="12000"/>
          </a:bodyPr>
          <a:lstStyle/>
          <a:p>
            <a:r>
              <a:rPr lang="zh-CN" altLang="en-US" sz="145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一维纵向制动决策规划 · Simulink / CarSim / GRU-PINN / MPC</a:t>
            </a:r>
            <a:endParaRPr lang="zh-CN" altLang="en-US" sz="1450"/>
          </a:p>
        </p:txBody>
      </p:sp>
      <p:sp>
        <p:nvSpPr>
          <p:cNvPr id="15" name="Text"/>
          <p:cNvSpPr txBox="1"/>
          <p:nvPr/>
        </p:nvSpPr>
        <p:spPr>
          <a:xfrm>
            <a:off x="868680" y="2514600"/>
            <a:ext cx="2057400" cy="713232"/>
          </a:xfrm>
          <a:prstGeom prst="roundRect">
            <a:avLst/>
          </a:prstGeom>
          <a:solidFill>
            <a:srgbClr val="FFF4F0"/>
          </a:solidFill>
          <a:ln w="9000">
            <a:solidFill>
              <a:srgbClr val="E6B8AC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28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高保真联合仿真</a:t>
            </a:r>
            <a:endParaRPr lang="zh-CN" altLang="en-US" sz="1280"/>
          </a:p>
        </p:txBody>
      </p:sp>
      <p:sp>
        <p:nvSpPr>
          <p:cNvPr id="16" name="Text"/>
          <p:cNvSpPr txBox="1"/>
          <p:nvPr/>
        </p:nvSpPr>
        <p:spPr>
          <a:xfrm>
            <a:off x="3200400" y="2514600"/>
            <a:ext cx="2057400" cy="713232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9D5DB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28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时序世界模型</a:t>
            </a:r>
            <a:endParaRPr lang="zh-CN" altLang="en-US" sz="1280"/>
          </a:p>
        </p:txBody>
      </p:sp>
      <p:sp>
        <p:nvSpPr>
          <p:cNvPr id="17" name="Text"/>
          <p:cNvSpPr txBox="1"/>
          <p:nvPr/>
        </p:nvSpPr>
        <p:spPr>
          <a:xfrm>
            <a:off x="5532120" y="2514600"/>
            <a:ext cx="2057400" cy="713232"/>
          </a:xfrm>
          <a:prstGeom prst="roundRect">
            <a:avLst/>
          </a:prstGeom>
          <a:solidFill>
            <a:srgbClr val="F4F7EF"/>
          </a:solidFill>
          <a:ln w="9000">
            <a:solidFill>
              <a:srgbClr val="C9DDBF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280" b="1" dirty="0" smtClean="0">
                <a:solidFill>
                  <a:srgbClr val="2F7D5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采样式安全刹停</a:t>
            </a:r>
            <a:endParaRPr lang="zh-CN" altLang="en-US" sz="1280"/>
          </a:p>
        </p:txBody>
      </p:sp>
      <p:sp>
        <p:nvSpPr>
          <p:cNvPr id="18" name="Meta"/>
          <p:cNvSpPr txBox="1"/>
          <p:nvPr/>
        </p:nvSpPr>
        <p:spPr>
          <a:xfrm>
            <a:off x="859536" y="470916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 fontScale="90000" lnSpcReduction="12000"/>
          </a:bodyPr>
          <a:lstStyle/>
          <a:p>
            <a:r>
              <a:rPr lang="zh-CN" altLang="en-US" sz="12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期末汇报 · 清华大学车辆与运载学院</a:t>
            </a:r>
            <a:endParaRPr lang="zh-CN" altLang="en-US" sz="1280"/>
          </a:p>
          <a:p>
            <a:r>
              <a:rPr lang="zh-CN" altLang="en-US" sz="115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2026 年 06 月</a:t>
            </a:r>
            <a:endParaRPr lang="zh-CN" altLang="en-US" sz="1150"/>
          </a:p>
        </p:txBody>
      </p:sp>
      <p:cxnSp>
        <p:nvCxnSpPr>
          <p:cNvPr id="19" name="Line"/>
          <p:cNvCxnSpPr/>
          <p:nvPr/>
        </p:nvCxnSpPr>
        <p:spPr>
          <a:xfrm>
            <a:off x="7680960" y="1051560"/>
            <a:ext cx="3200400" cy="3383280"/>
          </a:xfrm>
          <a:prstGeom prst="line">
            <a:avLst/>
          </a:prstGeom>
          <a:ln w="38000">
            <a:solidFill>
              <a:srgbClr val="9E1B32"/>
            </a:solidFill>
          </a:ln>
        </p:spPr>
      </p:cxnSp>
      <p:cxnSp>
        <p:nvCxnSpPr>
          <p:cNvPr id="20" name="Line"/>
          <p:cNvCxnSpPr/>
          <p:nvPr/>
        </p:nvCxnSpPr>
        <p:spPr>
          <a:xfrm flipV="1">
            <a:off x="8046720" y="1051560"/>
            <a:ext cx="3108960" cy="3383280"/>
          </a:xfrm>
          <a:prstGeom prst="line">
            <a:avLst/>
          </a:prstGeom>
          <a:ln w="22000">
            <a:solidFill>
              <a:srgbClr val="0F6B75"/>
            </a:solidFill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"/>
              <p:cNvSpPr txBox="1"/>
              <p:nvPr/>
            </p:nvSpPr>
            <p:spPr>
              <a:xfrm>
                <a:off x="7360920" y="2011680"/>
                <a:ext cx="3108960" cy="1554480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109728" tIns="109728" rIns="109728" bIns="109728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_{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𝑡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+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1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}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𝑓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_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𝜃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0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e>
                        <m:sub>
                          <m:r>
                            <a:rPr lang="en-US" sz="139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0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0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𝑀𝑃𝐶</m:t>
                      </m:r>
                      <m:r>
                        <a:rPr lang="en-US" sz="20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r>
                        <a:rPr lang="en-US" sz="20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𝑓</m:t>
                      </m:r>
                      <m:r>
                        <a:rPr lang="en-US" sz="20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_</m:t>
                      </m:r>
                      <m:r>
                        <a:rPr lang="en-US" sz="20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𝜃</m:t>
                      </m:r>
                      <m:r>
                        <a:rPr lang="en-US" sz="20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0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139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𝑠𝑎𝑓𝑒</m:t>
                          </m:r>
                        </m:sub>
                      </m:sSub>
                      <m:r>
                        <a:rPr lang="en-US" sz="20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050"/>
              </a:p>
            </p:txBody>
          </p:sp>
        </mc:Choice>
        <mc:Fallback>
          <p:sp>
            <p:nvSpPr>
              <p:cNvPr id="2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920" y="2011680"/>
                <a:ext cx="3108960" cy="1554480"/>
              </a:xfrm>
              <a:prstGeom prst="roundRect">
                <a:avLst/>
              </a:prstGeom>
              <a:blipFill rotWithShape="1">
                <a:blip r:embed="rId1"/>
                <a:stretch>
                  <a:fillRect l="-163" t="-327" r="-143" b="-286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一句话目标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ext"/>
          <p:cNvSpPr txBox="1"/>
          <p:nvPr/>
        </p:nvSpPr>
        <p:spPr>
          <a:xfrm>
            <a:off x="804672" y="1600200"/>
            <a:ext cx="3246120" cy="2057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128016" tIns="128016" rIns="128016" bIns="128016" anchor="ctr">
            <a:normAutofit fontScale="90000" lnSpcReduction="12000"/>
          </a:bodyPr>
          <a:lstStyle/>
          <a:p>
            <a:pPr algn="ctr"/>
            <a:r>
              <a:rPr lang="zh-CN" altLang="en-US" sz="17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输入</a:t>
            </a:r>
            <a:endParaRPr lang="zh-CN" altLang="en-US" sz="1750"/>
          </a:p>
          <a:p>
            <a:pPr algn="ctr"/>
            <a:r>
              <a:rPr lang="zh-CN" altLang="en-US" sz="13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速度 / 加速度 / 压力 / 附着 / 障碍距离</a:t>
            </a:r>
            <a:endParaRPr lang="zh-CN" altLang="en-US" sz="1350"/>
          </a:p>
        </p:txBody>
      </p:sp>
      <p:cxnSp>
        <p:nvCxnSpPr>
          <p:cNvPr id="18" name="Line"/>
          <p:cNvCxnSpPr/>
          <p:nvPr/>
        </p:nvCxnSpPr>
        <p:spPr>
          <a:xfrm>
            <a:off x="4050792" y="2633472"/>
            <a:ext cx="411480" cy="9144"/>
          </a:xfrm>
          <a:prstGeom prst="line">
            <a:avLst/>
          </a:prstGeom>
          <a:ln w="26000">
            <a:solidFill>
              <a:srgbClr val="9E1B32"/>
            </a:solidFill>
            <a:tailEnd type="triangle"/>
          </a:ln>
        </p:spPr>
      </p:cxnSp>
      <p:sp>
        <p:nvSpPr>
          <p:cNvPr id="19" name="Text"/>
          <p:cNvSpPr txBox="1"/>
          <p:nvPr/>
        </p:nvSpPr>
        <p:spPr>
          <a:xfrm>
            <a:off x="4599432" y="1600200"/>
            <a:ext cx="3246120" cy="2057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128016" tIns="128016" rIns="128016" bIns="128016" anchor="ctr">
            <a:normAutofit fontScale="90000" lnSpcReduction="12000"/>
          </a:bodyPr>
          <a:lstStyle/>
          <a:p>
            <a:pPr algn="ctr"/>
            <a:r>
              <a:rPr lang="zh-CN" altLang="en-US" sz="175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世界模型</a:t>
            </a:r>
            <a:endParaRPr lang="zh-CN" altLang="en-US" sz="1750"/>
          </a:p>
          <a:p>
            <a:pPr algn="ctr"/>
            <a:r>
              <a:rPr lang="zh-CN" altLang="en-US" sz="13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预测下一时刻状态，提供快速虚拟动力学</a:t>
            </a:r>
            <a:endParaRPr lang="zh-CN" altLang="en-US" sz="1350"/>
          </a:p>
        </p:txBody>
      </p:sp>
      <p:cxnSp>
        <p:nvCxnSpPr>
          <p:cNvPr id="20" name="Line"/>
          <p:cNvCxnSpPr/>
          <p:nvPr/>
        </p:nvCxnSpPr>
        <p:spPr>
          <a:xfrm>
            <a:off x="7845552" y="2633472"/>
            <a:ext cx="411480" cy="9144"/>
          </a:xfrm>
          <a:prstGeom prst="line">
            <a:avLst/>
          </a:prstGeom>
          <a:ln w="26000">
            <a:solidFill>
              <a:srgbClr val="9E1B32"/>
            </a:solidFill>
            <a:tailEnd type="triangle"/>
          </a:ln>
        </p:spPr>
      </p:cxnSp>
      <p:sp>
        <p:nvSpPr>
          <p:cNvPr id="21" name="Text"/>
          <p:cNvSpPr txBox="1"/>
          <p:nvPr/>
        </p:nvSpPr>
        <p:spPr>
          <a:xfrm>
            <a:off x="8394192" y="1600200"/>
            <a:ext cx="3246120" cy="2057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128016" tIns="128016" rIns="128016" bIns="128016" anchor="ctr">
            <a:normAutofit fontScale="90000" lnSpcReduction="12000"/>
          </a:bodyPr>
          <a:lstStyle/>
          <a:p>
            <a:pPr algn="ctr"/>
            <a:r>
              <a:rPr lang="zh-CN" altLang="en-US" sz="175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规划输出</a:t>
            </a:r>
            <a:endParaRPr lang="zh-CN" altLang="en-US" sz="1750"/>
          </a:p>
          <a:p>
            <a:pPr algn="ctr"/>
            <a:r>
              <a:rPr lang="zh-CN" altLang="en-US" sz="13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当前制动压力，目标是在安全距离附近平顺停车</a:t>
            </a:r>
            <a:endParaRPr lang="zh-CN" altLang="en-US" sz="1350"/>
          </a:p>
        </p:txBody>
      </p:sp>
      <p:sp>
        <p:nvSpPr>
          <p:cNvPr id="22" name="Text"/>
          <p:cNvSpPr txBox="1"/>
          <p:nvPr/>
        </p:nvSpPr>
        <p:spPr>
          <a:xfrm>
            <a:off x="1965960" y="4343400"/>
            <a:ext cx="8183880" cy="658368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85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安全、精准、平顺地在障碍物前停车</a:t>
            </a:r>
            <a:endParaRPr lang="zh-CN" altLang="en-US" sz="1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为什么不只是系统辨识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ableCell"/>
          <p:cNvSpPr txBox="1"/>
          <p:nvPr/>
        </p:nvSpPr>
        <p:spPr>
          <a:xfrm>
            <a:off x="822960" y="1143000"/>
            <a:ext cx="3520440" cy="8001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维度</a:t>
            </a:r>
            <a:endParaRPr lang="zh-CN" altLang="en-US" sz="1120"/>
          </a:p>
        </p:txBody>
      </p:sp>
      <p:sp>
        <p:nvSpPr>
          <p:cNvPr id="18" name="TableCell"/>
          <p:cNvSpPr txBox="1"/>
          <p:nvPr/>
        </p:nvSpPr>
        <p:spPr>
          <a:xfrm>
            <a:off x="4343400" y="1143000"/>
            <a:ext cx="3520440" cy="8001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系统辨识</a:t>
            </a:r>
            <a:endParaRPr lang="zh-CN" altLang="en-US" sz="1120"/>
          </a:p>
        </p:txBody>
      </p:sp>
      <p:sp>
        <p:nvSpPr>
          <p:cNvPr id="19" name="TableCell"/>
          <p:cNvSpPr txBox="1"/>
          <p:nvPr/>
        </p:nvSpPr>
        <p:spPr>
          <a:xfrm>
            <a:off x="7863840" y="1143000"/>
            <a:ext cx="3520440" cy="8001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预测式规划</a:t>
            </a:r>
            <a:endParaRPr lang="zh-CN" altLang="en-US" sz="1120"/>
          </a:p>
        </p:txBody>
      </p:sp>
      <p:sp>
        <p:nvSpPr>
          <p:cNvPr id="20" name="TableCell"/>
          <p:cNvSpPr txBox="1"/>
          <p:nvPr/>
        </p:nvSpPr>
        <p:spPr>
          <a:xfrm>
            <a:off x="822960" y="1943100"/>
            <a:ext cx="3520440" cy="8001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学习目标</a:t>
            </a:r>
            <a:endParaRPr lang="zh-CN" altLang="en-US" sz="1120"/>
          </a:p>
        </p:txBody>
      </p:sp>
      <p:sp>
        <p:nvSpPr>
          <p:cNvPr id="21" name="TableCell"/>
          <p:cNvSpPr txBox="1"/>
          <p:nvPr/>
        </p:nvSpPr>
        <p:spPr>
          <a:xfrm>
            <a:off x="4343400" y="1943100"/>
            <a:ext cx="3520440" cy="8001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拟合状态转移</a:t>
            </a:r>
            <a:endParaRPr lang="zh-CN" altLang="en-US" sz="1120"/>
          </a:p>
        </p:txBody>
      </p:sp>
      <p:sp>
        <p:nvSpPr>
          <p:cNvPr id="22" name="TableCell"/>
          <p:cNvSpPr txBox="1"/>
          <p:nvPr/>
        </p:nvSpPr>
        <p:spPr>
          <a:xfrm>
            <a:off x="7863840" y="1943100"/>
            <a:ext cx="3520440" cy="8001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选择当前动作</a:t>
            </a:r>
            <a:endParaRPr lang="zh-CN" altLang="en-US" sz="1120"/>
          </a:p>
        </p:txBody>
      </p:sp>
      <p:sp>
        <p:nvSpPr>
          <p:cNvPr id="23" name="TableCell"/>
          <p:cNvSpPr txBox="1"/>
          <p:nvPr/>
        </p:nvSpPr>
        <p:spPr>
          <a:xfrm>
            <a:off x="822960" y="2743200"/>
            <a:ext cx="3520440" cy="8001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使用方式</a:t>
            </a:r>
            <a:endParaRPr lang="zh-CN" altLang="en-US" sz="1120"/>
          </a:p>
        </p:txBody>
      </p:sp>
      <p:sp>
        <p:nvSpPr>
          <p:cNvPr id="24" name="TableCell"/>
          <p:cNvSpPr txBox="1"/>
          <p:nvPr/>
        </p:nvSpPr>
        <p:spPr>
          <a:xfrm>
            <a:off x="4343400" y="2743200"/>
            <a:ext cx="3520440" cy="8001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离线预测评估</a:t>
            </a:r>
            <a:endParaRPr lang="zh-CN" altLang="en-US" sz="1120"/>
          </a:p>
        </p:txBody>
      </p:sp>
      <p:sp>
        <p:nvSpPr>
          <p:cNvPr id="25" name="TableCell"/>
          <p:cNvSpPr txBox="1"/>
          <p:nvPr/>
        </p:nvSpPr>
        <p:spPr>
          <a:xfrm>
            <a:off x="7863840" y="2743200"/>
            <a:ext cx="3520440" cy="8001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在线反复推演</a:t>
            </a:r>
            <a:endParaRPr lang="zh-CN" altLang="en-US" sz="1120"/>
          </a:p>
        </p:txBody>
      </p:sp>
      <p:sp>
        <p:nvSpPr>
          <p:cNvPr id="26" name="TableCell"/>
          <p:cNvSpPr txBox="1"/>
          <p:nvPr/>
        </p:nvSpPr>
        <p:spPr>
          <a:xfrm>
            <a:off x="822960" y="3543300"/>
            <a:ext cx="3520440" cy="8001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关键问题</a:t>
            </a:r>
            <a:endParaRPr lang="zh-CN" altLang="en-US" sz="1120"/>
          </a:p>
        </p:txBody>
      </p:sp>
      <p:sp>
        <p:nvSpPr>
          <p:cNvPr id="27" name="TableCell"/>
          <p:cNvSpPr txBox="1"/>
          <p:nvPr/>
        </p:nvSpPr>
        <p:spPr>
          <a:xfrm>
            <a:off x="4343400" y="3543300"/>
            <a:ext cx="3520440" cy="8001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预测是否准确</a:t>
            </a:r>
            <a:endParaRPr lang="zh-CN" altLang="en-US" sz="1120"/>
          </a:p>
        </p:txBody>
      </p:sp>
      <p:sp>
        <p:nvSpPr>
          <p:cNvPr id="28" name="TableCell"/>
          <p:cNvSpPr txBox="1"/>
          <p:nvPr/>
        </p:nvSpPr>
        <p:spPr>
          <a:xfrm>
            <a:off x="7863840" y="3543300"/>
            <a:ext cx="3520440" cy="8001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候选轨迹哪条代价最低</a:t>
            </a:r>
            <a:endParaRPr lang="zh-CN" altLang="en-US" sz="1120"/>
          </a:p>
        </p:txBody>
      </p:sp>
      <p:sp>
        <p:nvSpPr>
          <p:cNvPr id="29" name="Text"/>
          <p:cNvSpPr txBox="1"/>
          <p:nvPr/>
        </p:nvSpPr>
        <p:spPr>
          <a:xfrm>
            <a:off x="1143000" y="4709160"/>
            <a:ext cx="9921240" cy="658368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5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本项目的核心是：把世界模型放入规划闭环，而不止停留在模型拟合。</a:t>
            </a:r>
            <a:endParaRPr lang="zh-CN" altLang="en-US" sz="15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项目数据总览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4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1_dataset_inventory.png" descr="01_dataset_inven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64831"/>
            <a:ext cx="6309360" cy="3508882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机理单步数据：30,000 行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机理时序数据：16,000 行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原始状态转移：13,070 行</a:t>
            </a:r>
            <a:endParaRPr lang="zh-CN" altLang="en-US" sz="1120"/>
          </a:p>
        </p:txBody>
      </p:sp>
      <p:sp>
        <p:nvSpPr>
          <p:cNvPr id="22" name="Text"/>
          <p:cNvSpPr txBox="1"/>
          <p:nvPr/>
        </p:nvSpPr>
        <p:spPr>
          <a:xfrm>
            <a:off x="7315200" y="3575304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训练数据：10,924 行</a:t>
            </a:r>
            <a:endParaRPr lang="zh-CN" altLang="en-US" sz="11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端到端工程流程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5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ext"/>
          <p:cNvSpPr txBox="1"/>
          <p:nvPr/>
        </p:nvSpPr>
        <p:spPr>
          <a:xfrm>
            <a:off x="731520" y="1828800"/>
            <a:ext cx="2240280" cy="1097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0F6B75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机理模型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可复现基线</a:t>
            </a:r>
            <a:endParaRPr lang="zh-CN" altLang="en-US" sz="980"/>
          </a:p>
        </p:txBody>
      </p:sp>
      <p:cxnSp>
        <p:nvCxnSpPr>
          <p:cNvPr id="18" name="Line"/>
          <p:cNvCxnSpPr/>
          <p:nvPr/>
        </p:nvCxnSpPr>
        <p:spPr>
          <a:xfrm>
            <a:off x="2971800" y="2377440"/>
            <a:ext cx="429768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19" name="Text"/>
          <p:cNvSpPr txBox="1"/>
          <p:nvPr/>
        </p:nvSpPr>
        <p:spPr>
          <a:xfrm>
            <a:off x="3520440" y="1828800"/>
            <a:ext cx="2240280" cy="1097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高保真伪真实数据</a:t>
            </a:r>
            <a:endParaRPr lang="zh-CN" altLang="en-US" sz="980"/>
          </a:p>
        </p:txBody>
      </p:sp>
      <p:cxnSp>
        <p:nvCxnSpPr>
          <p:cNvPr id="20" name="Line"/>
          <p:cNvCxnSpPr/>
          <p:nvPr/>
        </p:nvCxnSpPr>
        <p:spPr>
          <a:xfrm>
            <a:off x="5760720" y="2377440"/>
            <a:ext cx="429768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21" name="Text"/>
          <p:cNvSpPr txBox="1"/>
          <p:nvPr/>
        </p:nvSpPr>
        <p:spPr>
          <a:xfrm>
            <a:off x="6309360" y="1828800"/>
            <a:ext cx="2240280" cy="1097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7D5C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2F7D5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GRU-PINN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底盘世界模型</a:t>
            </a:r>
            <a:endParaRPr lang="zh-CN" altLang="en-US" sz="980"/>
          </a:p>
        </p:txBody>
      </p:sp>
      <p:cxnSp>
        <p:nvCxnSpPr>
          <p:cNvPr id="22" name="Line"/>
          <p:cNvCxnSpPr/>
          <p:nvPr/>
        </p:nvCxnSpPr>
        <p:spPr>
          <a:xfrm>
            <a:off x="8549640" y="2377440"/>
            <a:ext cx="429768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23" name="Text"/>
          <p:cNvSpPr txBox="1"/>
          <p:nvPr/>
        </p:nvSpPr>
        <p:spPr>
          <a:xfrm>
            <a:off x="9098280" y="1828800"/>
            <a:ext cx="2240280" cy="1097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9E1B32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采样式 MPC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上层决策规划器</a:t>
            </a:r>
            <a:endParaRPr lang="zh-CN" altLang="en-US" sz="980"/>
          </a:p>
        </p:txBody>
      </p:sp>
      <p:sp>
        <p:nvSpPr>
          <p:cNvPr id="24" name="Text"/>
          <p:cNvSpPr txBox="1"/>
          <p:nvPr/>
        </p:nvSpPr>
        <p:spPr>
          <a:xfrm>
            <a:off x="1051560" y="3977640"/>
            <a:ext cx="9875520" cy="77724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环境 → 数据集 → 世界模型 → 规划器：四层结构支撑后续替换与扩展</a:t>
            </a:r>
            <a:endParaRPr lang="zh-CN" alt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机理基线方程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"/>
              <p:cNvSpPr txBox="1"/>
              <p:nvPr/>
            </p:nvSpPr>
            <p:spPr>
              <a:xfrm>
                <a:off x="868680" y="1234440"/>
                <a:ext cx="681228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52" tIns="73152" rIns="73152" bIns="73152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𝑏𝑟𝑎𝑘𝑒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𝑘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𝑃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1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1234440"/>
                <a:ext cx="6812280" cy="658368"/>
              </a:xfrm>
              <a:prstGeom prst="roundRect">
                <a:avLst/>
              </a:prstGeom>
              <a:blipFill rotWithShape="1">
                <a:blip r:embed="rId1"/>
                <a:stretch>
                  <a:fillRect l="-75" t="-772" r="-65" b="-694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"/>
              <p:cNvSpPr txBox="1"/>
              <p:nvPr/>
            </p:nvSpPr>
            <p:spPr>
              <a:xfrm>
                <a:off x="868680" y="2130552"/>
                <a:ext cx="681228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52" tIns="73152" rIns="73152" bIns="73152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𝑎𝑐𝑡𝑢𝑎𝑙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𝑚𝑖𝑛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𝑏𝑟𝑎𝑘𝑒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𝑔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1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130552"/>
                <a:ext cx="6812280" cy="658368"/>
              </a:xfrm>
              <a:prstGeom prst="roundRect">
                <a:avLst/>
              </a:prstGeom>
              <a:blipFill rotWithShape="1">
                <a:blip r:embed="rId2"/>
                <a:stretch>
                  <a:fillRect l="-75" t="-791" r="-65" b="-675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868680" y="3026664"/>
                <a:ext cx="681228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52" tIns="73152" rIns="73152" bIns="73152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𝑎𝑐𝑡𝑢𝑎𝑙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/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026664"/>
                <a:ext cx="6812280" cy="658368"/>
              </a:xfrm>
              <a:prstGeom prst="roundRect">
                <a:avLst/>
              </a:prstGeom>
              <a:blipFill rotWithShape="1">
                <a:blip r:embed="rId3"/>
                <a:stretch>
                  <a:fillRect l="-75" t="-810" r="-65" b="-656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"/>
              <p:cNvSpPr txBox="1"/>
              <p:nvPr/>
            </p:nvSpPr>
            <p:spPr>
              <a:xfrm>
                <a:off x="868680" y="3922776"/>
                <a:ext cx="681228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52" tIns="73152" rIns="73152" bIns="73152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𝑚𝑎𝑥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𝑣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+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𝑡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2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922776"/>
                <a:ext cx="6812280" cy="658368"/>
              </a:xfrm>
              <a:prstGeom prst="roundRect">
                <a:avLst/>
              </a:prstGeom>
              <a:blipFill rotWithShape="1">
                <a:blip r:embed="rId4"/>
                <a:stretch>
                  <a:fillRect l="-75" t="-733" r="-65" b="-637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ableCell"/>
          <p:cNvSpPr txBox="1"/>
          <p:nvPr/>
        </p:nvSpPr>
        <p:spPr>
          <a:xfrm>
            <a:off x="8092440" y="1234440"/>
            <a:ext cx="1531620" cy="722376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参数</a:t>
            </a:r>
            <a:endParaRPr lang="zh-CN" altLang="en-US" sz="1150"/>
          </a:p>
        </p:txBody>
      </p:sp>
      <p:sp>
        <p:nvSpPr>
          <p:cNvPr id="22" name="TableCell"/>
          <p:cNvSpPr txBox="1"/>
          <p:nvPr/>
        </p:nvSpPr>
        <p:spPr>
          <a:xfrm>
            <a:off x="9624060" y="1234440"/>
            <a:ext cx="1531620" cy="722376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含义</a:t>
            </a:r>
            <a:endParaRPr lang="zh-CN" altLang="en-US" sz="1150"/>
          </a:p>
        </p:txBody>
      </p:sp>
      <p:sp>
        <p:nvSpPr>
          <p:cNvPr id="23" name="TableCell"/>
          <p:cNvSpPr txBox="1"/>
          <p:nvPr/>
        </p:nvSpPr>
        <p:spPr>
          <a:xfrm>
            <a:off x="8092440" y="1956816"/>
            <a:ext cx="1531620" cy="7223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P</a:t>
            </a:r>
            <a:endParaRPr lang="zh-CN" altLang="en-US" sz="1150"/>
          </a:p>
        </p:txBody>
      </p:sp>
      <p:sp>
        <p:nvSpPr>
          <p:cNvPr id="24" name="TableCell"/>
          <p:cNvSpPr txBox="1"/>
          <p:nvPr/>
        </p:nvSpPr>
        <p:spPr>
          <a:xfrm>
            <a:off x="9624060" y="1956816"/>
            <a:ext cx="1531620" cy="7223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主缸压力</a:t>
            </a:r>
            <a:endParaRPr lang="zh-CN" altLang="en-US" sz="1150"/>
          </a:p>
        </p:txBody>
      </p:sp>
      <p:sp>
        <p:nvSpPr>
          <p:cNvPr id="25" name="TableCell"/>
          <p:cNvSpPr txBox="1"/>
          <p:nvPr/>
        </p:nvSpPr>
        <p:spPr>
          <a:xfrm>
            <a:off x="8092440" y="2679192"/>
            <a:ext cx="1531620" cy="7223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μ</a:t>
            </a:r>
            <a:endParaRPr lang="zh-CN" altLang="en-US" sz="1150"/>
          </a:p>
        </p:txBody>
      </p:sp>
      <p:sp>
        <p:nvSpPr>
          <p:cNvPr id="26" name="TableCell"/>
          <p:cNvSpPr txBox="1"/>
          <p:nvPr/>
        </p:nvSpPr>
        <p:spPr>
          <a:xfrm>
            <a:off x="9624060" y="2679192"/>
            <a:ext cx="1531620" cy="7223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路面附着</a:t>
            </a:r>
            <a:endParaRPr lang="zh-CN" altLang="en-US" sz="1150"/>
          </a:p>
        </p:txBody>
      </p:sp>
      <p:sp>
        <p:nvSpPr>
          <p:cNvPr id="27" name="TableCell"/>
          <p:cNvSpPr txBox="1"/>
          <p:nvPr/>
        </p:nvSpPr>
        <p:spPr>
          <a:xfrm>
            <a:off x="8092440" y="3401568"/>
            <a:ext cx="1531620" cy="7223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</a:t>
            </a:r>
            <a:endParaRPr lang="zh-CN" altLang="en-US" sz="1150"/>
          </a:p>
        </p:txBody>
      </p:sp>
      <p:sp>
        <p:nvSpPr>
          <p:cNvPr id="28" name="TableCell"/>
          <p:cNvSpPr txBox="1"/>
          <p:nvPr/>
        </p:nvSpPr>
        <p:spPr>
          <a:xfrm>
            <a:off x="9624060" y="3401568"/>
            <a:ext cx="1531620" cy="7223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整车质量</a:t>
            </a:r>
            <a:endParaRPr lang="zh-CN" altLang="en-US" sz="1150"/>
          </a:p>
        </p:txBody>
      </p:sp>
      <p:sp>
        <p:nvSpPr>
          <p:cNvPr id="29" name="TableCell"/>
          <p:cNvSpPr txBox="1"/>
          <p:nvPr/>
        </p:nvSpPr>
        <p:spPr>
          <a:xfrm>
            <a:off x="8092440" y="4123944"/>
            <a:ext cx="1531620" cy="7223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Δt</a:t>
            </a:r>
            <a:endParaRPr lang="zh-CN" altLang="en-US" sz="1150"/>
          </a:p>
        </p:txBody>
      </p:sp>
      <p:sp>
        <p:nvSpPr>
          <p:cNvPr id="30" name="TableCell"/>
          <p:cNvSpPr txBox="1"/>
          <p:nvPr/>
        </p:nvSpPr>
        <p:spPr>
          <a:xfrm>
            <a:off x="9624060" y="4123944"/>
            <a:ext cx="1531620" cy="7223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采样周期</a:t>
            </a:r>
            <a:endParaRPr lang="zh-CN" altLang="en-US" sz="1150"/>
          </a:p>
        </p:txBody>
      </p:sp>
      <p:sp>
        <p:nvSpPr>
          <p:cNvPr id="31" name="Text"/>
          <p:cNvSpPr txBox="1"/>
          <p:nvPr/>
        </p:nvSpPr>
        <p:spPr>
          <a:xfrm>
            <a:off x="868680" y="5074920"/>
            <a:ext cx="10287000" cy="502920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36576" tIns="36576" rIns="36576" bIns="36576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机理基线提供可解释约束，也是规划器的最小可运行动力学环境。</a:t>
            </a:r>
            <a:endParaRPr lang="zh-CN" alt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机理数据覆盖范围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7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2_mechanism_dataset_coverage.png" descr="02_mechanism_dataset_cover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7265"/>
            <a:ext cx="6309360" cy="2904014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速度覆盖：约 20-120 km/h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压力覆盖：0-10 MPa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附着覆盖：0.2 / 0.4 / 0.6 / 0.8</a:t>
            </a:r>
            <a:endParaRPr lang="zh-CN" altLang="en-US" sz="11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路面附着限制下的制动响应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8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3_mechanism_pressure_mu_response.png" descr="03_mechanism_pressure_mu_respon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91593"/>
            <a:ext cx="6309360" cy="4055357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压力增加只在未饱和前提升减速度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低附着路面更早达到制动上限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该规律为模型提供可解释物理先验</a:t>
            </a:r>
            <a:endParaRPr lang="zh-CN" altLang="en-US" sz="11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MLP 基线预测结果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9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580644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results/prediction_compare.png" descr="results/prediction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6963"/>
            <a:ext cx="5715000" cy="4284617"/>
          </a:xfrm>
          <a:prstGeom prst="rect">
            <a:avLst/>
          </a:prstGeom>
        </p:spPr>
      </p:pic>
      <p:sp>
        <p:nvSpPr>
          <p:cNvPr id="19" name="TableCell"/>
          <p:cNvSpPr txBox="1"/>
          <p:nvPr/>
        </p:nvSpPr>
        <p:spPr>
          <a:xfrm>
            <a:off x="6629400" y="1170432"/>
            <a:ext cx="1131570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output</a:t>
            </a:r>
            <a:endParaRPr lang="zh-CN" altLang="en-US" sz="760"/>
          </a:p>
        </p:txBody>
      </p:sp>
      <p:sp>
        <p:nvSpPr>
          <p:cNvPr id="20" name="TableCell"/>
          <p:cNvSpPr txBox="1"/>
          <p:nvPr/>
        </p:nvSpPr>
        <p:spPr>
          <a:xfrm>
            <a:off x="7760970" y="1170432"/>
            <a:ext cx="1131570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mse</a:t>
            </a:r>
            <a:endParaRPr lang="zh-CN" altLang="en-US" sz="760"/>
          </a:p>
        </p:txBody>
      </p:sp>
      <p:sp>
        <p:nvSpPr>
          <p:cNvPr id="21" name="TableCell"/>
          <p:cNvSpPr txBox="1"/>
          <p:nvPr/>
        </p:nvSpPr>
        <p:spPr>
          <a:xfrm>
            <a:off x="8892540" y="1170432"/>
            <a:ext cx="1131570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mae</a:t>
            </a:r>
            <a:endParaRPr lang="zh-CN" altLang="en-US" sz="760"/>
          </a:p>
        </p:txBody>
      </p:sp>
      <p:sp>
        <p:nvSpPr>
          <p:cNvPr id="22" name="TableCell"/>
          <p:cNvSpPr txBox="1"/>
          <p:nvPr/>
        </p:nvSpPr>
        <p:spPr>
          <a:xfrm>
            <a:off x="10024110" y="1170432"/>
            <a:ext cx="1131570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r2</a:t>
            </a:r>
            <a:endParaRPr lang="zh-CN" altLang="en-US" sz="760"/>
          </a:p>
        </p:txBody>
      </p:sp>
      <p:sp>
        <p:nvSpPr>
          <p:cNvPr id="23" name="TableCell"/>
          <p:cNvSpPr txBox="1"/>
          <p:nvPr/>
        </p:nvSpPr>
        <p:spPr>
          <a:xfrm>
            <a:off x="6629400" y="1932432"/>
            <a:ext cx="1131570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v_next</a:t>
            </a:r>
            <a:endParaRPr lang="zh-CN" altLang="en-US" sz="760"/>
          </a:p>
        </p:txBody>
      </p:sp>
      <p:sp>
        <p:nvSpPr>
          <p:cNvPr id="24" name="TableCell"/>
          <p:cNvSpPr txBox="1"/>
          <p:nvPr/>
        </p:nvSpPr>
        <p:spPr>
          <a:xfrm>
            <a:off x="7760970" y="1932432"/>
            <a:ext cx="1131570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0.000433839452664508</a:t>
            </a:r>
            <a:endParaRPr lang="zh-CN" altLang="en-US" sz="760"/>
          </a:p>
        </p:txBody>
      </p:sp>
      <p:sp>
        <p:nvSpPr>
          <p:cNvPr id="25" name="TableCell"/>
          <p:cNvSpPr txBox="1"/>
          <p:nvPr/>
        </p:nvSpPr>
        <p:spPr>
          <a:xfrm>
            <a:off x="8892540" y="1932432"/>
            <a:ext cx="1131570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0.0185269870071398</a:t>
            </a:r>
            <a:endParaRPr lang="zh-CN" altLang="en-US" sz="760"/>
          </a:p>
        </p:txBody>
      </p:sp>
      <p:sp>
        <p:nvSpPr>
          <p:cNvPr id="26" name="TableCell"/>
          <p:cNvSpPr txBox="1"/>
          <p:nvPr/>
        </p:nvSpPr>
        <p:spPr>
          <a:xfrm>
            <a:off x="10024110" y="1932432"/>
            <a:ext cx="1131570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0.999994463161941</a:t>
            </a:r>
            <a:endParaRPr lang="zh-CN" altLang="en-US" sz="760"/>
          </a:p>
        </p:txBody>
      </p:sp>
      <p:sp>
        <p:nvSpPr>
          <p:cNvPr id="27" name="TableCell"/>
          <p:cNvSpPr txBox="1"/>
          <p:nvPr/>
        </p:nvSpPr>
        <p:spPr>
          <a:xfrm>
            <a:off x="6629400" y="2694432"/>
            <a:ext cx="1131570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a_next</a:t>
            </a:r>
            <a:endParaRPr lang="zh-CN" altLang="en-US" sz="760"/>
          </a:p>
        </p:txBody>
      </p:sp>
      <p:sp>
        <p:nvSpPr>
          <p:cNvPr id="28" name="TableCell"/>
          <p:cNvSpPr txBox="1"/>
          <p:nvPr/>
        </p:nvSpPr>
        <p:spPr>
          <a:xfrm>
            <a:off x="7760970" y="2694432"/>
            <a:ext cx="1131570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1.04613970274565e-05</a:t>
            </a:r>
            <a:endParaRPr lang="zh-CN" altLang="en-US" sz="760"/>
          </a:p>
        </p:txBody>
      </p:sp>
      <p:sp>
        <p:nvSpPr>
          <p:cNvPr id="29" name="TableCell"/>
          <p:cNvSpPr txBox="1"/>
          <p:nvPr/>
        </p:nvSpPr>
        <p:spPr>
          <a:xfrm>
            <a:off x="8892540" y="2694432"/>
            <a:ext cx="1131570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0.00276958528558822</a:t>
            </a:r>
            <a:endParaRPr lang="zh-CN" altLang="en-US" sz="760"/>
          </a:p>
        </p:txBody>
      </p:sp>
      <p:sp>
        <p:nvSpPr>
          <p:cNvPr id="30" name="TableCell"/>
          <p:cNvSpPr txBox="1"/>
          <p:nvPr/>
        </p:nvSpPr>
        <p:spPr>
          <a:xfrm>
            <a:off x="10024110" y="2694432"/>
            <a:ext cx="1131570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0.999997936571855</a:t>
            </a:r>
            <a:endParaRPr lang="zh-CN" altLang="en-US" sz="760"/>
          </a:p>
        </p:txBody>
      </p:sp>
      <p:sp>
        <p:nvSpPr>
          <p:cNvPr id="31" name="Text"/>
          <p:cNvSpPr txBox="1"/>
          <p:nvPr/>
        </p:nvSpPr>
        <p:spPr>
          <a:xfrm>
            <a:off x="6720840" y="3703320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单步动力学可以被准确学习</a:t>
            </a:r>
            <a:endParaRPr lang="zh-CN" altLang="en-US" sz="820"/>
          </a:p>
        </p:txBody>
      </p:sp>
      <p:sp>
        <p:nvSpPr>
          <p:cNvPr id="32" name="Text"/>
          <p:cNvSpPr txBox="1"/>
          <p:nvPr/>
        </p:nvSpPr>
        <p:spPr>
          <a:xfrm>
            <a:off x="6720840" y="4233672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MLP 验证了数据生成、归一化和推理链路</a:t>
            </a:r>
            <a:endParaRPr lang="zh-CN" altLang="en-US" sz="820"/>
          </a:p>
        </p:txBody>
      </p:sp>
      <p:sp>
        <p:nvSpPr>
          <p:cNvPr id="33" name="Text"/>
          <p:cNvSpPr txBox="1"/>
          <p:nvPr/>
        </p:nvSpPr>
        <p:spPr>
          <a:xfrm>
            <a:off x="6720840" y="4764024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局限：没有显式历史依赖</a:t>
            </a:r>
            <a:endParaRPr lang="zh-CN" altLang="en-US" sz="8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统一数据字段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10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"/>
              <p:cNvSpPr txBox="1"/>
              <p:nvPr/>
            </p:nvSpPr>
            <p:spPr>
              <a:xfrm>
                <a:off x="914400" y="1325880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𝑡𝑟𝑎𝑗𝑒𝑐𝑡𝑜𝑟𝑦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25880"/>
                <a:ext cx="2971800" cy="658368"/>
              </a:xfrm>
              <a:prstGeom prst="roundRect">
                <a:avLst/>
              </a:prstGeom>
              <a:blipFill rotWithShape="1">
                <a:blip r:embed="rId1"/>
                <a:stretch>
                  <a:fillRect l="-171" t="-772" r="-150" b="-694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"/>
              <p:cNvSpPr txBox="1"/>
              <p:nvPr/>
            </p:nvSpPr>
            <p:spPr>
              <a:xfrm>
                <a:off x="4434840" y="1325880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245C8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𝑠𝑡𝑒𝑝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0" y="1325880"/>
                <a:ext cx="2971800" cy="658368"/>
              </a:xfrm>
              <a:prstGeom prst="roundRect">
                <a:avLst/>
              </a:prstGeom>
              <a:blipFill rotWithShape="1">
                <a:blip r:embed="rId2"/>
                <a:stretch>
                  <a:fillRect l="-171" t="-772" r="-150" b="-694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7955280" y="1325880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𝑡𝑖𝑚𝑒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0" y="1325880"/>
                <a:ext cx="2971800" cy="658368"/>
              </a:xfrm>
              <a:prstGeom prst="roundRect">
                <a:avLst/>
              </a:prstGeom>
              <a:blipFill rotWithShape="1">
                <a:blip r:embed="rId3"/>
                <a:stretch>
                  <a:fillRect l="-171" t="-772" r="-150" b="-694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"/>
              <p:cNvSpPr txBox="1"/>
              <p:nvPr/>
            </p:nvSpPr>
            <p:spPr>
              <a:xfrm>
                <a:off x="914400" y="2359152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59152"/>
                <a:ext cx="2971800" cy="658368"/>
              </a:xfrm>
              <a:prstGeom prst="roundRect">
                <a:avLst/>
              </a:prstGeom>
              <a:blipFill rotWithShape="1">
                <a:blip r:embed="rId4"/>
                <a:stretch>
                  <a:fillRect l="-171" t="-791" r="-150" b="-675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"/>
              <p:cNvSpPr txBox="1"/>
              <p:nvPr/>
            </p:nvSpPr>
            <p:spPr>
              <a:xfrm>
                <a:off x="4434840" y="2359152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0" y="2359152"/>
                <a:ext cx="2971800" cy="658368"/>
              </a:xfrm>
              <a:prstGeom prst="roundRect">
                <a:avLst/>
              </a:prstGeom>
              <a:blipFill rotWithShape="1">
                <a:blip r:embed="rId5"/>
                <a:stretch>
                  <a:fillRect l="-171" t="-791" r="-150" b="-675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"/>
              <p:cNvSpPr txBox="1"/>
              <p:nvPr/>
            </p:nvSpPr>
            <p:spPr>
              <a:xfrm>
                <a:off x="7955280" y="2359152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𝑝𝑟𝑒𝑠𝑠𝑢𝑟𝑒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𝑀𝑃𝑎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0" y="2359152"/>
                <a:ext cx="2971800" cy="658368"/>
              </a:xfrm>
              <a:prstGeom prst="roundRect">
                <a:avLst/>
              </a:prstGeom>
              <a:blipFill rotWithShape="1">
                <a:blip r:embed="rId6"/>
                <a:stretch>
                  <a:fillRect l="-171" t="-791" r="-150" b="-675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"/>
              <p:cNvSpPr txBox="1"/>
              <p:nvPr/>
            </p:nvSpPr>
            <p:spPr>
              <a:xfrm>
                <a:off x="914400" y="3392424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392424"/>
                <a:ext cx="2971800" cy="658368"/>
              </a:xfrm>
              <a:prstGeom prst="roundRect">
                <a:avLst/>
              </a:prstGeom>
              <a:blipFill rotWithShape="1">
                <a:blip r:embed="rId7"/>
                <a:stretch>
                  <a:fillRect l="-171" t="-810" r="-150" b="-656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"/>
              <p:cNvSpPr txBox="1"/>
              <p:nvPr/>
            </p:nvSpPr>
            <p:spPr>
              <a:xfrm>
                <a:off x="4434840" y="3392424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0" y="3392424"/>
                <a:ext cx="2971800" cy="658368"/>
              </a:xfrm>
              <a:prstGeom prst="roundRect">
                <a:avLst/>
              </a:prstGeom>
              <a:blipFill rotWithShape="1">
                <a:blip r:embed="rId8"/>
                <a:stretch>
                  <a:fillRect l="-171" t="-810" r="-150" b="-656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"/>
              <p:cNvSpPr txBox="1"/>
              <p:nvPr/>
            </p:nvSpPr>
            <p:spPr>
              <a:xfrm>
                <a:off x="7955280" y="3392424"/>
                <a:ext cx="2971800" cy="658368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0" y="3392424"/>
                <a:ext cx="2971800" cy="658368"/>
              </a:xfrm>
              <a:prstGeom prst="roundRect">
                <a:avLst/>
              </a:prstGeom>
              <a:blipFill rotWithShape="1">
                <a:blip r:embed="rId9"/>
                <a:stretch>
                  <a:fillRect l="-171" t="-810" r="-150" b="-656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"/>
          <p:cNvSpPr txBox="1"/>
          <p:nvPr/>
        </p:nvSpPr>
        <p:spPr>
          <a:xfrm>
            <a:off x="960120" y="4681728"/>
            <a:ext cx="10012680" cy="6858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附加字段可以保留，但训练接口只依赖统一输入输出字段。</a:t>
            </a:r>
            <a:endParaRPr lang="zh-CN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时序建模数据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4_mechanism_sequence_examples.png" descr="04_mechanism_sequence_examp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082" y="1078992"/>
            <a:ext cx="5168796" cy="4480560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输入变为最近 K 个时间步</a:t>
            </a:r>
            <a:endParaRPr lang="zh-CN" alt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"/>
              <p:cNvSpPr txBox="1"/>
              <p:nvPr/>
            </p:nvSpPr>
            <p:spPr>
              <a:xfrm>
                <a:off x="7315200" y="2002536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默认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𝐾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5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2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002536"/>
                <a:ext cx="3703320" cy="530352"/>
              </a:xfrm>
              <a:prstGeom prst="roundRect">
                <a:avLst/>
              </a:prstGeom>
              <a:blipFill rotWithShape="1">
                <a:blip r:embed="rId2"/>
                <a:stretch>
                  <a:fillRect l="-137" t="-910" r="-120" b="-862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特征：速度、加速度、压力、附着</a:t>
            </a:r>
            <a:endParaRPr lang="zh-CN" altLang="en-US" sz="1120"/>
          </a:p>
        </p:txBody>
      </p:sp>
      <p:sp>
        <p:nvSpPr>
          <p:cNvPr id="22" name="Text"/>
          <p:cNvSpPr txBox="1"/>
          <p:nvPr/>
        </p:nvSpPr>
        <p:spPr>
          <a:xfrm>
            <a:off x="7315200" y="3575304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目标：下一时刻速度和加速度</a:t>
            </a:r>
            <a:endParaRPr lang="zh-CN" altLang="en-US" sz="11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联合仿真接口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12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"/>
              <p:cNvSpPr txBox="1"/>
              <p:nvPr/>
            </p:nvSpPr>
            <p:spPr>
              <a:xfrm>
                <a:off x="868680" y="1828800"/>
                <a:ext cx="3063240" cy="1234440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73152" tIns="73152" rIns="73152" bIns="73152" anchor="ctr">
                <a:normAutofit fontScale="90000" lnSpcReduction="12000"/>
              </a:bodyPr>
              <a:lstStyle/>
              <a:p>
                <a:pPr algn="ctr"/>
                <a:r>
                  <a:rPr lang="zh-CN" altLang="en-US" sz="1500" b="1" dirty="0" smtClean="0">
                    <a:solidFill>
                      <a:srgbClr val="0F6B75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rPr>
                  <a:t>Simulink</a:t>
                </a:r>
                <a:endParaRPr lang="zh-CN" altLang="en-US" sz="150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𝐼𝑀𝑃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𝑃𝐵𝐾</m:t>
                          </m:r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𝐿</m:t>
                          </m:r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𝐿</m:t>
                      </m:r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</m:t>
                      </m:r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1</m:t>
                      </m:r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</m:t>
                      </m:r>
                      <m:r>
                        <a:rPr lang="en-US" sz="13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</m:oMath>
                  </m:oMathPara>
                </a14:m>
                <a:endParaRPr lang="en-US" sz="1350"/>
              </a:p>
            </p:txBody>
          </p:sp>
        </mc:Choice>
        <mc:Fallback>
          <p:sp>
            <p:nvSpPr>
              <p:cNvPr id="1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1828800"/>
                <a:ext cx="3063240" cy="1234440"/>
              </a:xfrm>
              <a:prstGeom prst="roundRect">
                <a:avLst/>
              </a:prstGeom>
              <a:blipFill rotWithShape="1">
                <a:blip r:embed="rId1"/>
                <a:stretch>
                  <a:fillRect l="-166" t="-412" r="-145" b="-360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Line"/>
          <p:cNvCxnSpPr/>
          <p:nvPr/>
        </p:nvCxnSpPr>
        <p:spPr>
          <a:xfrm>
            <a:off x="3931920" y="2450592"/>
            <a:ext cx="548640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19" name="Text"/>
          <p:cNvSpPr txBox="1"/>
          <p:nvPr/>
        </p:nvSpPr>
        <p:spPr>
          <a:xfrm>
            <a:off x="4663440" y="1828800"/>
            <a:ext cx="3063240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VehicleSim S-Function</a:t>
            </a:r>
            <a:endParaRPr lang="zh-CN" altLang="en-US" sz="1500"/>
          </a:p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高保真车辆响应</a:t>
            </a:r>
            <a:endParaRPr lang="zh-CN" altLang="en-US" sz="1150"/>
          </a:p>
        </p:txBody>
      </p:sp>
      <p:cxnSp>
        <p:nvCxnSpPr>
          <p:cNvPr id="20" name="Line"/>
          <p:cNvCxnSpPr/>
          <p:nvPr/>
        </p:nvCxnSpPr>
        <p:spPr>
          <a:xfrm>
            <a:off x="7726680" y="2450592"/>
            <a:ext cx="548640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21" name="Text"/>
          <p:cNvSpPr txBox="1"/>
          <p:nvPr/>
        </p:nvSpPr>
        <p:spPr>
          <a:xfrm>
            <a:off x="8458200" y="1828800"/>
            <a:ext cx="3063240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9E1B32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训练样本</a:t>
            </a:r>
            <a:endParaRPr lang="zh-CN" altLang="en-US" sz="1500"/>
          </a:p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Vx_SM / Ax_SM</a:t>
            </a:r>
            <a:endParaRPr lang="zh-CN" altLang="en-US" sz="11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"/>
              <p:cNvSpPr txBox="1"/>
              <p:nvPr/>
            </p:nvSpPr>
            <p:spPr>
              <a:xfrm>
                <a:off x="1828800" y="4160520"/>
                <a:ext cx="8458200" cy="603504"/>
              </a:xfrm>
              <a:prstGeom prst="roundRect">
                <a:avLst/>
              </a:prstGeom>
              <a:solidFill>
                <a:srgbClr val="EEF6F8"/>
              </a:solidFill>
              <a:ln w="9000">
                <a:solidFill>
                  <a:srgbClr val="BFDDE2"/>
                </a:solidFill>
              </a:ln>
            </p:spPr>
            <p:txBody>
              <a:bodyPr wrap="square" lIns="36576" tIns="36576" rIns="36576" bIns="36576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𝑆𝐼𝑀𝐹𝐼𝐿𝐸</m:t>
                      </m:r>
                      <m:r>
                        <a:rPr lang="en-US" sz="16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切换 </m:t>
                      </m:r>
                      <m:r>
                        <a:rPr lang="en-US" sz="16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𝐶𝑎𝑟𝑆𝑖𝑚</m:t>
                      </m:r>
                      <m:r>
                        <a:rPr lang="en-US" sz="16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6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𝑅𝑢𝑛</m:t>
                      </m:r>
                      <m:r>
                        <a:rPr lang="en-US" sz="16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；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65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𝑉𝑥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𝑆𝑀</m:t>
                          </m:r>
                        </m:sub>
                      </m:sSub>
                      <m:r>
                        <a:rPr lang="en-US" sz="16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65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𝐴𝑥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𝑆𝑀</m:t>
                          </m:r>
                        </m:sub>
                      </m:sSub>
                      <m:r>
                        <a:rPr lang="en-US" sz="16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状态反馈</m:t>
                      </m:r>
                    </m:oMath>
                  </m:oMathPara>
                </a14:m>
                <a:endParaRPr lang="en-US" sz="1650"/>
              </a:p>
            </p:txBody>
          </p:sp>
        </mc:Choice>
        <mc:Fallback>
          <p:sp>
            <p:nvSpPr>
              <p:cNvPr id="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160520"/>
                <a:ext cx="8458200" cy="603504"/>
              </a:xfrm>
              <a:prstGeom prst="roundRect">
                <a:avLst/>
              </a:prstGeom>
              <a:blipFill rotWithShape="1">
                <a:blip r:embed="rId2"/>
                <a:stretch>
                  <a:fillRect l="-60" t="-842" r="-53" b="-694"/>
                </a:stretch>
              </a:blipFill>
              <a:ln w="9000">
                <a:solidFill>
                  <a:srgbClr val="BFDDE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单工况冒烟测试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13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11_carsim_smoke_trajectory.png" descr="11_carsim_smoke_trajec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63" y="1078992"/>
            <a:ext cx="5148034" cy="44805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7315200" y="1216152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80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𝑘𝑚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ℎ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，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85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，压力 =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𝑀𝑃𝑎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216152"/>
                <a:ext cx="3703320" cy="530352"/>
              </a:xfrm>
              <a:prstGeom prst="roundRect">
                <a:avLst/>
              </a:prstGeom>
              <a:blipFill rotWithShape="1">
                <a:blip r:embed="rId2"/>
                <a:stretch>
                  <a:fillRect l="-137" t="-982" r="-120" b="-790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仿真 2.5 s，2501 个样本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末速度：58.373 km/h</a:t>
            </a:r>
            <a:endParaRPr lang="zh-CN" altLang="en-US" sz="1120"/>
          </a:p>
        </p:txBody>
      </p:sp>
      <p:sp>
        <p:nvSpPr>
          <p:cNvPr id="22" name="Text"/>
          <p:cNvSpPr txBox="1"/>
          <p:nvPr/>
        </p:nvSpPr>
        <p:spPr>
          <a:xfrm>
            <a:off x="7315200" y="3575304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最小加速度：-3.238 m/s²</a:t>
            </a:r>
            <a:endParaRPr lang="zh-CN" altLang="en-US" sz="1120"/>
          </a:p>
        </p:txBody>
      </p:sp>
      <p:sp>
        <p:nvSpPr>
          <p:cNvPr id="23" name="Text"/>
          <p:cNvSpPr txBox="1"/>
          <p:nvPr/>
        </p:nvSpPr>
        <p:spPr>
          <a:xfrm>
            <a:off x="7315200" y="4361688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结果：PASS</a:t>
            </a:r>
            <a:endParaRPr lang="zh-CN" altLang="en-US" sz="11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工况矩阵冒烟测试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14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580644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10_carsim_matrix_smoke.png" descr="10_carsim_matrix_smok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95158"/>
            <a:ext cx="5715000" cy="3648228"/>
          </a:xfrm>
          <a:prstGeom prst="rect">
            <a:avLst/>
          </a:prstGeom>
        </p:spPr>
      </p:pic>
      <p:sp>
        <p:nvSpPr>
          <p:cNvPr id="19" name="TableCell"/>
          <p:cNvSpPr txBox="1"/>
          <p:nvPr/>
        </p:nvSpPr>
        <p:spPr>
          <a:xfrm>
            <a:off x="6629400" y="1170432"/>
            <a:ext cx="905256" cy="326571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case_id</a:t>
            </a:r>
            <a:endParaRPr lang="zh-CN" altLang="en-US" sz="760"/>
          </a:p>
        </p:txBody>
      </p:sp>
      <p:sp>
        <p:nvSpPr>
          <p:cNvPr id="20" name="TableCell"/>
          <p:cNvSpPr txBox="1"/>
          <p:nvPr/>
        </p:nvSpPr>
        <p:spPr>
          <a:xfrm>
            <a:off x="7534656" y="1170432"/>
            <a:ext cx="905256" cy="326571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initial_speed_kph</a:t>
            </a:r>
            <a:endParaRPr lang="zh-CN" altLang="en-US" sz="760"/>
          </a:p>
        </p:txBody>
      </p:sp>
      <p:sp>
        <p:nvSpPr>
          <p:cNvPr id="21" name="TableCell"/>
          <p:cNvSpPr txBox="1"/>
          <p:nvPr/>
        </p:nvSpPr>
        <p:spPr>
          <a:xfrm>
            <a:off x="8439912" y="1170432"/>
            <a:ext cx="905256" cy="326571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mu</a:t>
            </a:r>
            <a:endParaRPr lang="zh-CN" altLang="en-US" sz="760"/>
          </a:p>
        </p:txBody>
      </p:sp>
      <p:sp>
        <p:nvSpPr>
          <p:cNvPr id="22" name="TableCell"/>
          <p:cNvSpPr txBox="1"/>
          <p:nvPr/>
        </p:nvSpPr>
        <p:spPr>
          <a:xfrm>
            <a:off x="9345168" y="1170432"/>
            <a:ext cx="905256" cy="326571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observed_initial_speed_kph</a:t>
            </a:r>
            <a:endParaRPr lang="zh-CN" altLang="en-US" sz="760"/>
          </a:p>
        </p:txBody>
      </p:sp>
      <p:sp>
        <p:nvSpPr>
          <p:cNvPr id="23" name="TableCell"/>
          <p:cNvSpPr txBox="1"/>
          <p:nvPr/>
        </p:nvSpPr>
        <p:spPr>
          <a:xfrm>
            <a:off x="10250424" y="1170432"/>
            <a:ext cx="905256" cy="326571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observed_final_speed_kph</a:t>
            </a:r>
            <a:endParaRPr lang="zh-CN" altLang="en-US" sz="760"/>
          </a:p>
        </p:txBody>
      </p:sp>
      <p:sp>
        <p:nvSpPr>
          <p:cNvPr id="24" name="TableCell"/>
          <p:cNvSpPr txBox="1"/>
          <p:nvPr/>
        </p:nvSpPr>
        <p:spPr>
          <a:xfrm>
            <a:off x="6629400" y="1497003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</a:t>
            </a:r>
            <a:endParaRPr lang="zh-CN" altLang="en-US" sz="760"/>
          </a:p>
        </p:txBody>
      </p:sp>
      <p:sp>
        <p:nvSpPr>
          <p:cNvPr id="25" name="TableCell"/>
          <p:cNvSpPr txBox="1"/>
          <p:nvPr/>
        </p:nvSpPr>
        <p:spPr>
          <a:xfrm>
            <a:off x="7534656" y="1497003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</a:t>
            </a:r>
            <a:endParaRPr lang="zh-CN" altLang="en-US" sz="760"/>
          </a:p>
        </p:txBody>
      </p:sp>
      <p:sp>
        <p:nvSpPr>
          <p:cNvPr id="26" name="TableCell"/>
          <p:cNvSpPr txBox="1"/>
          <p:nvPr/>
        </p:nvSpPr>
        <p:spPr>
          <a:xfrm>
            <a:off x="8439912" y="1497003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0.2</a:t>
            </a:r>
            <a:endParaRPr lang="zh-CN" altLang="en-US" sz="760"/>
          </a:p>
        </p:txBody>
      </p:sp>
      <p:sp>
        <p:nvSpPr>
          <p:cNvPr id="27" name="TableCell"/>
          <p:cNvSpPr txBox="1"/>
          <p:nvPr/>
        </p:nvSpPr>
        <p:spPr>
          <a:xfrm>
            <a:off x="9345168" y="1497003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</a:t>
            </a:r>
            <a:endParaRPr lang="zh-CN" altLang="en-US" sz="760"/>
          </a:p>
        </p:txBody>
      </p:sp>
      <p:sp>
        <p:nvSpPr>
          <p:cNvPr id="28" name="TableCell"/>
          <p:cNvSpPr txBox="1"/>
          <p:nvPr/>
        </p:nvSpPr>
        <p:spPr>
          <a:xfrm>
            <a:off x="10250424" y="1497003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1.38606720993194</a:t>
            </a:r>
            <a:endParaRPr lang="zh-CN" altLang="en-US" sz="760"/>
          </a:p>
        </p:txBody>
      </p:sp>
      <p:sp>
        <p:nvSpPr>
          <p:cNvPr id="29" name="TableCell"/>
          <p:cNvSpPr txBox="1"/>
          <p:nvPr/>
        </p:nvSpPr>
        <p:spPr>
          <a:xfrm>
            <a:off x="6629400" y="1823575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</a:t>
            </a:r>
            <a:endParaRPr lang="zh-CN" altLang="en-US" sz="760"/>
          </a:p>
        </p:txBody>
      </p:sp>
      <p:sp>
        <p:nvSpPr>
          <p:cNvPr id="30" name="TableCell"/>
          <p:cNvSpPr txBox="1"/>
          <p:nvPr/>
        </p:nvSpPr>
        <p:spPr>
          <a:xfrm>
            <a:off x="7534656" y="1823575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</a:t>
            </a:r>
            <a:endParaRPr lang="zh-CN" altLang="en-US" sz="760"/>
          </a:p>
        </p:txBody>
      </p:sp>
      <p:sp>
        <p:nvSpPr>
          <p:cNvPr id="31" name="TableCell"/>
          <p:cNvSpPr txBox="1"/>
          <p:nvPr/>
        </p:nvSpPr>
        <p:spPr>
          <a:xfrm>
            <a:off x="8439912" y="1823575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0.8</a:t>
            </a:r>
            <a:endParaRPr lang="zh-CN" altLang="en-US" sz="760"/>
          </a:p>
        </p:txBody>
      </p:sp>
      <p:sp>
        <p:nvSpPr>
          <p:cNvPr id="32" name="TableCell"/>
          <p:cNvSpPr txBox="1"/>
          <p:nvPr/>
        </p:nvSpPr>
        <p:spPr>
          <a:xfrm>
            <a:off x="9345168" y="1823575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</a:t>
            </a:r>
            <a:endParaRPr lang="zh-CN" altLang="en-US" sz="760"/>
          </a:p>
        </p:txBody>
      </p:sp>
      <p:sp>
        <p:nvSpPr>
          <p:cNvPr id="33" name="TableCell"/>
          <p:cNvSpPr txBox="1"/>
          <p:nvPr/>
        </p:nvSpPr>
        <p:spPr>
          <a:xfrm>
            <a:off x="10250424" y="1823575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-0.0001433758699293</a:t>
            </a:r>
            <a:endParaRPr lang="zh-CN" altLang="en-US" sz="760"/>
          </a:p>
        </p:txBody>
      </p:sp>
      <p:sp>
        <p:nvSpPr>
          <p:cNvPr id="34" name="TableCell"/>
          <p:cNvSpPr txBox="1"/>
          <p:nvPr/>
        </p:nvSpPr>
        <p:spPr>
          <a:xfrm>
            <a:off x="6629400" y="2150146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</a:t>
            </a:r>
            <a:endParaRPr lang="zh-CN" altLang="en-US" sz="760"/>
          </a:p>
        </p:txBody>
      </p:sp>
      <p:sp>
        <p:nvSpPr>
          <p:cNvPr id="35" name="TableCell"/>
          <p:cNvSpPr txBox="1"/>
          <p:nvPr/>
        </p:nvSpPr>
        <p:spPr>
          <a:xfrm>
            <a:off x="7534656" y="2150146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80</a:t>
            </a:r>
            <a:endParaRPr lang="zh-CN" altLang="en-US" sz="760"/>
          </a:p>
        </p:txBody>
      </p:sp>
      <p:sp>
        <p:nvSpPr>
          <p:cNvPr id="36" name="TableCell"/>
          <p:cNvSpPr txBox="1"/>
          <p:nvPr/>
        </p:nvSpPr>
        <p:spPr>
          <a:xfrm>
            <a:off x="8439912" y="2150146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0.2</a:t>
            </a:r>
            <a:endParaRPr lang="zh-CN" altLang="en-US" sz="760"/>
          </a:p>
        </p:txBody>
      </p:sp>
      <p:sp>
        <p:nvSpPr>
          <p:cNvPr id="37" name="TableCell"/>
          <p:cNvSpPr txBox="1"/>
          <p:nvPr/>
        </p:nvSpPr>
        <p:spPr>
          <a:xfrm>
            <a:off x="9345168" y="2150146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80</a:t>
            </a:r>
            <a:endParaRPr lang="zh-CN" altLang="en-US" sz="760"/>
          </a:p>
        </p:txBody>
      </p:sp>
      <p:sp>
        <p:nvSpPr>
          <p:cNvPr id="38" name="TableCell"/>
          <p:cNvSpPr txBox="1"/>
          <p:nvPr/>
        </p:nvSpPr>
        <p:spPr>
          <a:xfrm>
            <a:off x="10250424" y="2150146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61.1019197278118</a:t>
            </a:r>
            <a:endParaRPr lang="zh-CN" altLang="en-US" sz="760"/>
          </a:p>
        </p:txBody>
      </p:sp>
      <p:sp>
        <p:nvSpPr>
          <p:cNvPr id="39" name="TableCell"/>
          <p:cNvSpPr txBox="1"/>
          <p:nvPr/>
        </p:nvSpPr>
        <p:spPr>
          <a:xfrm>
            <a:off x="6629400" y="2476718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4</a:t>
            </a:r>
            <a:endParaRPr lang="zh-CN" altLang="en-US" sz="760"/>
          </a:p>
        </p:txBody>
      </p:sp>
      <p:sp>
        <p:nvSpPr>
          <p:cNvPr id="40" name="TableCell"/>
          <p:cNvSpPr txBox="1"/>
          <p:nvPr/>
        </p:nvSpPr>
        <p:spPr>
          <a:xfrm>
            <a:off x="7534656" y="2476718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80</a:t>
            </a:r>
            <a:endParaRPr lang="zh-CN" altLang="en-US" sz="760"/>
          </a:p>
        </p:txBody>
      </p:sp>
      <p:sp>
        <p:nvSpPr>
          <p:cNvPr id="41" name="TableCell"/>
          <p:cNvSpPr txBox="1"/>
          <p:nvPr/>
        </p:nvSpPr>
        <p:spPr>
          <a:xfrm>
            <a:off x="8439912" y="2476718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0.8</a:t>
            </a:r>
            <a:endParaRPr lang="zh-CN" altLang="en-US" sz="760"/>
          </a:p>
        </p:txBody>
      </p:sp>
      <p:sp>
        <p:nvSpPr>
          <p:cNvPr id="42" name="TableCell"/>
          <p:cNvSpPr txBox="1"/>
          <p:nvPr/>
        </p:nvSpPr>
        <p:spPr>
          <a:xfrm>
            <a:off x="9345168" y="2476718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80</a:t>
            </a:r>
            <a:endParaRPr lang="zh-CN" altLang="en-US" sz="760"/>
          </a:p>
        </p:txBody>
      </p:sp>
      <p:sp>
        <p:nvSpPr>
          <p:cNvPr id="43" name="TableCell"/>
          <p:cNvSpPr txBox="1"/>
          <p:nvPr/>
        </p:nvSpPr>
        <p:spPr>
          <a:xfrm>
            <a:off x="10250424" y="2476718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9.60280742391797</a:t>
            </a:r>
            <a:endParaRPr lang="zh-CN" altLang="en-US" sz="760"/>
          </a:p>
        </p:txBody>
      </p:sp>
      <p:sp>
        <p:nvSpPr>
          <p:cNvPr id="44" name="TableCell"/>
          <p:cNvSpPr txBox="1"/>
          <p:nvPr/>
        </p:nvSpPr>
        <p:spPr>
          <a:xfrm>
            <a:off x="6629400" y="2803289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5</a:t>
            </a:r>
            <a:endParaRPr lang="zh-CN" altLang="en-US" sz="760"/>
          </a:p>
        </p:txBody>
      </p:sp>
      <p:sp>
        <p:nvSpPr>
          <p:cNvPr id="45" name="TableCell"/>
          <p:cNvSpPr txBox="1"/>
          <p:nvPr/>
        </p:nvSpPr>
        <p:spPr>
          <a:xfrm>
            <a:off x="7534656" y="2803289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120</a:t>
            </a:r>
            <a:endParaRPr lang="zh-CN" altLang="en-US" sz="760"/>
          </a:p>
        </p:txBody>
      </p:sp>
      <p:sp>
        <p:nvSpPr>
          <p:cNvPr id="46" name="TableCell"/>
          <p:cNvSpPr txBox="1"/>
          <p:nvPr/>
        </p:nvSpPr>
        <p:spPr>
          <a:xfrm>
            <a:off x="8439912" y="2803289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0.2</a:t>
            </a:r>
            <a:endParaRPr lang="zh-CN" altLang="en-US" sz="760"/>
          </a:p>
        </p:txBody>
      </p:sp>
      <p:sp>
        <p:nvSpPr>
          <p:cNvPr id="47" name="TableCell"/>
          <p:cNvSpPr txBox="1"/>
          <p:nvPr/>
        </p:nvSpPr>
        <p:spPr>
          <a:xfrm>
            <a:off x="9345168" y="2803289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120</a:t>
            </a:r>
            <a:endParaRPr lang="zh-CN" altLang="en-US" sz="760"/>
          </a:p>
        </p:txBody>
      </p:sp>
      <p:sp>
        <p:nvSpPr>
          <p:cNvPr id="48" name="TableCell"/>
          <p:cNvSpPr txBox="1"/>
          <p:nvPr/>
        </p:nvSpPr>
        <p:spPr>
          <a:xfrm>
            <a:off x="10250424" y="2803289"/>
            <a:ext cx="905256" cy="326571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99.6308433710195</a:t>
            </a:r>
            <a:endParaRPr lang="zh-CN" altLang="en-US" sz="760"/>
          </a:p>
        </p:txBody>
      </p:sp>
      <p:sp>
        <p:nvSpPr>
          <p:cNvPr id="49" name="TableCell"/>
          <p:cNvSpPr txBox="1"/>
          <p:nvPr/>
        </p:nvSpPr>
        <p:spPr>
          <a:xfrm>
            <a:off x="6629400" y="3129861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</a:t>
            </a:r>
            <a:endParaRPr lang="zh-CN" altLang="en-US" sz="760"/>
          </a:p>
        </p:txBody>
      </p:sp>
      <p:sp>
        <p:nvSpPr>
          <p:cNvPr id="50" name="TableCell"/>
          <p:cNvSpPr txBox="1"/>
          <p:nvPr/>
        </p:nvSpPr>
        <p:spPr>
          <a:xfrm>
            <a:off x="7534656" y="3129861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120</a:t>
            </a:r>
            <a:endParaRPr lang="zh-CN" altLang="en-US" sz="760"/>
          </a:p>
        </p:txBody>
      </p:sp>
      <p:sp>
        <p:nvSpPr>
          <p:cNvPr id="51" name="TableCell"/>
          <p:cNvSpPr txBox="1"/>
          <p:nvPr/>
        </p:nvSpPr>
        <p:spPr>
          <a:xfrm>
            <a:off x="8439912" y="3129861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0.8</a:t>
            </a:r>
            <a:endParaRPr lang="zh-CN" altLang="en-US" sz="760"/>
          </a:p>
        </p:txBody>
      </p:sp>
      <p:sp>
        <p:nvSpPr>
          <p:cNvPr id="52" name="TableCell"/>
          <p:cNvSpPr txBox="1"/>
          <p:nvPr/>
        </p:nvSpPr>
        <p:spPr>
          <a:xfrm>
            <a:off x="9345168" y="3129861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120</a:t>
            </a:r>
            <a:endParaRPr lang="zh-CN" altLang="en-US" sz="760"/>
          </a:p>
        </p:txBody>
      </p:sp>
      <p:sp>
        <p:nvSpPr>
          <p:cNvPr id="53" name="TableCell"/>
          <p:cNvSpPr txBox="1"/>
          <p:nvPr/>
        </p:nvSpPr>
        <p:spPr>
          <a:xfrm>
            <a:off x="10250424" y="3129861"/>
            <a:ext cx="905256" cy="326571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53.8344285789444</a:t>
            </a:r>
            <a:endParaRPr lang="zh-CN" altLang="en-US" sz="760"/>
          </a:p>
        </p:txBody>
      </p:sp>
      <p:sp>
        <p:nvSpPr>
          <p:cNvPr id="54" name="Text"/>
          <p:cNvSpPr txBox="1"/>
          <p:nvPr/>
        </p:nvSpPr>
        <p:spPr>
          <a:xfrm>
            <a:off x="6720840" y="3703320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 个代表性边界工况</a:t>
            </a:r>
            <a:endParaRPr lang="zh-CN" altLang="en-US" sz="820"/>
          </a:p>
        </p:txBody>
      </p:sp>
      <p:sp>
        <p:nvSpPr>
          <p:cNvPr id="55" name="Text"/>
          <p:cNvSpPr txBox="1"/>
          <p:nvPr/>
        </p:nvSpPr>
        <p:spPr>
          <a:xfrm>
            <a:off x="6720840" y="4233672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速度：20 / 80 / 120 km/h</a:t>
            </a:r>
            <a:endParaRPr lang="zh-CN" altLang="en-US" sz="820"/>
          </a:p>
        </p:txBody>
      </p:sp>
      <p:sp>
        <p:nvSpPr>
          <p:cNvPr id="56" name="Text"/>
          <p:cNvSpPr txBox="1"/>
          <p:nvPr/>
        </p:nvSpPr>
        <p:spPr>
          <a:xfrm>
            <a:off x="6720840" y="4764024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附着：0.2 和 0.8</a:t>
            </a:r>
            <a:endParaRPr lang="zh-CN" altLang="en-US" sz="8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完整 CarSim 数据覆盖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15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85800" y="1115568"/>
            <a:ext cx="5074920" cy="349300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8_carsim_coverage_heatmap.png" descr="08_carsim_coverage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46166"/>
            <a:ext cx="4892040" cy="3022668"/>
          </a:xfrm>
          <a:prstGeom prst="rect">
            <a:avLst/>
          </a:prstGeom>
        </p:spPr>
      </p:pic>
      <p:sp>
        <p:nvSpPr>
          <p:cNvPr id="19" name="Shape"/>
          <p:cNvSpPr/>
          <p:nvPr/>
        </p:nvSpPr>
        <p:spPr>
          <a:xfrm>
            <a:off x="5989320" y="1115568"/>
            <a:ext cx="5074920" cy="349300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20" name="12_carsim_pressure_profile_examples.png" descr="12_carsim_pressure_profil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803" y="1234440"/>
            <a:ext cx="4241954" cy="324612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914400" y="4919472"/>
            <a:ext cx="2423160" cy="4572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pPr algn="ctr"/>
            <a:r>
              <a:rPr lang="zh-CN" altLang="en-US" sz="8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 档速度 × 4 档附着</a:t>
            </a:r>
            <a:endParaRPr lang="zh-CN" altLang="en-US" sz="850"/>
          </a:p>
        </p:txBody>
      </p:sp>
      <p:sp>
        <p:nvSpPr>
          <p:cNvPr id="22" name="Text"/>
          <p:cNvSpPr txBox="1"/>
          <p:nvPr/>
        </p:nvSpPr>
        <p:spPr>
          <a:xfrm>
            <a:off x="3703320" y="4919472"/>
            <a:ext cx="2423160" cy="4572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pPr algn="ctr"/>
            <a:r>
              <a:rPr lang="zh-CN" altLang="en-US" sz="8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每个物理工况 5 条压力轨迹</a:t>
            </a:r>
            <a:endParaRPr lang="zh-CN" altLang="en-US" sz="850"/>
          </a:p>
        </p:txBody>
      </p:sp>
      <p:sp>
        <p:nvSpPr>
          <p:cNvPr id="23" name="Text"/>
          <p:cNvSpPr txBox="1"/>
          <p:nvPr/>
        </p:nvSpPr>
        <p:spPr>
          <a:xfrm>
            <a:off x="6492240" y="4919472"/>
            <a:ext cx="2423160" cy="4572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pPr algn="ctr"/>
            <a:r>
              <a:rPr lang="zh-CN" altLang="en-US" sz="8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总计 120 条轨迹</a:t>
            </a:r>
            <a:endParaRPr lang="zh-CN" altLang="en-US" sz="850"/>
          </a:p>
        </p:txBody>
      </p:sp>
      <p:sp>
        <p:nvSpPr>
          <p:cNvPr id="24" name="Text"/>
          <p:cNvSpPr txBox="1"/>
          <p:nvPr/>
        </p:nvSpPr>
        <p:spPr>
          <a:xfrm>
            <a:off x="9281160" y="4919472"/>
            <a:ext cx="2423160" cy="4572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pPr algn="ctr"/>
            <a:r>
              <a:rPr lang="zh-CN" altLang="en-US" sz="8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13,070 条原始状态转移</a:t>
            </a:r>
            <a:endParaRPr lang="zh-CN" altLang="en-US" sz="8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物理响应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16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9_carsim_peak_decel_by_mu.png" descr="09_carsim_peak_decel_by_m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20001"/>
            <a:ext cx="6309360" cy="41985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7315200" y="1216152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：峰值减速度约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15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216152"/>
                <a:ext cx="3703320" cy="530352"/>
              </a:xfrm>
              <a:prstGeom prst="roundRect">
                <a:avLst/>
              </a:prstGeom>
              <a:blipFill rotWithShape="1">
                <a:blip r:embed="rId2"/>
                <a:stretch>
                  <a:fillRect l="-137" t="-982" r="-120" b="-790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"/>
              <p:cNvSpPr txBox="1"/>
              <p:nvPr/>
            </p:nvSpPr>
            <p:spPr>
              <a:xfrm>
                <a:off x="7315200" y="2002536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：峰值减速度超过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7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15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2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002536"/>
                <a:ext cx="3703320" cy="530352"/>
              </a:xfrm>
              <a:prstGeom prst="roundRect">
                <a:avLst/>
              </a:prstGeom>
              <a:blipFill rotWithShape="1">
                <a:blip r:embed="rId3"/>
                <a:stretch>
                  <a:fillRect l="-137" t="-910" r="-120" b="-862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响应符合附着限制分层</a:t>
            </a:r>
            <a:endParaRPr lang="zh-CN" altLang="en-US" sz="11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为什么选择 GRU，而不是只用 LSTM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17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ableCell"/>
          <p:cNvSpPr txBox="1"/>
          <p:nvPr/>
        </p:nvSpPr>
        <p:spPr>
          <a:xfrm>
            <a:off x="914400" y="1234440"/>
            <a:ext cx="3444240" cy="81153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维度</a:t>
            </a:r>
            <a:endParaRPr lang="zh-CN" altLang="en-US" sz="1200"/>
          </a:p>
        </p:txBody>
      </p:sp>
      <p:sp>
        <p:nvSpPr>
          <p:cNvPr id="18" name="TableCell"/>
          <p:cNvSpPr txBox="1"/>
          <p:nvPr/>
        </p:nvSpPr>
        <p:spPr>
          <a:xfrm>
            <a:off x="4358640" y="1234440"/>
            <a:ext cx="3444240" cy="81153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LSTM</a:t>
            </a:r>
            <a:endParaRPr lang="zh-CN" altLang="en-US" sz="1200"/>
          </a:p>
        </p:txBody>
      </p:sp>
      <p:sp>
        <p:nvSpPr>
          <p:cNvPr id="19" name="TableCell"/>
          <p:cNvSpPr txBox="1"/>
          <p:nvPr/>
        </p:nvSpPr>
        <p:spPr>
          <a:xfrm>
            <a:off x="7802880" y="1234440"/>
            <a:ext cx="3444240" cy="81153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GRU</a:t>
            </a:r>
            <a:endParaRPr lang="zh-CN" altLang="en-US" sz="1200"/>
          </a:p>
        </p:txBody>
      </p:sp>
      <p:sp>
        <p:nvSpPr>
          <p:cNvPr id="20" name="TableCell"/>
          <p:cNvSpPr txBox="1"/>
          <p:nvPr/>
        </p:nvSpPr>
        <p:spPr>
          <a:xfrm>
            <a:off x="914400" y="2045970"/>
            <a:ext cx="3444240" cy="8115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门结构</a:t>
            </a:r>
            <a:endParaRPr lang="zh-CN" altLang="en-US" sz="1200"/>
          </a:p>
        </p:txBody>
      </p:sp>
      <p:sp>
        <p:nvSpPr>
          <p:cNvPr id="21" name="TableCell"/>
          <p:cNvSpPr txBox="1"/>
          <p:nvPr/>
        </p:nvSpPr>
        <p:spPr>
          <a:xfrm>
            <a:off x="4358640" y="2045970"/>
            <a:ext cx="3444240" cy="8115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输入/遗忘/输出门</a:t>
            </a:r>
            <a:endParaRPr lang="zh-CN" altLang="en-US" sz="1200"/>
          </a:p>
        </p:txBody>
      </p:sp>
      <p:sp>
        <p:nvSpPr>
          <p:cNvPr id="22" name="TableCell"/>
          <p:cNvSpPr txBox="1"/>
          <p:nvPr/>
        </p:nvSpPr>
        <p:spPr>
          <a:xfrm>
            <a:off x="7802880" y="2045970"/>
            <a:ext cx="3444240" cy="8115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重置/更新门</a:t>
            </a:r>
            <a:endParaRPr lang="zh-CN" altLang="en-US" sz="1200"/>
          </a:p>
        </p:txBody>
      </p:sp>
      <p:sp>
        <p:nvSpPr>
          <p:cNvPr id="23" name="TableCell"/>
          <p:cNvSpPr txBox="1"/>
          <p:nvPr/>
        </p:nvSpPr>
        <p:spPr>
          <a:xfrm>
            <a:off x="914400" y="2857500"/>
            <a:ext cx="3444240" cy="81153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参数规模</a:t>
            </a:r>
            <a:endParaRPr lang="zh-CN" altLang="en-US" sz="1200"/>
          </a:p>
        </p:txBody>
      </p:sp>
      <p:sp>
        <p:nvSpPr>
          <p:cNvPr id="24" name="TableCell"/>
          <p:cNvSpPr txBox="1"/>
          <p:nvPr/>
        </p:nvSpPr>
        <p:spPr>
          <a:xfrm>
            <a:off x="4358640" y="2857500"/>
            <a:ext cx="3444240" cy="81153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相对更高</a:t>
            </a:r>
            <a:endParaRPr lang="zh-CN" altLang="en-US" sz="1200"/>
          </a:p>
        </p:txBody>
      </p:sp>
      <p:sp>
        <p:nvSpPr>
          <p:cNvPr id="25" name="TableCell"/>
          <p:cNvSpPr txBox="1"/>
          <p:nvPr/>
        </p:nvSpPr>
        <p:spPr>
          <a:xfrm>
            <a:off x="7802880" y="2857500"/>
            <a:ext cx="3444240" cy="81153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相对更低</a:t>
            </a:r>
            <a:endParaRPr lang="zh-CN" altLang="en-US" sz="1200"/>
          </a:p>
        </p:txBody>
      </p:sp>
      <p:sp>
        <p:nvSpPr>
          <p:cNvPr id="26" name="TableCell"/>
          <p:cNvSpPr txBox="1"/>
          <p:nvPr/>
        </p:nvSpPr>
        <p:spPr>
          <a:xfrm>
            <a:off x="914400" y="3669030"/>
            <a:ext cx="3444240" cy="8115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规划调用</a:t>
            </a:r>
            <a:endParaRPr lang="zh-CN" altLang="en-US" sz="1200"/>
          </a:p>
        </p:txBody>
      </p:sp>
      <p:sp>
        <p:nvSpPr>
          <p:cNvPr id="27" name="TableCell"/>
          <p:cNvSpPr txBox="1"/>
          <p:nvPr/>
        </p:nvSpPr>
        <p:spPr>
          <a:xfrm>
            <a:off x="4358640" y="3669030"/>
            <a:ext cx="3444240" cy="8115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精度强但更重</a:t>
            </a:r>
            <a:endParaRPr lang="zh-CN" altLang="en-US" sz="1200"/>
          </a:p>
        </p:txBody>
      </p:sp>
      <p:sp>
        <p:nvSpPr>
          <p:cNvPr id="28" name="TableCell"/>
          <p:cNvSpPr txBox="1"/>
          <p:nvPr/>
        </p:nvSpPr>
        <p:spPr>
          <a:xfrm>
            <a:off x="7802880" y="3669030"/>
            <a:ext cx="3444240" cy="81153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2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当前工程折中</a:t>
            </a:r>
            <a:endParaRPr lang="zh-CN" altLang="en-US" sz="1200"/>
          </a:p>
        </p:txBody>
      </p:sp>
      <p:sp>
        <p:nvSpPr>
          <p:cNvPr id="29" name="Text"/>
          <p:cNvSpPr txBox="1"/>
          <p:nvPr/>
        </p:nvSpPr>
        <p:spPr>
          <a:xfrm>
            <a:off x="1188720" y="4800600"/>
            <a:ext cx="9738360" cy="502920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27432" tIns="27432" rIns="27432" bIns="27432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规划器每一步会多次调用模型，因此轻量、稳定、足够准比单纯更大更重要。</a:t>
            </a:r>
            <a:endParaRPr lang="zh-CN" altLang="en-US" sz="1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LSTM/GRU 消融实验设计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18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ableCell"/>
          <p:cNvSpPr txBox="1"/>
          <p:nvPr/>
        </p:nvSpPr>
        <p:spPr>
          <a:xfrm>
            <a:off x="960120" y="1097280"/>
            <a:ext cx="3413760" cy="795528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变量</a:t>
            </a:r>
            <a:endParaRPr lang="zh-CN" altLang="en-US" sz="1150"/>
          </a:p>
        </p:txBody>
      </p:sp>
      <p:sp>
        <p:nvSpPr>
          <p:cNvPr id="18" name="TableCell"/>
          <p:cNvSpPr txBox="1"/>
          <p:nvPr/>
        </p:nvSpPr>
        <p:spPr>
          <a:xfrm>
            <a:off x="4373880" y="1097280"/>
            <a:ext cx="3413760" cy="795528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配置 A</a:t>
            </a:r>
            <a:endParaRPr lang="zh-CN" altLang="en-US" sz="1150"/>
          </a:p>
        </p:txBody>
      </p:sp>
      <p:sp>
        <p:nvSpPr>
          <p:cNvPr id="19" name="TableCell"/>
          <p:cNvSpPr txBox="1"/>
          <p:nvPr/>
        </p:nvSpPr>
        <p:spPr>
          <a:xfrm>
            <a:off x="7787640" y="1097280"/>
            <a:ext cx="3413760" cy="795528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配置 B</a:t>
            </a:r>
            <a:endParaRPr lang="zh-CN" altLang="en-US" sz="1150"/>
          </a:p>
        </p:txBody>
      </p:sp>
      <p:sp>
        <p:nvSpPr>
          <p:cNvPr id="20" name="TableCell"/>
          <p:cNvSpPr txBox="1"/>
          <p:nvPr/>
        </p:nvSpPr>
        <p:spPr>
          <a:xfrm>
            <a:off x="960120" y="1892808"/>
            <a:ext cx="3413760" cy="795528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循环单元</a:t>
            </a:r>
            <a:endParaRPr lang="zh-CN" altLang="en-US" sz="1150"/>
          </a:p>
        </p:txBody>
      </p:sp>
      <p:sp>
        <p:nvSpPr>
          <p:cNvPr id="21" name="TableCell"/>
          <p:cNvSpPr txBox="1"/>
          <p:nvPr/>
        </p:nvSpPr>
        <p:spPr>
          <a:xfrm>
            <a:off x="4373880" y="1892808"/>
            <a:ext cx="3413760" cy="795528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LSTM</a:t>
            </a:r>
            <a:endParaRPr lang="zh-CN" altLang="en-US" sz="1150"/>
          </a:p>
        </p:txBody>
      </p:sp>
      <p:sp>
        <p:nvSpPr>
          <p:cNvPr id="22" name="TableCell"/>
          <p:cNvSpPr txBox="1"/>
          <p:nvPr/>
        </p:nvSpPr>
        <p:spPr>
          <a:xfrm>
            <a:off x="7787640" y="1892808"/>
            <a:ext cx="3413760" cy="795528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GRU</a:t>
            </a:r>
            <a:endParaRPr lang="zh-CN" altLang="en-US" sz="1150"/>
          </a:p>
        </p:txBody>
      </p:sp>
      <p:sp>
        <p:nvSpPr>
          <p:cNvPr id="23" name="TableCell"/>
          <p:cNvSpPr txBox="1"/>
          <p:nvPr/>
        </p:nvSpPr>
        <p:spPr>
          <a:xfrm>
            <a:off x="960120" y="2688336"/>
            <a:ext cx="3413760" cy="795528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序列长度</a:t>
            </a:r>
            <a:endParaRPr lang="zh-CN" altLang="en-US" sz="1150"/>
          </a:p>
        </p:txBody>
      </p:sp>
      <p:sp>
        <p:nvSpPr>
          <p:cNvPr id="24" name="TableCell"/>
          <p:cNvSpPr txBox="1"/>
          <p:nvPr/>
        </p:nvSpPr>
        <p:spPr>
          <a:xfrm>
            <a:off x="4373880" y="2688336"/>
            <a:ext cx="3413760" cy="795528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5</a:t>
            </a:r>
            <a:endParaRPr lang="zh-CN" altLang="en-US" sz="1150"/>
          </a:p>
        </p:txBody>
      </p:sp>
      <p:sp>
        <p:nvSpPr>
          <p:cNvPr id="25" name="TableCell"/>
          <p:cNvSpPr txBox="1"/>
          <p:nvPr/>
        </p:nvSpPr>
        <p:spPr>
          <a:xfrm>
            <a:off x="7787640" y="2688336"/>
            <a:ext cx="3413760" cy="795528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50</a:t>
            </a:r>
            <a:endParaRPr lang="zh-CN" altLang="en-US" sz="1150"/>
          </a:p>
        </p:txBody>
      </p:sp>
      <p:sp>
        <p:nvSpPr>
          <p:cNvPr id="26" name="TableCell"/>
          <p:cNvSpPr txBox="1"/>
          <p:nvPr/>
        </p:nvSpPr>
        <p:spPr>
          <a:xfrm>
            <a:off x="960120" y="3483864"/>
            <a:ext cx="3413760" cy="795528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隐藏层</a:t>
            </a:r>
            <a:endParaRPr lang="zh-CN" altLang="en-US" sz="1150"/>
          </a:p>
        </p:txBody>
      </p:sp>
      <p:sp>
        <p:nvSpPr>
          <p:cNvPr id="27" name="TableCell"/>
          <p:cNvSpPr txBox="1"/>
          <p:nvPr/>
        </p:nvSpPr>
        <p:spPr>
          <a:xfrm>
            <a:off x="4373880" y="3483864"/>
            <a:ext cx="3413760" cy="795528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64×1</a:t>
            </a:r>
            <a:endParaRPr lang="zh-CN" altLang="en-US" sz="1150"/>
          </a:p>
        </p:txBody>
      </p:sp>
      <p:sp>
        <p:nvSpPr>
          <p:cNvPr id="28" name="TableCell"/>
          <p:cNvSpPr txBox="1"/>
          <p:nvPr/>
        </p:nvSpPr>
        <p:spPr>
          <a:xfrm>
            <a:off x="7787640" y="3483864"/>
            <a:ext cx="3413760" cy="795528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128×2</a:t>
            </a:r>
            <a:endParaRPr lang="zh-CN" altLang="en-US" sz="1150"/>
          </a:p>
        </p:txBody>
      </p:sp>
      <p:sp>
        <p:nvSpPr>
          <p:cNvPr id="29" name="TableCell"/>
          <p:cNvSpPr txBox="1"/>
          <p:nvPr/>
        </p:nvSpPr>
        <p:spPr>
          <a:xfrm>
            <a:off x="960120" y="4279392"/>
            <a:ext cx="3413760" cy="795528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控制项</a:t>
            </a:r>
            <a:endParaRPr lang="zh-CN" altLang="en-US" sz="1150"/>
          </a:p>
        </p:txBody>
      </p:sp>
      <p:sp>
        <p:nvSpPr>
          <p:cNvPr id="30" name="TableCell"/>
          <p:cNvSpPr txBox="1"/>
          <p:nvPr/>
        </p:nvSpPr>
        <p:spPr>
          <a:xfrm>
            <a:off x="4373880" y="4279392"/>
            <a:ext cx="3413760" cy="795528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随机种子 / 划分 / epoch / PINN 权重固定</a:t>
            </a:r>
            <a:endParaRPr lang="zh-CN" altLang="en-US" sz="1150"/>
          </a:p>
        </p:txBody>
      </p:sp>
      <p:sp>
        <p:nvSpPr>
          <p:cNvPr id="31" name="TableCell"/>
          <p:cNvSpPr txBox="1"/>
          <p:nvPr/>
        </p:nvSpPr>
        <p:spPr>
          <a:xfrm>
            <a:off x="7787640" y="4279392"/>
            <a:ext cx="3413760" cy="795528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endParaRPr lang="zh-CN" alt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消融实验结果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6_recurrent_ablation_rmse_params.png" descr="06_recurrent_ablation_rmse_param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6309360" cy="3566160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推荐配置：GRU S5 H64 L1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参数量：17,730</a:t>
            </a:r>
            <a:endParaRPr lang="zh-CN" altLang="en-US" sz="112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"/>
              <p:cNvSpPr txBox="1"/>
              <p:nvPr/>
            </p:nvSpPr>
            <p:spPr>
              <a:xfrm>
                <a:off x="7315200" y="2788920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速度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𝑅𝑀𝑆𝐸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0648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2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788920"/>
                <a:ext cx="3703320" cy="530352"/>
              </a:xfrm>
              <a:prstGeom prst="roundRect">
                <a:avLst/>
              </a:prstGeom>
              <a:blipFill rotWithShape="1">
                <a:blip r:embed="rId2"/>
                <a:stretch>
                  <a:fillRect l="-137" t="-958" r="-120" b="-814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"/>
              <p:cNvSpPr txBox="1"/>
              <p:nvPr/>
            </p:nvSpPr>
            <p:spPr>
              <a:xfrm>
                <a:off x="7315200" y="3575304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加速度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𝑅𝑀𝑆𝐸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0431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15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3575304"/>
                <a:ext cx="3703320" cy="530352"/>
              </a:xfrm>
              <a:prstGeom prst="roundRect">
                <a:avLst/>
              </a:prstGeom>
              <a:blipFill rotWithShape="1">
                <a:blip r:embed="rId3"/>
                <a:stretch>
                  <a:fillRect l="-137" t="-1006" r="-120" b="-886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模型规模与误差权衡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数据与时序世界模型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7_recurrent_tradeoff_scatter.png" descr="07_recurrent_tradeoff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70983"/>
            <a:ext cx="6309360" cy="4096577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更大模型不保证更低误差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长序列对部分速度指标有帮助，但会影响减速度表现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短序列 GRU 是当前最合适的工程折中</a:t>
            </a:r>
            <a:endParaRPr lang="zh-CN" altLang="en-US" sz="112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CarSim-GRU 训练设置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21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results/carsim_gru_training_loss.png" descr="results/carsim_gru_training_lo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16598"/>
            <a:ext cx="6309360" cy="3605349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数据来源：CarSim</a:t>
            </a:r>
            <a:endParaRPr lang="zh-CN" alt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"/>
              <p:cNvSpPr txBox="1"/>
              <p:nvPr/>
            </p:nvSpPr>
            <p:spPr>
              <a:xfrm>
                <a:off x="7315200" y="2002536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𝐺𝑅𝑈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𝑆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5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，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𝐻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64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，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𝐿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1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2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002536"/>
                <a:ext cx="3703320" cy="530352"/>
              </a:xfrm>
              <a:prstGeom prst="roundRect">
                <a:avLst/>
              </a:prstGeom>
              <a:blipFill rotWithShape="1">
                <a:blip r:embed="rId2"/>
                <a:stretch>
                  <a:fillRect l="-137" t="-910" r="-120" b="-862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训练轨迹 96 条，验证轨迹 24 条</a:t>
            </a:r>
            <a:endParaRPr lang="zh-CN" altLang="en-US" sz="1120"/>
          </a:p>
        </p:txBody>
      </p:sp>
      <p:sp>
        <p:nvSpPr>
          <p:cNvPr id="22" name="Text"/>
          <p:cNvSpPr txBox="1"/>
          <p:nvPr/>
        </p:nvSpPr>
        <p:spPr>
          <a:xfrm>
            <a:off x="7315200" y="3575304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40 epochs，CUDA，17.2 s</a:t>
            </a:r>
            <a:endParaRPr lang="zh-CN" altLang="en-US" sz="112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CarSim-GRU 验证指标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22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580644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13_carsim_gru_metrics.png" descr="13_carsim_gru_metr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81266"/>
            <a:ext cx="5715000" cy="3276013"/>
          </a:xfrm>
          <a:prstGeom prst="rect">
            <a:avLst/>
          </a:prstGeom>
        </p:spPr>
      </p:pic>
      <p:sp>
        <p:nvSpPr>
          <p:cNvPr id="19" name="TableCell"/>
          <p:cNvSpPr txBox="1"/>
          <p:nvPr/>
        </p:nvSpPr>
        <p:spPr>
          <a:xfrm>
            <a:off x="6629400" y="1170432"/>
            <a:ext cx="905256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output</a:t>
            </a:r>
            <a:endParaRPr lang="zh-CN" altLang="en-US" sz="760"/>
          </a:p>
        </p:txBody>
      </p:sp>
      <p:sp>
        <p:nvSpPr>
          <p:cNvPr id="20" name="TableCell"/>
          <p:cNvSpPr txBox="1"/>
          <p:nvPr/>
        </p:nvSpPr>
        <p:spPr>
          <a:xfrm>
            <a:off x="7534656" y="1170432"/>
            <a:ext cx="905256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mse</a:t>
            </a:r>
            <a:endParaRPr lang="zh-CN" altLang="en-US" sz="760"/>
          </a:p>
        </p:txBody>
      </p:sp>
      <p:sp>
        <p:nvSpPr>
          <p:cNvPr id="21" name="TableCell"/>
          <p:cNvSpPr txBox="1"/>
          <p:nvPr/>
        </p:nvSpPr>
        <p:spPr>
          <a:xfrm>
            <a:off x="8439912" y="1170432"/>
            <a:ext cx="905256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rmse</a:t>
            </a:r>
            <a:endParaRPr lang="zh-CN" altLang="en-US" sz="760"/>
          </a:p>
        </p:txBody>
      </p:sp>
      <p:sp>
        <p:nvSpPr>
          <p:cNvPr id="22" name="TableCell"/>
          <p:cNvSpPr txBox="1"/>
          <p:nvPr/>
        </p:nvSpPr>
        <p:spPr>
          <a:xfrm>
            <a:off x="9345168" y="1170432"/>
            <a:ext cx="905256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mae</a:t>
            </a:r>
            <a:endParaRPr lang="zh-CN" altLang="en-US" sz="760"/>
          </a:p>
        </p:txBody>
      </p:sp>
      <p:sp>
        <p:nvSpPr>
          <p:cNvPr id="23" name="TableCell"/>
          <p:cNvSpPr txBox="1"/>
          <p:nvPr/>
        </p:nvSpPr>
        <p:spPr>
          <a:xfrm>
            <a:off x="10250424" y="1170432"/>
            <a:ext cx="905256" cy="76200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r2</a:t>
            </a:r>
            <a:endParaRPr lang="zh-CN" altLang="en-US" sz="760"/>
          </a:p>
        </p:txBody>
      </p:sp>
      <p:sp>
        <p:nvSpPr>
          <p:cNvPr id="24" name="TableCell"/>
          <p:cNvSpPr txBox="1"/>
          <p:nvPr/>
        </p:nvSpPr>
        <p:spPr>
          <a:xfrm>
            <a:off x="6629400" y="1932432"/>
            <a:ext cx="905256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v_next_mps</a:t>
            </a:r>
            <a:endParaRPr lang="zh-CN" altLang="en-US" sz="760"/>
          </a:p>
        </p:txBody>
      </p:sp>
      <p:sp>
        <p:nvSpPr>
          <p:cNvPr id="25" name="TableCell"/>
          <p:cNvSpPr txBox="1"/>
          <p:nvPr/>
        </p:nvSpPr>
        <p:spPr>
          <a:xfrm>
            <a:off x="7534656" y="1932432"/>
            <a:ext cx="905256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0.013764181</a:t>
            </a:r>
            <a:endParaRPr lang="zh-CN" altLang="en-US" sz="760"/>
          </a:p>
        </p:txBody>
      </p:sp>
      <p:sp>
        <p:nvSpPr>
          <p:cNvPr id="26" name="TableCell"/>
          <p:cNvSpPr txBox="1"/>
          <p:nvPr/>
        </p:nvSpPr>
        <p:spPr>
          <a:xfrm>
            <a:off x="8439912" y="1932432"/>
            <a:ext cx="905256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0.11732085</a:t>
            </a:r>
            <a:endParaRPr lang="zh-CN" altLang="en-US" sz="760"/>
          </a:p>
        </p:txBody>
      </p:sp>
      <p:sp>
        <p:nvSpPr>
          <p:cNvPr id="27" name="TableCell"/>
          <p:cNvSpPr txBox="1"/>
          <p:nvPr/>
        </p:nvSpPr>
        <p:spPr>
          <a:xfrm>
            <a:off x="9345168" y="1932432"/>
            <a:ext cx="905256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0.0918034</a:t>
            </a:r>
            <a:endParaRPr lang="zh-CN" altLang="en-US" sz="760"/>
          </a:p>
        </p:txBody>
      </p:sp>
      <p:sp>
        <p:nvSpPr>
          <p:cNvPr id="28" name="TableCell"/>
          <p:cNvSpPr txBox="1"/>
          <p:nvPr/>
        </p:nvSpPr>
        <p:spPr>
          <a:xfrm>
            <a:off x="10250424" y="1932432"/>
            <a:ext cx="905256" cy="76200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0.9998056</a:t>
            </a:r>
            <a:endParaRPr lang="zh-CN" altLang="en-US" sz="760"/>
          </a:p>
        </p:txBody>
      </p:sp>
      <p:sp>
        <p:nvSpPr>
          <p:cNvPr id="29" name="TableCell"/>
          <p:cNvSpPr txBox="1"/>
          <p:nvPr/>
        </p:nvSpPr>
        <p:spPr>
          <a:xfrm>
            <a:off x="6629400" y="2694432"/>
            <a:ext cx="905256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a_next_mps2</a:t>
            </a:r>
            <a:endParaRPr lang="zh-CN" altLang="en-US" sz="760"/>
          </a:p>
        </p:txBody>
      </p:sp>
      <p:sp>
        <p:nvSpPr>
          <p:cNvPr id="30" name="TableCell"/>
          <p:cNvSpPr txBox="1"/>
          <p:nvPr/>
        </p:nvSpPr>
        <p:spPr>
          <a:xfrm>
            <a:off x="7534656" y="2694432"/>
            <a:ext cx="905256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0.2018893</a:t>
            </a:r>
            <a:endParaRPr lang="zh-CN" altLang="en-US" sz="760"/>
          </a:p>
        </p:txBody>
      </p:sp>
      <p:sp>
        <p:nvSpPr>
          <p:cNvPr id="31" name="TableCell"/>
          <p:cNvSpPr txBox="1"/>
          <p:nvPr/>
        </p:nvSpPr>
        <p:spPr>
          <a:xfrm>
            <a:off x="8439912" y="2694432"/>
            <a:ext cx="905256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0.44932094</a:t>
            </a:r>
            <a:endParaRPr lang="zh-CN" altLang="en-US" sz="760"/>
          </a:p>
        </p:txBody>
      </p:sp>
      <p:sp>
        <p:nvSpPr>
          <p:cNvPr id="32" name="TableCell"/>
          <p:cNvSpPr txBox="1"/>
          <p:nvPr/>
        </p:nvSpPr>
        <p:spPr>
          <a:xfrm>
            <a:off x="9345168" y="2694432"/>
            <a:ext cx="905256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0.20160562</a:t>
            </a:r>
            <a:endParaRPr lang="zh-CN" altLang="en-US" sz="760"/>
          </a:p>
        </p:txBody>
      </p:sp>
      <p:sp>
        <p:nvSpPr>
          <p:cNvPr id="33" name="TableCell"/>
          <p:cNvSpPr txBox="1"/>
          <p:nvPr/>
        </p:nvSpPr>
        <p:spPr>
          <a:xfrm>
            <a:off x="10250424" y="2694432"/>
            <a:ext cx="905256" cy="76200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0.9292944</a:t>
            </a:r>
            <a:endParaRPr lang="zh-CN" altLang="en-US" sz="760"/>
          </a:p>
        </p:txBody>
      </p:sp>
      <p:sp>
        <p:nvSpPr>
          <p:cNvPr id="34" name="Text"/>
          <p:cNvSpPr txBox="1"/>
          <p:nvPr/>
        </p:nvSpPr>
        <p:spPr>
          <a:xfrm>
            <a:off x="6720840" y="3703320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v_next RMSE：0.1173 m/s，R² = 0.99981</a:t>
            </a:r>
            <a:endParaRPr lang="zh-CN" altLang="en-US" sz="820"/>
          </a:p>
        </p:txBody>
      </p:sp>
      <p:sp>
        <p:nvSpPr>
          <p:cNvPr id="35" name="Text"/>
          <p:cNvSpPr txBox="1"/>
          <p:nvPr/>
        </p:nvSpPr>
        <p:spPr>
          <a:xfrm>
            <a:off x="6720840" y="4233672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a_next RMSE：0.4493 m/s²，R² = 0.92929</a:t>
            </a:r>
            <a:endParaRPr lang="zh-CN" altLang="en-US" sz="820"/>
          </a:p>
        </p:txBody>
      </p:sp>
      <p:sp>
        <p:nvSpPr>
          <p:cNvPr id="36" name="Text"/>
          <p:cNvSpPr txBox="1"/>
          <p:nvPr/>
        </p:nvSpPr>
        <p:spPr>
          <a:xfrm>
            <a:off x="6720840" y="4764024"/>
            <a:ext cx="4343400" cy="41148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8" tIns="18288" rIns="18288" bIns="18288" anchor="ctr">
            <a:normAutofit fontScale="90000" lnSpcReduction="12000"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加速度比机理数据更非线性</a:t>
            </a:r>
            <a:endParaRPr lang="zh-CN" altLang="en-US" sz="82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机理数据与 CarSim 数据难度对比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23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5_model_metrics_rmse_summary.png" descr="05_model_metrics_rmse_sum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8544"/>
            <a:ext cx="6309360" cy="3981456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机理标签更平滑，因此更容易拟合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速度仍然较容易预测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加速度暴露了高保真动力学难点</a:t>
            </a:r>
            <a:endParaRPr lang="zh-CN" altLang="en-US" sz="112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规划问题建模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24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ableCell"/>
          <p:cNvSpPr txBox="1"/>
          <p:nvPr/>
        </p:nvSpPr>
        <p:spPr>
          <a:xfrm>
            <a:off x="822960" y="1097280"/>
            <a:ext cx="2651760" cy="786384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模块</a:t>
            </a:r>
            <a:endParaRPr lang="zh-CN" altLang="en-US" sz="1080"/>
          </a:p>
        </p:txBody>
      </p:sp>
      <p:sp>
        <p:nvSpPr>
          <p:cNvPr id="18" name="TableCell"/>
          <p:cNvSpPr txBox="1"/>
          <p:nvPr/>
        </p:nvSpPr>
        <p:spPr>
          <a:xfrm>
            <a:off x="3474720" y="1097280"/>
            <a:ext cx="2651760" cy="786384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定义</a:t>
            </a:r>
            <a:endParaRPr lang="zh-CN" altLang="en-US" sz="1080"/>
          </a:p>
        </p:txBody>
      </p:sp>
      <p:sp>
        <p:nvSpPr>
          <p:cNvPr id="19" name="TableCell"/>
          <p:cNvSpPr txBox="1"/>
          <p:nvPr/>
        </p:nvSpPr>
        <p:spPr>
          <a:xfrm>
            <a:off x="822960" y="1883664"/>
            <a:ext cx="2651760" cy="786384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状态</a:t>
            </a:r>
            <a:endParaRPr lang="zh-CN" altLang="en-US" sz="1080"/>
          </a:p>
        </p:txBody>
      </p:sp>
      <p:sp>
        <p:nvSpPr>
          <p:cNvPr id="20" name="TableCell"/>
          <p:cNvSpPr txBox="1"/>
          <p:nvPr/>
        </p:nvSpPr>
        <p:spPr>
          <a:xfrm>
            <a:off x="3474720" y="1883664"/>
            <a:ext cx="2651760" cy="786384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速度、障碍物距离、附着系数</a:t>
            </a:r>
            <a:endParaRPr lang="zh-CN" altLang="en-US" sz="1080"/>
          </a:p>
        </p:txBody>
      </p:sp>
      <p:sp>
        <p:nvSpPr>
          <p:cNvPr id="21" name="TableCell"/>
          <p:cNvSpPr txBox="1"/>
          <p:nvPr/>
        </p:nvSpPr>
        <p:spPr>
          <a:xfrm>
            <a:off x="822960" y="2670048"/>
            <a:ext cx="2651760" cy="786384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动作</a:t>
            </a:r>
            <a:endParaRPr lang="zh-CN" altLang="en-US" sz="1080"/>
          </a:p>
        </p:txBody>
      </p:sp>
      <p:sp>
        <p:nvSpPr>
          <p:cNvPr id="22" name="TableCell"/>
          <p:cNvSpPr txBox="1"/>
          <p:nvPr/>
        </p:nvSpPr>
        <p:spPr>
          <a:xfrm>
            <a:off x="3474720" y="2670048"/>
            <a:ext cx="2651760" cy="786384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制动主缸压力</a:t>
            </a:r>
            <a:endParaRPr lang="zh-CN" altLang="en-US" sz="1080"/>
          </a:p>
        </p:txBody>
      </p:sp>
      <p:sp>
        <p:nvSpPr>
          <p:cNvPr id="23" name="TableCell"/>
          <p:cNvSpPr txBox="1"/>
          <p:nvPr/>
        </p:nvSpPr>
        <p:spPr>
          <a:xfrm>
            <a:off x="822960" y="3456432"/>
            <a:ext cx="2651760" cy="786384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预测时域</a:t>
            </a:r>
            <a:endParaRPr lang="zh-CN" altLang="en-US" sz="1080"/>
          </a:p>
        </p:txBody>
      </p:sp>
      <p:sp>
        <p:nvSpPr>
          <p:cNvPr id="24" name="TableCell"/>
          <p:cNvSpPr txBox="1"/>
          <p:nvPr/>
        </p:nvSpPr>
        <p:spPr>
          <a:xfrm>
            <a:off x="3474720" y="3456432"/>
            <a:ext cx="2651760" cy="786384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候选压力序列</a:t>
            </a:r>
            <a:endParaRPr lang="zh-CN" altLang="en-US" sz="1080"/>
          </a:p>
        </p:txBody>
      </p:sp>
      <p:sp>
        <p:nvSpPr>
          <p:cNvPr id="25" name="TableCell"/>
          <p:cNvSpPr txBox="1"/>
          <p:nvPr/>
        </p:nvSpPr>
        <p:spPr>
          <a:xfrm>
            <a:off x="822960" y="4242816"/>
            <a:ext cx="2651760" cy="786384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代价</a:t>
            </a:r>
            <a:endParaRPr lang="zh-CN" altLang="en-US" sz="1080"/>
          </a:p>
        </p:txBody>
      </p:sp>
      <p:sp>
        <p:nvSpPr>
          <p:cNvPr id="26" name="TableCell"/>
          <p:cNvSpPr txBox="1"/>
          <p:nvPr/>
        </p:nvSpPr>
        <p:spPr>
          <a:xfrm>
            <a:off x="3474720" y="4242816"/>
            <a:ext cx="2651760" cy="786384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08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距离、舒适度、平滑性、安全惩罚</a:t>
            </a:r>
            <a:endParaRPr lang="zh-CN" altLang="en-US" sz="10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"/>
              <p:cNvSpPr txBox="1"/>
              <p:nvPr/>
            </p:nvSpPr>
            <p:spPr>
              <a:xfrm>
                <a:off x="6492240" y="1325880"/>
                <a:ext cx="4343400" cy="1508760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109728" tIns="109728" rIns="109728" bIns="109728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𝐽</m:t>
                      </m:r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𝑁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𝑠𝑎𝑓𝑒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)² +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∑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² +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∑</m:t>
                      </m:r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𝛥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²</m:t>
                      </m:r>
                    </m:oMath>
                  </m:oMathPara>
                </a14:m>
                <a:endParaRPr lang="en-US" sz="1700"/>
              </a:p>
            </p:txBody>
          </p:sp>
        </mc:Choice>
        <mc:Fallback>
          <p:sp>
            <p:nvSpPr>
              <p:cNvPr id="2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1325880"/>
                <a:ext cx="4343400" cy="1508760"/>
              </a:xfrm>
              <a:prstGeom prst="roundRect">
                <a:avLst/>
              </a:prstGeom>
              <a:blipFill rotWithShape="1">
                <a:blip r:embed="rId1"/>
                <a:stretch>
                  <a:fillRect l="-117" t="-337" r="-102" b="-295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"/>
              <p:cNvSpPr txBox="1"/>
              <p:nvPr/>
            </p:nvSpPr>
            <p:spPr>
              <a:xfrm>
                <a:off x="6492240" y="3246120"/>
                <a:ext cx="4343400" cy="1143000"/>
              </a:xfrm>
              <a:prstGeom prst="roundRect">
                <a:avLst/>
              </a:prstGeom>
              <a:solidFill>
                <a:srgbClr val="FDF4F2"/>
              </a:solidFill>
              <a:ln w="9000">
                <a:solidFill>
                  <a:srgbClr val="E6C2BC"/>
                </a:solidFill>
              </a:ln>
            </p:spPr>
            <p:txBody>
              <a:bodyPr wrap="square" lIns="73152" tIns="73152" rIns="73152" bIns="73152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𝑐𝑜𝑙𝑙𝑖𝑠𝑖𝑜𝑛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𝑙𝑎𝑟𝑔𝑒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𝑝𝑒𝑛𝑎𝑙𝑡𝑦</m:t>
                      </m:r>
                    </m:oMath>
                  </m:oMathPara>
                </a14:m>
                <a:endParaRPr lang="en-US" sz="180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𝑁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&gt; 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𝑠𝑡𝑜𝑝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0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𝑝𝑒𝑛𝑎𝑙𝑡𝑦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3246120"/>
                <a:ext cx="4343400" cy="1143000"/>
              </a:xfrm>
              <a:prstGeom prst="roundRect">
                <a:avLst/>
              </a:prstGeom>
              <a:blipFill rotWithShape="1">
                <a:blip r:embed="rId2"/>
                <a:stretch>
                  <a:fillRect l="-117" t="-444" r="-102" b="-389"/>
                </a:stretch>
              </a:blipFill>
              <a:ln w="9000">
                <a:solidFill>
                  <a:srgbClr val="E6C2BC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采样式 MPC 算法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25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ext"/>
          <p:cNvSpPr txBox="1"/>
          <p:nvPr/>
        </p:nvSpPr>
        <p:spPr>
          <a:xfrm>
            <a:off x="1005840" y="1371600"/>
            <a:ext cx="361188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0F6B75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1. 采样压力序列</a:t>
            </a:r>
            <a:endParaRPr lang="zh-CN" altLang="en-US" sz="1500"/>
          </a:p>
        </p:txBody>
      </p:sp>
      <p:sp>
        <p:nvSpPr>
          <p:cNvPr id="18" name="Text"/>
          <p:cNvSpPr txBox="1"/>
          <p:nvPr/>
        </p:nvSpPr>
        <p:spPr>
          <a:xfrm>
            <a:off x="6675120" y="1371600"/>
            <a:ext cx="361188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2. 世界模型滚动预测</a:t>
            </a:r>
            <a:endParaRPr lang="zh-CN" altLang="en-US" sz="1500"/>
          </a:p>
        </p:txBody>
      </p:sp>
      <p:sp>
        <p:nvSpPr>
          <p:cNvPr id="19" name="Text"/>
          <p:cNvSpPr txBox="1"/>
          <p:nvPr/>
        </p:nvSpPr>
        <p:spPr>
          <a:xfrm>
            <a:off x="6675120" y="3886200"/>
            <a:ext cx="361188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7D5C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2F7D5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3. 按总代价打分</a:t>
            </a:r>
            <a:endParaRPr lang="zh-CN" altLang="en-US" sz="1500"/>
          </a:p>
        </p:txBody>
      </p:sp>
      <p:sp>
        <p:nvSpPr>
          <p:cNvPr id="20" name="Text"/>
          <p:cNvSpPr txBox="1"/>
          <p:nvPr/>
        </p:nvSpPr>
        <p:spPr>
          <a:xfrm>
            <a:off x="1005840" y="3886200"/>
            <a:ext cx="361188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9E1B32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4. 执行最优第一步</a:t>
            </a:r>
            <a:endParaRPr lang="zh-CN" altLang="en-US" sz="1500"/>
          </a:p>
        </p:txBody>
      </p:sp>
      <p:cxnSp>
        <p:nvCxnSpPr>
          <p:cNvPr id="21" name="Line"/>
          <p:cNvCxnSpPr/>
          <p:nvPr/>
        </p:nvCxnSpPr>
        <p:spPr>
          <a:xfrm>
            <a:off x="4617720" y="1792224"/>
            <a:ext cx="1947672" cy="9144"/>
          </a:xfrm>
          <a:prstGeom prst="line">
            <a:avLst/>
          </a:prstGeom>
          <a:ln w="25000">
            <a:solidFill>
              <a:srgbClr val="9E1B32"/>
            </a:solidFill>
            <a:tailEnd type="triangle"/>
          </a:ln>
        </p:spPr>
      </p:cxnSp>
      <p:cxnSp>
        <p:nvCxnSpPr>
          <p:cNvPr id="22" name="Line"/>
          <p:cNvCxnSpPr/>
          <p:nvPr/>
        </p:nvCxnSpPr>
        <p:spPr>
          <a:xfrm>
            <a:off x="8485632" y="2212848"/>
            <a:ext cx="9144" cy="1563624"/>
          </a:xfrm>
          <a:prstGeom prst="line">
            <a:avLst/>
          </a:prstGeom>
          <a:ln w="25000">
            <a:solidFill>
              <a:srgbClr val="9E1B32"/>
            </a:solidFill>
            <a:tailEnd type="triangle"/>
          </a:ln>
        </p:spPr>
      </p:cxnSp>
      <p:cxnSp>
        <p:nvCxnSpPr>
          <p:cNvPr id="23" name="Line"/>
          <p:cNvCxnSpPr/>
          <p:nvPr/>
        </p:nvCxnSpPr>
        <p:spPr>
          <a:xfrm flipH="1">
            <a:off x="4617720" y="4306824"/>
            <a:ext cx="1947672" cy="9144"/>
          </a:xfrm>
          <a:prstGeom prst="line">
            <a:avLst/>
          </a:prstGeom>
          <a:ln w="25000">
            <a:solidFill>
              <a:srgbClr val="9E1B32"/>
            </a:solidFill>
            <a:tailEnd type="triangle"/>
          </a:ln>
        </p:spPr>
      </p:cxnSp>
      <p:cxnSp>
        <p:nvCxnSpPr>
          <p:cNvPr id="24" name="Line"/>
          <p:cNvCxnSpPr/>
          <p:nvPr/>
        </p:nvCxnSpPr>
        <p:spPr>
          <a:xfrm flipV="1">
            <a:off x="2788920" y="2212848"/>
            <a:ext cx="9144" cy="1563624"/>
          </a:xfrm>
          <a:prstGeom prst="line">
            <a:avLst/>
          </a:prstGeom>
          <a:ln w="25000">
            <a:solidFill>
              <a:srgbClr val="9E1B32"/>
            </a:solidFill>
            <a:tailEnd type="triangle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"/>
              <p:cNvSpPr txBox="1"/>
              <p:nvPr/>
            </p:nvSpPr>
            <p:spPr>
              <a:xfrm>
                <a:off x="3566160" y="2788920"/>
                <a:ext cx="4663440" cy="685800"/>
              </a:xfrm>
              <a:prstGeom prst="roundRect">
                <a:avLst/>
              </a:prstGeom>
              <a:solidFill>
                <a:srgbClr val="EEF6F8"/>
              </a:solidFill>
              <a:ln w="9000">
                <a:solidFill>
                  <a:srgbClr val="BFDDE2"/>
                </a:solidFill>
              </a:ln>
            </p:spPr>
            <p:txBody>
              <a:bodyPr wrap="square" lIns="45720" tIns="45720" rIns="45720" bIns="45720" anchor="ctr">
                <a:normAutofit fontScale="90000" lnSpcReduction="12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5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e>
                        <m:sub>
                          <m:r>
                            <a:rPr lang="en-US" sz="126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𝑓𝑖𝑟𝑠𝑡</m:t>
                      </m:r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𝑎𝑟𝑔</m:t>
                      </m:r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5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𝑚𝑖𝑛</m:t>
                          </m:r>
                        </m:e>
                        <m:sub>
                          <m:r>
                            <a:rPr lang="en-US" sz="126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𝑈</m:t>
                          </m:r>
                        </m:sub>
                      </m:sSub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𝐽</m:t>
                      </m:r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𝑈</m:t>
                      </m:r>
                      <m:r>
                        <a:rPr lang="en-US" sz="185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))</m:t>
                      </m:r>
                    </m:oMath>
                  </m:oMathPara>
                </a14:m>
                <a:endParaRPr lang="en-US" sz="1850"/>
              </a:p>
            </p:txBody>
          </p:sp>
        </mc:Choice>
        <mc:Fallback>
          <p:sp>
            <p:nvSpPr>
              <p:cNvPr id="2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60" y="2788920"/>
                <a:ext cx="4663440" cy="685800"/>
              </a:xfrm>
              <a:prstGeom prst="roundRect">
                <a:avLst/>
              </a:prstGeom>
              <a:blipFill rotWithShape="1">
                <a:blip r:embed="rId1"/>
                <a:stretch>
                  <a:fillRect l="-109" t="-741" r="-95" b="-648"/>
                </a:stretch>
              </a:blipFill>
              <a:ln w="9000">
                <a:solidFill>
                  <a:srgbClr val="BFDDE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一步安全屏障基线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26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results/safety_planning_scenario.png" descr="results/safety_planning_scenar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302" y="1078992"/>
            <a:ext cx="5976357" cy="4480560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完整 MPC 之前的早期安全层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根据安全约束选择压力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用于调试距离更新和刹停逻辑</a:t>
            </a:r>
            <a:endParaRPr lang="zh-CN" altLang="en-US" sz="112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MPC 闭环刹停结果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27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80" y="1033272"/>
            <a:ext cx="6400800" cy="4617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14_mpc_stop_result.png" descr="14_mpc_stop_resu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239" y="1078992"/>
            <a:ext cx="4520483" cy="4480560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7315200" y="1216152"/>
            <a:ext cx="3703320" cy="530352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初速度：80 km/h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315200" y="200253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初始距离：65 m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315200" y="2788920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附着系数：0.6</a:t>
            </a:r>
            <a:endParaRPr lang="zh-CN" altLang="en-US" sz="1120"/>
          </a:p>
        </p:txBody>
      </p:sp>
      <p:sp>
        <p:nvSpPr>
          <p:cNvPr id="22" name="Text"/>
          <p:cNvSpPr txBox="1"/>
          <p:nvPr/>
        </p:nvSpPr>
        <p:spPr>
          <a:xfrm>
            <a:off x="7315200" y="3575304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目标安全距离：2 m</a:t>
            </a:r>
            <a:endParaRPr lang="zh-CN" altLang="en-US" sz="1120"/>
          </a:p>
        </p:txBody>
      </p:sp>
      <p:sp>
        <p:nvSpPr>
          <p:cNvPr id="23" name="Text"/>
          <p:cNvSpPr txBox="1"/>
          <p:nvPr/>
        </p:nvSpPr>
        <p:spPr>
          <a:xfrm>
            <a:off x="7315200" y="4361688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最终距离：1.844 m</a:t>
            </a:r>
            <a:endParaRPr lang="zh-CN" altLang="en-US" sz="112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当前闭环结果的真实边界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28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ableCell"/>
          <p:cNvSpPr txBox="1"/>
          <p:nvPr/>
        </p:nvSpPr>
        <p:spPr>
          <a:xfrm>
            <a:off x="914400" y="1234440"/>
            <a:ext cx="5143500" cy="86868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已完成</a:t>
            </a:r>
            <a:endParaRPr lang="zh-CN" altLang="en-US" sz="1150"/>
          </a:p>
        </p:txBody>
      </p:sp>
      <p:sp>
        <p:nvSpPr>
          <p:cNvPr id="18" name="TableCell"/>
          <p:cNvSpPr txBox="1"/>
          <p:nvPr/>
        </p:nvSpPr>
        <p:spPr>
          <a:xfrm>
            <a:off x="6057900" y="1234440"/>
            <a:ext cx="5143500" cy="86868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下一步集成</a:t>
            </a:r>
            <a:endParaRPr lang="zh-CN" altLang="en-US" sz="1150"/>
          </a:p>
        </p:txBody>
      </p:sp>
      <p:sp>
        <p:nvSpPr>
          <p:cNvPr id="19" name="TableCell"/>
          <p:cNvSpPr txBox="1"/>
          <p:nvPr/>
        </p:nvSpPr>
        <p:spPr>
          <a:xfrm>
            <a:off x="914400" y="2103120"/>
            <a:ext cx="514350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数据集与 CarSim-GRU 训练</a:t>
            </a:r>
            <a:endParaRPr lang="zh-CN" altLang="en-US" sz="1150"/>
          </a:p>
        </p:txBody>
      </p:sp>
      <p:sp>
        <p:nvSpPr>
          <p:cNvPr id="20" name="TableCell"/>
          <p:cNvSpPr txBox="1"/>
          <p:nvPr/>
        </p:nvSpPr>
        <p:spPr>
          <a:xfrm>
            <a:off x="6057900" y="2103120"/>
            <a:ext cx="514350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在线闭环 MPC</a:t>
            </a:r>
            <a:endParaRPr lang="zh-CN" altLang="en-US" sz="1150"/>
          </a:p>
        </p:txBody>
      </p:sp>
      <p:sp>
        <p:nvSpPr>
          <p:cNvPr id="21" name="TableCell"/>
          <p:cNvSpPr txBox="1"/>
          <p:nvPr/>
        </p:nvSpPr>
        <p:spPr>
          <a:xfrm>
            <a:off x="914400" y="2971800"/>
            <a:ext cx="5143500" cy="86868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机理执行环境下的 MPC 闭环</a:t>
            </a:r>
            <a:endParaRPr lang="zh-CN" altLang="en-US" sz="1150"/>
          </a:p>
        </p:txBody>
      </p:sp>
      <p:sp>
        <p:nvSpPr>
          <p:cNvPr id="22" name="TableCell"/>
          <p:cNvSpPr txBox="1"/>
          <p:nvPr/>
        </p:nvSpPr>
        <p:spPr>
          <a:xfrm>
            <a:off x="6057900" y="2971800"/>
            <a:ext cx="5143500" cy="86868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每次 MPC 动作发送给 CarSim</a:t>
            </a:r>
            <a:endParaRPr lang="zh-CN" altLang="en-US" sz="1150"/>
          </a:p>
        </p:txBody>
      </p:sp>
      <p:sp>
        <p:nvSpPr>
          <p:cNvPr id="23" name="TableCell"/>
          <p:cNvSpPr txBox="1"/>
          <p:nvPr/>
        </p:nvSpPr>
        <p:spPr>
          <a:xfrm>
            <a:off x="914400" y="3840480"/>
            <a:ext cx="514350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工程数据/模型/规划链路</a:t>
            </a:r>
            <a:endParaRPr lang="zh-CN" altLang="en-US" sz="1150"/>
          </a:p>
        </p:txBody>
      </p:sp>
      <p:sp>
        <p:nvSpPr>
          <p:cNvPr id="24" name="TableCell"/>
          <p:cNvSpPr txBox="1"/>
          <p:nvPr/>
        </p:nvSpPr>
        <p:spPr>
          <a:xfrm>
            <a:off x="6057900" y="3840480"/>
            <a:ext cx="514350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60" tIns="22860" rIns="22860" bIns="22860" anchor="ctr">
            <a:normAutofit fontScale="90000" lnSpcReduction="12000"/>
          </a:bodyPr>
          <a:lstStyle/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反馈后实时重规划</a:t>
            </a:r>
            <a:endParaRPr lang="zh-CN" altLang="en-US" sz="1150"/>
          </a:p>
        </p:txBody>
      </p:sp>
      <p:sp>
        <p:nvSpPr>
          <p:cNvPr id="25" name="Text"/>
          <p:cNvSpPr txBox="1"/>
          <p:nvPr/>
        </p:nvSpPr>
        <p:spPr>
          <a:xfrm>
            <a:off x="1143000" y="4983480"/>
            <a:ext cx="9875520" cy="502920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27432" tIns="27432" rIns="27432" bIns="27432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主动划清边界：当前不声称已经完成 CarSim 在线闭环。</a:t>
            </a:r>
            <a:endParaRPr lang="zh-CN" altLang="en-US" sz="13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工程交付内容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29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ext"/>
          <p:cNvSpPr txBox="1"/>
          <p:nvPr/>
        </p:nvSpPr>
        <p:spPr>
          <a:xfrm>
            <a:off x="822960" y="1417320"/>
            <a:ext cx="306324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0F6B7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30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MATLAB / Simulink</a:t>
            </a:r>
            <a:endParaRPr lang="zh-CN" altLang="en-US" sz="1300"/>
          </a:p>
        </p:txBody>
      </p:sp>
      <p:sp>
        <p:nvSpPr>
          <p:cNvPr id="18" name="Text"/>
          <p:cNvSpPr txBox="1"/>
          <p:nvPr/>
        </p:nvSpPr>
        <p:spPr>
          <a:xfrm>
            <a:off x="4526280" y="1417320"/>
            <a:ext cx="306324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30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CarSim 配置与采集</a:t>
            </a:r>
            <a:endParaRPr lang="zh-CN" altLang="en-US" sz="1300"/>
          </a:p>
        </p:txBody>
      </p:sp>
      <p:sp>
        <p:nvSpPr>
          <p:cNvPr id="19" name="Text"/>
          <p:cNvSpPr txBox="1"/>
          <p:nvPr/>
        </p:nvSpPr>
        <p:spPr>
          <a:xfrm>
            <a:off x="8229600" y="1417320"/>
            <a:ext cx="306324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9E1B32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3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Python GRU/LSTM 管线</a:t>
            </a:r>
            <a:endParaRPr lang="zh-CN" altLang="en-US" sz="1300"/>
          </a:p>
        </p:txBody>
      </p:sp>
      <p:sp>
        <p:nvSpPr>
          <p:cNvPr id="20" name="Text"/>
          <p:cNvSpPr txBox="1"/>
          <p:nvPr/>
        </p:nvSpPr>
        <p:spPr>
          <a:xfrm>
            <a:off x="822960" y="2743200"/>
            <a:ext cx="306324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0F6B75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30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MPC 规划器</a:t>
            </a:r>
            <a:endParaRPr lang="zh-CN" altLang="en-US" sz="1300"/>
          </a:p>
        </p:txBody>
      </p:sp>
      <p:sp>
        <p:nvSpPr>
          <p:cNvPr id="21" name="Text"/>
          <p:cNvSpPr txBox="1"/>
          <p:nvPr/>
        </p:nvSpPr>
        <p:spPr>
          <a:xfrm>
            <a:off x="4526280" y="2743200"/>
            <a:ext cx="3063240" cy="84124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30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README / 文档 / PPT 资产</a:t>
            </a:r>
            <a:endParaRPr lang="zh-CN" altLang="en-US" sz="1300"/>
          </a:p>
        </p:txBody>
      </p:sp>
      <p:sp>
        <p:nvSpPr>
          <p:cNvPr id="22" name="Text"/>
          <p:cNvSpPr txBox="1"/>
          <p:nvPr/>
        </p:nvSpPr>
        <p:spPr>
          <a:xfrm>
            <a:off x="914400" y="4617720"/>
            <a:ext cx="10149840" cy="621792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45720" tIns="45720" rIns="45720" bIns="45720" anchor="ctr">
            <a:normAutofit fontScale="90000" lnSpcReduction="12000"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交付重点：能复现、能扩展、能继续接入更高保真闭环。</a:t>
            </a:r>
            <a:endParaRPr lang="zh-CN" altLang="en-US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928" y="3108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总结与下一步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1160" y="347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0000" lnSpcReduction="12000"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闭环规划与工程交付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840" y="283464"/>
            <a:ext cx="566928" cy="411480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4" tIns="9144" rIns="9144" bIns="9144" anchor="ctr">
            <a:normAutofit fontScale="90000" lnSpcReduction="12000"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30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928" y="58704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 fontScale="90000" lnSpcReduction="12000"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Text"/>
          <p:cNvSpPr txBox="1"/>
          <p:nvPr/>
        </p:nvSpPr>
        <p:spPr>
          <a:xfrm>
            <a:off x="822960" y="1417320"/>
            <a:ext cx="3154680" cy="14630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0F6B75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7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数据</a:t>
            </a:r>
            <a:endParaRPr lang="zh-CN" altLang="en-US" sz="1750"/>
          </a:p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机理数据 + CarSim 高保真轨迹</a:t>
            </a:r>
            <a:endParaRPr lang="zh-CN" altLang="en-US" sz="1150"/>
          </a:p>
        </p:txBody>
      </p:sp>
      <p:sp>
        <p:nvSpPr>
          <p:cNvPr id="18" name="Text"/>
          <p:cNvSpPr txBox="1"/>
          <p:nvPr/>
        </p:nvSpPr>
        <p:spPr>
          <a:xfrm>
            <a:off x="4572000" y="1417320"/>
            <a:ext cx="3154680" cy="14630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75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模型</a:t>
            </a:r>
            <a:endParaRPr lang="zh-CN" altLang="en-US" sz="1750"/>
          </a:p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轻量 GRU-PINN 世界模型</a:t>
            </a:r>
            <a:endParaRPr lang="zh-CN" altLang="en-US" sz="1150"/>
          </a:p>
        </p:txBody>
      </p:sp>
      <p:sp>
        <p:nvSpPr>
          <p:cNvPr id="19" name="Text"/>
          <p:cNvSpPr txBox="1"/>
          <p:nvPr/>
        </p:nvSpPr>
        <p:spPr>
          <a:xfrm>
            <a:off x="8321040" y="1417320"/>
            <a:ext cx="3154680" cy="14630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9E1B32"/>
            </a:solidFill>
          </a:ln>
        </p:spPr>
        <p:txBody>
          <a:bodyPr wrap="square" lIns="73152" tIns="73152" rIns="73152" bIns="73152" anchor="ctr">
            <a:normAutofit fontScale="90000" lnSpcReduction="12000"/>
          </a:bodyPr>
          <a:lstStyle/>
          <a:p>
            <a:pPr algn="ctr"/>
            <a:r>
              <a:rPr lang="zh-CN" altLang="en-US" sz="175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规划</a:t>
            </a:r>
            <a:endParaRPr lang="zh-CN" altLang="en-US" sz="1750"/>
          </a:p>
          <a:p>
            <a:pPr algn="ctr"/>
            <a:r>
              <a:rPr lang="zh-CN" altLang="en-US" sz="11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采样式 MPC 安全刹停</a:t>
            </a:r>
            <a:endParaRPr lang="zh-CN" altLang="en-US" sz="1150"/>
          </a:p>
        </p:txBody>
      </p:sp>
      <p:sp>
        <p:nvSpPr>
          <p:cNvPr id="20" name="Text"/>
          <p:cNvSpPr txBox="1"/>
          <p:nvPr/>
        </p:nvSpPr>
        <p:spPr>
          <a:xfrm>
            <a:off x="1051560" y="3749040"/>
            <a:ext cx="9921240" cy="841248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4" tIns="54864" rIns="54864" bIns="54864" anchor="ctr">
            <a:normAutofit fontScale="90000" lnSpcReduction="12000"/>
          </a:bodyPr>
          <a:lstStyle/>
          <a:p>
            <a:pPr algn="ctr"/>
            <a:r>
              <a:rPr lang="zh-CN" altLang="en-US" sz="15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下一步：CarSim 在线 MPC、附着突变、MPPI/CEM、鲁棒性评估</a:t>
            </a:r>
            <a:endParaRPr lang="zh-CN" altLang="en-US" sz="1500"/>
          </a:p>
        </p:txBody>
      </p:sp>
      <p:sp>
        <p:nvSpPr>
          <p:cNvPr id="21" name="Text"/>
          <p:cNvSpPr txBox="1"/>
          <p:nvPr/>
        </p:nvSpPr>
        <p:spPr>
          <a:xfrm>
            <a:off x="4389120" y="50292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 fontScale="90000" lnSpcReduction="12000"/>
          </a:bodyPr>
          <a:lstStyle/>
          <a:p>
            <a:pPr algn="ctr"/>
            <a:r>
              <a:rPr lang="zh-CN" altLang="en-US" sz="2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谢 谢！</a:t>
            </a:r>
            <a:endParaRPr lang="zh-CN" altLang="en-US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dd8e9db9-b485-444a-8177-54e3c259d421"/>
  <p:tag name="COMMONDATA" val="eyJoZGlkIjoiNjk0NDY4NmIyNGM0YTRkMzQ0ZGRmNDQ3MGQ4MDJkZWEifQ=="/>
</p:tagLst>
</file>

<file path=ppt/theme/theme1.xml><?xml version="1.0" encoding="utf-8"?>
<a:theme xmlns:a="http://schemas.openxmlformats.org/drawingml/2006/main" name="1_Safety-Nie 20190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5835</Words>
  <Application>WPS 演示</Application>
  <PresentationFormat>Widescreen</PresentationFormat>
  <Paragraphs>730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Arial</vt:lpstr>
      <vt:lpstr>Arial Unicode MS</vt:lpstr>
      <vt:lpstr>黑体</vt:lpstr>
      <vt:lpstr>Cambria Math</vt:lpstr>
      <vt:lpstr>Calibri</vt:lpstr>
      <vt:lpstr>Arial Unicode MS</vt:lpstr>
      <vt:lpstr>等线</vt:lpstr>
      <vt:lpstr>Cambria Math</vt:lpstr>
      <vt:lpstr>1_Safety-Nie 201909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Bingbing Nie</dc:creator>
  <cp:lastModifiedBy>李子昂(2025210297)</cp:lastModifiedBy>
  <cp:revision>4630</cp:revision>
  <cp:lastPrinted>2021-03-03T03:15:00Z</cp:lastPrinted>
  <dcterms:created xsi:type="dcterms:W3CDTF">2015-08-10T08:02:00Z</dcterms:created>
  <dcterms:modified xsi:type="dcterms:W3CDTF">2026-06-07T17:30:51Z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162F74E92C20441290F3CE9FCAE5C2B0_13</vt:lpwstr>
  </property>
  <property fmtid="{D5CDD505-2E9C-101B-9397-08002B2CF9AE}" pid="3" name="KSOProductBuildVer">
    <vt:lpwstr>2052-12.1.0.23542</vt:lpwstr>
  </property>
</Properties>
</file>